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21945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703320"/>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84048"/>
            <a:ext cx="42245280" cy="1371600"/>
          </a:xfrm>
          <a:prstGeom prst="rect">
            <a:avLst/>
          </a:prstGeom>
          <a:noFill/>
        </p:spPr>
        <p:txBody>
          <a:bodyPr wrap="square" anchor="t" lIns="0" rIns="0" tIns="0" bIns="0">
            <a:spAutoFit/>
          </a:bodyPr>
          <a:lstStyle/>
          <a:p>
            <a:pPr algn="l">
              <a:lnSpc>
                <a:spcPct val="92000"/>
              </a:lnSpc>
              <a:spcAft>
                <a:spcPts val="600"/>
              </a:spcAft>
            </a:pPr>
            <a:r>
              <a:rPr sz="7400" b="1">
                <a:solidFill>
                  <a:srgbClr val="FFFFFF"/>
                </a:solidFill>
                <a:latin typeface="Calibri"/>
              </a:rPr>
              <a:t>What Actually Moves a Weed Detector</a:t>
            </a:r>
          </a:p>
        </p:txBody>
      </p:sp>
      <p:sp>
        <p:nvSpPr>
          <p:cNvPr id="4" name="TextBox 3"/>
          <p:cNvSpPr txBox="1"/>
          <p:nvPr/>
        </p:nvSpPr>
        <p:spPr>
          <a:xfrm>
            <a:off x="822960" y="1572768"/>
            <a:ext cx="42245280" cy="640080"/>
          </a:xfrm>
          <a:prstGeom prst="rect">
            <a:avLst/>
          </a:prstGeom>
          <a:noFill/>
        </p:spPr>
        <p:txBody>
          <a:bodyPr wrap="square" anchor="t" lIns="0" rIns="0" tIns="0" bIns="0">
            <a:spAutoFit/>
          </a:bodyPr>
          <a:lstStyle/>
          <a:p>
            <a:pPr algn="l">
              <a:lnSpc>
                <a:spcPct val="100000"/>
              </a:lnSpc>
              <a:spcAft>
                <a:spcPts val="600"/>
              </a:spcAft>
            </a:pPr>
            <a:r>
              <a:rPr sz="2600" b="0">
                <a:solidFill>
                  <a:srgbClr val="CBDDEE"/>
                </a:solidFill>
                <a:latin typeface="Calibri"/>
              </a:rPr>
              <a:t>Six months of an autonomous data-harvesting pipeline, instrumented and audited: which levers move accuracy, and which supervision catches failure</a:t>
            </a:r>
          </a:p>
        </p:txBody>
      </p:sp>
      <p:sp>
        <p:nvSpPr>
          <p:cNvPr id="5" name="TextBox 4"/>
          <p:cNvSpPr txBox="1"/>
          <p:nvPr/>
        </p:nvSpPr>
        <p:spPr>
          <a:xfrm>
            <a:off x="822960" y="2359152"/>
            <a:ext cx="42245280" cy="566928"/>
          </a:xfrm>
          <a:prstGeom prst="rect">
            <a:avLst/>
          </a:prstGeom>
          <a:noFill/>
        </p:spPr>
        <p:txBody>
          <a:bodyPr wrap="square" lIns="0" rIns="0" tIns="0" bIns="0">
            <a:spAutoFit/>
          </a:bodyPr>
          <a:lstStyle/>
          <a:p>
            <a:r>
              <a:rPr sz="3000" b="1">
                <a:solidFill>
                  <a:srgbClr val="FFFFFF"/>
                </a:solidFill>
                <a:latin typeface="Calibri"/>
              </a:rPr>
              <a:t>Hongbo Zhang</a:t>
            </a:r>
            <a:r>
              <a:rPr sz="1900" b="1" baseline="30000">
                <a:solidFill>
                  <a:srgbClr val="FFFFFF"/>
                </a:solidFill>
                <a:latin typeface="Calibri"/>
              </a:rPr>
              <a:t>1</a:t>
            </a:r>
            <a:r>
              <a:rPr sz="3000" b="1">
                <a:solidFill>
                  <a:srgbClr val="FFFFFF"/>
                </a:solidFill>
                <a:latin typeface="Calibri"/>
              </a:rPr>
              <a:t>     Harry He</a:t>
            </a:r>
            <a:r>
              <a:rPr sz="1900" b="1" baseline="30000">
                <a:solidFill>
                  <a:srgbClr val="FFFFFF"/>
                </a:solidFill>
                <a:latin typeface="Calibri"/>
              </a:rPr>
              <a:t>1</a:t>
            </a:r>
            <a:r>
              <a:rPr sz="3000" b="1">
                <a:solidFill>
                  <a:srgbClr val="FFFFFF"/>
                </a:solidFill>
                <a:latin typeface="Calibri"/>
              </a:rPr>
              <a:t>     Song Cui</a:t>
            </a:r>
            <a:r>
              <a:rPr sz="1900" b="1" baseline="30000">
                <a:solidFill>
                  <a:srgbClr val="FFFFFF"/>
                </a:solidFill>
                <a:latin typeface="Calibri"/>
              </a:rPr>
              <a:t>2</a:t>
            </a:r>
          </a:p>
        </p:txBody>
      </p:sp>
      <p:sp>
        <p:nvSpPr>
          <p:cNvPr id="6" name="TextBox 5"/>
          <p:cNvSpPr txBox="1"/>
          <p:nvPr/>
        </p:nvSpPr>
        <p:spPr>
          <a:xfrm>
            <a:off x="822960" y="2926080"/>
            <a:ext cx="42245280" cy="457200"/>
          </a:xfrm>
          <a:prstGeom prst="rect">
            <a:avLst/>
          </a:prstGeom>
          <a:noFill/>
        </p:spPr>
        <p:txBody>
          <a:bodyPr wrap="square" anchor="t" lIns="0" rIns="0" tIns="0" bIns="0">
            <a:spAutoFit/>
          </a:bodyPr>
          <a:lstStyle/>
          <a:p>
            <a:pPr algn="l">
              <a:lnSpc>
                <a:spcPct val="100000"/>
              </a:lnSpc>
              <a:spcAft>
                <a:spcPts val="600"/>
              </a:spcAft>
            </a:pPr>
            <a:r>
              <a:rPr sz="2100" b="0">
                <a:solidFill>
                  <a:srgbClr val="CBDDEE"/>
                </a:solidFill>
                <a:latin typeface="Calibri"/>
              </a:rPr>
              <a:t>1 Department of Engineering Technology    ·    2 School of Agriculture    ·    Middle Tennessee State University, Murfreesboro, TN, USA</a:t>
            </a:r>
          </a:p>
        </p:txBody>
      </p:sp>
      <p:sp>
        <p:nvSpPr>
          <p:cNvPr id="7" name="Rectangle 6"/>
          <p:cNvSpPr/>
          <p:nvPr/>
        </p:nvSpPr>
        <p:spPr>
          <a:xfrm>
            <a:off x="82296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3977639"/>
            <a:ext cx="82296" cy="2240280"/>
          </a:xfrm>
          <a:prstGeom prst="rect">
            <a:avLst/>
          </a:prstGeom>
          <a:solidFill>
            <a:srgbClr val="1F6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1F6F4A"/>
                </a:solidFill>
                <a:latin typeface="Calibri"/>
              </a:rPr>
              <a:t>+0.0714</a:t>
            </a:r>
          </a:p>
        </p:txBody>
      </p:sp>
      <p:sp>
        <p:nvSpPr>
          <p:cNvPr id="10" name="TextBox 9"/>
          <p:cNvSpPr txBox="1"/>
          <p:nvPr/>
        </p:nvSpPr>
        <p:spPr>
          <a:xfrm>
            <a:off x="117043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what COCO pretraining is worth</a:t>
            </a:r>
          </a:p>
        </p:txBody>
      </p:sp>
      <p:sp>
        <p:nvSpPr>
          <p:cNvPr id="11" name="TextBox 10"/>
          <p:cNvSpPr txBox="1"/>
          <p:nvPr/>
        </p:nvSpPr>
        <p:spPr>
          <a:xfrm>
            <a:off x="117043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n = 3 seeds each side</a:t>
            </a:r>
          </a:p>
        </p:txBody>
      </p:sp>
      <p:sp>
        <p:nvSpPr>
          <p:cNvPr id="12" name="Rectangle 11"/>
          <p:cNvSpPr/>
          <p:nvPr/>
        </p:nvSpPr>
        <p:spPr>
          <a:xfrm>
            <a:off x="1151001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510010" y="3977639"/>
            <a:ext cx="82296" cy="2240280"/>
          </a:xfrm>
          <a:prstGeom prst="rect">
            <a:avLst/>
          </a:prstGeom>
          <a:solidFill>
            <a:srgbClr val="B45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5748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B4511F"/>
                </a:solidFill>
                <a:latin typeface="Calibri"/>
              </a:rPr>
              <a:t>0.100</a:t>
            </a:r>
          </a:p>
        </p:txBody>
      </p:sp>
      <p:sp>
        <p:nvSpPr>
          <p:cNvPr id="15" name="TextBox 14"/>
          <p:cNvSpPr txBox="1"/>
          <p:nvPr/>
        </p:nvSpPr>
        <p:spPr>
          <a:xfrm>
            <a:off x="1185748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same detector on another weed dataset</a:t>
            </a:r>
          </a:p>
        </p:txBody>
      </p:sp>
      <p:sp>
        <p:nvSpPr>
          <p:cNvPr id="16" name="TextBox 15"/>
          <p:cNvSpPr txBox="1"/>
          <p:nvPr/>
        </p:nvSpPr>
        <p:spPr>
          <a:xfrm>
            <a:off x="1185748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from 0.873 in-domain, n = 3</a:t>
            </a:r>
          </a:p>
        </p:txBody>
      </p:sp>
      <p:sp>
        <p:nvSpPr>
          <p:cNvPr id="17" name="Rectangle 16"/>
          <p:cNvSpPr/>
          <p:nvPr/>
        </p:nvSpPr>
        <p:spPr>
          <a:xfrm>
            <a:off x="2219706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197060" y="3977639"/>
            <a:ext cx="82296" cy="2240280"/>
          </a:xfrm>
          <a:prstGeom prst="rect">
            <a:avLst/>
          </a:prstGeom>
          <a:solidFill>
            <a:srgbClr val="B45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54453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B4511F"/>
                </a:solidFill>
                <a:latin typeface="Calibri"/>
              </a:rPr>
              <a:t>0 of 116</a:t>
            </a:r>
          </a:p>
        </p:txBody>
      </p:sp>
      <p:sp>
        <p:nvSpPr>
          <p:cNvPr id="20" name="TextBox 19"/>
          <p:cNvSpPr txBox="1"/>
          <p:nvPr/>
        </p:nvSpPr>
        <p:spPr>
          <a:xfrm>
            <a:off x="2254453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real incidents the scripted watchdog caught</a:t>
            </a:r>
          </a:p>
        </p:txBody>
      </p:sp>
      <p:sp>
        <p:nvSpPr>
          <p:cNvPr id="21" name="TextBox 20"/>
          <p:cNvSpPr txBox="1"/>
          <p:nvPr/>
        </p:nvSpPr>
        <p:spPr>
          <a:xfrm>
            <a:off x="2254453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149 cases, it flagged none</a:t>
            </a:r>
          </a:p>
        </p:txBody>
      </p:sp>
      <p:sp>
        <p:nvSpPr>
          <p:cNvPr id="22" name="Rectangle 21"/>
          <p:cNvSpPr/>
          <p:nvPr/>
        </p:nvSpPr>
        <p:spPr>
          <a:xfrm>
            <a:off x="32884110" y="3977639"/>
            <a:ext cx="10184130" cy="224028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884110" y="3977639"/>
            <a:ext cx="82296" cy="2240280"/>
          </a:xfrm>
          <a:prstGeom prst="rect">
            <a:avLst/>
          </a:prstGeom>
          <a:solidFill>
            <a:srgbClr val="12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231582" y="4178807"/>
            <a:ext cx="9635490" cy="914400"/>
          </a:xfrm>
          <a:prstGeom prst="rect">
            <a:avLst/>
          </a:prstGeom>
          <a:noFill/>
        </p:spPr>
        <p:txBody>
          <a:bodyPr wrap="square" anchor="t" lIns="0" rIns="0" tIns="0" bIns="0">
            <a:spAutoFit/>
          </a:bodyPr>
          <a:lstStyle/>
          <a:p>
            <a:pPr algn="l">
              <a:lnSpc>
                <a:spcPct val="90000"/>
              </a:lnSpc>
              <a:spcAft>
                <a:spcPts val="600"/>
              </a:spcAft>
            </a:pPr>
            <a:r>
              <a:rPr sz="6200" b="1">
                <a:solidFill>
                  <a:srgbClr val="12243A"/>
                </a:solidFill>
                <a:latin typeface="Calibri"/>
              </a:rPr>
              <a:t>48,752</a:t>
            </a:r>
          </a:p>
        </p:txBody>
      </p:sp>
      <p:sp>
        <p:nvSpPr>
          <p:cNvPr id="25" name="TextBox 24"/>
          <p:cNvSpPr txBox="1"/>
          <p:nvPr/>
        </p:nvSpPr>
        <p:spPr>
          <a:xfrm>
            <a:off x="33231582" y="5276088"/>
            <a:ext cx="9635490" cy="457200"/>
          </a:xfrm>
          <a:prstGeom prst="rect">
            <a:avLst/>
          </a:prstGeom>
          <a:noFill/>
        </p:spPr>
        <p:txBody>
          <a:bodyPr wrap="square" anchor="t" lIns="0" rIns="0" tIns="0" bIns="0">
            <a:spAutoFit/>
          </a:bodyPr>
          <a:lstStyle/>
          <a:p>
            <a:pPr algn="l">
              <a:lnSpc>
                <a:spcPct val="100000"/>
              </a:lnSpc>
              <a:spcAft>
                <a:spcPts val="600"/>
              </a:spcAft>
            </a:pPr>
            <a:r>
              <a:rPr sz="1700" b="1">
                <a:solidFill>
                  <a:srgbClr val="12243A"/>
                </a:solidFill>
                <a:latin typeface="Calibri"/>
              </a:rPr>
              <a:t>images, unchanged for 13 of 15 rounds</a:t>
            </a:r>
          </a:p>
        </p:txBody>
      </p:sp>
      <p:sp>
        <p:nvSpPr>
          <p:cNvPr id="26" name="TextBox 25"/>
          <p:cNvSpPr txBox="1"/>
          <p:nvPr/>
        </p:nvSpPr>
        <p:spPr>
          <a:xfrm>
            <a:off x="33231582" y="5733288"/>
            <a:ext cx="9635490" cy="365760"/>
          </a:xfrm>
          <a:prstGeom prst="rect">
            <a:avLst/>
          </a:prstGeom>
          <a:noFill/>
        </p:spPr>
        <p:txBody>
          <a:bodyPr wrap="square" anchor="t" lIns="0" rIns="0" tIns="0" bIns="0">
            <a:spAutoFit/>
          </a:bodyPr>
          <a:lstStyle/>
          <a:p>
            <a:pPr algn="l">
              <a:lnSpc>
                <a:spcPct val="100000"/>
              </a:lnSpc>
              <a:spcAft>
                <a:spcPts val="600"/>
              </a:spcAft>
            </a:pPr>
            <a:r>
              <a:rPr sz="1350" b="0">
                <a:solidFill>
                  <a:srgbClr val="5D6B7A"/>
                </a:solidFill>
                <a:latin typeface="Calibri"/>
              </a:rPr>
              <a:t>while the loop reported progress</a:t>
            </a:r>
          </a:p>
        </p:txBody>
      </p:sp>
      <p:sp>
        <p:nvSpPr>
          <p:cNvPr id="27" name="TextBox 26"/>
          <p:cNvSpPr txBox="1"/>
          <p:nvPr/>
        </p:nvSpPr>
        <p:spPr>
          <a:xfrm>
            <a:off x="82296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ABSTRACT</a:t>
            </a:r>
          </a:p>
        </p:txBody>
      </p:sp>
      <p:sp>
        <p:nvSpPr>
          <p:cNvPr id="28" name="Rectangle 27"/>
          <p:cNvSpPr/>
          <p:nvPr/>
        </p:nvSpPr>
        <p:spPr>
          <a:xfrm>
            <a:off x="82296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7653527"/>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Autonomous data-harvesting pipelines promise compounding gains: collect, label, retrain, repeat. We built one for cotton-field weed detection — a collector agent and a trainer agent running unattended on an HPC allocation, fed by field robots — and ran it for fifteen rounds. Its dangerous failure mode was not a crash. It was a plausible number.</a:t>
            </a:r>
          </a:p>
        </p:txBody>
      </p:sp>
      <p:sp>
        <p:nvSpPr>
          <p:cNvPr id="30" name="TextBox 29"/>
          <p:cNvSpPr txBox="1"/>
          <p:nvPr/>
        </p:nvSpPr>
        <p:spPr>
          <a:xfrm>
            <a:off x="822960" y="8807196"/>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Audited against a fixed 1,977-image CottonWeedDet12 holdout: the training corpus was identical from round 3 onward, because the collector admitted nothing for eight consecutive rounds while reporting success; the metric nonetheless fell 0.6019 → 0.5607; and a controlled experiment on identical data attributes that decline to warm-start chaining rather than to the data.</a:t>
            </a:r>
          </a:p>
        </p:txBody>
      </p:sp>
      <p:sp>
        <p:nvSpPr>
          <p:cNvPr id="31" name="TextBox 30"/>
          <p:cNvSpPr txBox="1"/>
          <p:nvPr/>
        </p:nvSpPr>
        <p:spPr>
          <a:xfrm>
            <a:off x="822960" y="9960864"/>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Three measurements survive scrutiny at n = 3 seeds: COCO pretraining is worth +0.0714 mAP50-95, architecture at equal initialisation +0.0225, and web-harvested data 0.00 to −0.02. Detection collapses from 0.873 to 0.100 across imaging domains. A model reading raw artifacts catches failures that twelve deterministic checks structurally cannot.</a:t>
            </a:r>
          </a:p>
        </p:txBody>
      </p:sp>
      <p:sp>
        <p:nvSpPr>
          <p:cNvPr id="32" name="TextBox 31"/>
          <p:cNvSpPr txBox="1"/>
          <p:nvPr/>
        </p:nvSpPr>
        <p:spPr>
          <a:xfrm>
            <a:off x="822960" y="11343132"/>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THE PLATFORM</a:t>
            </a:r>
          </a:p>
        </p:txBody>
      </p:sp>
      <p:sp>
        <p:nvSpPr>
          <p:cNvPr id="33" name="Rectangle 32"/>
          <p:cNvSpPr/>
          <p:nvPr/>
        </p:nvSpPr>
        <p:spPr>
          <a:xfrm>
            <a:off x="822960" y="11891772"/>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12092940"/>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Two agents run as separate SLURM jobs against one locked registry: a collector that searches, downloads and pseudo-labels, and a trainer that merges, deduplicates, guards the holdout and trains. Field data arrives from three robots driving crop rows — a dual-laser weeding cart, a tracked platform (241) and a quadruped — carrying camera, GPS and IMU.</a:t>
            </a:r>
          </a:p>
        </p:txBody>
      </p:sp>
      <p:sp>
        <p:nvSpPr>
          <p:cNvPr id="35" name="TextBox 34"/>
          <p:cNvSpPr txBox="1"/>
          <p:nvPr/>
        </p:nvSpPr>
        <p:spPr>
          <a:xfrm>
            <a:off x="822960" y="13246608"/>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B4511F"/>
                </a:solidFill>
                <a:latin typeface="Calibri"/>
              </a:rPr>
              <a:t>PLATFORM INVENTORY PENDING — frame counts, dates and GPS/IMU coverage are being read off the live platform and will replace this paragraph.</a:t>
            </a:r>
          </a:p>
        </p:txBody>
      </p:sp>
      <p:sp>
        <p:nvSpPr>
          <p:cNvPr id="36" name="TextBox 35"/>
          <p:cNvSpPr txBox="1"/>
          <p:nvPr/>
        </p:nvSpPr>
        <p:spPr>
          <a:xfrm>
            <a:off x="822960" y="14109192"/>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WHERE THE HARVESTED DATA GOES</a:t>
            </a:r>
          </a:p>
        </p:txBody>
      </p:sp>
      <p:sp>
        <p:nvSpPr>
          <p:cNvPr id="37" name="Rectangle 36"/>
          <p:cNvSpPr/>
          <p:nvPr/>
        </p:nvSpPr>
        <p:spPr>
          <a:xfrm>
            <a:off x="822960" y="14657832"/>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f4_funnel.png"/>
          <p:cNvPicPr>
            <a:picLocks noChangeAspect="1"/>
          </p:cNvPicPr>
          <p:nvPr/>
        </p:nvPicPr>
        <p:blipFill>
          <a:blip r:embed="rId2"/>
          <a:stretch>
            <a:fillRect/>
          </a:stretch>
        </p:blipFill>
        <p:spPr>
          <a:xfrm>
            <a:off x="822960" y="14859000"/>
            <a:ext cx="10184130" cy="6769985"/>
          </a:xfrm>
          <a:prstGeom prst="rect">
            <a:avLst/>
          </a:prstGeom>
        </p:spPr>
      </p:pic>
      <p:sp>
        <p:nvSpPr>
          <p:cNvPr id="39" name="TextBox 38"/>
          <p:cNvSpPr txBox="1"/>
          <p:nvPr/>
        </p:nvSpPr>
        <p:spPr>
          <a:xfrm>
            <a:off x="822960" y="21720425"/>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1.  156,521 registry-labelled images collapse to 59,134 unique: 44,750 cross-dataset duplicates and 1,977 holdout stems removed. Of six audited harvested sources (13,527 images) exactly one (3,208 images) clears the 0.90 label-precision bar; the rest score 0.18-0.74. The audit probe reads 1.000 on human-labelled cwd12, so the low scores are the data, not the instrument.</a:t>
            </a:r>
          </a:p>
        </p:txBody>
      </p:sp>
      <p:sp>
        <p:nvSpPr>
          <p:cNvPr id="40" name="TextBox 39"/>
          <p:cNvSpPr txBox="1"/>
          <p:nvPr/>
        </p:nvSpPr>
        <p:spPr>
          <a:xfrm>
            <a:off x="1151001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WHAT MOVES THE DETECTOR</a:t>
            </a:r>
          </a:p>
        </p:txBody>
      </p:sp>
      <p:sp>
        <p:nvSpPr>
          <p:cNvPr id="41" name="Rectangle 40"/>
          <p:cNvSpPr/>
          <p:nvPr/>
        </p:nvSpPr>
        <p:spPr>
          <a:xfrm>
            <a:off x="1151001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f1_levers.png"/>
          <p:cNvPicPr>
            <a:picLocks noChangeAspect="1"/>
          </p:cNvPicPr>
          <p:nvPr/>
        </p:nvPicPr>
        <p:blipFill>
          <a:blip r:embed="rId3"/>
          <a:stretch>
            <a:fillRect/>
          </a:stretch>
        </p:blipFill>
        <p:spPr>
          <a:xfrm>
            <a:off x="11510010" y="7653527"/>
            <a:ext cx="10184130" cy="4901141"/>
          </a:xfrm>
          <a:prstGeom prst="rect">
            <a:avLst/>
          </a:prstGeom>
        </p:spPr>
      </p:pic>
      <p:sp>
        <p:nvSpPr>
          <p:cNvPr id="43" name="TextBox 42"/>
          <p:cNvSpPr txBox="1"/>
          <p:nvPr/>
        </p:nvSpPr>
        <p:spPr>
          <a:xfrm>
            <a:off x="11510010" y="12646109"/>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2.  Three levers on one holdout and one evaluator. Initialisation is worth three times what architecture is worth, and both dwarf the data-collection lever the whole system was built around. Top two rows n = 3 seeds; bottom row n = 1 with seeds in flight. Source: results/framework/s3_yolo11n/*/results.csv.</a:t>
            </a:r>
          </a:p>
        </p:txBody>
      </p:sp>
      <p:pic>
        <p:nvPicPr>
          <p:cNvPr id="44" name="Picture 43" descr="f2_ladder.png"/>
          <p:cNvPicPr>
            <a:picLocks noChangeAspect="1"/>
          </p:cNvPicPr>
          <p:nvPr/>
        </p:nvPicPr>
        <p:blipFill>
          <a:blip r:embed="rId4"/>
          <a:stretch>
            <a:fillRect/>
          </a:stretch>
        </p:blipFill>
        <p:spPr>
          <a:xfrm>
            <a:off x="11510010" y="13591750"/>
            <a:ext cx="10184130" cy="6201029"/>
          </a:xfrm>
          <a:prstGeom prst="rect">
            <a:avLst/>
          </a:prstGeom>
        </p:spPr>
      </p:pic>
      <p:sp>
        <p:nvSpPr>
          <p:cNvPr id="45" name="TextBox 44"/>
          <p:cNvSpPr txBox="1"/>
          <p:nvPr/>
        </p:nvSpPr>
        <p:spPr>
          <a:xfrm>
            <a:off x="11510010" y="19884220"/>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3.  Harvested images added to a clean in-domain core. Flat within the seed band to +15,000, then −0.020 at +40,000 — twelve times the training data for nothing, then a cost. The shaded band is the measured seed std (0.0029), not an assumption. Source: results/framework/s3_tier_v2_*.json.</a:t>
            </a:r>
          </a:p>
        </p:txBody>
      </p:sp>
      <p:sp>
        <p:nvSpPr>
          <p:cNvPr id="46" name="TextBox 45"/>
          <p:cNvSpPr txBox="1"/>
          <p:nvPr/>
        </p:nvSpPr>
        <p:spPr>
          <a:xfrm>
            <a:off x="11510010" y="20829862"/>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PROTOCOL</a:t>
            </a:r>
          </a:p>
        </p:txBody>
      </p:sp>
      <p:sp>
        <p:nvSpPr>
          <p:cNvPr id="47" name="Rectangle 46"/>
          <p:cNvSpPr/>
          <p:nvPr/>
        </p:nvSpPr>
        <p:spPr>
          <a:xfrm>
            <a:off x="11510010" y="21378502"/>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510010" y="21579670"/>
            <a:ext cx="10184130" cy="365760"/>
          </a:xfrm>
          <a:prstGeom prst="rect">
            <a:avLst/>
          </a:prstGeom>
          <a:noFill/>
        </p:spPr>
        <p:txBody>
          <a:bodyPr wrap="square" anchor="t" lIns="0" rIns="0" tIns="0" bIns="0">
            <a:spAutoFit/>
          </a:bodyPr>
          <a:lstStyle/>
          <a:p>
            <a:pPr algn="l">
              <a:lnSpc>
                <a:spcPct val="106000"/>
              </a:lnSpc>
              <a:spcAft>
                <a:spcPts val="900"/>
              </a:spcAft>
            </a:pPr>
            <a:r>
              <a:rPr sz="1550" b="0">
                <a:solidFill>
                  <a:srgbClr val="12243A"/>
                </a:solidFill>
                <a:latin typeface="Calibri"/>
              </a:rPr>
              <a:t>Every in-domain number is mAP50-95 on the same 1,977 images / 3,257 instances of CottonWeedDet12 test+valid, under the Ultralytics validator. That set is also the validation set during training, so each figure is a maximum over 21–100 evaluations on the set it is reported on. We measured the size of that optimism rather than hiding it: +0.002 to +0.017 depending on recipe, and every conclusion above survives re-reading at last-epoch and mean-of-last-five.</a:t>
            </a:r>
          </a:p>
        </p:txBody>
      </p:sp>
      <p:sp>
        <p:nvSpPr>
          <p:cNvPr id="49" name="TextBox 48"/>
          <p:cNvSpPr txBox="1"/>
          <p:nvPr/>
        </p:nvSpPr>
        <p:spPr>
          <a:xfrm>
            <a:off x="2219706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THE GENERALISATION WALL</a:t>
            </a:r>
          </a:p>
        </p:txBody>
      </p:sp>
      <p:sp>
        <p:nvSpPr>
          <p:cNvPr id="50" name="Rectangle 49"/>
          <p:cNvSpPr/>
          <p:nvPr/>
        </p:nvSpPr>
        <p:spPr>
          <a:xfrm>
            <a:off x="2219706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f3_wall.png"/>
          <p:cNvPicPr>
            <a:picLocks noChangeAspect="1"/>
          </p:cNvPicPr>
          <p:nvPr/>
        </p:nvPicPr>
        <p:blipFill>
          <a:blip r:embed="rId5"/>
          <a:stretch>
            <a:fillRect/>
          </a:stretch>
        </p:blipFill>
        <p:spPr>
          <a:xfrm>
            <a:off x="22197060" y="7653527"/>
            <a:ext cx="10184130" cy="7739073"/>
          </a:xfrm>
          <a:prstGeom prst="rect">
            <a:avLst/>
          </a:prstGeom>
        </p:spPr>
      </p:pic>
      <p:sp>
        <p:nvSpPr>
          <p:cNvPr id="52" name="TextBox 51"/>
          <p:cNvSpPr txBox="1"/>
          <p:nvPr/>
        </p:nvSpPr>
        <p:spPr>
          <a:xfrm>
            <a:off x="22197060" y="15484041"/>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4.  The same three checkpoints, the same matcher on both sides so the evaluator offset cancels: 0.8730 ± 0.0011 in-domain against 0.1003 ± 0.0053 on ImageWeeds. Best species Ragweed 0.9604 → Ragweed 0.0006. An in-domain weed detector does not transfer across imaging domains, and no amount of in-domain data fixes that. Source: results/framework/s6_crossdataset_imageweeds.json.</a:t>
            </a:r>
          </a:p>
        </p:txBody>
      </p:sp>
      <p:sp>
        <p:nvSpPr>
          <p:cNvPr id="53" name="TextBox 52"/>
          <p:cNvSpPr txBox="1"/>
          <p:nvPr/>
        </p:nvSpPr>
        <p:spPr>
          <a:xfrm>
            <a:off x="22197060" y="16447971"/>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WHY THE LOOP LOOKED LIKE IT WAS LEARNING</a:t>
            </a:r>
          </a:p>
        </p:txBody>
      </p:sp>
      <p:sp>
        <p:nvSpPr>
          <p:cNvPr id="54" name="Rectangle 53"/>
          <p:cNvSpPr/>
          <p:nvPr/>
        </p:nvSpPr>
        <p:spPr>
          <a:xfrm>
            <a:off x="22197060" y="16996611"/>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f6_rounds.png"/>
          <p:cNvPicPr>
            <a:picLocks noChangeAspect="1"/>
          </p:cNvPicPr>
          <p:nvPr/>
        </p:nvPicPr>
        <p:blipFill>
          <a:blip r:embed="rId6"/>
          <a:stretch>
            <a:fillRect/>
          </a:stretch>
        </p:blipFill>
        <p:spPr>
          <a:xfrm>
            <a:off x="22197060" y="17197779"/>
            <a:ext cx="10184130" cy="3602792"/>
          </a:xfrm>
          <a:prstGeom prst="rect">
            <a:avLst/>
          </a:prstGeom>
        </p:spPr>
      </p:pic>
      <p:sp>
        <p:nvSpPr>
          <p:cNvPr id="56" name="TextBox 55"/>
          <p:cNvSpPr txBox="1"/>
          <p:nvPr/>
        </p:nvSpPr>
        <p:spPr>
          <a:xfrm>
            <a:off x="22197060" y="20892011"/>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5.  Left: fifteen unattended rounds, reported metric and last-epoch metric. The shaded region is where the training corpus stopped changing — 24 datasets, 48,752 unique images, identical from round 3 to round 15. Right: on round 15's exact dataset, starting fresh scores 0.5805 against the chained recipe's 0.5577 ± 0.0040 (n = 3), a gap of +0.0287 at 5.0 standard deviations with the schedule held constant. The decline is the chain, not the data.</a:t>
            </a:r>
          </a:p>
        </p:txBody>
      </p:sp>
      <p:sp>
        <p:nvSpPr>
          <p:cNvPr id="57" name="TextBox 56"/>
          <p:cNvSpPr txBox="1"/>
          <p:nvPr/>
        </p:nvSpPr>
        <p:spPr>
          <a:xfrm>
            <a:off x="32884110" y="6903720"/>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WHAT SUPERVISION ACTUALLY CATCHES</a:t>
            </a:r>
          </a:p>
        </p:txBody>
      </p:sp>
      <p:sp>
        <p:nvSpPr>
          <p:cNvPr id="58" name="Rectangle 57"/>
          <p:cNvSpPr/>
          <p:nvPr/>
        </p:nvSpPr>
        <p:spPr>
          <a:xfrm>
            <a:off x="32884110" y="7452360"/>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f5_supervision.png"/>
          <p:cNvPicPr>
            <a:picLocks noChangeAspect="1"/>
          </p:cNvPicPr>
          <p:nvPr/>
        </p:nvPicPr>
        <p:blipFill>
          <a:blip r:embed="rId7"/>
          <a:stretch>
            <a:fillRect/>
          </a:stretch>
        </p:blipFill>
        <p:spPr>
          <a:xfrm>
            <a:off x="32884110" y="7653527"/>
            <a:ext cx="10184130" cy="3382226"/>
          </a:xfrm>
          <a:prstGeom prst="rect">
            <a:avLst/>
          </a:prstGeom>
        </p:spPr>
      </p:pic>
      <p:sp>
        <p:nvSpPr>
          <p:cNvPr id="60" name="TextBox 59"/>
          <p:cNvSpPr txBox="1"/>
          <p:nvPr/>
        </p:nvSpPr>
        <p:spPr>
          <a:xfrm>
            <a:off x="32884110" y="11127194"/>
            <a:ext cx="10184130" cy="365760"/>
          </a:xfrm>
          <a:prstGeom prst="rect">
            <a:avLst/>
          </a:prstGeom>
          <a:noFill/>
        </p:spPr>
        <p:txBody>
          <a:bodyPr wrap="square" anchor="t" lIns="0" rIns="0" tIns="0" bIns="0">
            <a:spAutoFit/>
          </a:bodyPr>
          <a:lstStyle/>
          <a:p>
            <a:pPr algn="l">
              <a:lnSpc>
                <a:spcPct val="106000"/>
              </a:lnSpc>
              <a:spcAft>
                <a:spcPts val="1200"/>
              </a:spcAft>
            </a:pPr>
            <a:r>
              <a:rPr sz="1250" b="0">
                <a:solidFill>
                  <a:srgbClr val="5D6B7A"/>
                </a:solidFill>
                <a:latin typeface="Calibri"/>
              </a:rPr>
              <a:t>Figure 6.  A frozen corpus of 162 real incidents from this project's own history, scored on the dev split: 116 incidents, 33 controls. Bars right of zero are recall, left of zero are false alarms. The scripted watchdog reads status fields and flags nothing, 149 times out of 149. The twelve deterministic checks catch 11. A model reading raw artifact excerpts catches four to eight times more. The dotted line is the ceiling any rules-only arm has on this corpus: 56 of the 127 incidents declare no deterministic signal that could reach them.</a:t>
            </a:r>
          </a:p>
        </p:txBody>
      </p:sp>
      <p:sp>
        <p:nvSpPr>
          <p:cNvPr id="61" name="TextBox 60"/>
          <p:cNvSpPr txBox="1"/>
          <p:nvPr/>
        </p:nvSpPr>
        <p:spPr>
          <a:xfrm>
            <a:off x="32884110" y="12318961"/>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CONCLUSIONS</a:t>
            </a:r>
          </a:p>
        </p:txBody>
      </p:sp>
      <p:sp>
        <p:nvSpPr>
          <p:cNvPr id="62" name="Rectangle 61"/>
          <p:cNvSpPr/>
          <p:nvPr/>
        </p:nvSpPr>
        <p:spPr>
          <a:xfrm>
            <a:off x="32884110" y="12867601"/>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2884110" y="13068769"/>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1.  Initialisation beats architecture beats data. The data-collection lever the system was built around is the weakest of the three, and at +40,000 images it is negative.</a:t>
            </a:r>
          </a:p>
        </p:txBody>
      </p:sp>
      <p:sp>
        <p:nvSpPr>
          <p:cNvPr id="64" name="TextBox 63"/>
          <p:cNvSpPr txBox="1"/>
          <p:nvPr/>
        </p:nvSpPr>
        <p:spPr>
          <a:xfrm>
            <a:off x="32884110" y="13677353"/>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2.  The detector does not travel. 0.873 in-domain becomes 0.100 on another weed dataset, class-agnostic, same matcher both sides.</a:t>
            </a:r>
          </a:p>
        </p:txBody>
      </p:sp>
      <p:sp>
        <p:nvSpPr>
          <p:cNvPr id="65" name="TextBox 64"/>
          <p:cNvSpPr txBox="1"/>
          <p:nvPr/>
        </p:nvSpPr>
        <p:spPr>
          <a:xfrm>
            <a:off x="32884110" y="14285937"/>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3.  Web harvest supplies volume, not supervision. One of six audited sources clears a 0.90 label-precision bar.</a:t>
            </a:r>
          </a:p>
        </p:txBody>
      </p:sp>
      <p:sp>
        <p:nvSpPr>
          <p:cNvPr id="66" name="TextBox 65"/>
          <p:cNvSpPr txBox="1"/>
          <p:nvPr/>
        </p:nvSpPr>
        <p:spPr>
          <a:xfrm>
            <a:off x="32884110" y="14894521"/>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4.  Retrospective supervision needs the artifacts, not the status fields. A scripted watchdog over status fields caught none of 116 real incidents; a model reading the artifacts caught most.</a:t>
            </a:r>
          </a:p>
        </p:txBody>
      </p:sp>
      <p:sp>
        <p:nvSpPr>
          <p:cNvPr id="67" name="TextBox 66"/>
          <p:cNvSpPr txBox="1"/>
          <p:nvPr/>
        </p:nvSpPr>
        <p:spPr>
          <a:xfrm>
            <a:off x="32884110" y="15503105"/>
            <a:ext cx="10184130" cy="365760"/>
          </a:xfrm>
          <a:prstGeom prst="rect">
            <a:avLst/>
          </a:prstGeom>
          <a:noFill/>
        </p:spPr>
        <p:txBody>
          <a:bodyPr wrap="square" anchor="t" lIns="0" rIns="0" tIns="0" bIns="0">
            <a:spAutoFit/>
          </a:bodyPr>
          <a:lstStyle/>
          <a:p>
            <a:pPr algn="l">
              <a:lnSpc>
                <a:spcPct val="106000"/>
              </a:lnSpc>
              <a:spcAft>
                <a:spcPts val="700"/>
              </a:spcAft>
            </a:pPr>
            <a:r>
              <a:rPr sz="1550" b="0">
                <a:solidFill>
                  <a:srgbClr val="12243A"/>
                </a:solidFill>
                <a:latin typeface="Calibri"/>
              </a:rPr>
              <a:t>5.  An unattended loop can report success for eight consecutive rounds while collecting nothing. Absence of a failure signal is not evidence of success.</a:t>
            </a:r>
          </a:p>
        </p:txBody>
      </p:sp>
      <p:sp>
        <p:nvSpPr>
          <p:cNvPr id="68" name="TextBox 67"/>
          <p:cNvSpPr txBox="1"/>
          <p:nvPr/>
        </p:nvSpPr>
        <p:spPr>
          <a:xfrm>
            <a:off x="32884110" y="16294569"/>
            <a:ext cx="10184130" cy="502920"/>
          </a:xfrm>
          <a:prstGeom prst="rect">
            <a:avLst/>
          </a:prstGeom>
          <a:noFill/>
        </p:spPr>
        <p:txBody>
          <a:bodyPr wrap="square" anchor="t" lIns="0" rIns="0" tIns="0" bIns="0">
            <a:spAutoFit/>
          </a:bodyPr>
          <a:lstStyle/>
          <a:p>
            <a:pPr algn="l">
              <a:lnSpc>
                <a:spcPct val="90000"/>
              </a:lnSpc>
              <a:spcAft>
                <a:spcPts val="600"/>
              </a:spcAft>
            </a:pPr>
            <a:r>
              <a:rPr sz="2600" b="1">
                <a:solidFill>
                  <a:srgbClr val="0A4D8C"/>
                </a:solidFill>
                <a:latin typeface="Calibri"/>
              </a:rPr>
              <a:t>LIMITATIONS</a:t>
            </a:r>
          </a:p>
        </p:txBody>
      </p:sp>
      <p:sp>
        <p:nvSpPr>
          <p:cNvPr id="69" name="Rectangle 68"/>
          <p:cNvSpPr/>
          <p:nvPr/>
        </p:nvSpPr>
        <p:spPr>
          <a:xfrm>
            <a:off x="32884110" y="16843209"/>
            <a:ext cx="10184130" cy="32004"/>
          </a:xfrm>
          <a:prstGeom prst="rect">
            <a:avLst/>
          </a:prstGeom>
          <a:solidFill>
            <a:srgbClr val="0A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884110" y="17044377"/>
            <a:ext cx="10184130" cy="365760"/>
          </a:xfrm>
          <a:prstGeom prst="rect">
            <a:avLst/>
          </a:prstGeom>
          <a:noFill/>
        </p:spPr>
        <p:txBody>
          <a:bodyPr wrap="square" anchor="t" lIns="0" rIns="0" tIns="0" bIns="0">
            <a:spAutoFit/>
          </a:bodyPr>
          <a:lstStyle/>
          <a:p>
            <a:pPr algn="l">
              <a:lnSpc>
                <a:spcPct val="106000"/>
              </a:lnSpc>
              <a:spcAft>
                <a:spcPts val="900"/>
              </a:spcAft>
            </a:pPr>
            <a:r>
              <a:rPr sz="1350" b="0">
                <a:solidFill>
                  <a:srgbClr val="5D6B7A"/>
                </a:solidFill>
                <a:latin typeface="Calibri"/>
              </a:rPr>
              <a:t>The holdout is used as the validation set, so every number is a maximum over many evaluations on the reported set; the optimism is measured (+0.002 to +0.017) but not removed. The tier ladder and the chain control are n = 1 per point with seed repeats in flight. The 27B supervision row is 107 of 149 cases and still running. The supervision corpus was labelled from this project's own engineering record by the same system that wrote the reviewer prompt, and its test split is 13 cases — too small to separate methods. Robot field frames are collected but not yet scored: the 358 stored frames contain no weeds, so they measure false positives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