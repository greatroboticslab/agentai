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Hongbo Zhang</a:t>
            </a:r>
            <a:r>
              <a:rPr sz="2000" b="1" baseline="30000">
                <a:solidFill>
                  <a:srgbClr val="FFFFFF"/>
                </a:solidFill>
                <a:latin typeface="Arial"/>
              </a:rPr>
              <a:t>1</a:t>
            </a:r>
            <a:r>
              <a:rPr sz="3200" b="1">
                <a:solidFill>
                  <a:srgbClr val="FFFFFF"/>
                </a:solidFill>
                <a:latin typeface="Arial"/>
              </a:rPr>
              <a:t>,     Harry He</a:t>
            </a:r>
            <a:r>
              <a:rPr sz="2000" b="1" baseline="30000">
                <a:solidFill>
                  <a:srgbClr val="FFFFFF"/>
                </a:solidFill>
                <a:latin typeface="Arial"/>
              </a:rPr>
              <a:t>1</a:t>
            </a:r>
            <a:r>
              <a:rPr sz="3200" b="1">
                <a:solidFill>
                  <a:srgbClr val="FFFFFF"/>
                </a:solidFill>
                <a:latin typeface="Arial"/>
              </a:rPr>
              <a:t>,     Song Cui</a:t>
            </a:r>
            <a:r>
              <a:rPr sz="2000" b="1" baseline="30000">
                <a:solidFill>
                  <a:srgbClr val="FFFFFF"/>
                </a:solidFill>
                <a:latin typeface="Arial"/>
              </a:rPr>
              <a:t>2</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¹Department of Engineering Technology   ·   ²School of Agriculture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h_drive.png"/>
          <p:cNvPicPr>
            <a:picLocks noChangeAspect="1"/>
          </p:cNvPicPr>
          <p:nvPr/>
        </p:nvPicPr>
        <p:blipFill>
          <a:blip r:embed="rId2"/>
          <a:stretch>
            <a:fillRect/>
          </a:stretch>
        </p:blipFill>
        <p:spPr>
          <a:xfrm>
            <a:off x="731520" y="9719436"/>
            <a:ext cx="10607040" cy="4294410"/>
          </a:xfrm>
          <a:prstGeom prst="rect">
            <a:avLst/>
          </a:prstGeom>
        </p:spPr>
      </p:pic>
      <p:sp>
        <p:nvSpPr>
          <p:cNvPr id="16" name="TextBox 15"/>
          <p:cNvSpPr txBox="1"/>
          <p:nvPr/>
        </p:nvSpPr>
        <p:spPr>
          <a:xfrm>
            <a:off x="731520" y="1410528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Robot 241, 2026-08-29: one 213 s pass through a crop plot. (h) GPS track from the board fix. (i) IMU heading over the same pass.</a:t>
            </a:r>
          </a:p>
        </p:txBody>
      </p:sp>
      <p:pic>
        <p:nvPicPr>
          <p:cNvPr id="17" name="Picture 16" descr="k_funnel.png"/>
          <p:cNvPicPr>
            <a:picLocks noChangeAspect="1"/>
          </p:cNvPicPr>
          <p:nvPr/>
        </p:nvPicPr>
        <p:blipFill>
          <a:blip r:embed="rId3"/>
          <a:stretch>
            <a:fillRect/>
          </a:stretch>
        </p:blipFill>
        <p:spPr>
          <a:xfrm>
            <a:off x="731520" y="14562486"/>
            <a:ext cx="10607040" cy="4525878"/>
          </a:xfrm>
          <a:prstGeom prst="rect">
            <a:avLst/>
          </a:prstGeom>
        </p:spPr>
      </p:pic>
      <p:sp>
        <p:nvSpPr>
          <p:cNvPr id="18" name="TextBox 17"/>
          <p:cNvSpPr txBox="1"/>
          <p:nvPr/>
        </p:nvSpPr>
        <p:spPr>
          <a:xfrm>
            <a:off x="731520" y="19179804"/>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One of six audited harvested sources clears the label-precision bar. The audit probe reads 1.000 on human-labelled cwd12, so the low scores are the data.</a:t>
            </a:r>
          </a:p>
        </p:txBody>
      </p:sp>
      <p:sp>
        <p:nvSpPr>
          <p:cNvPr id="19" name="TextBox 18"/>
          <p:cNvSpPr txBox="1"/>
          <p:nvPr/>
        </p:nvSpPr>
        <p:spPr>
          <a:xfrm>
            <a:off x="731520" y="19865604"/>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0" name="Rectangle 19"/>
          <p:cNvSpPr/>
          <p:nvPr/>
        </p:nvSpPr>
        <p:spPr>
          <a:xfrm>
            <a:off x="731520" y="20341092"/>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2059712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2" name="TextBox 21"/>
          <p:cNvSpPr txBox="1"/>
          <p:nvPr/>
        </p:nvSpPr>
        <p:spPr>
          <a:xfrm>
            <a:off x="731520" y="21560800"/>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3" name="TextBox 22"/>
          <p:cNvSpPr txBox="1"/>
          <p:nvPr/>
        </p:nvSpPr>
        <p:spPr>
          <a:xfrm>
            <a:off x="731520" y="22166591"/>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4" name="Rectangle 23"/>
          <p:cNvSpPr/>
          <p:nvPr/>
        </p:nvSpPr>
        <p:spPr>
          <a:xfrm>
            <a:off x="731520" y="22642079"/>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289811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26" name="Rectangle 25"/>
          <p:cNvSpPr/>
          <p:nvPr/>
        </p:nvSpPr>
        <p:spPr>
          <a:xfrm>
            <a:off x="731520" y="23443449"/>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23534889"/>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28" name="TextBox 27"/>
          <p:cNvSpPr txBox="1"/>
          <p:nvPr/>
        </p:nvSpPr>
        <p:spPr>
          <a:xfrm>
            <a:off x="7307884" y="23534889"/>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29" name="Rectangle 28"/>
          <p:cNvSpPr/>
          <p:nvPr/>
        </p:nvSpPr>
        <p:spPr>
          <a:xfrm>
            <a:off x="731520" y="23809209"/>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389150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1" name="TextBox 30"/>
          <p:cNvSpPr txBox="1"/>
          <p:nvPr/>
        </p:nvSpPr>
        <p:spPr>
          <a:xfrm>
            <a:off x="7307884" y="2389150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2" name="TextBox 31"/>
          <p:cNvSpPr txBox="1"/>
          <p:nvPr/>
        </p:nvSpPr>
        <p:spPr>
          <a:xfrm>
            <a:off x="731520" y="24202401"/>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3" name="TextBox 32"/>
          <p:cNvSpPr txBox="1"/>
          <p:nvPr/>
        </p:nvSpPr>
        <p:spPr>
          <a:xfrm>
            <a:off x="7307884" y="24202401"/>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4" name="TextBox 33"/>
          <p:cNvSpPr txBox="1"/>
          <p:nvPr/>
        </p:nvSpPr>
        <p:spPr>
          <a:xfrm>
            <a:off x="731520" y="2451329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5" name="TextBox 34"/>
          <p:cNvSpPr txBox="1"/>
          <p:nvPr/>
        </p:nvSpPr>
        <p:spPr>
          <a:xfrm>
            <a:off x="7307884" y="2451329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36" name="TextBox 35"/>
          <p:cNvSpPr txBox="1"/>
          <p:nvPr/>
        </p:nvSpPr>
        <p:spPr>
          <a:xfrm>
            <a:off x="731520" y="24824193"/>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37" name="TextBox 36"/>
          <p:cNvSpPr txBox="1"/>
          <p:nvPr/>
        </p:nvSpPr>
        <p:spPr>
          <a:xfrm>
            <a:off x="7307884" y="24824193"/>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38" name="Rectangle 37"/>
          <p:cNvSpPr/>
          <p:nvPr/>
        </p:nvSpPr>
        <p:spPr>
          <a:xfrm>
            <a:off x="731520" y="25153377"/>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0" name="Rectangle 39"/>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3" name="TextBox 42"/>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4" name="TextBox 43"/>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5" name="Rectangle 44"/>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47" name="TextBox 46"/>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48" name="TextBox 47"/>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49" name="Rectangle 48"/>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 of 116</a:t>
            </a:r>
          </a:p>
        </p:txBody>
      </p:sp>
      <p:sp>
        <p:nvSpPr>
          <p:cNvPr id="51" name="TextBox 50"/>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incidents a scripted watchdog caught</a:t>
            </a:r>
          </a:p>
        </p:txBody>
      </p:sp>
      <p:sp>
        <p:nvSpPr>
          <p:cNvPr id="52" name="TextBox 51"/>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149 cases, none flagged</a:t>
            </a:r>
          </a:p>
        </p:txBody>
      </p:sp>
      <p:sp>
        <p:nvSpPr>
          <p:cNvPr id="53" name="Rectangle 52"/>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5" name="TextBox 54"/>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56" name="TextBox 55"/>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57" name="TextBox 56"/>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58" name="Picture 57" descr="a_families.png"/>
          <p:cNvPicPr>
            <a:picLocks noChangeAspect="1"/>
          </p:cNvPicPr>
          <p:nvPr/>
        </p:nvPicPr>
        <p:blipFill>
          <a:blip r:embed="rId4"/>
          <a:stretch>
            <a:fillRect/>
          </a:stretch>
        </p:blipFill>
        <p:spPr>
          <a:xfrm>
            <a:off x="11704320" y="7763255"/>
            <a:ext cx="9989819" cy="5361065"/>
          </a:xfrm>
          <a:prstGeom prst="rect">
            <a:avLst/>
          </a:prstGeom>
        </p:spPr>
      </p:pic>
      <p:sp>
        <p:nvSpPr>
          <p:cNvPr id="59" name="TextBox 58"/>
          <p:cNvSpPr txBox="1"/>
          <p:nvPr/>
        </p:nvSpPr>
        <p:spPr>
          <a:xfrm>
            <a:off x="11704320" y="13215760"/>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Three detector families on the CottonWeedDet12 holdout, three seeds each. How the network is initialised is worth three times what the architecture is worth.</a:t>
            </a:r>
          </a:p>
        </p:txBody>
      </p:sp>
      <p:pic>
        <p:nvPicPr>
          <p:cNvPr id="60" name="Picture 59" descr="b_zeroshot.png"/>
          <p:cNvPicPr>
            <a:picLocks noChangeAspect="1"/>
          </p:cNvPicPr>
          <p:nvPr/>
        </p:nvPicPr>
        <p:blipFill>
          <a:blip r:embed="rId5"/>
          <a:stretch>
            <a:fillRect/>
          </a:stretch>
        </p:blipFill>
        <p:spPr>
          <a:xfrm>
            <a:off x="22197060" y="7763255"/>
            <a:ext cx="9989819" cy="4817913"/>
          </a:xfrm>
          <a:prstGeom prst="rect">
            <a:avLst/>
          </a:prstGeom>
        </p:spPr>
      </p:pic>
      <p:sp>
        <p:nvSpPr>
          <p:cNvPr id="61" name="TextBox 60"/>
          <p:cNvSpPr txBox="1"/>
          <p:nvPr/>
        </p:nvSpPr>
        <p:spPr>
          <a:xfrm>
            <a:off x="22197060" y="1267260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One deterministic pass per model, no repeats. Fifteen zero-shot vision-language models against the fine-tuned detector: the best of them reaches 0.434 against 0.929, and five produce no usable grounding at all.</a:t>
            </a:r>
          </a:p>
        </p:txBody>
      </p:sp>
      <p:sp>
        <p:nvSpPr>
          <p:cNvPr id="62" name="TextBox 61"/>
          <p:cNvSpPr txBox="1"/>
          <p:nvPr/>
        </p:nvSpPr>
        <p:spPr>
          <a:xfrm>
            <a:off x="11704320" y="1394728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3" name="Picture 62" descr="c_ladder.png"/>
          <p:cNvPicPr>
            <a:picLocks noChangeAspect="1"/>
          </p:cNvPicPr>
          <p:nvPr/>
        </p:nvPicPr>
        <p:blipFill>
          <a:blip r:embed="rId6"/>
          <a:stretch>
            <a:fillRect/>
          </a:stretch>
        </p:blipFill>
        <p:spPr>
          <a:xfrm>
            <a:off x="11704320" y="14258176"/>
            <a:ext cx="9989819" cy="6090839"/>
          </a:xfrm>
          <a:prstGeom prst="rect">
            <a:avLst/>
          </a:prstGeom>
        </p:spPr>
      </p:pic>
      <p:sp>
        <p:nvSpPr>
          <p:cNvPr id="64" name="TextBox 63"/>
          <p:cNvSpPr txBox="1"/>
          <p:nvPr/>
        </p:nvSpPr>
        <p:spPr>
          <a:xfrm>
            <a:off x="11704320" y="20440456"/>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Twelve times the training data. Error bars are the seed spread where three seeds exist; rungs still at one run are marked. The two class spaces differ only in the label a harvested box carries.</a:t>
            </a:r>
          </a:p>
        </p:txBody>
      </p:sp>
      <p:sp>
        <p:nvSpPr>
          <p:cNvPr id="65" name="TextBox 64"/>
          <p:cNvSpPr txBox="1"/>
          <p:nvPr/>
        </p:nvSpPr>
        <p:spPr>
          <a:xfrm>
            <a:off x="22197060" y="14258176"/>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66" name="Rectangle 65"/>
          <p:cNvSpPr/>
          <p:nvPr/>
        </p:nvSpPr>
        <p:spPr>
          <a:xfrm>
            <a:off x="22197060" y="14803514"/>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197060" y="14894955"/>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68" name="TextBox 67"/>
          <p:cNvSpPr txBox="1"/>
          <p:nvPr/>
        </p:nvSpPr>
        <p:spPr>
          <a:xfrm>
            <a:off x="26792377" y="14894955"/>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69" name="TextBox 68"/>
          <p:cNvSpPr txBox="1"/>
          <p:nvPr/>
        </p:nvSpPr>
        <p:spPr>
          <a:xfrm>
            <a:off x="30588508" y="14894955"/>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0" name="Rectangle 69"/>
          <p:cNvSpPr/>
          <p:nvPr/>
        </p:nvSpPr>
        <p:spPr>
          <a:xfrm>
            <a:off x="22197060" y="15169275"/>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97060" y="15251571"/>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2" name="TextBox 71"/>
          <p:cNvSpPr txBox="1"/>
          <p:nvPr/>
        </p:nvSpPr>
        <p:spPr>
          <a:xfrm>
            <a:off x="26792377" y="15251571"/>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3" name="TextBox 72"/>
          <p:cNvSpPr txBox="1"/>
          <p:nvPr/>
        </p:nvSpPr>
        <p:spPr>
          <a:xfrm>
            <a:off x="30588508" y="1525157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4" name="TextBox 73"/>
          <p:cNvSpPr txBox="1"/>
          <p:nvPr/>
        </p:nvSpPr>
        <p:spPr>
          <a:xfrm>
            <a:off x="22197060" y="15562467"/>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5" name="TextBox 74"/>
          <p:cNvSpPr txBox="1"/>
          <p:nvPr/>
        </p:nvSpPr>
        <p:spPr>
          <a:xfrm>
            <a:off x="26792377" y="15562467"/>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76" name="TextBox 75"/>
          <p:cNvSpPr txBox="1"/>
          <p:nvPr/>
        </p:nvSpPr>
        <p:spPr>
          <a:xfrm>
            <a:off x="30588508" y="1556246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7" name="TextBox 76"/>
          <p:cNvSpPr txBox="1"/>
          <p:nvPr/>
        </p:nvSpPr>
        <p:spPr>
          <a:xfrm>
            <a:off x="22197060" y="15873363"/>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78" name="TextBox 77"/>
          <p:cNvSpPr txBox="1"/>
          <p:nvPr/>
        </p:nvSpPr>
        <p:spPr>
          <a:xfrm>
            <a:off x="26792377" y="15873363"/>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79" name="TextBox 78"/>
          <p:cNvSpPr txBox="1"/>
          <p:nvPr/>
        </p:nvSpPr>
        <p:spPr>
          <a:xfrm>
            <a:off x="30588508" y="1587336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0" name="TextBox 79"/>
          <p:cNvSpPr txBox="1"/>
          <p:nvPr/>
        </p:nvSpPr>
        <p:spPr>
          <a:xfrm>
            <a:off x="22197060" y="16184259"/>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1" name="TextBox 80"/>
          <p:cNvSpPr txBox="1"/>
          <p:nvPr/>
        </p:nvSpPr>
        <p:spPr>
          <a:xfrm>
            <a:off x="26792377" y="16184259"/>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0.8436</a:t>
            </a:r>
          </a:p>
        </p:txBody>
      </p:sp>
      <p:sp>
        <p:nvSpPr>
          <p:cNvPr id="82" name="TextBox 81"/>
          <p:cNvSpPr txBox="1"/>
          <p:nvPr/>
        </p:nvSpPr>
        <p:spPr>
          <a:xfrm>
            <a:off x="30588508" y="1618425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a:t>
            </a:r>
          </a:p>
        </p:txBody>
      </p:sp>
      <p:sp>
        <p:nvSpPr>
          <p:cNvPr id="83" name="Rectangle 82"/>
          <p:cNvSpPr/>
          <p:nvPr/>
        </p:nvSpPr>
        <p:spPr>
          <a:xfrm>
            <a:off x="22197060" y="1651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197060" y="16714610"/>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−0.0028 and −0.0057 sit inside pooled seed spreads of 0.0032 and 0.0039, so neither is separable. Only +40,000 is, and it is still a single run.</a:t>
            </a:r>
          </a:p>
        </p:txBody>
      </p:sp>
      <p:sp>
        <p:nvSpPr>
          <p:cNvPr id="85" name="TextBox 84"/>
          <p:cNvSpPr txBox="1"/>
          <p:nvPr/>
        </p:nvSpPr>
        <p:spPr>
          <a:xfrm>
            <a:off x="11704320" y="21171976"/>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86" name="Picture 85" descr="e_supervision.png"/>
          <p:cNvPicPr>
            <a:picLocks noChangeAspect="1"/>
          </p:cNvPicPr>
          <p:nvPr/>
        </p:nvPicPr>
        <p:blipFill>
          <a:blip r:embed="rId7"/>
          <a:stretch>
            <a:fillRect/>
          </a:stretch>
        </p:blipFill>
        <p:spPr>
          <a:xfrm>
            <a:off x="11704320" y="21482872"/>
            <a:ext cx="9989819" cy="5399525"/>
          </a:xfrm>
          <a:prstGeom prst="rect">
            <a:avLst/>
          </a:prstGeom>
        </p:spPr>
      </p:pic>
      <p:sp>
        <p:nvSpPr>
          <p:cNvPr id="87" name="TextBox 86"/>
          <p:cNvSpPr txBox="1"/>
          <p:nvPr/>
        </p:nvSpPr>
        <p:spPr>
          <a:xfrm>
            <a:off x="11704320" y="2697383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Every arm on one frozen corpus of 162 real incidents from this project's own history. Up and to the left is better. The scripted watchdog sits at the origin: it flagged nothing, 149 times out of 149.</a:t>
            </a:r>
          </a:p>
        </p:txBody>
      </p:sp>
      <p:sp>
        <p:nvSpPr>
          <p:cNvPr id="88" name="TextBox 87"/>
          <p:cNvSpPr txBox="1"/>
          <p:nvPr/>
        </p:nvSpPr>
        <p:spPr>
          <a:xfrm>
            <a:off x="22197060" y="21482872"/>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Recall is over incidents, the false-alarm rate over controls, and an arm that cannot decide a case is counted as a miss.</a:t>
            </a:r>
          </a:p>
        </p:txBody>
      </p:sp>
      <p:sp>
        <p:nvSpPr>
          <p:cNvPr id="89" name="Rectangle 88"/>
          <p:cNvSpPr/>
          <p:nvPr/>
        </p:nvSpPr>
        <p:spPr>
          <a:xfrm>
            <a:off x="22197060" y="22237379"/>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2197060" y="22328819"/>
            <a:ext cx="4795113"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arm</a:t>
            </a:r>
          </a:p>
        </p:txBody>
      </p:sp>
      <p:sp>
        <p:nvSpPr>
          <p:cNvPr id="91" name="TextBox 90"/>
          <p:cNvSpPr txBox="1"/>
          <p:nvPr/>
        </p:nvSpPr>
        <p:spPr>
          <a:xfrm>
            <a:off x="26992173" y="22328819"/>
            <a:ext cx="2597353"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2" name="TextBox 91"/>
          <p:cNvSpPr txBox="1"/>
          <p:nvPr/>
        </p:nvSpPr>
        <p:spPr>
          <a:xfrm>
            <a:off x="29589526" y="22328819"/>
            <a:ext cx="2597353"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3" name="Rectangle 92"/>
          <p:cNvSpPr/>
          <p:nvPr/>
        </p:nvSpPr>
        <p:spPr>
          <a:xfrm>
            <a:off x="22197060" y="22603139"/>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197060" y="22685435"/>
            <a:ext cx="479511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95" name="TextBox 94"/>
          <p:cNvSpPr txBox="1"/>
          <p:nvPr/>
        </p:nvSpPr>
        <p:spPr>
          <a:xfrm>
            <a:off x="26992173" y="22685435"/>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0.000</a:t>
            </a:r>
          </a:p>
        </p:txBody>
      </p:sp>
      <p:sp>
        <p:nvSpPr>
          <p:cNvPr id="96" name="TextBox 95"/>
          <p:cNvSpPr txBox="1"/>
          <p:nvPr/>
        </p:nvSpPr>
        <p:spPr>
          <a:xfrm>
            <a:off x="29589526" y="22685435"/>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0.000</a:t>
            </a:r>
          </a:p>
        </p:txBody>
      </p:sp>
      <p:sp>
        <p:nvSpPr>
          <p:cNvPr id="97" name="TextBox 96"/>
          <p:cNvSpPr txBox="1"/>
          <p:nvPr/>
        </p:nvSpPr>
        <p:spPr>
          <a:xfrm>
            <a:off x="22197060" y="22996331"/>
            <a:ext cx="479511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98" name="TextBox 97"/>
          <p:cNvSpPr txBox="1"/>
          <p:nvPr/>
        </p:nvSpPr>
        <p:spPr>
          <a:xfrm>
            <a:off x="26992173" y="22996331"/>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99" name="TextBox 98"/>
          <p:cNvSpPr txBox="1"/>
          <p:nvPr/>
        </p:nvSpPr>
        <p:spPr>
          <a:xfrm>
            <a:off x="29589526" y="22996331"/>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00" name="TextBox 99"/>
          <p:cNvSpPr txBox="1"/>
          <p:nvPr/>
        </p:nvSpPr>
        <p:spPr>
          <a:xfrm>
            <a:off x="22197060" y="23307227"/>
            <a:ext cx="479511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a:t>
            </a:r>
          </a:p>
        </p:txBody>
      </p:sp>
      <p:sp>
        <p:nvSpPr>
          <p:cNvPr id="101" name="TextBox 100"/>
          <p:cNvSpPr txBox="1"/>
          <p:nvPr/>
        </p:nvSpPr>
        <p:spPr>
          <a:xfrm>
            <a:off x="26992173" y="23307227"/>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0.707</a:t>
            </a:r>
          </a:p>
        </p:txBody>
      </p:sp>
      <p:sp>
        <p:nvSpPr>
          <p:cNvPr id="102" name="TextBox 101"/>
          <p:cNvSpPr txBox="1"/>
          <p:nvPr/>
        </p:nvSpPr>
        <p:spPr>
          <a:xfrm>
            <a:off x="29589526" y="23307227"/>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03" name="TextBox 102"/>
          <p:cNvSpPr txBox="1"/>
          <p:nvPr/>
        </p:nvSpPr>
        <p:spPr>
          <a:xfrm>
            <a:off x="22197060" y="23618123"/>
            <a:ext cx="4795113" cy="365760"/>
          </a:xfrm>
          <a:prstGeom prst="rect">
            <a:avLst/>
          </a:prstGeom>
          <a:noFill/>
        </p:spPr>
        <p:txBody>
          <a:bodyPr wrap="square" lIns="0" rIns="0" tIns="0" bIns="0">
            <a:spAutoFit/>
          </a:bodyPr>
          <a:lstStyle/>
          <a:p>
            <a:pPr algn="l">
              <a:lnSpc>
                <a:spcPct val="100000"/>
              </a:lnSpc>
              <a:spcAft>
                <a:spcPts val="0"/>
              </a:spcAft>
            </a:pPr>
            <a:r>
              <a:rPr sz="1300" b="1">
                <a:solidFill>
                  <a:srgbClr val="1C6FB5"/>
                </a:solidFill>
                <a:latin typeface="Arial"/>
              </a:rPr>
              <a:t>Qwen3.8-27B</a:t>
            </a:r>
          </a:p>
        </p:txBody>
      </p:sp>
      <p:sp>
        <p:nvSpPr>
          <p:cNvPr id="104" name="TextBox 103"/>
          <p:cNvSpPr txBox="1"/>
          <p:nvPr/>
        </p:nvSpPr>
        <p:spPr>
          <a:xfrm>
            <a:off x="26992173" y="23618123"/>
            <a:ext cx="2597353"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0.802</a:t>
            </a:r>
          </a:p>
        </p:txBody>
      </p:sp>
      <p:sp>
        <p:nvSpPr>
          <p:cNvPr id="105" name="TextBox 104"/>
          <p:cNvSpPr txBox="1"/>
          <p:nvPr/>
        </p:nvSpPr>
        <p:spPr>
          <a:xfrm>
            <a:off x="29589526" y="23618123"/>
            <a:ext cx="2597353"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0.212</a:t>
            </a:r>
          </a:p>
        </p:txBody>
      </p:sp>
      <p:sp>
        <p:nvSpPr>
          <p:cNvPr id="106" name="Rectangle 105"/>
          <p:cNvSpPr/>
          <p:nvPr/>
        </p:nvSpPr>
        <p:spPr>
          <a:xfrm>
            <a:off x="22197060" y="23947307"/>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197060" y="24148475"/>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open models reading the same artifacts all reach 0.70–0.80 recall. What separates them is the false-alarm rate. Model choice buys precision here, not detection — the 14B reaches its recall by flagging 21 of the 33 controls.</a:t>
            </a:r>
          </a:p>
        </p:txBody>
      </p:sp>
      <p:sp>
        <p:nvSpPr>
          <p:cNvPr id="108" name="TextBox 107"/>
          <p:cNvSpPr txBox="1"/>
          <p:nvPr/>
        </p:nvSpPr>
        <p:spPr>
          <a:xfrm>
            <a:off x="11704320" y="27705357"/>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09" name="Picture 108" descr="f_rounds.png"/>
          <p:cNvPicPr>
            <a:picLocks noChangeAspect="1"/>
          </p:cNvPicPr>
          <p:nvPr/>
        </p:nvPicPr>
        <p:blipFill>
          <a:blip r:embed="rId8"/>
          <a:stretch>
            <a:fillRect/>
          </a:stretch>
        </p:blipFill>
        <p:spPr>
          <a:xfrm>
            <a:off x="11704320" y="28016253"/>
            <a:ext cx="20482560" cy="4202735"/>
          </a:xfrm>
          <a:prstGeom prst="rect">
            <a:avLst/>
          </a:prstGeom>
        </p:spPr>
      </p:pic>
      <p:sp>
        <p:nvSpPr>
          <p:cNvPr id="110" name="TextBox 109"/>
          <p:cNvSpPr txBox="1"/>
          <p:nvPr/>
        </p:nvSpPr>
        <p:spPr>
          <a:xfrm>
            <a:off x="11704320" y="32310428"/>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(f) Fifteen unattended rounds on a fixed holdout. (g) On round 15's exact dataset and schedule, starting fresh instead of from the previous round's weights.</a:t>
            </a:r>
          </a:p>
        </p:txBody>
      </p:sp>
      <p:sp>
        <p:nvSpPr>
          <p:cNvPr id="111" name="TextBox 110"/>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12" name="Rectangle 111"/>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3" name="Picture 112" descr="d_wall.png"/>
          <p:cNvPicPr>
            <a:picLocks noChangeAspect="1"/>
          </p:cNvPicPr>
          <p:nvPr/>
        </p:nvPicPr>
        <p:blipFill>
          <a:blip r:embed="rId9"/>
          <a:stretch>
            <a:fillRect/>
          </a:stretch>
        </p:blipFill>
        <p:spPr>
          <a:xfrm>
            <a:off x="32552640" y="5577840"/>
            <a:ext cx="10607040" cy="6362678"/>
          </a:xfrm>
          <a:prstGeom prst="rect">
            <a:avLst/>
          </a:prstGeom>
        </p:spPr>
      </p:pic>
      <p:sp>
        <p:nvSpPr>
          <p:cNvPr id="114" name="TextBox 113"/>
          <p:cNvSpPr txBox="1"/>
          <p:nvPr/>
        </p:nvSpPr>
        <p:spPr>
          <a:xfrm>
            <a:off x="32552640" y="12031958"/>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The same three checkpoints and the same matcher on both sides, so the evaluator offset cancels. A detector trained on one field does not transfer to another.</a:t>
            </a:r>
          </a:p>
        </p:txBody>
      </p:sp>
      <p:pic>
        <p:nvPicPr>
          <p:cNvPr id="115" name="Picture 114" descr="j_species.png"/>
          <p:cNvPicPr>
            <a:picLocks noChangeAspect="1"/>
          </p:cNvPicPr>
          <p:nvPr/>
        </p:nvPicPr>
        <p:blipFill>
          <a:blip r:embed="rId10"/>
          <a:stretch>
            <a:fillRect/>
          </a:stretch>
        </p:blipFill>
        <p:spPr>
          <a:xfrm>
            <a:off x="32552640" y="12672038"/>
            <a:ext cx="10607040" cy="5429067"/>
          </a:xfrm>
          <a:prstGeom prst="rect">
            <a:avLst/>
          </a:prstGeom>
        </p:spPr>
      </p:pic>
      <p:sp>
        <p:nvSpPr>
          <p:cNvPr id="116" name="TextBox 115"/>
          <p:cNvSpPr txBox="1"/>
          <p:nvPr/>
        </p:nvSpPr>
        <p:spPr>
          <a:xfrm>
            <a:off x="32552640" y="18192545"/>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Per-species performance of the deployable checkpoint. The spread across the twelve classes is 0.214, roughly seventy times the seed noise.</a:t>
            </a:r>
          </a:p>
        </p:txBody>
      </p:sp>
      <p:sp>
        <p:nvSpPr>
          <p:cNvPr id="117" name="TextBox 116"/>
          <p:cNvSpPr txBox="1"/>
          <p:nvPr/>
        </p:nvSpPr>
        <p:spPr>
          <a:xfrm>
            <a:off x="32552640" y="18878345"/>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18" name="Rectangle 117"/>
          <p:cNvSpPr/>
          <p:nvPr/>
        </p:nvSpPr>
        <p:spPr>
          <a:xfrm>
            <a:off x="32552640" y="19353833"/>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2552640" y="19609865"/>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20" name="TextBox 119"/>
          <p:cNvSpPr txBox="1"/>
          <p:nvPr/>
        </p:nvSpPr>
        <p:spPr>
          <a:xfrm>
            <a:off x="32552640" y="20315731"/>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21" name="TextBox 120"/>
          <p:cNvSpPr txBox="1"/>
          <p:nvPr/>
        </p:nvSpPr>
        <p:spPr>
          <a:xfrm>
            <a:off x="32552640" y="20820175"/>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22" name="TextBox 121"/>
          <p:cNvSpPr txBox="1"/>
          <p:nvPr/>
        </p:nvSpPr>
        <p:spPr>
          <a:xfrm>
            <a:off x="32552640" y="21324619"/>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A scripted watchdog over status fields caught none of 116 real incidents; a model reading the artifacts caught 93.</a:t>
            </a:r>
          </a:p>
        </p:txBody>
      </p:sp>
      <p:sp>
        <p:nvSpPr>
          <p:cNvPr id="123" name="TextBox 122"/>
          <p:cNvSpPr txBox="1"/>
          <p:nvPr/>
        </p:nvSpPr>
        <p:spPr>
          <a:xfrm>
            <a:off x="32552640" y="21829063"/>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24" name="TextBox 123"/>
          <p:cNvSpPr txBox="1"/>
          <p:nvPr/>
        </p:nvSpPr>
        <p:spPr>
          <a:xfrm>
            <a:off x="32552640" y="2242494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25" name="Rectangle 124"/>
          <p:cNvSpPr/>
          <p:nvPr/>
        </p:nvSpPr>
        <p:spPr>
          <a:xfrm>
            <a:off x="32552640" y="2290043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32552640" y="23156467"/>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27" name="TextBox 126"/>
          <p:cNvSpPr txBox="1"/>
          <p:nvPr/>
        </p:nvSpPr>
        <p:spPr>
          <a:xfrm>
            <a:off x="32552640" y="24324994"/>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28" name="Rectangle 127"/>
          <p:cNvSpPr/>
          <p:nvPr/>
        </p:nvSpPr>
        <p:spPr>
          <a:xfrm>
            <a:off x="32552640" y="24800482"/>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2552640" y="25056514"/>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