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Harry He</a:t>
            </a:r>
            <a:r>
              <a:rPr sz="2000" b="1" baseline="30000">
                <a:solidFill>
                  <a:srgbClr val="FFFFFF"/>
                </a:solidFill>
                <a:latin typeface="Arial"/>
              </a:rPr>
              <a:t/>
            </a:r>
            <a:r>
              <a:rPr sz="3200" b="1">
                <a:solidFill>
                  <a:srgbClr val="FFFFFF"/>
                </a:solidFill>
                <a:latin typeface="Arial"/>
              </a:rPr>
              <a:t>,     Hongbo Zhang</a:t>
            </a:r>
            <a:r>
              <a:rPr sz="2000" b="1" baseline="30000">
                <a:solidFill>
                  <a:srgbClr val="FFFFFF"/>
                </a:solidFill>
                <a:latin typeface="Arial"/>
              </a:rPr>
              <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Department of Engineering Technology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l_robots.png"/>
          <p:cNvPicPr>
            <a:picLocks noChangeAspect="1"/>
          </p:cNvPicPr>
          <p:nvPr/>
        </p:nvPicPr>
        <p:blipFill>
          <a:blip r:embed="rId2"/>
          <a:stretch>
            <a:fillRect/>
          </a:stretch>
        </p:blipFill>
        <p:spPr>
          <a:xfrm>
            <a:off x="731520" y="9719436"/>
            <a:ext cx="10607040" cy="2103120"/>
          </a:xfrm>
          <a:prstGeom prst="rect">
            <a:avLst/>
          </a:prstGeom>
        </p:spPr>
      </p:pic>
      <p:sp>
        <p:nvSpPr>
          <p:cNvPr id="16" name="TextBox 15"/>
          <p:cNvSpPr txBox="1"/>
          <p:nvPr/>
        </p:nvSpPr>
        <p:spPr>
          <a:xfrm>
            <a:off x="731520" y="1191399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Frames as recorded, unenhanced. Robot 241 has sent 2,259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pic>
        <p:nvPicPr>
          <p:cNvPr id="17" name="Picture 16" descr="h_drive.png"/>
          <p:cNvPicPr>
            <a:picLocks noChangeAspect="1"/>
          </p:cNvPicPr>
          <p:nvPr/>
        </p:nvPicPr>
        <p:blipFill>
          <a:blip r:embed="rId3"/>
          <a:stretch>
            <a:fillRect/>
          </a:stretch>
        </p:blipFill>
        <p:spPr>
          <a:xfrm>
            <a:off x="731520" y="12736957"/>
            <a:ext cx="10607040" cy="3840480"/>
          </a:xfrm>
          <a:prstGeom prst="rect">
            <a:avLst/>
          </a:prstGeom>
        </p:spPr>
      </p:pic>
      <p:sp>
        <p:nvSpPr>
          <p:cNvPr id="18" name="TextBox 17"/>
          <p:cNvSpPr txBox="1"/>
          <p:nvPr/>
        </p:nvSpPr>
        <p:spPr>
          <a:xfrm>
            <a:off x="731520" y="1666887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Robot 241, 2026-08-29: one 213 s pass through a crop plot. (h) GPS track from the board fix. (i) IMU heading over the same pass.</a:t>
            </a:r>
          </a:p>
        </p:txBody>
      </p:sp>
      <p:pic>
        <p:nvPicPr>
          <p:cNvPr id="19" name="Picture 18" descr="k_funnel.png"/>
          <p:cNvPicPr>
            <a:picLocks noChangeAspect="1"/>
          </p:cNvPicPr>
          <p:nvPr/>
        </p:nvPicPr>
        <p:blipFill>
          <a:blip r:embed="rId4"/>
          <a:stretch>
            <a:fillRect/>
          </a:stretch>
        </p:blipFill>
        <p:spPr>
          <a:xfrm>
            <a:off x="731520" y="17126077"/>
            <a:ext cx="10607040" cy="2743200"/>
          </a:xfrm>
          <a:prstGeom prst="rect">
            <a:avLst/>
          </a:prstGeom>
        </p:spPr>
      </p:pic>
      <p:sp>
        <p:nvSpPr>
          <p:cNvPr id="20" name="TextBox 19"/>
          <p:cNvSpPr txBox="1"/>
          <p:nvPr/>
        </p:nvSpPr>
        <p:spPr>
          <a:xfrm>
            <a:off x="731520" y="1996071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One of six audited harvested sources clears the label-precision bar. The audit probe reads 1.000 on human-labelled cwd12, so the low scores are the data.</a:t>
            </a:r>
          </a:p>
        </p:txBody>
      </p:sp>
      <p:pic>
        <p:nvPicPr>
          <p:cNvPr id="21" name="Picture 20" descr="s_sources.png"/>
          <p:cNvPicPr>
            <a:picLocks noChangeAspect="1"/>
          </p:cNvPicPr>
          <p:nvPr/>
        </p:nvPicPr>
        <p:blipFill>
          <a:blip r:embed="rId5"/>
          <a:stretch>
            <a:fillRect/>
          </a:stretch>
        </p:blipFill>
        <p:spPr>
          <a:xfrm>
            <a:off x="731520" y="20600797"/>
            <a:ext cx="10607040" cy="3108960"/>
          </a:xfrm>
          <a:prstGeom prst="rect">
            <a:avLst/>
          </a:prstGeom>
        </p:spPr>
      </p:pic>
      <p:sp>
        <p:nvSpPr>
          <p:cNvPr id="22" name="TextBox 21"/>
          <p:cNvSpPr txBox="1"/>
          <p:nvPr/>
        </p:nvSpPr>
        <p:spPr>
          <a:xfrm>
            <a:off x="731520" y="2380119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The six audited harvested sources. The same probe reads 1.000 on human-labelled CottonWeedDet12, so a source at 0.184 is the data and not the instrument. Only the source at the top clears the bar, and it supplies 3,208 of the 13,527 audited images.</a:t>
            </a:r>
          </a:p>
        </p:txBody>
      </p:sp>
      <p:sp>
        <p:nvSpPr>
          <p:cNvPr id="23" name="TextBox 22"/>
          <p:cNvSpPr txBox="1"/>
          <p:nvPr/>
        </p:nvSpPr>
        <p:spPr>
          <a:xfrm>
            <a:off x="731520" y="2448699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4" name="Rectangle 23"/>
          <p:cNvSpPr/>
          <p:nvPr/>
        </p:nvSpPr>
        <p:spPr>
          <a:xfrm>
            <a:off x="731520" y="2496248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5218517"/>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6" name="TextBox 25"/>
          <p:cNvSpPr txBox="1"/>
          <p:nvPr/>
        </p:nvSpPr>
        <p:spPr>
          <a:xfrm>
            <a:off x="731520" y="26182193"/>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7" name="TextBox 26"/>
          <p:cNvSpPr txBox="1"/>
          <p:nvPr/>
        </p:nvSpPr>
        <p:spPr>
          <a:xfrm>
            <a:off x="731520" y="2678798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8" name="Rectangle 27"/>
          <p:cNvSpPr/>
          <p:nvPr/>
        </p:nvSpPr>
        <p:spPr>
          <a:xfrm>
            <a:off x="731520" y="2726347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7519503"/>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30" name="Rectangle 29"/>
          <p:cNvSpPr/>
          <p:nvPr/>
        </p:nvSpPr>
        <p:spPr>
          <a:xfrm>
            <a:off x="731520" y="28064841"/>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28156281"/>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32" name="TextBox 31"/>
          <p:cNvSpPr txBox="1"/>
          <p:nvPr/>
        </p:nvSpPr>
        <p:spPr>
          <a:xfrm>
            <a:off x="7307884" y="28156281"/>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33" name="Rectangle 32"/>
          <p:cNvSpPr/>
          <p:nvPr/>
        </p:nvSpPr>
        <p:spPr>
          <a:xfrm>
            <a:off x="731520" y="28430601"/>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2851289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5" name="TextBox 34"/>
          <p:cNvSpPr txBox="1"/>
          <p:nvPr/>
        </p:nvSpPr>
        <p:spPr>
          <a:xfrm>
            <a:off x="7307884" y="2851289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6" name="TextBox 35"/>
          <p:cNvSpPr txBox="1"/>
          <p:nvPr/>
        </p:nvSpPr>
        <p:spPr>
          <a:xfrm>
            <a:off x="731520" y="28823793"/>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7" name="TextBox 36"/>
          <p:cNvSpPr txBox="1"/>
          <p:nvPr/>
        </p:nvSpPr>
        <p:spPr>
          <a:xfrm>
            <a:off x="7307884" y="28823793"/>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8" name="TextBox 37"/>
          <p:cNvSpPr txBox="1"/>
          <p:nvPr/>
        </p:nvSpPr>
        <p:spPr>
          <a:xfrm>
            <a:off x="731520" y="29134689"/>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9" name="TextBox 38"/>
          <p:cNvSpPr txBox="1"/>
          <p:nvPr/>
        </p:nvSpPr>
        <p:spPr>
          <a:xfrm>
            <a:off x="7307884" y="29134689"/>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40" name="TextBox 39"/>
          <p:cNvSpPr txBox="1"/>
          <p:nvPr/>
        </p:nvSpPr>
        <p:spPr>
          <a:xfrm>
            <a:off x="731520" y="2944558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41" name="TextBox 40"/>
          <p:cNvSpPr txBox="1"/>
          <p:nvPr/>
        </p:nvSpPr>
        <p:spPr>
          <a:xfrm>
            <a:off x="7307884" y="2944558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42" name="Rectangle 41"/>
          <p:cNvSpPr/>
          <p:nvPr/>
        </p:nvSpPr>
        <p:spPr>
          <a:xfrm>
            <a:off x="731520" y="29774769"/>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4" name="Rectangle 43"/>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7" name="TextBox 46"/>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8" name="TextBox 47"/>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9" name="Rectangle 48"/>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51" name="TextBox 50"/>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52" name="TextBox 51"/>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53" name="Rectangle 52"/>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149 of 149</a:t>
            </a:r>
          </a:p>
        </p:txBody>
      </p:sp>
      <p:sp>
        <p:nvSpPr>
          <p:cNvPr id="55" name="TextBox 54"/>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cases the watchdog could not decide</a:t>
            </a:r>
          </a:p>
        </p:txBody>
      </p:sp>
      <p:sp>
        <p:nvSpPr>
          <p:cNvPr id="56" name="TextBox 55"/>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116 incidents among them</a:t>
            </a:r>
          </a:p>
        </p:txBody>
      </p:sp>
      <p:sp>
        <p:nvSpPr>
          <p:cNvPr id="57" name="Rectangle 56"/>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9" name="TextBox 58"/>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60" name="TextBox 59"/>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61" name="TextBox 60"/>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62" name="Picture 61" descr="a_families.png"/>
          <p:cNvPicPr>
            <a:picLocks noChangeAspect="1"/>
          </p:cNvPicPr>
          <p:nvPr/>
        </p:nvPicPr>
        <p:blipFill>
          <a:blip r:embed="rId6"/>
          <a:stretch>
            <a:fillRect/>
          </a:stretch>
        </p:blipFill>
        <p:spPr>
          <a:xfrm>
            <a:off x="11704320" y="7763255"/>
            <a:ext cx="9989819" cy="2560710"/>
          </a:xfrm>
          <a:prstGeom prst="rect">
            <a:avLst/>
          </a:prstGeom>
        </p:spPr>
      </p:pic>
      <p:sp>
        <p:nvSpPr>
          <p:cNvPr id="63" name="TextBox 62"/>
          <p:cNvSpPr txBox="1"/>
          <p:nvPr/>
        </p:nvSpPr>
        <p:spPr>
          <a:xfrm>
            <a:off x="11704320" y="10415405"/>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Three detector families on the sealed 1,977-image CottonWeedDet12 holdout. Filled mark: the mean over seeds 101/102/103, with 1 s.d.; open marks behind it: the three runs themselves. How the network is initialised is worth three times what the architecture is worth. The pretrained-versus-Mamba pair carries no bracket on purpose -- one side started from COCO weights and the other from scratch, so it is not an architecture comparison.</a:t>
            </a:r>
          </a:p>
        </p:txBody>
      </p:sp>
      <p:pic>
        <p:nvPicPr>
          <p:cNvPr id="64" name="Picture 63" descr="b_zeroshot.png"/>
          <p:cNvPicPr>
            <a:picLocks noChangeAspect="1"/>
          </p:cNvPicPr>
          <p:nvPr/>
        </p:nvPicPr>
        <p:blipFill>
          <a:blip r:embed="rId7"/>
          <a:stretch>
            <a:fillRect/>
          </a:stretch>
        </p:blipFill>
        <p:spPr>
          <a:xfrm>
            <a:off x="22197060" y="7763255"/>
            <a:ext cx="9989819" cy="3841066"/>
          </a:xfrm>
          <a:prstGeom prst="rect">
            <a:avLst/>
          </a:prstGeom>
        </p:spPr>
      </p:pic>
      <p:sp>
        <p:nvSpPr>
          <p:cNvPr id="65" name="TextBox 64"/>
          <p:cNvSpPr txBox="1"/>
          <p:nvPr/>
        </p:nvSpPr>
        <p:spPr>
          <a:xfrm>
            <a:off x="22197060" y="11695762"/>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One deterministic pass per model, no repeats. Fifteen zero-shot vision-language models against the fine-tuned detector: the best of them reaches 0.434 against 0.929, and five produce no usable grounding at all.</a:t>
            </a:r>
          </a:p>
        </p:txBody>
      </p:sp>
      <p:sp>
        <p:nvSpPr>
          <p:cNvPr id="66" name="TextBox 65"/>
          <p:cNvSpPr txBox="1"/>
          <p:nvPr/>
        </p:nvSpPr>
        <p:spPr>
          <a:xfrm>
            <a:off x="11704320" y="12427282"/>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7" name="Picture 66" descr="c_ladder.png"/>
          <p:cNvPicPr>
            <a:picLocks noChangeAspect="1"/>
          </p:cNvPicPr>
          <p:nvPr/>
        </p:nvPicPr>
        <p:blipFill>
          <a:blip r:embed="rId8"/>
          <a:stretch>
            <a:fillRect/>
          </a:stretch>
        </p:blipFill>
        <p:spPr>
          <a:xfrm>
            <a:off x="11704320" y="12738178"/>
            <a:ext cx="9989819" cy="3017980"/>
          </a:xfrm>
          <a:prstGeom prst="rect">
            <a:avLst/>
          </a:prstGeom>
        </p:spPr>
      </p:pic>
      <p:sp>
        <p:nvSpPr>
          <p:cNvPr id="68" name="TextBox 67"/>
          <p:cNvSpPr txBox="1"/>
          <p:nvPr/>
        </p:nvSpPr>
        <p:spPr>
          <a:xfrm>
            <a:off x="11704320" y="1584759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9" name="TextBox 68"/>
          <p:cNvSpPr txBox="1"/>
          <p:nvPr/>
        </p:nvSpPr>
        <p:spPr>
          <a:xfrm>
            <a:off x="22197060" y="12738178"/>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70" name="Rectangle 69"/>
          <p:cNvSpPr/>
          <p:nvPr/>
        </p:nvSpPr>
        <p:spPr>
          <a:xfrm>
            <a:off x="22197060" y="13283516"/>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97060" y="13374956"/>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72" name="TextBox 71"/>
          <p:cNvSpPr txBox="1"/>
          <p:nvPr/>
        </p:nvSpPr>
        <p:spPr>
          <a:xfrm>
            <a:off x="26792377" y="13374956"/>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73" name="TextBox 72"/>
          <p:cNvSpPr txBox="1"/>
          <p:nvPr/>
        </p:nvSpPr>
        <p:spPr>
          <a:xfrm>
            <a:off x="30588508" y="13374956"/>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4" name="Rectangle 73"/>
          <p:cNvSpPr/>
          <p:nvPr/>
        </p:nvSpPr>
        <p:spPr>
          <a:xfrm>
            <a:off x="22197060" y="13649276"/>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197060" y="13731572"/>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6" name="TextBox 75"/>
          <p:cNvSpPr txBox="1"/>
          <p:nvPr/>
        </p:nvSpPr>
        <p:spPr>
          <a:xfrm>
            <a:off x="26792377" y="13731572"/>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7" name="TextBox 76"/>
          <p:cNvSpPr txBox="1"/>
          <p:nvPr/>
        </p:nvSpPr>
        <p:spPr>
          <a:xfrm>
            <a:off x="30588508" y="13731572"/>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8" name="TextBox 77"/>
          <p:cNvSpPr txBox="1"/>
          <p:nvPr/>
        </p:nvSpPr>
        <p:spPr>
          <a:xfrm>
            <a:off x="22197060" y="14042468"/>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9" name="TextBox 78"/>
          <p:cNvSpPr txBox="1"/>
          <p:nvPr/>
        </p:nvSpPr>
        <p:spPr>
          <a:xfrm>
            <a:off x="26792377" y="14042468"/>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80" name="TextBox 79"/>
          <p:cNvSpPr txBox="1"/>
          <p:nvPr/>
        </p:nvSpPr>
        <p:spPr>
          <a:xfrm>
            <a:off x="30588508" y="14042468"/>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1" name="TextBox 80"/>
          <p:cNvSpPr txBox="1"/>
          <p:nvPr/>
        </p:nvSpPr>
        <p:spPr>
          <a:xfrm>
            <a:off x="22197060" y="14353364"/>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82" name="TextBox 81"/>
          <p:cNvSpPr txBox="1"/>
          <p:nvPr/>
        </p:nvSpPr>
        <p:spPr>
          <a:xfrm>
            <a:off x="26792377" y="14353364"/>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83" name="TextBox 82"/>
          <p:cNvSpPr txBox="1"/>
          <p:nvPr/>
        </p:nvSpPr>
        <p:spPr>
          <a:xfrm>
            <a:off x="30588508" y="14353364"/>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4" name="TextBox 83"/>
          <p:cNvSpPr txBox="1"/>
          <p:nvPr/>
        </p:nvSpPr>
        <p:spPr>
          <a:xfrm>
            <a:off x="22197060" y="14664260"/>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5" name="TextBox 84"/>
          <p:cNvSpPr txBox="1"/>
          <p:nvPr/>
        </p:nvSpPr>
        <p:spPr>
          <a:xfrm>
            <a:off x="26792377" y="14664260"/>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0.8448 ± 0.0018</a:t>
            </a:r>
          </a:p>
        </p:txBody>
      </p:sp>
      <p:sp>
        <p:nvSpPr>
          <p:cNvPr id="86" name="TextBox 85"/>
          <p:cNvSpPr txBox="1"/>
          <p:nvPr/>
        </p:nvSpPr>
        <p:spPr>
          <a:xfrm>
            <a:off x="30588508" y="14664260"/>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7" name="Rectangle 86"/>
          <p:cNvSpPr/>
          <p:nvPr/>
        </p:nvSpPr>
        <p:spPr>
          <a:xfrm>
            <a:off x="22197060" y="1499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197060" y="15194611"/>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first two steps sit inside the pooled seed spread and are not separable. The full +40,000 is: −0.0189 against the core, 8.2 σ, three seeds at every rung.</a:t>
            </a:r>
          </a:p>
        </p:txBody>
      </p:sp>
      <p:sp>
        <p:nvSpPr>
          <p:cNvPr id="89" name="TextBox 88"/>
          <p:cNvSpPr txBox="1"/>
          <p:nvPr/>
        </p:nvSpPr>
        <p:spPr>
          <a:xfrm>
            <a:off x="11704320" y="16761998"/>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90" name="Picture 89" descr="e_supervision.png"/>
          <p:cNvPicPr>
            <a:picLocks noChangeAspect="1"/>
          </p:cNvPicPr>
          <p:nvPr/>
        </p:nvPicPr>
        <p:blipFill>
          <a:blip r:embed="rId9"/>
          <a:stretch>
            <a:fillRect/>
          </a:stretch>
        </p:blipFill>
        <p:spPr>
          <a:xfrm>
            <a:off x="11704320" y="17072894"/>
            <a:ext cx="9989819" cy="4938513"/>
          </a:xfrm>
          <a:prstGeom prst="rect">
            <a:avLst/>
          </a:prstGeom>
        </p:spPr>
      </p:pic>
      <p:sp>
        <p:nvSpPr>
          <p:cNvPr id="91" name="TextBox 90"/>
          <p:cNvSpPr txBox="1"/>
          <p:nvPr/>
        </p:nvSpPr>
        <p:spPr>
          <a:xfrm>
            <a:off x="11704320" y="2210284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(e) Every arm on one frozen corpus of real incidents from this project's own history, scored by the project's own scorer. Each mark carries its own denominator: two arms are still running and stand on 57 and 39 incidents against the others' 112 to 114, and bars are 95% Wilson intervals. Open circle: the model reads raw artifact excerpts; the arrow runs to the same model given a retrieval round over them, and is drawn solid only where both ends were scored on the same cases. (f) The same arms, asking how much of that detection quotes a line that resolves in the artifact. The 7 B has the highest recall on the page and 0.55 of it is unevidenced; the 27 B has no gap at all. Recall alone would have cleared the size class this campaign's own reviewer ran on for a week. The intervals are wide and they overlap: on this corpus the ordering among the model arms is not established, and the grounded gap is.</a:t>
            </a:r>
          </a:p>
        </p:txBody>
      </p:sp>
      <p:sp>
        <p:nvSpPr>
          <p:cNvPr id="92" name="TextBox 91"/>
          <p:cNvSpPr txBox="1"/>
          <p:nvPr/>
        </p:nvSpPr>
        <p:spPr>
          <a:xfrm>
            <a:off x="22197060" y="17072894"/>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by the project's own scorer re-reading committed verdicts. A detection counts only when the arm returns an issue verdict carrying a finding at or above a severity bar; “grounded” additionally requires that finding to quote a line that resolves in the artifact. L2 reads raw artifact excerpts; L3 adds a retrieval round over them.</a:t>
            </a:r>
          </a:p>
        </p:txBody>
      </p:sp>
      <p:sp>
        <p:nvSpPr>
          <p:cNvPr id="93" name="Rectangle 92"/>
          <p:cNvSpPr/>
          <p:nvPr/>
        </p:nvSpPr>
        <p:spPr>
          <a:xfrm>
            <a:off x="22197060" y="18245739"/>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197060" y="18337179"/>
            <a:ext cx="1698269"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reviewer</a:t>
            </a:r>
          </a:p>
        </p:txBody>
      </p:sp>
      <p:sp>
        <p:nvSpPr>
          <p:cNvPr id="95" name="TextBox 94"/>
          <p:cNvSpPr txBox="1"/>
          <p:nvPr/>
        </p:nvSpPr>
        <p:spPr>
          <a:xfrm>
            <a:off x="23895329" y="18337179"/>
            <a:ext cx="239755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reads</a:t>
            </a:r>
          </a:p>
        </p:txBody>
      </p:sp>
      <p:sp>
        <p:nvSpPr>
          <p:cNvPr id="96" name="TextBox 95"/>
          <p:cNvSpPr txBox="1"/>
          <p:nvPr/>
        </p:nvSpPr>
        <p:spPr>
          <a:xfrm>
            <a:off x="26292886" y="18337179"/>
            <a:ext cx="1198778"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7" name="TextBox 96"/>
          <p:cNvSpPr txBox="1"/>
          <p:nvPr/>
        </p:nvSpPr>
        <p:spPr>
          <a:xfrm>
            <a:off x="27491664" y="18337179"/>
            <a:ext cx="129867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grounded</a:t>
            </a:r>
          </a:p>
        </p:txBody>
      </p:sp>
      <p:sp>
        <p:nvSpPr>
          <p:cNvPr id="98" name="TextBox 97"/>
          <p:cNvSpPr txBox="1"/>
          <p:nvPr/>
        </p:nvSpPr>
        <p:spPr>
          <a:xfrm>
            <a:off x="28790341" y="18337179"/>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9" name="TextBox 98"/>
          <p:cNvSpPr txBox="1"/>
          <p:nvPr/>
        </p:nvSpPr>
        <p:spPr>
          <a:xfrm>
            <a:off x="30188916" y="18337179"/>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citations valid</a:t>
            </a:r>
          </a:p>
        </p:txBody>
      </p:sp>
      <p:sp>
        <p:nvSpPr>
          <p:cNvPr id="100" name="TextBox 99"/>
          <p:cNvSpPr txBox="1"/>
          <p:nvPr/>
        </p:nvSpPr>
        <p:spPr>
          <a:xfrm>
            <a:off x="31587490" y="18337179"/>
            <a:ext cx="599389"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cases</a:t>
            </a:r>
          </a:p>
        </p:txBody>
      </p:sp>
      <p:sp>
        <p:nvSpPr>
          <p:cNvPr id="101" name="Rectangle 100"/>
          <p:cNvSpPr/>
          <p:nvPr/>
        </p:nvSpPr>
        <p:spPr>
          <a:xfrm>
            <a:off x="22197060" y="18611499"/>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197060" y="18693795"/>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103" name="TextBox 102"/>
          <p:cNvSpPr txBox="1"/>
          <p:nvPr/>
        </p:nvSpPr>
        <p:spPr>
          <a:xfrm>
            <a:off x="23895329" y="18693795"/>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status fields</a:t>
            </a:r>
          </a:p>
        </p:txBody>
      </p:sp>
      <p:sp>
        <p:nvSpPr>
          <p:cNvPr id="104" name="TextBox 103"/>
          <p:cNvSpPr txBox="1"/>
          <p:nvPr/>
        </p:nvSpPr>
        <p:spPr>
          <a:xfrm>
            <a:off x="26292886" y="18693795"/>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5" name="TextBox 104"/>
          <p:cNvSpPr txBox="1"/>
          <p:nvPr/>
        </p:nvSpPr>
        <p:spPr>
          <a:xfrm>
            <a:off x="27491664" y="18693795"/>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6" name="TextBox 105"/>
          <p:cNvSpPr txBox="1"/>
          <p:nvPr/>
        </p:nvSpPr>
        <p:spPr>
          <a:xfrm>
            <a:off x="28790341" y="1869379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7" name="TextBox 106"/>
          <p:cNvSpPr txBox="1"/>
          <p:nvPr/>
        </p:nvSpPr>
        <p:spPr>
          <a:xfrm>
            <a:off x="30188916" y="1869379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8" name="TextBox 107"/>
          <p:cNvSpPr txBox="1"/>
          <p:nvPr/>
        </p:nvSpPr>
        <p:spPr>
          <a:xfrm>
            <a:off x="31587490" y="18693795"/>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9" name="TextBox 108"/>
          <p:cNvSpPr txBox="1"/>
          <p:nvPr/>
        </p:nvSpPr>
        <p:spPr>
          <a:xfrm>
            <a:off x="22197060" y="19004691"/>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110" name="TextBox 109"/>
          <p:cNvSpPr txBox="1"/>
          <p:nvPr/>
        </p:nvSpPr>
        <p:spPr>
          <a:xfrm>
            <a:off x="23895329" y="19004691"/>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12 checks</a:t>
            </a:r>
          </a:p>
        </p:txBody>
      </p:sp>
      <p:sp>
        <p:nvSpPr>
          <p:cNvPr id="111" name="TextBox 110"/>
          <p:cNvSpPr txBox="1"/>
          <p:nvPr/>
        </p:nvSpPr>
        <p:spPr>
          <a:xfrm>
            <a:off x="26292886" y="19004691"/>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2" name="TextBox 111"/>
          <p:cNvSpPr txBox="1"/>
          <p:nvPr/>
        </p:nvSpPr>
        <p:spPr>
          <a:xfrm>
            <a:off x="27491664" y="19004691"/>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3" name="TextBox 112"/>
          <p:cNvSpPr txBox="1"/>
          <p:nvPr/>
        </p:nvSpPr>
        <p:spPr>
          <a:xfrm>
            <a:off x="28790341" y="1900469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14" name="TextBox 113"/>
          <p:cNvSpPr txBox="1"/>
          <p:nvPr/>
        </p:nvSpPr>
        <p:spPr>
          <a:xfrm>
            <a:off x="30188916" y="1900469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0.846</a:t>
            </a:r>
          </a:p>
        </p:txBody>
      </p:sp>
      <p:sp>
        <p:nvSpPr>
          <p:cNvPr id="115" name="TextBox 114"/>
          <p:cNvSpPr txBox="1"/>
          <p:nvPr/>
        </p:nvSpPr>
        <p:spPr>
          <a:xfrm>
            <a:off x="31587490" y="19004691"/>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6" name="TextBox 115"/>
          <p:cNvSpPr txBox="1"/>
          <p:nvPr/>
        </p:nvSpPr>
        <p:spPr>
          <a:xfrm>
            <a:off x="22197060" y="19315587"/>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7 B  L2</a:t>
            </a:r>
          </a:p>
        </p:txBody>
      </p:sp>
      <p:sp>
        <p:nvSpPr>
          <p:cNvPr id="117" name="TextBox 116"/>
          <p:cNvSpPr txBox="1"/>
          <p:nvPr/>
        </p:nvSpPr>
        <p:spPr>
          <a:xfrm>
            <a:off x="23895329" y="19315587"/>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18" name="TextBox 117"/>
          <p:cNvSpPr txBox="1"/>
          <p:nvPr/>
        </p:nvSpPr>
        <p:spPr>
          <a:xfrm>
            <a:off x="26292886" y="19315587"/>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0.777</a:t>
            </a:r>
          </a:p>
        </p:txBody>
      </p:sp>
      <p:sp>
        <p:nvSpPr>
          <p:cNvPr id="119" name="TextBox 118"/>
          <p:cNvSpPr txBox="1"/>
          <p:nvPr/>
        </p:nvSpPr>
        <p:spPr>
          <a:xfrm>
            <a:off x="27491664" y="19315587"/>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0.223</a:t>
            </a:r>
          </a:p>
        </p:txBody>
      </p:sp>
      <p:sp>
        <p:nvSpPr>
          <p:cNvPr id="120" name="TextBox 119"/>
          <p:cNvSpPr txBox="1"/>
          <p:nvPr/>
        </p:nvSpPr>
        <p:spPr>
          <a:xfrm>
            <a:off x="28790341" y="1931558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0.152</a:t>
            </a:r>
          </a:p>
        </p:txBody>
      </p:sp>
      <p:sp>
        <p:nvSpPr>
          <p:cNvPr id="121" name="TextBox 120"/>
          <p:cNvSpPr txBox="1"/>
          <p:nvPr/>
        </p:nvSpPr>
        <p:spPr>
          <a:xfrm>
            <a:off x="30188916" y="1931558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0.304</a:t>
            </a:r>
          </a:p>
        </p:txBody>
      </p:sp>
      <p:sp>
        <p:nvSpPr>
          <p:cNvPr id="122" name="TextBox 121"/>
          <p:cNvSpPr txBox="1"/>
          <p:nvPr/>
        </p:nvSpPr>
        <p:spPr>
          <a:xfrm>
            <a:off x="31587490" y="19315587"/>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3" name="TextBox 122"/>
          <p:cNvSpPr txBox="1"/>
          <p:nvPr/>
        </p:nvSpPr>
        <p:spPr>
          <a:xfrm>
            <a:off x="22197060" y="19626483"/>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7 B  L3</a:t>
            </a:r>
          </a:p>
        </p:txBody>
      </p:sp>
      <p:sp>
        <p:nvSpPr>
          <p:cNvPr id="124" name="TextBox 123"/>
          <p:cNvSpPr txBox="1"/>
          <p:nvPr/>
        </p:nvSpPr>
        <p:spPr>
          <a:xfrm>
            <a:off x="23895329" y="19626483"/>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25" name="TextBox 124"/>
          <p:cNvSpPr txBox="1"/>
          <p:nvPr/>
        </p:nvSpPr>
        <p:spPr>
          <a:xfrm>
            <a:off x="26292886" y="19626483"/>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0.823</a:t>
            </a:r>
          </a:p>
        </p:txBody>
      </p:sp>
      <p:sp>
        <p:nvSpPr>
          <p:cNvPr id="126" name="TextBox 125"/>
          <p:cNvSpPr txBox="1"/>
          <p:nvPr/>
        </p:nvSpPr>
        <p:spPr>
          <a:xfrm>
            <a:off x="27491664" y="19626483"/>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0.274</a:t>
            </a:r>
          </a:p>
        </p:txBody>
      </p:sp>
      <p:sp>
        <p:nvSpPr>
          <p:cNvPr id="127" name="TextBox 126"/>
          <p:cNvSpPr txBox="1"/>
          <p:nvPr/>
        </p:nvSpPr>
        <p:spPr>
          <a:xfrm>
            <a:off x="28790341" y="1962648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0.273</a:t>
            </a:r>
          </a:p>
        </p:txBody>
      </p:sp>
      <p:sp>
        <p:nvSpPr>
          <p:cNvPr id="128" name="TextBox 127"/>
          <p:cNvSpPr txBox="1"/>
          <p:nvPr/>
        </p:nvSpPr>
        <p:spPr>
          <a:xfrm>
            <a:off x="30188916" y="1962648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0.195</a:t>
            </a:r>
          </a:p>
        </p:txBody>
      </p:sp>
      <p:sp>
        <p:nvSpPr>
          <p:cNvPr id="129" name="TextBox 128"/>
          <p:cNvSpPr txBox="1"/>
          <p:nvPr/>
        </p:nvSpPr>
        <p:spPr>
          <a:xfrm>
            <a:off x="31587490" y="19626483"/>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0" name="TextBox 129"/>
          <p:cNvSpPr txBox="1"/>
          <p:nvPr/>
        </p:nvSpPr>
        <p:spPr>
          <a:xfrm>
            <a:off x="22197060" y="19937379"/>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14 B  L2</a:t>
            </a:r>
          </a:p>
        </p:txBody>
      </p:sp>
      <p:sp>
        <p:nvSpPr>
          <p:cNvPr id="131" name="TextBox 130"/>
          <p:cNvSpPr txBox="1"/>
          <p:nvPr/>
        </p:nvSpPr>
        <p:spPr>
          <a:xfrm>
            <a:off x="23895329" y="19937379"/>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32" name="TextBox 131"/>
          <p:cNvSpPr txBox="1"/>
          <p:nvPr/>
        </p:nvSpPr>
        <p:spPr>
          <a:xfrm>
            <a:off x="26292886" y="19937379"/>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0.664</a:t>
            </a:r>
          </a:p>
        </p:txBody>
      </p:sp>
      <p:sp>
        <p:nvSpPr>
          <p:cNvPr id="133" name="TextBox 132"/>
          <p:cNvSpPr txBox="1"/>
          <p:nvPr/>
        </p:nvSpPr>
        <p:spPr>
          <a:xfrm>
            <a:off x="27491664" y="19937379"/>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0.602</a:t>
            </a:r>
          </a:p>
        </p:txBody>
      </p:sp>
      <p:sp>
        <p:nvSpPr>
          <p:cNvPr id="134" name="TextBox 133"/>
          <p:cNvSpPr txBox="1"/>
          <p:nvPr/>
        </p:nvSpPr>
        <p:spPr>
          <a:xfrm>
            <a:off x="28790341" y="19937379"/>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0.606</a:t>
            </a:r>
          </a:p>
        </p:txBody>
      </p:sp>
      <p:sp>
        <p:nvSpPr>
          <p:cNvPr id="135" name="TextBox 134"/>
          <p:cNvSpPr txBox="1"/>
          <p:nvPr/>
        </p:nvSpPr>
        <p:spPr>
          <a:xfrm>
            <a:off x="30188916" y="19937379"/>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a:t>
            </a:r>
          </a:p>
        </p:txBody>
      </p:sp>
      <p:sp>
        <p:nvSpPr>
          <p:cNvPr id="136" name="TextBox 135"/>
          <p:cNvSpPr txBox="1"/>
          <p:nvPr/>
        </p:nvSpPr>
        <p:spPr>
          <a:xfrm>
            <a:off x="31587490" y="19937379"/>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7" name="TextBox 136"/>
          <p:cNvSpPr txBox="1"/>
          <p:nvPr/>
        </p:nvSpPr>
        <p:spPr>
          <a:xfrm>
            <a:off x="22197060" y="20248275"/>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14 B  L3</a:t>
            </a:r>
          </a:p>
        </p:txBody>
      </p:sp>
      <p:sp>
        <p:nvSpPr>
          <p:cNvPr id="138" name="TextBox 137"/>
          <p:cNvSpPr txBox="1"/>
          <p:nvPr/>
        </p:nvSpPr>
        <p:spPr>
          <a:xfrm>
            <a:off x="23895329" y="20248275"/>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39" name="TextBox 138"/>
          <p:cNvSpPr txBox="1"/>
          <p:nvPr/>
        </p:nvSpPr>
        <p:spPr>
          <a:xfrm>
            <a:off x="26292886" y="20248275"/>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0.675</a:t>
            </a:r>
          </a:p>
        </p:txBody>
      </p:sp>
      <p:sp>
        <p:nvSpPr>
          <p:cNvPr id="140" name="TextBox 139"/>
          <p:cNvSpPr txBox="1"/>
          <p:nvPr/>
        </p:nvSpPr>
        <p:spPr>
          <a:xfrm>
            <a:off x="27491664" y="20248275"/>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0.614</a:t>
            </a:r>
          </a:p>
        </p:txBody>
      </p:sp>
      <p:sp>
        <p:nvSpPr>
          <p:cNvPr id="141" name="TextBox 140"/>
          <p:cNvSpPr txBox="1"/>
          <p:nvPr/>
        </p:nvSpPr>
        <p:spPr>
          <a:xfrm>
            <a:off x="28790341" y="2024827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42" name="TextBox 141"/>
          <p:cNvSpPr txBox="1"/>
          <p:nvPr/>
        </p:nvSpPr>
        <p:spPr>
          <a:xfrm>
            <a:off x="30188916" y="2024827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0.820</a:t>
            </a:r>
          </a:p>
        </p:txBody>
      </p:sp>
      <p:sp>
        <p:nvSpPr>
          <p:cNvPr id="143" name="TextBox 142"/>
          <p:cNvSpPr txBox="1"/>
          <p:nvPr/>
        </p:nvSpPr>
        <p:spPr>
          <a:xfrm>
            <a:off x="31587490" y="20248275"/>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44" name="TextBox 143"/>
          <p:cNvSpPr txBox="1"/>
          <p:nvPr/>
        </p:nvSpPr>
        <p:spPr>
          <a:xfrm>
            <a:off x="22197060" y="20559171"/>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27 B  L2</a:t>
            </a:r>
          </a:p>
        </p:txBody>
      </p:sp>
      <p:sp>
        <p:nvSpPr>
          <p:cNvPr id="145" name="TextBox 144"/>
          <p:cNvSpPr txBox="1"/>
          <p:nvPr/>
        </p:nvSpPr>
        <p:spPr>
          <a:xfrm>
            <a:off x="23895329" y="20559171"/>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46" name="TextBox 145"/>
          <p:cNvSpPr txBox="1"/>
          <p:nvPr/>
        </p:nvSpPr>
        <p:spPr>
          <a:xfrm>
            <a:off x="26292886" y="20559171"/>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0.553</a:t>
            </a:r>
          </a:p>
        </p:txBody>
      </p:sp>
      <p:sp>
        <p:nvSpPr>
          <p:cNvPr id="147" name="TextBox 146"/>
          <p:cNvSpPr txBox="1"/>
          <p:nvPr/>
        </p:nvSpPr>
        <p:spPr>
          <a:xfrm>
            <a:off x="27491664" y="20559171"/>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0.518</a:t>
            </a:r>
          </a:p>
        </p:txBody>
      </p:sp>
      <p:sp>
        <p:nvSpPr>
          <p:cNvPr id="148" name="TextBox 147"/>
          <p:cNvSpPr txBox="1"/>
          <p:nvPr/>
        </p:nvSpPr>
        <p:spPr>
          <a:xfrm>
            <a:off x="28790341" y="2055917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0.212</a:t>
            </a:r>
          </a:p>
        </p:txBody>
      </p:sp>
      <p:sp>
        <p:nvSpPr>
          <p:cNvPr id="149" name="TextBox 148"/>
          <p:cNvSpPr txBox="1"/>
          <p:nvPr/>
        </p:nvSpPr>
        <p:spPr>
          <a:xfrm>
            <a:off x="30188916" y="2055917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0.951</a:t>
            </a:r>
          </a:p>
        </p:txBody>
      </p:sp>
      <p:sp>
        <p:nvSpPr>
          <p:cNvPr id="150" name="TextBox 149"/>
          <p:cNvSpPr txBox="1"/>
          <p:nvPr/>
        </p:nvSpPr>
        <p:spPr>
          <a:xfrm>
            <a:off x="31587490" y="20559171"/>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51" name="TextBox 150"/>
          <p:cNvSpPr txBox="1"/>
          <p:nvPr/>
        </p:nvSpPr>
        <p:spPr>
          <a:xfrm>
            <a:off x="22197060" y="20870067"/>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27 B  L3</a:t>
            </a:r>
          </a:p>
        </p:txBody>
      </p:sp>
      <p:sp>
        <p:nvSpPr>
          <p:cNvPr id="152" name="TextBox 151"/>
          <p:cNvSpPr txBox="1"/>
          <p:nvPr/>
        </p:nvSpPr>
        <p:spPr>
          <a:xfrm>
            <a:off x="23895329" y="20870067"/>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53" name="TextBox 152"/>
          <p:cNvSpPr txBox="1"/>
          <p:nvPr/>
        </p:nvSpPr>
        <p:spPr>
          <a:xfrm>
            <a:off x="26292886" y="20870067"/>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0.702</a:t>
            </a:r>
          </a:p>
        </p:txBody>
      </p:sp>
      <p:sp>
        <p:nvSpPr>
          <p:cNvPr id="154" name="TextBox 153"/>
          <p:cNvSpPr txBox="1"/>
          <p:nvPr/>
        </p:nvSpPr>
        <p:spPr>
          <a:xfrm>
            <a:off x="27491664" y="20870067"/>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0.702</a:t>
            </a:r>
          </a:p>
        </p:txBody>
      </p:sp>
      <p:sp>
        <p:nvSpPr>
          <p:cNvPr id="155" name="TextBox 154"/>
          <p:cNvSpPr txBox="1"/>
          <p:nvPr/>
        </p:nvSpPr>
        <p:spPr>
          <a:xfrm>
            <a:off x="28790341" y="2087006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0.242</a:t>
            </a:r>
          </a:p>
        </p:txBody>
      </p:sp>
      <p:sp>
        <p:nvSpPr>
          <p:cNvPr id="156" name="TextBox 155"/>
          <p:cNvSpPr txBox="1"/>
          <p:nvPr/>
        </p:nvSpPr>
        <p:spPr>
          <a:xfrm>
            <a:off x="30188916" y="2087006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0.968</a:t>
            </a:r>
          </a:p>
        </p:txBody>
      </p:sp>
      <p:sp>
        <p:nvSpPr>
          <p:cNvPr id="157" name="TextBox 156"/>
          <p:cNvSpPr txBox="1"/>
          <p:nvPr/>
        </p:nvSpPr>
        <p:spPr>
          <a:xfrm>
            <a:off x="31587490" y="20870067"/>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92</a:t>
            </a:r>
          </a:p>
        </p:txBody>
      </p:sp>
      <p:sp>
        <p:nvSpPr>
          <p:cNvPr id="158" name="TextBox 157"/>
          <p:cNvSpPr txBox="1"/>
          <p:nvPr/>
        </p:nvSpPr>
        <p:spPr>
          <a:xfrm>
            <a:off x="22197060" y="21180963"/>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30 B  L2</a:t>
            </a:r>
          </a:p>
        </p:txBody>
      </p:sp>
      <p:sp>
        <p:nvSpPr>
          <p:cNvPr id="159" name="TextBox 158"/>
          <p:cNvSpPr txBox="1"/>
          <p:nvPr/>
        </p:nvSpPr>
        <p:spPr>
          <a:xfrm>
            <a:off x="23895329" y="21180963"/>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60" name="TextBox 159"/>
          <p:cNvSpPr txBox="1"/>
          <p:nvPr/>
        </p:nvSpPr>
        <p:spPr>
          <a:xfrm>
            <a:off x="26292886" y="21180963"/>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0.821</a:t>
            </a:r>
          </a:p>
        </p:txBody>
      </p:sp>
      <p:sp>
        <p:nvSpPr>
          <p:cNvPr id="161" name="TextBox 160"/>
          <p:cNvSpPr txBox="1"/>
          <p:nvPr/>
        </p:nvSpPr>
        <p:spPr>
          <a:xfrm>
            <a:off x="27491664" y="21180963"/>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0.769</a:t>
            </a:r>
          </a:p>
        </p:txBody>
      </p:sp>
      <p:sp>
        <p:nvSpPr>
          <p:cNvPr id="162" name="TextBox 161"/>
          <p:cNvSpPr txBox="1"/>
          <p:nvPr/>
        </p:nvSpPr>
        <p:spPr>
          <a:xfrm>
            <a:off x="28790341" y="2118096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0.200</a:t>
            </a:r>
          </a:p>
        </p:txBody>
      </p:sp>
      <p:sp>
        <p:nvSpPr>
          <p:cNvPr id="163" name="TextBox 162"/>
          <p:cNvSpPr txBox="1"/>
          <p:nvPr/>
        </p:nvSpPr>
        <p:spPr>
          <a:xfrm>
            <a:off x="30188916" y="2118096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0.836</a:t>
            </a:r>
          </a:p>
        </p:txBody>
      </p:sp>
      <p:sp>
        <p:nvSpPr>
          <p:cNvPr id="164" name="TextBox 163"/>
          <p:cNvSpPr txBox="1"/>
          <p:nvPr/>
        </p:nvSpPr>
        <p:spPr>
          <a:xfrm>
            <a:off x="31587490" y="21180963"/>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78</a:t>
            </a:r>
          </a:p>
        </p:txBody>
      </p:sp>
      <p:sp>
        <p:nvSpPr>
          <p:cNvPr id="165" name="Rectangle 164"/>
          <p:cNvSpPr/>
          <p:nvPr/>
        </p:nvSpPr>
        <p:spPr>
          <a:xfrm>
            <a:off x="22197060" y="21510147"/>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197060" y="21711315"/>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watchdog the pipeline ran never produced a decidable verdict on any of the 149 cases: “no signal fired” is not a judgement. Above it, recall does not order the reviewers by size — the 7 B has the highest on the page — but grounded recall and citation validity do, and they do it steeply: 0.55 of the 7 B's detections quote a line that does not resolve, against 0.00 for the 27 B. The size class the campaign's own reviewer ran on for a week would have passed on recall alone. The retrieval tier is worth +0.149 to the 27 B and +0.012 to the 14 B, so it pays where the model can use it and not otherwise.</a:t>
            </a:r>
          </a:p>
        </p:txBody>
      </p:sp>
      <p:sp>
        <p:nvSpPr>
          <p:cNvPr id="167" name="TextBox 166"/>
          <p:cNvSpPr txBox="1"/>
          <p:nvPr/>
        </p:nvSpPr>
        <p:spPr>
          <a:xfrm>
            <a:off x="22197060" y="22861554"/>
            <a:ext cx="9989819"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inference-time compute can buy</a:t>
            </a:r>
          </a:p>
        </p:txBody>
      </p:sp>
      <p:pic>
        <p:nvPicPr>
          <p:cNvPr id="168" name="Picture 167" descr="r_tta.png"/>
          <p:cNvPicPr>
            <a:picLocks noChangeAspect="1"/>
          </p:cNvPicPr>
          <p:nvPr/>
        </p:nvPicPr>
        <p:blipFill>
          <a:blip r:embed="rId10"/>
          <a:stretch>
            <a:fillRect/>
          </a:stretch>
        </p:blipFill>
        <p:spPr>
          <a:xfrm>
            <a:off x="22197060" y="23172450"/>
            <a:ext cx="9989819" cy="2652164"/>
          </a:xfrm>
          <a:prstGeom prst="rect">
            <a:avLst/>
          </a:prstGeom>
        </p:spPr>
      </p:pic>
      <p:sp>
        <p:nvSpPr>
          <p:cNvPr id="169" name="TextBox 168"/>
          <p:cNvSpPr txBox="1"/>
          <p:nvPr/>
        </p:nvSpPr>
        <p:spPr>
          <a:xfrm>
            <a:off x="22197060" y="25916054"/>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Test-time compute on the deployable checkpoint. Fusion with no extra views is nothing; multi-scale with h-flip and a 3-seed ensemble are each worth about +0.017 and stack to +0.028. At 2.44 s per image against the deployed 3.7 ms this is a ceiling on what inference-time compute can buy, not a deployment option -- and it is still smaller than the +0.0714 that initialisation is worth.</a:t>
            </a:r>
          </a:p>
        </p:txBody>
      </p:sp>
      <p:sp>
        <p:nvSpPr>
          <p:cNvPr id="170" name="TextBox 169"/>
          <p:cNvSpPr txBox="1"/>
          <p:nvPr/>
        </p:nvSpPr>
        <p:spPr>
          <a:xfrm>
            <a:off x="11704320" y="27013334"/>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71" name="Picture 170" descr="f_rounds.png"/>
          <p:cNvPicPr>
            <a:picLocks noChangeAspect="1"/>
          </p:cNvPicPr>
          <p:nvPr/>
        </p:nvPicPr>
        <p:blipFill>
          <a:blip r:embed="rId11"/>
          <a:stretch>
            <a:fillRect/>
          </a:stretch>
        </p:blipFill>
        <p:spPr>
          <a:xfrm>
            <a:off x="11704320" y="27324230"/>
            <a:ext cx="20482560" cy="3657600"/>
          </a:xfrm>
          <a:prstGeom prst="rect">
            <a:avLst/>
          </a:prstGeom>
        </p:spPr>
      </p:pic>
      <p:sp>
        <p:nvSpPr>
          <p:cNvPr id="172" name="TextBox 171"/>
          <p:cNvSpPr txBox="1"/>
          <p:nvPr/>
        </p:nvSpPr>
        <p:spPr>
          <a:xfrm>
            <a:off x="11704320" y="31073270"/>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10.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173" name="TextBox 172"/>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74" name="Rectangle 173"/>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 name="Picture 174" descr="d_wall.png"/>
          <p:cNvPicPr>
            <a:picLocks noChangeAspect="1"/>
          </p:cNvPicPr>
          <p:nvPr/>
        </p:nvPicPr>
        <p:blipFill>
          <a:blip r:embed="rId12"/>
          <a:stretch>
            <a:fillRect/>
          </a:stretch>
        </p:blipFill>
        <p:spPr>
          <a:xfrm>
            <a:off x="32552640" y="5577840"/>
            <a:ext cx="10607040" cy="3840480"/>
          </a:xfrm>
          <a:prstGeom prst="rect">
            <a:avLst/>
          </a:prstGeom>
        </p:spPr>
      </p:pic>
      <p:sp>
        <p:nvSpPr>
          <p:cNvPr id="176" name="TextBox 175"/>
          <p:cNvSpPr txBox="1"/>
          <p:nvPr/>
        </p:nvSpPr>
        <p:spPr>
          <a:xfrm>
            <a:off x="32552640" y="950976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11.  The same three checkpoints and the same matcher on both sides, so the evaluator offset cancels. A detector trained on one field does not transfer to another.</a:t>
            </a:r>
          </a:p>
        </p:txBody>
      </p:sp>
      <p:pic>
        <p:nvPicPr>
          <p:cNvPr id="177" name="Picture 176" descr="p_field.png"/>
          <p:cNvPicPr>
            <a:picLocks noChangeAspect="1"/>
          </p:cNvPicPr>
          <p:nvPr/>
        </p:nvPicPr>
        <p:blipFill>
          <a:blip r:embed="rId13"/>
          <a:stretch>
            <a:fillRect/>
          </a:stretch>
        </p:blipFill>
        <p:spPr>
          <a:xfrm>
            <a:off x="32552640" y="10149840"/>
            <a:ext cx="10607040" cy="2743200"/>
          </a:xfrm>
          <a:prstGeom prst="rect">
            <a:avLst/>
          </a:prstGeom>
        </p:spPr>
      </p:pic>
      <p:sp>
        <p:nvSpPr>
          <p:cNvPr id="178" name="TextBox 177"/>
          <p:cNvSpPr txBox="1"/>
          <p:nvPr/>
        </p:nvSpPr>
        <p:spPr>
          <a:xfrm>
            <a:off x="32552640" y="1298448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12.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pic>
        <p:nvPicPr>
          <p:cNvPr id="179" name="Picture 178" descr="j_species.png"/>
          <p:cNvPicPr>
            <a:picLocks noChangeAspect="1"/>
          </p:cNvPicPr>
          <p:nvPr/>
        </p:nvPicPr>
        <p:blipFill>
          <a:blip r:embed="rId14"/>
          <a:stretch>
            <a:fillRect/>
          </a:stretch>
        </p:blipFill>
        <p:spPr>
          <a:xfrm>
            <a:off x="32552640" y="13990320"/>
            <a:ext cx="10607040" cy="4754880"/>
          </a:xfrm>
          <a:prstGeom prst="rect">
            <a:avLst/>
          </a:prstGeom>
        </p:spPr>
      </p:pic>
      <p:sp>
        <p:nvSpPr>
          <p:cNvPr id="180" name="TextBox 179"/>
          <p:cNvSpPr txBox="1"/>
          <p:nvPr/>
        </p:nvSpPr>
        <p:spPr>
          <a:xfrm>
            <a:off x="32552640" y="1883664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13.  Per-species performance of the deployable checkpoint. The spread across the twelve classes is 0.214, roughly seventy times the seed noise.</a:t>
            </a:r>
          </a:p>
        </p:txBody>
      </p:sp>
      <p:sp>
        <p:nvSpPr>
          <p:cNvPr id="181" name="TextBox 180"/>
          <p:cNvSpPr txBox="1"/>
          <p:nvPr/>
        </p:nvSpPr>
        <p:spPr>
          <a:xfrm>
            <a:off x="32552640" y="1952244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82" name="Rectangle 181"/>
          <p:cNvSpPr/>
          <p:nvPr/>
        </p:nvSpPr>
        <p:spPr>
          <a:xfrm>
            <a:off x="32552640" y="1999792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32552640" y="2025396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84" name="TextBox 183"/>
          <p:cNvSpPr txBox="1"/>
          <p:nvPr/>
        </p:nvSpPr>
        <p:spPr>
          <a:xfrm>
            <a:off x="32552640" y="2095982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85" name="TextBox 184"/>
          <p:cNvSpPr txBox="1"/>
          <p:nvPr/>
        </p:nvSpPr>
        <p:spPr>
          <a:xfrm>
            <a:off x="32552640" y="2146427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86" name="TextBox 185"/>
          <p:cNvSpPr txBox="1"/>
          <p:nvPr/>
        </p:nvSpPr>
        <p:spPr>
          <a:xfrm>
            <a:off x="32552640" y="21968714"/>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The watchdog reading status fields returned no decidable verdict on any of 149 cases, while a model reading the raw artifacts reaches 0.70 recall over the 116 incidents; adding a retrieval tier over those same artifacts is worth another +0.149 to the 27B and +0.012 to the 14B.</a:t>
            </a:r>
          </a:p>
        </p:txBody>
      </p:sp>
      <p:sp>
        <p:nvSpPr>
          <p:cNvPr id="187" name="TextBox 186"/>
          <p:cNvSpPr txBox="1"/>
          <p:nvPr/>
        </p:nvSpPr>
        <p:spPr>
          <a:xfrm>
            <a:off x="32552640" y="2267458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88" name="TextBox 187"/>
          <p:cNvSpPr txBox="1"/>
          <p:nvPr/>
        </p:nvSpPr>
        <p:spPr>
          <a:xfrm>
            <a:off x="32552640" y="23179024"/>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6.   The gap shows up on our own video too. Over all 2,686 frames the two robots recorded, 1,157 of them more than a third vegetation, the deployable checkpoint draws a box on 25 frames at the deployment threshold and 8 at conf 0.40 — and 24 of those 25 boxes are the same class. These frames carry no ground truth, so that is a fire rate and not a recall.</a:t>
            </a:r>
          </a:p>
        </p:txBody>
      </p:sp>
      <p:sp>
        <p:nvSpPr>
          <p:cNvPr id="189" name="TextBox 188"/>
          <p:cNvSpPr txBox="1"/>
          <p:nvPr/>
        </p:nvSpPr>
        <p:spPr>
          <a:xfrm>
            <a:off x="32552640" y="2397633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90" name="Rectangle 189"/>
          <p:cNvSpPr/>
          <p:nvPr/>
        </p:nvSpPr>
        <p:spPr>
          <a:xfrm>
            <a:off x="32552640" y="2445181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32552640" y="24707850"/>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92" name="TextBox 191"/>
          <p:cNvSpPr txBox="1"/>
          <p:nvPr/>
        </p:nvSpPr>
        <p:spPr>
          <a:xfrm>
            <a:off x="32552640" y="2587637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93" name="Rectangle 192"/>
          <p:cNvSpPr/>
          <p:nvPr/>
        </p:nvSpPr>
        <p:spPr>
          <a:xfrm>
            <a:off x="32552640" y="2635186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32552640" y="26607897"/>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