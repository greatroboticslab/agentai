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1732684"/>
          </a:xfrm>
          <a:prstGeom prst="rect">
            <a:avLst/>
          </a:prstGeom>
        </p:spPr>
      </p:pic>
      <p:sp>
        <p:nvSpPr>
          <p:cNvPr id="16" name="TextBox 15"/>
          <p:cNvSpPr txBox="1"/>
          <p:nvPr/>
        </p:nvSpPr>
        <p:spPr>
          <a:xfrm>
            <a:off x="731520" y="115435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366520"/>
            <a:ext cx="10607040" cy="4294410"/>
          </a:xfrm>
          <a:prstGeom prst="rect">
            <a:avLst/>
          </a:prstGeom>
        </p:spPr>
      </p:pic>
      <p:sp>
        <p:nvSpPr>
          <p:cNvPr id="18" name="TextBox 17"/>
          <p:cNvSpPr txBox="1"/>
          <p:nvPr/>
        </p:nvSpPr>
        <p:spPr>
          <a:xfrm>
            <a:off x="731520" y="16752371"/>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209571"/>
            <a:ext cx="10607040" cy="4525878"/>
          </a:xfrm>
          <a:prstGeom prst="rect">
            <a:avLst/>
          </a:prstGeom>
        </p:spPr>
      </p:pic>
      <p:sp>
        <p:nvSpPr>
          <p:cNvPr id="20" name="TextBox 19"/>
          <p:cNvSpPr txBox="1"/>
          <p:nvPr/>
        </p:nvSpPr>
        <p:spPr>
          <a:xfrm>
            <a:off x="731520" y="2182688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sp>
        <p:nvSpPr>
          <p:cNvPr id="21" name="TextBox 20"/>
          <p:cNvSpPr txBox="1"/>
          <p:nvPr/>
        </p:nvSpPr>
        <p:spPr>
          <a:xfrm>
            <a:off x="731520" y="22512689"/>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2" name="Rectangle 21"/>
          <p:cNvSpPr/>
          <p:nvPr/>
        </p:nvSpPr>
        <p:spPr>
          <a:xfrm>
            <a:off x="731520" y="22988177"/>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23244209"/>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4" name="TextBox 23"/>
          <p:cNvSpPr txBox="1"/>
          <p:nvPr/>
        </p:nvSpPr>
        <p:spPr>
          <a:xfrm>
            <a:off x="731520" y="24207885"/>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5" name="TextBox 24"/>
          <p:cNvSpPr txBox="1"/>
          <p:nvPr/>
        </p:nvSpPr>
        <p:spPr>
          <a:xfrm>
            <a:off x="731520" y="2481367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6" name="Rectangle 25"/>
          <p:cNvSpPr/>
          <p:nvPr/>
        </p:nvSpPr>
        <p:spPr>
          <a:xfrm>
            <a:off x="731520" y="2528916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25545195"/>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28" name="Rectangle 27"/>
          <p:cNvSpPr/>
          <p:nvPr/>
        </p:nvSpPr>
        <p:spPr>
          <a:xfrm>
            <a:off x="731520" y="26090533"/>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6181973"/>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0" name="TextBox 29"/>
          <p:cNvSpPr txBox="1"/>
          <p:nvPr/>
        </p:nvSpPr>
        <p:spPr>
          <a:xfrm>
            <a:off x="7307884" y="26181973"/>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1" name="Rectangle 30"/>
          <p:cNvSpPr/>
          <p:nvPr/>
        </p:nvSpPr>
        <p:spPr>
          <a:xfrm>
            <a:off x="731520" y="26456293"/>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265385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3" name="TextBox 32"/>
          <p:cNvSpPr txBox="1"/>
          <p:nvPr/>
        </p:nvSpPr>
        <p:spPr>
          <a:xfrm>
            <a:off x="7307884" y="265385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4" name="TextBox 33"/>
          <p:cNvSpPr txBox="1"/>
          <p:nvPr/>
        </p:nvSpPr>
        <p:spPr>
          <a:xfrm>
            <a:off x="731520" y="268494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5" name="TextBox 34"/>
          <p:cNvSpPr txBox="1"/>
          <p:nvPr/>
        </p:nvSpPr>
        <p:spPr>
          <a:xfrm>
            <a:off x="7307884" y="268494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6" name="TextBox 35"/>
          <p:cNvSpPr txBox="1"/>
          <p:nvPr/>
        </p:nvSpPr>
        <p:spPr>
          <a:xfrm>
            <a:off x="731520" y="27160381"/>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7" name="TextBox 36"/>
          <p:cNvSpPr txBox="1"/>
          <p:nvPr/>
        </p:nvSpPr>
        <p:spPr>
          <a:xfrm>
            <a:off x="7307884" y="27160381"/>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38" name="TextBox 37"/>
          <p:cNvSpPr txBox="1"/>
          <p:nvPr/>
        </p:nvSpPr>
        <p:spPr>
          <a:xfrm>
            <a:off x="731520" y="2747127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39" name="TextBox 38"/>
          <p:cNvSpPr txBox="1"/>
          <p:nvPr/>
        </p:nvSpPr>
        <p:spPr>
          <a:xfrm>
            <a:off x="7307884" y="2747127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0" name="Rectangle 39"/>
          <p:cNvSpPr/>
          <p:nvPr/>
        </p:nvSpPr>
        <p:spPr>
          <a:xfrm>
            <a:off x="731520" y="2780046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2" name="Rectangle 41"/>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5" name="TextBox 44"/>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6" name="TextBox 45"/>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7" name="Rectangle 46"/>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49" name="TextBox 48"/>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0" name="TextBox 49"/>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1" name="Rectangle 50"/>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3" name="TextBox 52"/>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4" name="TextBox 53"/>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5" name="Rectangle 54"/>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7" name="TextBox 56"/>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58" name="TextBox 57"/>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59" name="TextBox 58"/>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0" name="Picture 59" descr="a_families.png"/>
          <p:cNvPicPr>
            <a:picLocks noChangeAspect="1"/>
          </p:cNvPicPr>
          <p:nvPr/>
        </p:nvPicPr>
        <p:blipFill>
          <a:blip r:embed="rId5"/>
          <a:stretch>
            <a:fillRect/>
          </a:stretch>
        </p:blipFill>
        <p:spPr>
          <a:xfrm>
            <a:off x="11704320" y="7763255"/>
            <a:ext cx="9989819" cy="5361065"/>
          </a:xfrm>
          <a:prstGeom prst="rect">
            <a:avLst/>
          </a:prstGeom>
        </p:spPr>
      </p:pic>
      <p:sp>
        <p:nvSpPr>
          <p:cNvPr id="61" name="TextBox 60"/>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Three detector families on the CottonWeedDet12 holdout, three seeds each. How the network is initialised is worth three times what the architecture is worth.</a:t>
            </a:r>
          </a:p>
        </p:txBody>
      </p:sp>
      <p:pic>
        <p:nvPicPr>
          <p:cNvPr id="62" name="Picture 61" descr="b_zeroshot.png"/>
          <p:cNvPicPr>
            <a:picLocks noChangeAspect="1"/>
          </p:cNvPicPr>
          <p:nvPr/>
        </p:nvPicPr>
        <p:blipFill>
          <a:blip r:embed="rId6"/>
          <a:stretch>
            <a:fillRect/>
          </a:stretch>
        </p:blipFill>
        <p:spPr>
          <a:xfrm>
            <a:off x="22197060" y="7763255"/>
            <a:ext cx="9989819" cy="4817913"/>
          </a:xfrm>
          <a:prstGeom prst="rect">
            <a:avLst/>
          </a:prstGeom>
        </p:spPr>
      </p:pic>
      <p:sp>
        <p:nvSpPr>
          <p:cNvPr id="63" name="TextBox 62"/>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One deterministic pass per model, no repeats. Fifteen zero-shot vision-language models against the fine-tuned detector: the best of them reaches 0.434 against 0.929, and five produce no usable grounding at all.</a:t>
            </a:r>
          </a:p>
        </p:txBody>
      </p:sp>
      <p:sp>
        <p:nvSpPr>
          <p:cNvPr id="64" name="TextBox 63"/>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5" name="Picture 64" descr="c_ladder.png"/>
          <p:cNvPicPr>
            <a:picLocks noChangeAspect="1"/>
          </p:cNvPicPr>
          <p:nvPr/>
        </p:nvPicPr>
        <p:blipFill>
          <a:blip r:embed="rId7"/>
          <a:stretch>
            <a:fillRect/>
          </a:stretch>
        </p:blipFill>
        <p:spPr>
          <a:xfrm>
            <a:off x="11704320" y="14258176"/>
            <a:ext cx="9989819" cy="2543654"/>
          </a:xfrm>
          <a:prstGeom prst="rect">
            <a:avLst/>
          </a:prstGeom>
        </p:spPr>
      </p:pic>
      <p:sp>
        <p:nvSpPr>
          <p:cNvPr id="66" name="TextBox 65"/>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7" name="TextBox 66"/>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68" name="Rectangle 67"/>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0" name="TextBox 69"/>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1" name="TextBox 70"/>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2" name="Rectangle 71"/>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4" name="TextBox 73"/>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5" name="TextBox 74"/>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6" name="TextBox 75"/>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7" name="TextBox 76"/>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78" name="TextBox 77"/>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9" name="TextBox 78"/>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0" name="TextBox 79"/>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1" name="TextBox 80"/>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2" name="TextBox 81"/>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3" name="TextBox 82"/>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0.8436</a:t>
            </a:r>
          </a:p>
        </p:txBody>
      </p:sp>
      <p:sp>
        <p:nvSpPr>
          <p:cNvPr id="84" name="TextBox 83"/>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a:t>
            </a:r>
          </a:p>
        </p:txBody>
      </p:sp>
      <p:sp>
        <p:nvSpPr>
          <p:cNvPr id="85" name="Rectangle 84"/>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−0.0028 and −0.0057 sit inside pooled seed spreads of 0.0032 and 0.0039, so neither is separable. Only +40,000 is, and it is still a single run.</a:t>
            </a:r>
          </a:p>
        </p:txBody>
      </p:sp>
      <p:sp>
        <p:nvSpPr>
          <p:cNvPr id="87" name="TextBox 86"/>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88" name="Picture 87" descr="e_supervision.png"/>
          <p:cNvPicPr>
            <a:picLocks noChangeAspect="1"/>
          </p:cNvPicPr>
          <p:nvPr/>
        </p:nvPicPr>
        <p:blipFill>
          <a:blip r:embed="rId8"/>
          <a:stretch>
            <a:fillRect/>
          </a:stretch>
        </p:blipFill>
        <p:spPr>
          <a:xfrm>
            <a:off x="11704320" y="18118567"/>
            <a:ext cx="9989819" cy="5906650"/>
          </a:xfrm>
          <a:prstGeom prst="rect">
            <a:avLst/>
          </a:prstGeom>
        </p:spPr>
      </p:pic>
      <p:sp>
        <p:nvSpPr>
          <p:cNvPr id="89" name="TextBox 88"/>
          <p:cNvSpPr txBox="1"/>
          <p:nvPr/>
        </p:nvSpPr>
        <p:spPr>
          <a:xfrm>
            <a:off x="11704320" y="2411665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Every arm on one frozen corpus of real incidents from this project's own history -- 116 incidents and 33 controls -- scored by the project's own scorer, which requires the finding to be about the incident and not merely that the arm raised something. Up and to the left is better. Open circle: the model reads raw artifact excerpts. Filled: the same model with a retrieval round over the same artifacts. The retrieval tier is worth +0.149 recall to the 27B and +0.012 to the 14B, so tiering pays where the model can use it and not otherwise.</a:t>
            </a:r>
          </a:p>
        </p:txBody>
      </p:sp>
      <p:sp>
        <p:nvSpPr>
          <p:cNvPr id="90" name="TextBox 89"/>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Recall is over incidents and the false-alarm rate over controls, both by the project's own scorer re-reading committed verdicts, which requires the finding to be about the incident rather than merely that the arm raised something. L2 reads raw artifact excerpts; L3 adds a retrieval round over the same artifacts.</a:t>
            </a:r>
          </a:p>
        </p:txBody>
      </p:sp>
      <p:sp>
        <p:nvSpPr>
          <p:cNvPr id="91" name="Rectangle 90"/>
          <p:cNvSpPr/>
          <p:nvPr/>
        </p:nvSpPr>
        <p:spPr>
          <a:xfrm>
            <a:off x="22197060" y="190822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197060" y="19173683"/>
            <a:ext cx="2996945"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arm</a:t>
            </a:r>
          </a:p>
        </p:txBody>
      </p:sp>
      <p:sp>
        <p:nvSpPr>
          <p:cNvPr id="93" name="TextBox 92"/>
          <p:cNvSpPr txBox="1"/>
          <p:nvPr/>
        </p:nvSpPr>
        <p:spPr>
          <a:xfrm>
            <a:off x="25194006" y="19173683"/>
            <a:ext cx="299694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4" name="TextBox 93"/>
          <p:cNvSpPr txBox="1"/>
          <p:nvPr/>
        </p:nvSpPr>
        <p:spPr>
          <a:xfrm>
            <a:off x="28190952" y="19173683"/>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5" name="TextBox 94"/>
          <p:cNvSpPr txBox="1"/>
          <p:nvPr/>
        </p:nvSpPr>
        <p:spPr>
          <a:xfrm>
            <a:off x="29589526" y="19173683"/>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6" name="TextBox 95"/>
          <p:cNvSpPr txBox="1"/>
          <p:nvPr/>
        </p:nvSpPr>
        <p:spPr>
          <a:xfrm>
            <a:off x="31187898" y="19173683"/>
            <a:ext cx="998982"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97" name="Rectangle 96"/>
          <p:cNvSpPr/>
          <p:nvPr/>
        </p:nvSpPr>
        <p:spPr>
          <a:xfrm>
            <a:off x="22197060" y="19448003"/>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2197060" y="19530299"/>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99" name="TextBox 98"/>
          <p:cNvSpPr txBox="1"/>
          <p:nvPr/>
        </p:nvSpPr>
        <p:spPr>
          <a:xfrm>
            <a:off x="25194006" y="19530299"/>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0" name="TextBox 99"/>
          <p:cNvSpPr txBox="1"/>
          <p:nvPr/>
        </p:nvSpPr>
        <p:spPr>
          <a:xfrm>
            <a:off x="28190952" y="1953029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1" name="TextBox 100"/>
          <p:cNvSpPr txBox="1"/>
          <p:nvPr/>
        </p:nvSpPr>
        <p:spPr>
          <a:xfrm>
            <a:off x="29589526" y="1953029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2" name="TextBox 101"/>
          <p:cNvSpPr txBox="1"/>
          <p:nvPr/>
        </p:nvSpPr>
        <p:spPr>
          <a:xfrm>
            <a:off x="31187898" y="19530299"/>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3" name="TextBox 102"/>
          <p:cNvSpPr txBox="1"/>
          <p:nvPr/>
        </p:nvSpPr>
        <p:spPr>
          <a:xfrm>
            <a:off x="22197060" y="19841195"/>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04" name="TextBox 103"/>
          <p:cNvSpPr txBox="1"/>
          <p:nvPr/>
        </p:nvSpPr>
        <p:spPr>
          <a:xfrm>
            <a:off x="25194006" y="19841195"/>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05" name="TextBox 104"/>
          <p:cNvSpPr txBox="1"/>
          <p:nvPr/>
        </p:nvSpPr>
        <p:spPr>
          <a:xfrm>
            <a:off x="28190952" y="198411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06" name="TextBox 105"/>
          <p:cNvSpPr txBox="1"/>
          <p:nvPr/>
        </p:nvSpPr>
        <p:spPr>
          <a:xfrm>
            <a:off x="29589526" y="19841195"/>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07" name="TextBox 106"/>
          <p:cNvSpPr txBox="1"/>
          <p:nvPr/>
        </p:nvSpPr>
        <p:spPr>
          <a:xfrm>
            <a:off x="31187898" y="19841195"/>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8" name="TextBox 107"/>
          <p:cNvSpPr txBox="1"/>
          <p:nvPr/>
        </p:nvSpPr>
        <p:spPr>
          <a:xfrm>
            <a:off x="22197060" y="20152091"/>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L2</a:t>
            </a:r>
          </a:p>
        </p:txBody>
      </p:sp>
      <p:sp>
        <p:nvSpPr>
          <p:cNvPr id="109" name="TextBox 108"/>
          <p:cNvSpPr txBox="1"/>
          <p:nvPr/>
        </p:nvSpPr>
        <p:spPr>
          <a:xfrm>
            <a:off x="25194006" y="20152091"/>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0" name="TextBox 109"/>
          <p:cNvSpPr txBox="1"/>
          <p:nvPr/>
        </p:nvSpPr>
        <p:spPr>
          <a:xfrm>
            <a:off x="28190952" y="201520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11" name="TextBox 110"/>
          <p:cNvSpPr txBox="1"/>
          <p:nvPr/>
        </p:nvSpPr>
        <p:spPr>
          <a:xfrm>
            <a:off x="29589526" y="2015209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12" name="TextBox 111"/>
          <p:cNvSpPr txBox="1"/>
          <p:nvPr/>
        </p:nvSpPr>
        <p:spPr>
          <a:xfrm>
            <a:off x="31187898" y="20152091"/>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3" name="TextBox 112"/>
          <p:cNvSpPr txBox="1"/>
          <p:nvPr/>
        </p:nvSpPr>
        <p:spPr>
          <a:xfrm>
            <a:off x="22197060" y="20462987"/>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Qwen3-14B  L3</a:t>
            </a:r>
          </a:p>
        </p:txBody>
      </p:sp>
      <p:sp>
        <p:nvSpPr>
          <p:cNvPr id="114" name="TextBox 113"/>
          <p:cNvSpPr txBox="1"/>
          <p:nvPr/>
        </p:nvSpPr>
        <p:spPr>
          <a:xfrm>
            <a:off x="25194006" y="20462987"/>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15" name="TextBox 114"/>
          <p:cNvSpPr txBox="1"/>
          <p:nvPr/>
        </p:nvSpPr>
        <p:spPr>
          <a:xfrm>
            <a:off x="28190952" y="204629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16" name="TextBox 115"/>
          <p:cNvSpPr txBox="1"/>
          <p:nvPr/>
        </p:nvSpPr>
        <p:spPr>
          <a:xfrm>
            <a:off x="29589526" y="2046298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17" name="TextBox 116"/>
          <p:cNvSpPr txBox="1"/>
          <p:nvPr/>
        </p:nvSpPr>
        <p:spPr>
          <a:xfrm>
            <a:off x="31187898" y="20462987"/>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8" name="TextBox 117"/>
          <p:cNvSpPr txBox="1"/>
          <p:nvPr/>
        </p:nvSpPr>
        <p:spPr>
          <a:xfrm>
            <a:off x="22197060" y="20773883"/>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Qwen3.8-27B  L2</a:t>
            </a:r>
          </a:p>
        </p:txBody>
      </p:sp>
      <p:sp>
        <p:nvSpPr>
          <p:cNvPr id="119" name="TextBox 118"/>
          <p:cNvSpPr txBox="1"/>
          <p:nvPr/>
        </p:nvSpPr>
        <p:spPr>
          <a:xfrm>
            <a:off x="25194006" y="20773883"/>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20" name="TextBox 119"/>
          <p:cNvSpPr txBox="1"/>
          <p:nvPr/>
        </p:nvSpPr>
        <p:spPr>
          <a:xfrm>
            <a:off x="28190952" y="207738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21" name="TextBox 120"/>
          <p:cNvSpPr txBox="1"/>
          <p:nvPr/>
        </p:nvSpPr>
        <p:spPr>
          <a:xfrm>
            <a:off x="29589526" y="2077388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22" name="TextBox 121"/>
          <p:cNvSpPr txBox="1"/>
          <p:nvPr/>
        </p:nvSpPr>
        <p:spPr>
          <a:xfrm>
            <a:off x="31187898" y="20773883"/>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21084779"/>
            <a:ext cx="2996945" cy="365760"/>
          </a:xfrm>
          <a:prstGeom prst="rect">
            <a:avLst/>
          </a:prstGeom>
          <a:noFill/>
        </p:spPr>
        <p:txBody>
          <a:bodyPr wrap="square" lIns="0" rIns="0" tIns="0" bIns="0">
            <a:spAutoFit/>
          </a:bodyPr>
          <a:lstStyle/>
          <a:p>
            <a:pPr algn="l">
              <a:lnSpc>
                <a:spcPct val="100000"/>
              </a:lnSpc>
              <a:spcAft>
                <a:spcPts val="0"/>
              </a:spcAft>
            </a:pPr>
            <a:r>
              <a:rPr sz="1300" b="1">
                <a:solidFill>
                  <a:srgbClr val="1C6FB5"/>
                </a:solidFill>
                <a:latin typeface="Arial"/>
              </a:rPr>
              <a:t>Qwen3.8-27B  L3</a:t>
            </a:r>
          </a:p>
        </p:txBody>
      </p:sp>
      <p:sp>
        <p:nvSpPr>
          <p:cNvPr id="124" name="TextBox 123"/>
          <p:cNvSpPr txBox="1"/>
          <p:nvPr/>
        </p:nvSpPr>
        <p:spPr>
          <a:xfrm>
            <a:off x="25194006" y="21084779"/>
            <a:ext cx="2996945"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artifacts + retrieval</a:t>
            </a:r>
          </a:p>
        </p:txBody>
      </p:sp>
      <p:sp>
        <p:nvSpPr>
          <p:cNvPr id="125" name="TextBox 124"/>
          <p:cNvSpPr txBox="1"/>
          <p:nvPr/>
        </p:nvSpPr>
        <p:spPr>
          <a:xfrm>
            <a:off x="28190952" y="21084779"/>
            <a:ext cx="1398574"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0.702</a:t>
            </a:r>
          </a:p>
        </p:txBody>
      </p:sp>
      <p:sp>
        <p:nvSpPr>
          <p:cNvPr id="126" name="TextBox 125"/>
          <p:cNvSpPr txBox="1"/>
          <p:nvPr/>
        </p:nvSpPr>
        <p:spPr>
          <a:xfrm>
            <a:off x="29589526" y="21084779"/>
            <a:ext cx="1598371"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0.242</a:t>
            </a:r>
          </a:p>
        </p:txBody>
      </p:sp>
      <p:sp>
        <p:nvSpPr>
          <p:cNvPr id="127" name="TextBox 126"/>
          <p:cNvSpPr txBox="1"/>
          <p:nvPr/>
        </p:nvSpPr>
        <p:spPr>
          <a:xfrm>
            <a:off x="31187898" y="21084779"/>
            <a:ext cx="998982" cy="365760"/>
          </a:xfrm>
          <a:prstGeom prst="rect">
            <a:avLst/>
          </a:prstGeom>
          <a:noFill/>
        </p:spPr>
        <p:txBody>
          <a:bodyPr wrap="square" lIns="0" rIns="0" tIns="0" bIns="0">
            <a:spAutoFit/>
          </a:bodyPr>
          <a:lstStyle/>
          <a:p>
            <a:pPr algn="r">
              <a:lnSpc>
                <a:spcPct val="100000"/>
              </a:lnSpc>
              <a:spcAft>
                <a:spcPts val="0"/>
              </a:spcAft>
            </a:pPr>
            <a:r>
              <a:rPr sz="1300" b="1">
                <a:solidFill>
                  <a:srgbClr val="1C6FB5"/>
                </a:solidFill>
                <a:latin typeface="Arial"/>
              </a:rPr>
              <a:t>92</a:t>
            </a:r>
          </a:p>
        </p:txBody>
      </p:sp>
      <p:sp>
        <p:nvSpPr>
          <p:cNvPr id="128" name="TextBox 127"/>
          <p:cNvSpPr txBox="1"/>
          <p:nvPr/>
        </p:nvSpPr>
        <p:spPr>
          <a:xfrm>
            <a:off x="22197060" y="21395675"/>
            <a:ext cx="2996945"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GLM-4.7-Flash  L2</a:t>
            </a:r>
          </a:p>
        </p:txBody>
      </p:sp>
      <p:sp>
        <p:nvSpPr>
          <p:cNvPr id="129" name="TextBox 128"/>
          <p:cNvSpPr txBox="1"/>
          <p:nvPr/>
        </p:nvSpPr>
        <p:spPr>
          <a:xfrm>
            <a:off x="25194006" y="21395675"/>
            <a:ext cx="299694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0" name="TextBox 129"/>
          <p:cNvSpPr txBox="1"/>
          <p:nvPr/>
        </p:nvSpPr>
        <p:spPr>
          <a:xfrm>
            <a:off x="28190952" y="213956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31" name="TextBox 130"/>
          <p:cNvSpPr txBox="1"/>
          <p:nvPr/>
        </p:nvSpPr>
        <p:spPr>
          <a:xfrm>
            <a:off x="29589526" y="21395675"/>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32" name="TextBox 131"/>
          <p:cNvSpPr txBox="1"/>
          <p:nvPr/>
        </p:nvSpPr>
        <p:spPr>
          <a:xfrm>
            <a:off x="31187898" y="21395675"/>
            <a:ext cx="998982"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33" name="Rectangle 132"/>
          <p:cNvSpPr/>
          <p:nvPr/>
        </p:nvSpPr>
        <p:spPr>
          <a:xfrm>
            <a:off x="22197060" y="2172485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22197060" y="21926027"/>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actually ran never produced a decidable verdict about any of the 149 cases: “no signal fired” is not a judgement. Adding the retrieval tier is worth +0.149 recall to the 27B and +0.012 to the 14B, so the tier pays where the model can use it and not otherwise. Model choice buys precision, not detection: the 14B reaches its recall by flagging 64% of the controls against the 27B's 24%.</a:t>
            </a:r>
          </a:p>
        </p:txBody>
      </p:sp>
      <p:sp>
        <p:nvSpPr>
          <p:cNvPr id="135" name="TextBox 134"/>
          <p:cNvSpPr txBox="1"/>
          <p:nvPr/>
        </p:nvSpPr>
        <p:spPr>
          <a:xfrm>
            <a:off x="11704320" y="25396817"/>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36" name="Picture 135" descr="f_rounds.png"/>
          <p:cNvPicPr>
            <a:picLocks noChangeAspect="1"/>
          </p:cNvPicPr>
          <p:nvPr/>
        </p:nvPicPr>
        <p:blipFill>
          <a:blip r:embed="rId9"/>
          <a:stretch>
            <a:fillRect/>
          </a:stretch>
        </p:blipFill>
        <p:spPr>
          <a:xfrm>
            <a:off x="11704320" y="25707713"/>
            <a:ext cx="20482560" cy="4209062"/>
          </a:xfrm>
          <a:prstGeom prst="rect">
            <a:avLst/>
          </a:prstGeom>
        </p:spPr>
      </p:pic>
      <p:sp>
        <p:nvSpPr>
          <p:cNvPr id="137" name="TextBox 136"/>
          <p:cNvSpPr txBox="1"/>
          <p:nvPr/>
        </p:nvSpPr>
        <p:spPr>
          <a:xfrm>
            <a:off x="11704320" y="30008215"/>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38" name="TextBox 137"/>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39" name="Rectangle 138"/>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0" name="Picture 139" descr="d_wall.png"/>
          <p:cNvPicPr>
            <a:picLocks noChangeAspect="1"/>
          </p:cNvPicPr>
          <p:nvPr/>
        </p:nvPicPr>
        <p:blipFill>
          <a:blip r:embed="rId10"/>
          <a:stretch>
            <a:fillRect/>
          </a:stretch>
        </p:blipFill>
        <p:spPr>
          <a:xfrm>
            <a:off x="32552640" y="5577840"/>
            <a:ext cx="10607040" cy="6362678"/>
          </a:xfrm>
          <a:prstGeom prst="rect">
            <a:avLst/>
          </a:prstGeom>
        </p:spPr>
      </p:pic>
      <p:sp>
        <p:nvSpPr>
          <p:cNvPr id="141" name="TextBox 140"/>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The same three checkpoints and the same matcher on both sides, so the evaluator offset cancels. A detector trained on one field does not transfer to another.</a:t>
            </a:r>
          </a:p>
        </p:txBody>
      </p:sp>
      <p:pic>
        <p:nvPicPr>
          <p:cNvPr id="142" name="Picture 141" descr="j_species.png"/>
          <p:cNvPicPr>
            <a:picLocks noChangeAspect="1"/>
          </p:cNvPicPr>
          <p:nvPr/>
        </p:nvPicPr>
        <p:blipFill>
          <a:blip r:embed="rId11"/>
          <a:stretch>
            <a:fillRect/>
          </a:stretch>
        </p:blipFill>
        <p:spPr>
          <a:xfrm>
            <a:off x="32552640" y="12672038"/>
            <a:ext cx="10607040" cy="5429067"/>
          </a:xfrm>
          <a:prstGeom prst="rect">
            <a:avLst/>
          </a:prstGeom>
        </p:spPr>
      </p:pic>
      <p:sp>
        <p:nvSpPr>
          <p:cNvPr id="143" name="TextBox 142"/>
          <p:cNvSpPr txBox="1"/>
          <p:nvPr/>
        </p:nvSpPr>
        <p:spPr>
          <a:xfrm>
            <a:off x="32552640" y="18192545"/>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Per-species performance of the deployable checkpoint. The spread across the twelve classes is 0.214, roughly seventy times the seed noise.</a:t>
            </a:r>
          </a:p>
        </p:txBody>
      </p:sp>
      <p:sp>
        <p:nvSpPr>
          <p:cNvPr id="144" name="TextBox 143"/>
          <p:cNvSpPr txBox="1"/>
          <p:nvPr/>
        </p:nvSpPr>
        <p:spPr>
          <a:xfrm>
            <a:off x="32552640" y="18878345"/>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45" name="Rectangle 144"/>
          <p:cNvSpPr/>
          <p:nvPr/>
        </p:nvSpPr>
        <p:spPr>
          <a:xfrm>
            <a:off x="32552640" y="19353833"/>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32552640" y="1960986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47" name="TextBox 146"/>
          <p:cNvSpPr txBox="1"/>
          <p:nvPr/>
        </p:nvSpPr>
        <p:spPr>
          <a:xfrm>
            <a:off x="32552640" y="20315731"/>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48" name="TextBox 147"/>
          <p:cNvSpPr txBox="1"/>
          <p:nvPr/>
        </p:nvSpPr>
        <p:spPr>
          <a:xfrm>
            <a:off x="32552640" y="2082017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49" name="TextBox 148"/>
          <p:cNvSpPr txBox="1"/>
          <p:nvPr/>
        </p:nvSpPr>
        <p:spPr>
          <a:xfrm>
            <a:off x="32552640" y="21324619"/>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+0.011 to the 14B.</a:t>
            </a:r>
          </a:p>
        </p:txBody>
      </p:sp>
      <p:sp>
        <p:nvSpPr>
          <p:cNvPr id="150" name="TextBox 149"/>
          <p:cNvSpPr txBox="1"/>
          <p:nvPr/>
        </p:nvSpPr>
        <p:spPr>
          <a:xfrm>
            <a:off x="32552640" y="22030485"/>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51" name="TextBox 150"/>
          <p:cNvSpPr txBox="1"/>
          <p:nvPr/>
        </p:nvSpPr>
        <p:spPr>
          <a:xfrm>
            <a:off x="32552640" y="22626369"/>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52" name="Rectangle 151"/>
          <p:cNvSpPr/>
          <p:nvPr/>
        </p:nvSpPr>
        <p:spPr>
          <a:xfrm>
            <a:off x="32552640" y="23101857"/>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2552640" y="23357889"/>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54" name="TextBox 153"/>
          <p:cNvSpPr txBox="1"/>
          <p:nvPr/>
        </p:nvSpPr>
        <p:spPr>
          <a:xfrm>
            <a:off x="32552640" y="2452641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55" name="Rectangle 154"/>
          <p:cNvSpPr/>
          <p:nvPr/>
        </p:nvSpPr>
        <p:spPr>
          <a:xfrm>
            <a:off x="32552640" y="2500190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32552640" y="25257936"/>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