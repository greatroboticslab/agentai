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6600" b="1">
                <a:solidFill>
                  <a:srgbClr val="FFFFFF"/>
                </a:solidFill>
                <a:latin typeface="Arial"/>
              </a:rPr>
              <a:t>What Actually Moves a Weed Detector — and What Catches It Failing</a:t>
            </a:r>
          </a:p>
        </p:txBody>
      </p:sp>
      <p:sp>
        <p:nvSpPr>
          <p:cNvPr id="5" name="TextBox 4"/>
          <p:cNvSpPr txBox="1"/>
          <p:nvPr/>
        </p:nvSpPr>
        <p:spPr>
          <a:xfrm>
            <a:off x="731520" y="2103120"/>
            <a:ext cx="42428160" cy="548640"/>
          </a:xfrm>
          <a:prstGeom prst="rect">
            <a:avLst/>
          </a:prstGeom>
          <a:noFill/>
        </p:spPr>
        <p:txBody>
          <a:bodyPr wrap="square" lIns="0" rIns="0" tIns="0" bIns="0">
            <a:spAutoFit/>
          </a:bodyPr>
          <a:lstStyle/>
          <a:p>
            <a:r>
              <a:rPr sz="3200" b="1">
                <a:solidFill>
                  <a:srgbClr val="FFFFFF"/>
                </a:solidFill>
                <a:latin typeface="Arial"/>
              </a:rPr>
              <a:t>Hongbo Zhang</a:t>
            </a:r>
            <a:r>
              <a:rPr sz="2000" b="1" baseline="30000">
                <a:solidFill>
                  <a:srgbClr val="FFFFFF"/>
                </a:solidFill>
                <a:latin typeface="Arial"/>
              </a:rPr>
              <a:t>1</a:t>
            </a:r>
            <a:r>
              <a:rPr sz="3200" b="1">
                <a:solidFill>
                  <a:srgbClr val="FFFFFF"/>
                </a:solidFill>
                <a:latin typeface="Arial"/>
              </a:rPr>
              <a:t>,     Harry He</a:t>
            </a:r>
            <a:r>
              <a:rPr sz="2000" b="1" baseline="30000">
                <a:solidFill>
                  <a:srgbClr val="FFFFFF"/>
                </a:solidFill>
                <a:latin typeface="Arial"/>
              </a:rPr>
              <a:t>1</a:t>
            </a:r>
            <a:r>
              <a:rPr sz="3200" b="1">
                <a:solidFill>
                  <a:srgbClr val="FFFFFF"/>
                </a:solidFill>
                <a:latin typeface="Arial"/>
              </a:rPr>
              <a:t>,     Song Cui</a:t>
            </a:r>
            <a:r>
              <a:rPr sz="2000" b="1" baseline="30000">
                <a:solidFill>
                  <a:srgbClr val="FFFFFF"/>
                </a:solidFill>
                <a:latin typeface="Arial"/>
              </a:rPr>
              <a:t>2</a:t>
            </a:r>
          </a:p>
        </p:txBody>
      </p:sp>
      <p:sp>
        <p:nvSpPr>
          <p:cNvPr id="6" name="TextBox 5"/>
          <p:cNvSpPr txBox="1"/>
          <p:nvPr/>
        </p:nvSpPr>
        <p:spPr>
          <a:xfrm>
            <a:off x="731520" y="2788920"/>
            <a:ext cx="42428160" cy="365760"/>
          </a:xfrm>
          <a:prstGeom prst="rect">
            <a:avLst/>
          </a:prstGeom>
          <a:noFill/>
        </p:spPr>
        <p:txBody>
          <a:bodyPr wrap="square" lIns="0" rIns="0" tIns="0" bIns="0">
            <a:spAutoFit/>
          </a:bodyPr>
          <a:lstStyle/>
          <a:p>
            <a:pPr algn="l">
              <a:lnSpc>
                <a:spcPct val="100000"/>
              </a:lnSpc>
              <a:spcAft>
                <a:spcPts val="0"/>
              </a:spcAft>
            </a:pPr>
            <a:r>
              <a:rPr sz="2000" b="0">
                <a:solidFill>
                  <a:srgbClr val="C2CEDA"/>
                </a:solidFill>
                <a:latin typeface="Arial"/>
              </a:rPr>
              <a:t>¹Department of Engineering Technology   ·   ²School of Agriculture   ·   Middle Tennessee State University, Murfreesboro, TN, USA</a:t>
            </a:r>
          </a:p>
        </p:txBody>
      </p:sp>
      <p:sp>
        <p:nvSpPr>
          <p:cNvPr id="7" name="TextBox 6"/>
          <p:cNvSpPr txBox="1"/>
          <p:nvPr/>
        </p:nvSpPr>
        <p:spPr>
          <a:xfrm>
            <a:off x="73152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INTRODUCTION</a:t>
            </a:r>
          </a:p>
        </p:txBody>
      </p:sp>
      <p:sp>
        <p:nvSpPr>
          <p:cNvPr id="8" name="Rectangle 7"/>
          <p:cNvSpPr/>
          <p:nvPr/>
        </p:nvSpPr>
        <p:spPr>
          <a:xfrm>
            <a:off x="73152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77840"/>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Autonomous data-harvesting pipelines promise compounding gains: collect field images, label them, retrain, repeat. We built one for cotton-field weed detection — a collector agent and a trainer agent running unattended on an HPC allocation, fed by robots driving crop rows — and ran it for fifteen rounds.</a:t>
            </a:r>
          </a:p>
        </p:txBody>
      </p:sp>
      <p:sp>
        <p:nvSpPr>
          <p:cNvPr id="10" name="TextBox 9"/>
          <p:cNvSpPr txBox="1"/>
          <p:nvPr/>
        </p:nvSpPr>
        <p:spPr>
          <a:xfrm>
            <a:off x="731520" y="6332346"/>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Its dangerous failure mode was not a crash. Every round reported success, every dashboard read green, and the holdout accuracy fell the entire time. This poster reports what we measured when we stopped trusting the pipeline and audited it: which levers actually move a weed detector, and which kind of supervision actually catches it failing.</a:t>
            </a:r>
          </a:p>
        </p:txBody>
      </p:sp>
      <p:sp>
        <p:nvSpPr>
          <p:cNvPr id="11" name="TextBox 10"/>
          <p:cNvSpPr txBox="1"/>
          <p:nvPr/>
        </p:nvSpPr>
        <p:spPr>
          <a:xfrm>
            <a:off x="731520" y="717829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PLATFORM</a:t>
            </a:r>
          </a:p>
        </p:txBody>
      </p:sp>
      <p:sp>
        <p:nvSpPr>
          <p:cNvPr id="12" name="Rectangle 11"/>
          <p:cNvSpPr/>
          <p:nvPr/>
        </p:nvSpPr>
        <p:spPr>
          <a:xfrm>
            <a:off x="731520" y="765378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90981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Two agents run as separate scheduler jobs against one locked dataset registry. A collector searches public sources, downloads and pseudo-labels; a trainer merges, removes duplicates, guards the evaluation set and trains. Field data arrives over a live uplink from two ground robots.</a:t>
            </a:r>
          </a:p>
        </p:txBody>
      </p:sp>
      <p:sp>
        <p:nvSpPr>
          <p:cNvPr id="14" name="TextBox 13"/>
          <p:cNvSpPr txBox="1"/>
          <p:nvPr/>
        </p:nvSpPr>
        <p:spPr>
          <a:xfrm>
            <a:off x="731520" y="866432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Counted on disk rather than claimed: 2,686 camera frames across 26 sessions from 2 robots, none of them labelled. Robot 241 contributes 2,259 frames at 640 x 360, 2026-08-15 to 2026-09-05, of which 1,704 are genuinely on vegetation or soil, with GPS at 1 Hz and IMU at 15 Hz. The laser cart contributes 427 frames, of which 75 are in a field; it carries laser and vehicle telemetry but no GPS and no IMU.</a:t>
            </a:r>
          </a:p>
        </p:txBody>
      </p:sp>
      <p:pic>
        <p:nvPicPr>
          <p:cNvPr id="15" name="Picture 14" descr="l_robots.png"/>
          <p:cNvPicPr>
            <a:picLocks noChangeAspect="1"/>
          </p:cNvPicPr>
          <p:nvPr/>
        </p:nvPicPr>
        <p:blipFill>
          <a:blip r:embed="rId2"/>
          <a:stretch>
            <a:fillRect/>
          </a:stretch>
        </p:blipFill>
        <p:spPr>
          <a:xfrm>
            <a:off x="731520" y="9719436"/>
            <a:ext cx="10607040" cy="1732684"/>
          </a:xfrm>
          <a:prstGeom prst="rect">
            <a:avLst/>
          </a:prstGeom>
        </p:spPr>
      </p:pic>
      <p:sp>
        <p:nvSpPr>
          <p:cNvPr id="16" name="TextBox 15"/>
          <p:cNvSpPr txBox="1"/>
          <p:nvPr/>
        </p:nvSpPr>
        <p:spPr>
          <a:xfrm>
            <a:off x="731520" y="1154356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  Frames as recorded, unenhanced. 2686 frames across 26 sessions and 2 robots sit on the platform and 0 of them are labelled: robot 241 contributes 2259 at 640 x 360 and 1 Hz, the laser cart 427 of which 75 are in a field. The boxes in (n) are the cart's own detector drawing on its own video, not ground truth.</a:t>
            </a:r>
          </a:p>
        </p:txBody>
      </p:sp>
      <p:pic>
        <p:nvPicPr>
          <p:cNvPr id="17" name="Picture 16" descr="h_drive.png"/>
          <p:cNvPicPr>
            <a:picLocks noChangeAspect="1"/>
          </p:cNvPicPr>
          <p:nvPr/>
        </p:nvPicPr>
        <p:blipFill>
          <a:blip r:embed="rId3"/>
          <a:stretch>
            <a:fillRect/>
          </a:stretch>
        </p:blipFill>
        <p:spPr>
          <a:xfrm>
            <a:off x="731520" y="12366520"/>
            <a:ext cx="10607040" cy="4294410"/>
          </a:xfrm>
          <a:prstGeom prst="rect">
            <a:avLst/>
          </a:prstGeom>
        </p:spPr>
      </p:pic>
      <p:sp>
        <p:nvSpPr>
          <p:cNvPr id="18" name="TextBox 17"/>
          <p:cNvSpPr txBox="1"/>
          <p:nvPr/>
        </p:nvSpPr>
        <p:spPr>
          <a:xfrm>
            <a:off x="731520" y="16752371"/>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2.  Robot 241, 2026-08-29: one 213 s pass through a crop plot. (h) GPS track from the board fix. (i) IMU heading over the same pass.</a:t>
            </a:r>
          </a:p>
        </p:txBody>
      </p:sp>
      <p:pic>
        <p:nvPicPr>
          <p:cNvPr id="19" name="Picture 18" descr="k_funnel.png"/>
          <p:cNvPicPr>
            <a:picLocks noChangeAspect="1"/>
          </p:cNvPicPr>
          <p:nvPr/>
        </p:nvPicPr>
        <p:blipFill>
          <a:blip r:embed="rId4"/>
          <a:stretch>
            <a:fillRect/>
          </a:stretch>
        </p:blipFill>
        <p:spPr>
          <a:xfrm>
            <a:off x="731520" y="17209571"/>
            <a:ext cx="10607040" cy="4525878"/>
          </a:xfrm>
          <a:prstGeom prst="rect">
            <a:avLst/>
          </a:prstGeom>
        </p:spPr>
      </p:pic>
      <p:sp>
        <p:nvSpPr>
          <p:cNvPr id="20" name="TextBox 19"/>
          <p:cNvSpPr txBox="1"/>
          <p:nvPr/>
        </p:nvSpPr>
        <p:spPr>
          <a:xfrm>
            <a:off x="731520" y="21826889"/>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3.  One of six audited harvested sources clears the label-precision bar. The audit probe reads 1.000 on human-labelled cwd12, so the low scores are the data.</a:t>
            </a:r>
          </a:p>
        </p:txBody>
      </p:sp>
      <p:sp>
        <p:nvSpPr>
          <p:cNvPr id="21" name="TextBox 20"/>
          <p:cNvSpPr txBox="1"/>
          <p:nvPr/>
        </p:nvSpPr>
        <p:spPr>
          <a:xfrm>
            <a:off x="731520" y="22512689"/>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PROTOCOL</a:t>
            </a:r>
          </a:p>
        </p:txBody>
      </p:sp>
      <p:sp>
        <p:nvSpPr>
          <p:cNvPr id="22" name="Rectangle 21"/>
          <p:cNvSpPr/>
          <p:nvPr/>
        </p:nvSpPr>
        <p:spPr>
          <a:xfrm>
            <a:off x="731520" y="22988177"/>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23244209"/>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Every in-domain number is mAP₅₀₋₉₅ on the same 1,977 images and 3,257 instances of CottonWeedDet12, under one evaluator. That set is also the validation set during training, so each figure is a maximum over 21–100 evaluations on the set it is reported on. We measured the size of that optimism rather than hiding it — +0.002 to +0.017 depending on recipe — and every conclusion below survives re-reading at last-epoch and at mean-of-last-five.</a:t>
            </a:r>
          </a:p>
        </p:txBody>
      </p:sp>
      <p:sp>
        <p:nvSpPr>
          <p:cNvPr id="24" name="TextBox 23"/>
          <p:cNvSpPr txBox="1"/>
          <p:nvPr/>
        </p:nvSpPr>
        <p:spPr>
          <a:xfrm>
            <a:off x="731520" y="24207885"/>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evaluators exist in this project and they do not share a scale: the same checkpoint reads 0.8794 under one and 0.8554 under another. Every number here is stated with the evaluator that produced it, and numbers from different evaluators are never compared.</a:t>
            </a:r>
          </a:p>
        </p:txBody>
      </p:sp>
      <p:sp>
        <p:nvSpPr>
          <p:cNvPr id="25" name="TextBox 24"/>
          <p:cNvSpPr txBox="1"/>
          <p:nvPr/>
        </p:nvSpPr>
        <p:spPr>
          <a:xfrm>
            <a:off x="731520" y="24813675"/>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WHAT THE AUDIT RECOVERED</a:t>
            </a:r>
          </a:p>
        </p:txBody>
      </p:sp>
      <p:sp>
        <p:nvSpPr>
          <p:cNvPr id="26" name="Rectangle 25"/>
          <p:cNvSpPr/>
          <p:nvPr/>
        </p:nvSpPr>
        <p:spPr>
          <a:xfrm>
            <a:off x="731520" y="25289163"/>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25545195"/>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Four defects found by reading the pipeline's own artifacts rather than its dashboards. Each was silent: the run reported success while the defect held.</a:t>
            </a:r>
          </a:p>
        </p:txBody>
      </p:sp>
      <p:sp>
        <p:nvSpPr>
          <p:cNvPr id="28" name="Rectangle 27"/>
          <p:cNvSpPr/>
          <p:nvPr/>
        </p:nvSpPr>
        <p:spPr>
          <a:xfrm>
            <a:off x="731520" y="26090533"/>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26181973"/>
            <a:ext cx="6576364"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defect</a:t>
            </a:r>
          </a:p>
        </p:txBody>
      </p:sp>
      <p:sp>
        <p:nvSpPr>
          <p:cNvPr id="30" name="TextBox 29"/>
          <p:cNvSpPr txBox="1"/>
          <p:nvPr/>
        </p:nvSpPr>
        <p:spPr>
          <a:xfrm>
            <a:off x="7307884" y="26181973"/>
            <a:ext cx="403067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recovered</a:t>
            </a:r>
          </a:p>
        </p:txBody>
      </p:sp>
      <p:sp>
        <p:nvSpPr>
          <p:cNvPr id="31" name="Rectangle 30"/>
          <p:cNvSpPr/>
          <p:nvPr/>
        </p:nvSpPr>
        <p:spPr>
          <a:xfrm>
            <a:off x="731520" y="26456293"/>
            <a:ext cx="10607040"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26538589"/>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Warm-start chain across rounds</a:t>
            </a:r>
          </a:p>
        </p:txBody>
      </p:sp>
      <p:sp>
        <p:nvSpPr>
          <p:cNvPr id="33" name="TextBox 32"/>
          <p:cNvSpPr txBox="1"/>
          <p:nvPr/>
        </p:nvSpPr>
        <p:spPr>
          <a:xfrm>
            <a:off x="7307884" y="26538589"/>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+0.0287 mAP</a:t>
            </a:r>
          </a:p>
        </p:txBody>
      </p:sp>
      <p:sp>
        <p:nvSpPr>
          <p:cNvPr id="34" name="TextBox 33"/>
          <p:cNvSpPr txBox="1"/>
          <p:nvPr/>
        </p:nvSpPr>
        <p:spPr>
          <a:xfrm>
            <a:off x="731520" y="26849485"/>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GPS logged from a frozen receiver</a:t>
            </a:r>
          </a:p>
        </p:txBody>
      </p:sp>
      <p:sp>
        <p:nvSpPr>
          <p:cNvPr id="35" name="TextBox 34"/>
          <p:cNvSpPr txBox="1"/>
          <p:nvPr/>
        </p:nvSpPr>
        <p:spPr>
          <a:xfrm>
            <a:off x="7307884" y="26849485"/>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200.9 m of track</a:t>
            </a:r>
          </a:p>
        </p:txBody>
      </p:sp>
      <p:sp>
        <p:nvSpPr>
          <p:cNvPr id="36" name="TextBox 35"/>
          <p:cNvSpPr txBox="1"/>
          <p:nvPr/>
        </p:nvSpPr>
        <p:spPr>
          <a:xfrm>
            <a:off x="731520" y="27160381"/>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Harvest decisions never logged</a:t>
            </a:r>
          </a:p>
        </p:txBody>
      </p:sp>
      <p:sp>
        <p:nvSpPr>
          <p:cNvPr id="37" name="TextBox 36"/>
          <p:cNvSpPr txBox="1"/>
          <p:nvPr/>
        </p:nvSpPr>
        <p:spPr>
          <a:xfrm>
            <a:off x="7307884" y="27160381"/>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8 empty rounds seen</a:t>
            </a:r>
          </a:p>
        </p:txBody>
      </p:sp>
      <p:sp>
        <p:nvSpPr>
          <p:cNvPr id="38" name="TextBox 37"/>
          <p:cNvSpPr txBox="1"/>
          <p:nvPr/>
        </p:nvSpPr>
        <p:spPr>
          <a:xfrm>
            <a:off x="731520" y="27471277"/>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Staging directory never cleared</a:t>
            </a:r>
          </a:p>
        </p:txBody>
      </p:sp>
      <p:sp>
        <p:nvSpPr>
          <p:cNvPr id="39" name="TextBox 38"/>
          <p:cNvSpPr txBox="1"/>
          <p:nvPr/>
        </p:nvSpPr>
        <p:spPr>
          <a:xfrm>
            <a:off x="7307884" y="27471277"/>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20,258 stale files</a:t>
            </a:r>
          </a:p>
        </p:txBody>
      </p:sp>
      <p:sp>
        <p:nvSpPr>
          <p:cNvPr id="40" name="Rectangle 39"/>
          <p:cNvSpPr/>
          <p:nvPr/>
        </p:nvSpPr>
        <p:spPr>
          <a:xfrm>
            <a:off x="731520" y="27800461"/>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704320" y="4846320"/>
            <a:ext cx="2048256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RESULTS</a:t>
            </a:r>
          </a:p>
        </p:txBody>
      </p:sp>
      <p:sp>
        <p:nvSpPr>
          <p:cNvPr id="42" name="Rectangle 41"/>
          <p:cNvSpPr/>
          <p:nvPr/>
        </p:nvSpPr>
        <p:spPr>
          <a:xfrm>
            <a:off x="11704320" y="5321808"/>
            <a:ext cx="2048256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70432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93292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+0.0714</a:t>
            </a:r>
          </a:p>
        </p:txBody>
      </p:sp>
      <p:sp>
        <p:nvSpPr>
          <p:cNvPr id="45" name="TextBox 44"/>
          <p:cNvSpPr txBox="1"/>
          <p:nvPr/>
        </p:nvSpPr>
        <p:spPr>
          <a:xfrm>
            <a:off x="1193292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pretraining over random init</a:t>
            </a:r>
          </a:p>
        </p:txBody>
      </p:sp>
      <p:sp>
        <p:nvSpPr>
          <p:cNvPr id="46" name="TextBox 45"/>
          <p:cNvSpPr txBox="1"/>
          <p:nvPr/>
        </p:nvSpPr>
        <p:spPr>
          <a:xfrm>
            <a:off x="1193292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n = 3 each side</a:t>
            </a:r>
          </a:p>
        </p:txBody>
      </p:sp>
      <p:sp>
        <p:nvSpPr>
          <p:cNvPr id="47" name="Rectangle 46"/>
          <p:cNvSpPr/>
          <p:nvPr/>
        </p:nvSpPr>
        <p:spPr>
          <a:xfrm>
            <a:off x="1689354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712214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0.100</a:t>
            </a:r>
          </a:p>
        </p:txBody>
      </p:sp>
      <p:sp>
        <p:nvSpPr>
          <p:cNvPr id="49" name="TextBox 48"/>
          <p:cNvSpPr txBox="1"/>
          <p:nvPr/>
        </p:nvSpPr>
        <p:spPr>
          <a:xfrm>
            <a:off x="1712214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same detector, another field</a:t>
            </a:r>
          </a:p>
        </p:txBody>
      </p:sp>
      <p:sp>
        <p:nvSpPr>
          <p:cNvPr id="50" name="TextBox 49"/>
          <p:cNvSpPr txBox="1"/>
          <p:nvPr/>
        </p:nvSpPr>
        <p:spPr>
          <a:xfrm>
            <a:off x="1712214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from 0.873, n = 3</a:t>
            </a:r>
          </a:p>
        </p:txBody>
      </p:sp>
      <p:sp>
        <p:nvSpPr>
          <p:cNvPr id="51" name="Rectangle 50"/>
          <p:cNvSpPr/>
          <p:nvPr/>
        </p:nvSpPr>
        <p:spPr>
          <a:xfrm>
            <a:off x="2208276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31136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149 of 149</a:t>
            </a:r>
          </a:p>
        </p:txBody>
      </p:sp>
      <p:sp>
        <p:nvSpPr>
          <p:cNvPr id="53" name="TextBox 52"/>
          <p:cNvSpPr txBox="1"/>
          <p:nvPr/>
        </p:nvSpPr>
        <p:spPr>
          <a:xfrm>
            <a:off x="2231136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cases the watchdog could not decide</a:t>
            </a:r>
          </a:p>
        </p:txBody>
      </p:sp>
      <p:sp>
        <p:nvSpPr>
          <p:cNvPr id="54" name="TextBox 53"/>
          <p:cNvSpPr txBox="1"/>
          <p:nvPr/>
        </p:nvSpPr>
        <p:spPr>
          <a:xfrm>
            <a:off x="2231136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116 incidents among them</a:t>
            </a:r>
          </a:p>
        </p:txBody>
      </p:sp>
      <p:sp>
        <p:nvSpPr>
          <p:cNvPr id="55" name="Rectangle 54"/>
          <p:cNvSpPr/>
          <p:nvPr/>
        </p:nvSpPr>
        <p:spPr>
          <a:xfrm>
            <a:off x="2727198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750058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48,752</a:t>
            </a:r>
          </a:p>
        </p:txBody>
      </p:sp>
      <p:sp>
        <p:nvSpPr>
          <p:cNvPr id="57" name="TextBox 56"/>
          <p:cNvSpPr txBox="1"/>
          <p:nvPr/>
        </p:nvSpPr>
        <p:spPr>
          <a:xfrm>
            <a:off x="2750058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images, unchanged for 13 rounds</a:t>
            </a:r>
          </a:p>
        </p:txBody>
      </p:sp>
      <p:sp>
        <p:nvSpPr>
          <p:cNvPr id="58" name="TextBox 57"/>
          <p:cNvSpPr txBox="1"/>
          <p:nvPr/>
        </p:nvSpPr>
        <p:spPr>
          <a:xfrm>
            <a:off x="2750058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while the loop reported progress</a:t>
            </a:r>
          </a:p>
        </p:txBody>
      </p:sp>
      <p:sp>
        <p:nvSpPr>
          <p:cNvPr id="59" name="TextBox 58"/>
          <p:cNvSpPr txBox="1"/>
          <p:nvPr/>
        </p:nvSpPr>
        <p:spPr>
          <a:xfrm>
            <a:off x="11704320" y="7452359"/>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moves the detector</a:t>
            </a:r>
          </a:p>
        </p:txBody>
      </p:sp>
      <p:pic>
        <p:nvPicPr>
          <p:cNvPr id="60" name="Picture 59" descr="a_families.png"/>
          <p:cNvPicPr>
            <a:picLocks noChangeAspect="1"/>
          </p:cNvPicPr>
          <p:nvPr/>
        </p:nvPicPr>
        <p:blipFill>
          <a:blip r:embed="rId5"/>
          <a:stretch>
            <a:fillRect/>
          </a:stretch>
        </p:blipFill>
        <p:spPr>
          <a:xfrm>
            <a:off x="11704320" y="7763255"/>
            <a:ext cx="9989819" cy="5361065"/>
          </a:xfrm>
          <a:prstGeom prst="rect">
            <a:avLst/>
          </a:prstGeom>
        </p:spPr>
      </p:pic>
      <p:sp>
        <p:nvSpPr>
          <p:cNvPr id="61" name="TextBox 60"/>
          <p:cNvSpPr txBox="1"/>
          <p:nvPr/>
        </p:nvSpPr>
        <p:spPr>
          <a:xfrm>
            <a:off x="11704320" y="13215760"/>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4.  Three detector families on the CottonWeedDet12 holdout, three seeds each. How the network is initialised is worth three times what the architecture is worth.</a:t>
            </a:r>
          </a:p>
        </p:txBody>
      </p:sp>
      <p:pic>
        <p:nvPicPr>
          <p:cNvPr id="62" name="Picture 61" descr="b_zeroshot.png"/>
          <p:cNvPicPr>
            <a:picLocks noChangeAspect="1"/>
          </p:cNvPicPr>
          <p:nvPr/>
        </p:nvPicPr>
        <p:blipFill>
          <a:blip r:embed="rId6"/>
          <a:stretch>
            <a:fillRect/>
          </a:stretch>
        </p:blipFill>
        <p:spPr>
          <a:xfrm>
            <a:off x="22197060" y="7763255"/>
            <a:ext cx="9989819" cy="4817913"/>
          </a:xfrm>
          <a:prstGeom prst="rect">
            <a:avLst/>
          </a:prstGeom>
        </p:spPr>
      </p:pic>
      <p:sp>
        <p:nvSpPr>
          <p:cNvPr id="63" name="TextBox 62"/>
          <p:cNvSpPr txBox="1"/>
          <p:nvPr/>
        </p:nvSpPr>
        <p:spPr>
          <a:xfrm>
            <a:off x="22197060" y="12672608"/>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5.  One deterministic pass per model, no repeats. Fifteen zero-shot vision-language models against the fine-tuned detector: the best of them reaches 0.434 against 0.929, and five produce no usable grounding at all.</a:t>
            </a:r>
          </a:p>
        </p:txBody>
      </p:sp>
      <p:sp>
        <p:nvSpPr>
          <p:cNvPr id="64" name="TextBox 63"/>
          <p:cNvSpPr txBox="1"/>
          <p:nvPr/>
        </p:nvSpPr>
        <p:spPr>
          <a:xfrm>
            <a:off x="11704320" y="1394728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Does more harvested data help?</a:t>
            </a:r>
          </a:p>
        </p:txBody>
      </p:sp>
      <p:pic>
        <p:nvPicPr>
          <p:cNvPr id="65" name="Picture 64" descr="c_ladder.png"/>
          <p:cNvPicPr>
            <a:picLocks noChangeAspect="1"/>
          </p:cNvPicPr>
          <p:nvPr/>
        </p:nvPicPr>
        <p:blipFill>
          <a:blip r:embed="rId7"/>
          <a:stretch>
            <a:fillRect/>
          </a:stretch>
        </p:blipFill>
        <p:spPr>
          <a:xfrm>
            <a:off x="11704320" y="14258176"/>
            <a:ext cx="9989819" cy="2543654"/>
          </a:xfrm>
          <a:prstGeom prst="rect">
            <a:avLst/>
          </a:prstGeom>
        </p:spPr>
      </p:pic>
      <p:sp>
        <p:nvSpPr>
          <p:cNvPr id="66" name="TextBox 65"/>
          <p:cNvSpPr txBox="1"/>
          <p:nvPr/>
        </p:nvSpPr>
        <p:spPr>
          <a:xfrm>
            <a:off x="11704320" y="16893271"/>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6.  (c) Twelve times the training data costs 0.0189, three seeds at every rung. (d) The same eight checkpoints on a second dataset, class-agnostic, nothing of which it saw in training and 0 images excluded by the leak check; the series labels in (c) apply to (d). Both exams fall, so the narrow metric is not what makes the ladder drop.</a:t>
            </a:r>
          </a:p>
        </p:txBody>
      </p:sp>
      <p:sp>
        <p:nvSpPr>
          <p:cNvPr id="67" name="TextBox 66"/>
          <p:cNvSpPr txBox="1"/>
          <p:nvPr/>
        </p:nvSpPr>
        <p:spPr>
          <a:xfrm>
            <a:off x="22197060" y="14258176"/>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Harvested images added to a clean in-domain core, the same images at every seed. Only the training seed varies, so the spread is training noise and not a different sample of the corpus.</a:t>
            </a:r>
          </a:p>
        </p:txBody>
      </p:sp>
      <p:sp>
        <p:nvSpPr>
          <p:cNvPr id="68" name="Rectangle 67"/>
          <p:cNvSpPr/>
          <p:nvPr/>
        </p:nvSpPr>
        <p:spPr>
          <a:xfrm>
            <a:off x="22197060" y="14803514"/>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197060" y="14894955"/>
            <a:ext cx="4595317"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harvested added</a:t>
            </a:r>
          </a:p>
        </p:txBody>
      </p:sp>
      <p:sp>
        <p:nvSpPr>
          <p:cNvPr id="70" name="TextBox 69"/>
          <p:cNvSpPr txBox="1"/>
          <p:nvPr/>
        </p:nvSpPr>
        <p:spPr>
          <a:xfrm>
            <a:off x="26792377" y="14894955"/>
            <a:ext cx="379613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mAP₅₀₋₉₅</a:t>
            </a:r>
          </a:p>
        </p:txBody>
      </p:sp>
      <p:sp>
        <p:nvSpPr>
          <p:cNvPr id="71" name="TextBox 70"/>
          <p:cNvSpPr txBox="1"/>
          <p:nvPr/>
        </p:nvSpPr>
        <p:spPr>
          <a:xfrm>
            <a:off x="30588508" y="14894955"/>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n</a:t>
            </a:r>
          </a:p>
        </p:txBody>
      </p:sp>
      <p:sp>
        <p:nvSpPr>
          <p:cNvPr id="72" name="Rectangle 71"/>
          <p:cNvSpPr/>
          <p:nvPr/>
        </p:nvSpPr>
        <p:spPr>
          <a:xfrm>
            <a:off x="22197060" y="15169275"/>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2197060" y="15251571"/>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none — the core</a:t>
            </a:r>
          </a:p>
        </p:txBody>
      </p:sp>
      <p:sp>
        <p:nvSpPr>
          <p:cNvPr id="74" name="TextBox 73"/>
          <p:cNvSpPr txBox="1"/>
          <p:nvPr/>
        </p:nvSpPr>
        <p:spPr>
          <a:xfrm>
            <a:off x="26792377" y="15251571"/>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0.8637 ± 0.0027</a:t>
            </a:r>
          </a:p>
        </p:txBody>
      </p:sp>
      <p:sp>
        <p:nvSpPr>
          <p:cNvPr id="75" name="TextBox 74"/>
          <p:cNvSpPr txBox="1"/>
          <p:nvPr/>
        </p:nvSpPr>
        <p:spPr>
          <a:xfrm>
            <a:off x="30588508" y="15251571"/>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6" name="TextBox 75"/>
          <p:cNvSpPr txBox="1"/>
          <p:nvPr/>
        </p:nvSpPr>
        <p:spPr>
          <a:xfrm>
            <a:off x="22197060" y="15562467"/>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+5,000</a:t>
            </a:r>
          </a:p>
        </p:txBody>
      </p:sp>
      <p:sp>
        <p:nvSpPr>
          <p:cNvPr id="77" name="TextBox 76"/>
          <p:cNvSpPr txBox="1"/>
          <p:nvPr/>
        </p:nvSpPr>
        <p:spPr>
          <a:xfrm>
            <a:off x="26792377" y="15562467"/>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0.8609 ± 0.0036</a:t>
            </a:r>
          </a:p>
        </p:txBody>
      </p:sp>
      <p:sp>
        <p:nvSpPr>
          <p:cNvPr id="78" name="TextBox 77"/>
          <p:cNvSpPr txBox="1"/>
          <p:nvPr/>
        </p:nvSpPr>
        <p:spPr>
          <a:xfrm>
            <a:off x="30588508" y="15562467"/>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9" name="TextBox 78"/>
          <p:cNvSpPr txBox="1"/>
          <p:nvPr/>
        </p:nvSpPr>
        <p:spPr>
          <a:xfrm>
            <a:off x="22197060" y="15873363"/>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+15,000</a:t>
            </a:r>
          </a:p>
        </p:txBody>
      </p:sp>
      <p:sp>
        <p:nvSpPr>
          <p:cNvPr id="80" name="TextBox 79"/>
          <p:cNvSpPr txBox="1"/>
          <p:nvPr/>
        </p:nvSpPr>
        <p:spPr>
          <a:xfrm>
            <a:off x="26792377" y="15873363"/>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0.8580 ± 0.0047</a:t>
            </a:r>
          </a:p>
        </p:txBody>
      </p:sp>
      <p:sp>
        <p:nvSpPr>
          <p:cNvPr id="81" name="TextBox 80"/>
          <p:cNvSpPr txBox="1"/>
          <p:nvPr/>
        </p:nvSpPr>
        <p:spPr>
          <a:xfrm>
            <a:off x="30588508" y="15873363"/>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2" name="TextBox 81"/>
          <p:cNvSpPr txBox="1"/>
          <p:nvPr/>
        </p:nvSpPr>
        <p:spPr>
          <a:xfrm>
            <a:off x="22197060" y="16184259"/>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+40,000</a:t>
            </a:r>
          </a:p>
        </p:txBody>
      </p:sp>
      <p:sp>
        <p:nvSpPr>
          <p:cNvPr id="83" name="TextBox 82"/>
          <p:cNvSpPr txBox="1"/>
          <p:nvPr/>
        </p:nvSpPr>
        <p:spPr>
          <a:xfrm>
            <a:off x="26792377" y="16184259"/>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0.8448 ± 0.0018</a:t>
            </a:r>
          </a:p>
        </p:txBody>
      </p:sp>
      <p:sp>
        <p:nvSpPr>
          <p:cNvPr id="84" name="TextBox 83"/>
          <p:cNvSpPr txBox="1"/>
          <p:nvPr/>
        </p:nvSpPr>
        <p:spPr>
          <a:xfrm>
            <a:off x="30588508" y="16184259"/>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5" name="Rectangle 84"/>
          <p:cNvSpPr/>
          <p:nvPr/>
        </p:nvSpPr>
        <p:spPr>
          <a:xfrm>
            <a:off x="22197060" y="165134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2197060" y="16714610"/>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first two steps sit inside the pooled seed spread and are not separable. The full +40,000 is: −0.0189 against the core, 8.2 σ, three seeds at every rung.</a:t>
            </a:r>
          </a:p>
        </p:txBody>
      </p:sp>
      <p:sp>
        <p:nvSpPr>
          <p:cNvPr id="87" name="TextBox 86"/>
          <p:cNvSpPr txBox="1"/>
          <p:nvPr/>
        </p:nvSpPr>
        <p:spPr>
          <a:xfrm>
            <a:off x="11704320" y="1780767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catches the pipeline failing</a:t>
            </a:r>
          </a:p>
        </p:txBody>
      </p:sp>
      <p:pic>
        <p:nvPicPr>
          <p:cNvPr id="88" name="Picture 87" descr="e_supervision.png"/>
          <p:cNvPicPr>
            <a:picLocks noChangeAspect="1"/>
          </p:cNvPicPr>
          <p:nvPr/>
        </p:nvPicPr>
        <p:blipFill>
          <a:blip r:embed="rId8"/>
          <a:stretch>
            <a:fillRect/>
          </a:stretch>
        </p:blipFill>
        <p:spPr>
          <a:xfrm>
            <a:off x="11704320" y="18118567"/>
            <a:ext cx="9989819" cy="5906650"/>
          </a:xfrm>
          <a:prstGeom prst="rect">
            <a:avLst/>
          </a:prstGeom>
        </p:spPr>
      </p:pic>
      <p:sp>
        <p:nvSpPr>
          <p:cNvPr id="89" name="TextBox 88"/>
          <p:cNvSpPr txBox="1"/>
          <p:nvPr/>
        </p:nvSpPr>
        <p:spPr>
          <a:xfrm>
            <a:off x="11704320" y="24116657"/>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7.  Every arm on one frozen corpus of real incidents from this project's own history -- 116 incidents and 33 controls -- scored by the project's own scorer: a detection counts only when the arm returns an issue verdict carrying a finding at or above a severity bar, and a case that produced no answer leaves the denominator rather than counting as a miss. Up and to the left is better. Open circle: the model reads raw artifact excerpts. Filled: the same model with a retrieval round over the same artifacts. The retrieval tier is worth +0.149 recall to the 27B and +0.012 to the 14B, so tiering pays where the model can use it and not otherwise.</a:t>
            </a:r>
          </a:p>
        </p:txBody>
      </p:sp>
      <p:sp>
        <p:nvSpPr>
          <p:cNvPr id="90" name="TextBox 89"/>
          <p:cNvSpPr txBox="1"/>
          <p:nvPr/>
        </p:nvSpPr>
        <p:spPr>
          <a:xfrm>
            <a:off x="22197060" y="18118567"/>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 frozen corpus of 162 real incidents from this project's own engineering record, scored on the dev split: 116 incidents and 33 controls, by the project's own scorer re-reading committed verdicts. A detection counts only when the arm returns an issue verdict carrying a finding at or above a severity bar; “grounded” additionally requires that finding to quote a line that resolves in the artifact. L2 reads raw artifact excerpts; L3 adds a retrieval round over them.</a:t>
            </a:r>
          </a:p>
        </p:txBody>
      </p:sp>
      <p:sp>
        <p:nvSpPr>
          <p:cNvPr id="91" name="Rectangle 90"/>
          <p:cNvSpPr/>
          <p:nvPr/>
        </p:nvSpPr>
        <p:spPr>
          <a:xfrm>
            <a:off x="22197060" y="19291412"/>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197060" y="19382852"/>
            <a:ext cx="2597353"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arm</a:t>
            </a:r>
          </a:p>
        </p:txBody>
      </p:sp>
      <p:sp>
        <p:nvSpPr>
          <p:cNvPr id="93" name="TextBox 92"/>
          <p:cNvSpPr txBox="1"/>
          <p:nvPr/>
        </p:nvSpPr>
        <p:spPr>
          <a:xfrm>
            <a:off x="24794413" y="19382852"/>
            <a:ext cx="2597353"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reads</a:t>
            </a:r>
          </a:p>
        </p:txBody>
      </p:sp>
      <p:sp>
        <p:nvSpPr>
          <p:cNvPr id="94" name="TextBox 93"/>
          <p:cNvSpPr txBox="1"/>
          <p:nvPr/>
        </p:nvSpPr>
        <p:spPr>
          <a:xfrm>
            <a:off x="27391766" y="19382852"/>
            <a:ext cx="129867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recall</a:t>
            </a:r>
          </a:p>
        </p:txBody>
      </p:sp>
      <p:sp>
        <p:nvSpPr>
          <p:cNvPr id="95" name="TextBox 94"/>
          <p:cNvSpPr txBox="1"/>
          <p:nvPr/>
        </p:nvSpPr>
        <p:spPr>
          <a:xfrm>
            <a:off x="28690443" y="19382852"/>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grounded</a:t>
            </a:r>
          </a:p>
        </p:txBody>
      </p:sp>
      <p:sp>
        <p:nvSpPr>
          <p:cNvPr id="96" name="TextBox 95"/>
          <p:cNvSpPr txBox="1"/>
          <p:nvPr/>
        </p:nvSpPr>
        <p:spPr>
          <a:xfrm>
            <a:off x="30089017" y="19382852"/>
            <a:ext cx="129867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false alarms</a:t>
            </a:r>
          </a:p>
        </p:txBody>
      </p:sp>
      <p:sp>
        <p:nvSpPr>
          <p:cNvPr id="97" name="TextBox 96"/>
          <p:cNvSpPr txBox="1"/>
          <p:nvPr/>
        </p:nvSpPr>
        <p:spPr>
          <a:xfrm>
            <a:off x="31387694" y="19382852"/>
            <a:ext cx="79918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cases</a:t>
            </a:r>
          </a:p>
        </p:txBody>
      </p:sp>
      <p:sp>
        <p:nvSpPr>
          <p:cNvPr id="98" name="Rectangle 97"/>
          <p:cNvSpPr/>
          <p:nvPr/>
        </p:nvSpPr>
        <p:spPr>
          <a:xfrm>
            <a:off x="22197060" y="19657172"/>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197060" y="19739468"/>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Scripted watchdog</a:t>
            </a:r>
          </a:p>
        </p:txBody>
      </p:sp>
      <p:sp>
        <p:nvSpPr>
          <p:cNvPr id="100" name="TextBox 99"/>
          <p:cNvSpPr txBox="1"/>
          <p:nvPr/>
        </p:nvSpPr>
        <p:spPr>
          <a:xfrm>
            <a:off x="24794413" y="19739468"/>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status fields</a:t>
            </a:r>
          </a:p>
        </p:txBody>
      </p:sp>
      <p:sp>
        <p:nvSpPr>
          <p:cNvPr id="101" name="TextBox 100"/>
          <p:cNvSpPr txBox="1"/>
          <p:nvPr/>
        </p:nvSpPr>
        <p:spPr>
          <a:xfrm>
            <a:off x="27391766" y="19739468"/>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2" name="TextBox 101"/>
          <p:cNvSpPr txBox="1"/>
          <p:nvPr/>
        </p:nvSpPr>
        <p:spPr>
          <a:xfrm>
            <a:off x="28690443" y="19739468"/>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3" name="TextBox 102"/>
          <p:cNvSpPr txBox="1"/>
          <p:nvPr/>
        </p:nvSpPr>
        <p:spPr>
          <a:xfrm>
            <a:off x="30089017" y="19739468"/>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4" name="TextBox 103"/>
          <p:cNvSpPr txBox="1"/>
          <p:nvPr/>
        </p:nvSpPr>
        <p:spPr>
          <a:xfrm>
            <a:off x="31387694" y="19739468"/>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05" name="TextBox 104"/>
          <p:cNvSpPr txBox="1"/>
          <p:nvPr/>
        </p:nvSpPr>
        <p:spPr>
          <a:xfrm>
            <a:off x="22197060" y="20050364"/>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Deterministic signals</a:t>
            </a:r>
          </a:p>
        </p:txBody>
      </p:sp>
      <p:sp>
        <p:nvSpPr>
          <p:cNvPr id="106" name="TextBox 105"/>
          <p:cNvSpPr txBox="1"/>
          <p:nvPr/>
        </p:nvSpPr>
        <p:spPr>
          <a:xfrm>
            <a:off x="24794413" y="20050364"/>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12 checks</a:t>
            </a:r>
          </a:p>
        </p:txBody>
      </p:sp>
      <p:sp>
        <p:nvSpPr>
          <p:cNvPr id="107" name="TextBox 106"/>
          <p:cNvSpPr txBox="1"/>
          <p:nvPr/>
        </p:nvSpPr>
        <p:spPr>
          <a:xfrm>
            <a:off x="27391766" y="20050364"/>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08" name="TextBox 107"/>
          <p:cNvSpPr txBox="1"/>
          <p:nvPr/>
        </p:nvSpPr>
        <p:spPr>
          <a:xfrm>
            <a:off x="28690443" y="20050364"/>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09" name="TextBox 108"/>
          <p:cNvSpPr txBox="1"/>
          <p:nvPr/>
        </p:nvSpPr>
        <p:spPr>
          <a:xfrm>
            <a:off x="30089017" y="20050364"/>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0.061</a:t>
            </a:r>
          </a:p>
        </p:txBody>
      </p:sp>
      <p:sp>
        <p:nvSpPr>
          <p:cNvPr id="110" name="TextBox 109"/>
          <p:cNvSpPr txBox="1"/>
          <p:nvPr/>
        </p:nvSpPr>
        <p:spPr>
          <a:xfrm>
            <a:off x="31387694" y="20050364"/>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1" name="TextBox 110"/>
          <p:cNvSpPr txBox="1"/>
          <p:nvPr/>
        </p:nvSpPr>
        <p:spPr>
          <a:xfrm>
            <a:off x="22197060" y="20361260"/>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Qwen3-14B  L2</a:t>
            </a:r>
          </a:p>
        </p:txBody>
      </p:sp>
      <p:sp>
        <p:nvSpPr>
          <p:cNvPr id="112" name="TextBox 111"/>
          <p:cNvSpPr txBox="1"/>
          <p:nvPr/>
        </p:nvSpPr>
        <p:spPr>
          <a:xfrm>
            <a:off x="24794413" y="20361260"/>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13" name="TextBox 112"/>
          <p:cNvSpPr txBox="1"/>
          <p:nvPr/>
        </p:nvSpPr>
        <p:spPr>
          <a:xfrm>
            <a:off x="27391766" y="20361260"/>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0.664</a:t>
            </a:r>
          </a:p>
        </p:txBody>
      </p:sp>
      <p:sp>
        <p:nvSpPr>
          <p:cNvPr id="114" name="TextBox 113"/>
          <p:cNvSpPr txBox="1"/>
          <p:nvPr/>
        </p:nvSpPr>
        <p:spPr>
          <a:xfrm>
            <a:off x="28690443" y="20361260"/>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0.602</a:t>
            </a:r>
          </a:p>
        </p:txBody>
      </p:sp>
      <p:sp>
        <p:nvSpPr>
          <p:cNvPr id="115" name="TextBox 114"/>
          <p:cNvSpPr txBox="1"/>
          <p:nvPr/>
        </p:nvSpPr>
        <p:spPr>
          <a:xfrm>
            <a:off x="30089017" y="20361260"/>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0.606</a:t>
            </a:r>
          </a:p>
        </p:txBody>
      </p:sp>
      <p:sp>
        <p:nvSpPr>
          <p:cNvPr id="116" name="TextBox 115"/>
          <p:cNvSpPr txBox="1"/>
          <p:nvPr/>
        </p:nvSpPr>
        <p:spPr>
          <a:xfrm>
            <a:off x="31387694" y="20361260"/>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7" name="TextBox 116"/>
          <p:cNvSpPr txBox="1"/>
          <p:nvPr/>
        </p:nvSpPr>
        <p:spPr>
          <a:xfrm>
            <a:off x="22197060" y="20672156"/>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Qwen3-14B  L3</a:t>
            </a:r>
          </a:p>
        </p:txBody>
      </p:sp>
      <p:sp>
        <p:nvSpPr>
          <p:cNvPr id="118" name="TextBox 117"/>
          <p:cNvSpPr txBox="1"/>
          <p:nvPr/>
        </p:nvSpPr>
        <p:spPr>
          <a:xfrm>
            <a:off x="24794413" y="20672156"/>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19" name="TextBox 118"/>
          <p:cNvSpPr txBox="1"/>
          <p:nvPr/>
        </p:nvSpPr>
        <p:spPr>
          <a:xfrm>
            <a:off x="27391766" y="20672156"/>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0.675</a:t>
            </a:r>
          </a:p>
        </p:txBody>
      </p:sp>
      <p:sp>
        <p:nvSpPr>
          <p:cNvPr id="120" name="TextBox 119"/>
          <p:cNvSpPr txBox="1"/>
          <p:nvPr/>
        </p:nvSpPr>
        <p:spPr>
          <a:xfrm>
            <a:off x="28690443" y="20672156"/>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0.614</a:t>
            </a:r>
          </a:p>
        </p:txBody>
      </p:sp>
      <p:sp>
        <p:nvSpPr>
          <p:cNvPr id="121" name="TextBox 120"/>
          <p:cNvSpPr txBox="1"/>
          <p:nvPr/>
        </p:nvSpPr>
        <p:spPr>
          <a:xfrm>
            <a:off x="30089017" y="20672156"/>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0.636</a:t>
            </a:r>
          </a:p>
        </p:txBody>
      </p:sp>
      <p:sp>
        <p:nvSpPr>
          <p:cNvPr id="122" name="TextBox 121"/>
          <p:cNvSpPr txBox="1"/>
          <p:nvPr/>
        </p:nvSpPr>
        <p:spPr>
          <a:xfrm>
            <a:off x="31387694" y="20672156"/>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23" name="TextBox 122"/>
          <p:cNvSpPr txBox="1"/>
          <p:nvPr/>
        </p:nvSpPr>
        <p:spPr>
          <a:xfrm>
            <a:off x="22197060" y="20983052"/>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Qwen3.8-27B  L2</a:t>
            </a:r>
          </a:p>
        </p:txBody>
      </p:sp>
      <p:sp>
        <p:nvSpPr>
          <p:cNvPr id="124" name="TextBox 123"/>
          <p:cNvSpPr txBox="1"/>
          <p:nvPr/>
        </p:nvSpPr>
        <p:spPr>
          <a:xfrm>
            <a:off x="24794413" y="20983052"/>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25" name="TextBox 124"/>
          <p:cNvSpPr txBox="1"/>
          <p:nvPr/>
        </p:nvSpPr>
        <p:spPr>
          <a:xfrm>
            <a:off x="27391766" y="20983052"/>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0.553</a:t>
            </a:r>
          </a:p>
        </p:txBody>
      </p:sp>
      <p:sp>
        <p:nvSpPr>
          <p:cNvPr id="126" name="TextBox 125"/>
          <p:cNvSpPr txBox="1"/>
          <p:nvPr/>
        </p:nvSpPr>
        <p:spPr>
          <a:xfrm>
            <a:off x="28690443" y="20983052"/>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0.518</a:t>
            </a:r>
          </a:p>
        </p:txBody>
      </p:sp>
      <p:sp>
        <p:nvSpPr>
          <p:cNvPr id="127" name="TextBox 126"/>
          <p:cNvSpPr txBox="1"/>
          <p:nvPr/>
        </p:nvSpPr>
        <p:spPr>
          <a:xfrm>
            <a:off x="30089017" y="20983052"/>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0.212</a:t>
            </a:r>
          </a:p>
        </p:txBody>
      </p:sp>
      <p:sp>
        <p:nvSpPr>
          <p:cNvPr id="128" name="TextBox 127"/>
          <p:cNvSpPr txBox="1"/>
          <p:nvPr/>
        </p:nvSpPr>
        <p:spPr>
          <a:xfrm>
            <a:off x="31387694" y="20983052"/>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29" name="TextBox 128"/>
          <p:cNvSpPr txBox="1"/>
          <p:nvPr/>
        </p:nvSpPr>
        <p:spPr>
          <a:xfrm>
            <a:off x="22197060" y="21293948"/>
            <a:ext cx="2597353" cy="365760"/>
          </a:xfrm>
          <a:prstGeom prst="rect">
            <a:avLst/>
          </a:prstGeom>
          <a:noFill/>
        </p:spPr>
        <p:txBody>
          <a:bodyPr wrap="square" lIns="0" rIns="0" tIns="0" bIns="0">
            <a:spAutoFit/>
          </a:bodyPr>
          <a:lstStyle/>
          <a:p>
            <a:pPr algn="l">
              <a:lnSpc>
                <a:spcPct val="100000"/>
              </a:lnSpc>
              <a:spcAft>
                <a:spcPts val="0"/>
              </a:spcAft>
            </a:pPr>
            <a:r>
              <a:rPr sz="1300" b="1">
                <a:solidFill>
                  <a:srgbClr val="1C6FB5"/>
                </a:solidFill>
                <a:latin typeface="Arial"/>
              </a:rPr>
              <a:t>Qwen3.8-27B  L3</a:t>
            </a:r>
          </a:p>
        </p:txBody>
      </p:sp>
      <p:sp>
        <p:nvSpPr>
          <p:cNvPr id="130" name="TextBox 129"/>
          <p:cNvSpPr txBox="1"/>
          <p:nvPr/>
        </p:nvSpPr>
        <p:spPr>
          <a:xfrm>
            <a:off x="24794413" y="21293948"/>
            <a:ext cx="2597353"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artifacts + retrieval</a:t>
            </a:r>
          </a:p>
        </p:txBody>
      </p:sp>
      <p:sp>
        <p:nvSpPr>
          <p:cNvPr id="131" name="TextBox 130"/>
          <p:cNvSpPr txBox="1"/>
          <p:nvPr/>
        </p:nvSpPr>
        <p:spPr>
          <a:xfrm>
            <a:off x="27391766" y="21293948"/>
            <a:ext cx="1298676"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0.702</a:t>
            </a:r>
          </a:p>
        </p:txBody>
      </p:sp>
      <p:sp>
        <p:nvSpPr>
          <p:cNvPr id="132" name="TextBox 131"/>
          <p:cNvSpPr txBox="1"/>
          <p:nvPr/>
        </p:nvSpPr>
        <p:spPr>
          <a:xfrm>
            <a:off x="28690443" y="21293948"/>
            <a:ext cx="1398574"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0.702</a:t>
            </a:r>
          </a:p>
        </p:txBody>
      </p:sp>
      <p:sp>
        <p:nvSpPr>
          <p:cNvPr id="133" name="TextBox 132"/>
          <p:cNvSpPr txBox="1"/>
          <p:nvPr/>
        </p:nvSpPr>
        <p:spPr>
          <a:xfrm>
            <a:off x="30089017" y="21293948"/>
            <a:ext cx="1298676"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0.242</a:t>
            </a:r>
          </a:p>
        </p:txBody>
      </p:sp>
      <p:sp>
        <p:nvSpPr>
          <p:cNvPr id="134" name="TextBox 133"/>
          <p:cNvSpPr txBox="1"/>
          <p:nvPr/>
        </p:nvSpPr>
        <p:spPr>
          <a:xfrm>
            <a:off x="31387694" y="21293948"/>
            <a:ext cx="799185"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92</a:t>
            </a:r>
          </a:p>
        </p:txBody>
      </p:sp>
      <p:sp>
        <p:nvSpPr>
          <p:cNvPr id="135" name="TextBox 134"/>
          <p:cNvSpPr txBox="1"/>
          <p:nvPr/>
        </p:nvSpPr>
        <p:spPr>
          <a:xfrm>
            <a:off x="22197060" y="21604844"/>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GLM-4.7-Flash  L2</a:t>
            </a:r>
          </a:p>
        </p:txBody>
      </p:sp>
      <p:sp>
        <p:nvSpPr>
          <p:cNvPr id="136" name="TextBox 135"/>
          <p:cNvSpPr txBox="1"/>
          <p:nvPr/>
        </p:nvSpPr>
        <p:spPr>
          <a:xfrm>
            <a:off x="24794413" y="21604844"/>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37" name="TextBox 136"/>
          <p:cNvSpPr txBox="1"/>
          <p:nvPr/>
        </p:nvSpPr>
        <p:spPr>
          <a:xfrm>
            <a:off x="27391766" y="21604844"/>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0.821</a:t>
            </a:r>
          </a:p>
        </p:txBody>
      </p:sp>
      <p:sp>
        <p:nvSpPr>
          <p:cNvPr id="138" name="TextBox 137"/>
          <p:cNvSpPr txBox="1"/>
          <p:nvPr/>
        </p:nvSpPr>
        <p:spPr>
          <a:xfrm>
            <a:off x="28690443" y="21604844"/>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0.769</a:t>
            </a:r>
          </a:p>
        </p:txBody>
      </p:sp>
      <p:sp>
        <p:nvSpPr>
          <p:cNvPr id="139" name="TextBox 138"/>
          <p:cNvSpPr txBox="1"/>
          <p:nvPr/>
        </p:nvSpPr>
        <p:spPr>
          <a:xfrm>
            <a:off x="30089017" y="21604844"/>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0.200</a:t>
            </a:r>
          </a:p>
        </p:txBody>
      </p:sp>
      <p:sp>
        <p:nvSpPr>
          <p:cNvPr id="140" name="TextBox 139"/>
          <p:cNvSpPr txBox="1"/>
          <p:nvPr/>
        </p:nvSpPr>
        <p:spPr>
          <a:xfrm>
            <a:off x="31387694" y="21604844"/>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78</a:t>
            </a:r>
          </a:p>
        </p:txBody>
      </p:sp>
      <p:sp>
        <p:nvSpPr>
          <p:cNvPr id="141" name="Rectangle 140"/>
          <p:cNvSpPr/>
          <p:nvPr/>
        </p:nvSpPr>
        <p:spPr>
          <a:xfrm>
            <a:off x="22197060" y="21934028"/>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22197060" y="22135196"/>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watchdog the pipeline ran never produced a decidable verdict on any of the 149 cases: “no signal fired” is not a judgement. The retrieval tier is worth +0.149 recall to the 27B and +0.012 to the 14B, so it pays where the model can use it and not otherwise. Model choice buys precision, not detection: the 14B reaches its recall by flagging 64% of the controls against the 27B's 24%.</a:t>
            </a:r>
          </a:p>
        </p:txBody>
      </p:sp>
      <p:sp>
        <p:nvSpPr>
          <p:cNvPr id="143" name="TextBox 142"/>
          <p:cNvSpPr txBox="1"/>
          <p:nvPr/>
        </p:nvSpPr>
        <p:spPr>
          <a:xfrm>
            <a:off x="22197060" y="23091760"/>
            <a:ext cx="9989819"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inference-time compute can buy</a:t>
            </a:r>
          </a:p>
        </p:txBody>
      </p:sp>
      <p:pic>
        <p:nvPicPr>
          <p:cNvPr id="144" name="Picture 143" descr="r_tta.png"/>
          <p:cNvPicPr>
            <a:picLocks noChangeAspect="1"/>
          </p:cNvPicPr>
          <p:nvPr/>
        </p:nvPicPr>
        <p:blipFill>
          <a:blip r:embed="rId9"/>
          <a:stretch>
            <a:fillRect/>
          </a:stretch>
        </p:blipFill>
        <p:spPr>
          <a:xfrm>
            <a:off x="22197060" y="23402656"/>
            <a:ext cx="9989819" cy="3405620"/>
          </a:xfrm>
          <a:prstGeom prst="rect">
            <a:avLst/>
          </a:prstGeom>
        </p:spPr>
      </p:pic>
      <p:sp>
        <p:nvSpPr>
          <p:cNvPr id="145" name="TextBox 144"/>
          <p:cNvSpPr txBox="1"/>
          <p:nvPr/>
        </p:nvSpPr>
        <p:spPr>
          <a:xfrm>
            <a:off x="22197060" y="26899716"/>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8.  Test-time compute on the deployable checkpoint. Fusion with no extra views is nothing; multi-scale with h-flip and a 3-seed ensemble are each worth about +0.017 and stack to +0.028. At 2.44 s per image against the deployed 3.7 ms this is a ceiling on what inference-time compute can buy, not a deployment option -- and it is still smaller than the +0.0714 that initialisation is worth.</a:t>
            </a:r>
          </a:p>
        </p:txBody>
      </p:sp>
      <p:sp>
        <p:nvSpPr>
          <p:cNvPr id="146" name="TextBox 145"/>
          <p:cNvSpPr txBox="1"/>
          <p:nvPr/>
        </p:nvSpPr>
        <p:spPr>
          <a:xfrm>
            <a:off x="11704320" y="27996996"/>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Why the loop looked like it was learning</a:t>
            </a:r>
          </a:p>
        </p:txBody>
      </p:sp>
      <p:pic>
        <p:nvPicPr>
          <p:cNvPr id="147" name="Picture 146" descr="f_rounds.png"/>
          <p:cNvPicPr>
            <a:picLocks noChangeAspect="1"/>
          </p:cNvPicPr>
          <p:nvPr/>
        </p:nvPicPr>
        <p:blipFill>
          <a:blip r:embed="rId10"/>
          <a:stretch>
            <a:fillRect/>
          </a:stretch>
        </p:blipFill>
        <p:spPr>
          <a:xfrm>
            <a:off x="11704320" y="28307892"/>
            <a:ext cx="20482560" cy="3749135"/>
          </a:xfrm>
          <a:prstGeom prst="rect">
            <a:avLst/>
          </a:prstGeom>
        </p:spPr>
      </p:pic>
      <p:sp>
        <p:nvSpPr>
          <p:cNvPr id="148" name="TextBox 147"/>
          <p:cNvSpPr txBox="1"/>
          <p:nvPr/>
        </p:nvSpPr>
        <p:spPr>
          <a:xfrm>
            <a:off x="11704320" y="32148467"/>
            <a:ext cx="2048256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9.  (f) Fifteen unattended rounds on a fixed holdout. (g) Round 15's exact dataset, three ways. Bars 1 and 2 differ only in the starting weights, so their gap is the warm-start chain; bar 3 is the recipe the campaign ran, whose wall-clock cap truncates the cosine. Sigma throughout is that recipe's own seed spread, 0.0040 over three seeds, propagated to the difference being quoted. Completing the schedule is not the fix -- bar 2 sits below bar 3.</a:t>
            </a:r>
          </a:p>
        </p:txBody>
      </p:sp>
      <p:sp>
        <p:nvSpPr>
          <p:cNvPr id="149" name="TextBox 148"/>
          <p:cNvSpPr txBox="1"/>
          <p:nvPr/>
        </p:nvSpPr>
        <p:spPr>
          <a:xfrm>
            <a:off x="3255264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GENERALISATION</a:t>
            </a:r>
          </a:p>
        </p:txBody>
      </p:sp>
      <p:sp>
        <p:nvSpPr>
          <p:cNvPr id="150" name="Rectangle 149"/>
          <p:cNvSpPr/>
          <p:nvPr/>
        </p:nvSpPr>
        <p:spPr>
          <a:xfrm>
            <a:off x="3255264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1" name="Picture 150" descr="d_wall.png"/>
          <p:cNvPicPr>
            <a:picLocks noChangeAspect="1"/>
          </p:cNvPicPr>
          <p:nvPr/>
        </p:nvPicPr>
        <p:blipFill>
          <a:blip r:embed="rId11"/>
          <a:stretch>
            <a:fillRect/>
          </a:stretch>
        </p:blipFill>
        <p:spPr>
          <a:xfrm>
            <a:off x="32552640" y="5577840"/>
            <a:ext cx="10607040" cy="6362678"/>
          </a:xfrm>
          <a:prstGeom prst="rect">
            <a:avLst/>
          </a:prstGeom>
        </p:spPr>
      </p:pic>
      <p:sp>
        <p:nvSpPr>
          <p:cNvPr id="152" name="TextBox 151"/>
          <p:cNvSpPr txBox="1"/>
          <p:nvPr/>
        </p:nvSpPr>
        <p:spPr>
          <a:xfrm>
            <a:off x="32552640" y="12031958"/>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10.  The same three checkpoints and the same matcher on both sides, so the evaluator offset cancels. A detector trained on one field does not transfer to another.</a:t>
            </a:r>
          </a:p>
        </p:txBody>
      </p:sp>
      <p:pic>
        <p:nvPicPr>
          <p:cNvPr id="153" name="Picture 152" descr="p_field.png"/>
          <p:cNvPicPr>
            <a:picLocks noChangeAspect="1"/>
          </p:cNvPicPr>
          <p:nvPr/>
        </p:nvPicPr>
        <p:blipFill>
          <a:blip r:embed="rId12"/>
          <a:stretch>
            <a:fillRect/>
          </a:stretch>
        </p:blipFill>
        <p:spPr>
          <a:xfrm>
            <a:off x="32552640" y="12672038"/>
            <a:ext cx="10607040" cy="5360041"/>
          </a:xfrm>
          <a:prstGeom prst="rect">
            <a:avLst/>
          </a:prstGeom>
        </p:spPr>
      </p:pic>
      <p:sp>
        <p:nvSpPr>
          <p:cNvPr id="154" name="TextBox 153"/>
          <p:cNvSpPr txBox="1"/>
          <p:nvPr/>
        </p:nvSpPr>
        <p:spPr>
          <a:xfrm>
            <a:off x="32552640" y="18123519"/>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11.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pic>
        <p:nvPicPr>
          <p:cNvPr id="155" name="Picture 154" descr="j_species.png"/>
          <p:cNvPicPr>
            <a:picLocks noChangeAspect="1"/>
          </p:cNvPicPr>
          <p:nvPr/>
        </p:nvPicPr>
        <p:blipFill>
          <a:blip r:embed="rId13"/>
          <a:stretch>
            <a:fillRect/>
          </a:stretch>
        </p:blipFill>
        <p:spPr>
          <a:xfrm>
            <a:off x="32552640" y="19129359"/>
            <a:ext cx="10607040" cy="5429067"/>
          </a:xfrm>
          <a:prstGeom prst="rect">
            <a:avLst/>
          </a:prstGeom>
        </p:spPr>
      </p:pic>
      <p:sp>
        <p:nvSpPr>
          <p:cNvPr id="156" name="TextBox 155"/>
          <p:cNvSpPr txBox="1"/>
          <p:nvPr/>
        </p:nvSpPr>
        <p:spPr>
          <a:xfrm>
            <a:off x="32552640" y="24649866"/>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12.  Per-species performance of the deployable checkpoint. The spread across the twelve classes is 0.214, roughly seventy times the seed noise.</a:t>
            </a:r>
          </a:p>
        </p:txBody>
      </p:sp>
      <p:sp>
        <p:nvSpPr>
          <p:cNvPr id="157" name="TextBox 156"/>
          <p:cNvSpPr txBox="1"/>
          <p:nvPr/>
        </p:nvSpPr>
        <p:spPr>
          <a:xfrm>
            <a:off x="32552640" y="25335666"/>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CONCLUSIONS</a:t>
            </a:r>
          </a:p>
        </p:txBody>
      </p:sp>
      <p:sp>
        <p:nvSpPr>
          <p:cNvPr id="158" name="Rectangle 157"/>
          <p:cNvSpPr/>
          <p:nvPr/>
        </p:nvSpPr>
        <p:spPr>
          <a:xfrm>
            <a:off x="32552640" y="25811154"/>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32552640" y="2606718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1.   Initialisation beats architecture beats data. Pretraining is worth +0.0714, architecture at equal initialisation +0.0225, and forty thousand harvested web images −0.020. The data-collection lever the system was built around is the weakest of the three.</a:t>
            </a:r>
          </a:p>
        </p:txBody>
      </p:sp>
      <p:sp>
        <p:nvSpPr>
          <p:cNvPr id="160" name="TextBox 159"/>
          <p:cNvSpPr txBox="1"/>
          <p:nvPr/>
        </p:nvSpPr>
        <p:spPr>
          <a:xfrm>
            <a:off x="32552640" y="26773052"/>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2.   The detector does not travel. 0.873 in-domain becomes 0.100 on another weed dataset, class-agnostic, with the same matcher on both sides.</a:t>
            </a:r>
          </a:p>
        </p:txBody>
      </p:sp>
      <p:sp>
        <p:nvSpPr>
          <p:cNvPr id="161" name="TextBox 160"/>
          <p:cNvSpPr txBox="1"/>
          <p:nvPr/>
        </p:nvSpPr>
        <p:spPr>
          <a:xfrm>
            <a:off x="32552640" y="2727749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3.   Web harvest supplies volume, not supervision: one of six audited sources clears a 0.90 label-precision bar, and 44,750 of 156,521 images are cross-dataset duplicates.</a:t>
            </a:r>
          </a:p>
        </p:txBody>
      </p:sp>
      <p:sp>
        <p:nvSpPr>
          <p:cNvPr id="162" name="TextBox 161"/>
          <p:cNvSpPr txBox="1"/>
          <p:nvPr/>
        </p:nvSpPr>
        <p:spPr>
          <a:xfrm>
            <a:off x="32552640" y="2778194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4.   Retrospective supervision needs the artifacts, not the status fields. The watchdog reading status fields returned no decidable verdict on any of 149 cases, while a model reading the raw artifacts reaches 0.70 recall over the 116 incidents; adding a retrieval tier over those same artifacts is worth another +0.149 to the 27B and +0.012 to the 14B.</a:t>
            </a:r>
          </a:p>
        </p:txBody>
      </p:sp>
      <p:sp>
        <p:nvSpPr>
          <p:cNvPr id="163" name="TextBox 162"/>
          <p:cNvSpPr txBox="1"/>
          <p:nvPr/>
        </p:nvSpPr>
        <p:spPr>
          <a:xfrm>
            <a:off x="32552640" y="2848780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5.   An unattended loop can report success for eight consecutive rounds while collecting nothing. Absence of a failure signal is not evidence of success.</a:t>
            </a:r>
          </a:p>
        </p:txBody>
      </p:sp>
      <p:sp>
        <p:nvSpPr>
          <p:cNvPr id="164" name="TextBox 163"/>
          <p:cNvSpPr txBox="1"/>
          <p:nvPr/>
        </p:nvSpPr>
        <p:spPr>
          <a:xfrm>
            <a:off x="32552640" y="2899225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6.   The gap shows up on our own video too. Over all 2,686 frames the two robots recorded, 1,157 of them more than a third vegetation, the deployable checkpoint draws a box on 25 frames at the deployment threshold and 8 at conf 0.40 — and 24 of those 25 boxes are the same class. These frames carry no ground truth, so that is a fire rate and not a recall.</a:t>
            </a:r>
          </a:p>
        </p:txBody>
      </p:sp>
      <p:sp>
        <p:nvSpPr>
          <p:cNvPr id="165" name="TextBox 164"/>
          <p:cNvSpPr txBox="1"/>
          <p:nvPr/>
        </p:nvSpPr>
        <p:spPr>
          <a:xfrm>
            <a:off x="32552640" y="29789556"/>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LIMITATIONS</a:t>
            </a:r>
          </a:p>
        </p:txBody>
      </p:sp>
      <p:sp>
        <p:nvSpPr>
          <p:cNvPr id="166" name="Rectangle 165"/>
          <p:cNvSpPr/>
          <p:nvPr/>
        </p:nvSpPr>
        <p:spPr>
          <a:xfrm>
            <a:off x="32552640" y="30265044"/>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32552640" y="30521076"/>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evaluation set doubles as the validation set, so every number is a maximum over many evaluations on the reported set; the optimism is measured but not removed. The +40,000 rung and the fresh-start control are single runs with seed repeats in flight. One supervision arm is 78 of 149 cases. The incident corpus was labelled from this project's own record by the same system that wrote the reviewer prompt, and its held-out split is 13 cases — too small to separate methods. None of the 2,686 robot frames is labelled, and the laser cart carries no GPS or IMU, so the sensor-fusion result is robot 241 only.</a:t>
            </a:r>
          </a:p>
        </p:txBody>
      </p:sp>
      <p:sp>
        <p:nvSpPr>
          <p:cNvPr id="168" name="TextBox 167"/>
          <p:cNvSpPr txBox="1"/>
          <p:nvPr/>
        </p:nvSpPr>
        <p:spPr>
          <a:xfrm>
            <a:off x="32552640" y="31689602"/>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REPRODUCIBILITY</a:t>
            </a:r>
          </a:p>
        </p:txBody>
      </p:sp>
      <p:sp>
        <p:nvSpPr>
          <p:cNvPr id="169" name="Rectangle 168"/>
          <p:cNvSpPr/>
          <p:nvPr/>
        </p:nvSpPr>
        <p:spPr>
          <a:xfrm>
            <a:off x="32552640" y="3216509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32552640" y="32421122"/>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Every figure on this poster is regenerated from checked-in artifacts by one command, and every number names the results file it was read from. Numbers that must never be quoted without their caveat are listed in the project's results ledger alongside the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