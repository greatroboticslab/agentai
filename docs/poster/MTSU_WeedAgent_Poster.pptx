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1732684"/>
          </a:xfrm>
          <a:prstGeom prst="rect">
            <a:avLst/>
          </a:prstGeom>
        </p:spPr>
      </p:pic>
      <p:sp>
        <p:nvSpPr>
          <p:cNvPr id="16" name="TextBox 15"/>
          <p:cNvSpPr txBox="1"/>
          <p:nvPr/>
        </p:nvSpPr>
        <p:spPr>
          <a:xfrm>
            <a:off x="731520" y="115435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366520"/>
            <a:ext cx="10607040" cy="4294410"/>
          </a:xfrm>
          <a:prstGeom prst="rect">
            <a:avLst/>
          </a:prstGeom>
        </p:spPr>
      </p:pic>
      <p:sp>
        <p:nvSpPr>
          <p:cNvPr id="18" name="TextBox 17"/>
          <p:cNvSpPr txBox="1"/>
          <p:nvPr/>
        </p:nvSpPr>
        <p:spPr>
          <a:xfrm>
            <a:off x="731520" y="16752371"/>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209571"/>
            <a:ext cx="10607040" cy="4525878"/>
          </a:xfrm>
          <a:prstGeom prst="rect">
            <a:avLst/>
          </a:prstGeom>
        </p:spPr>
      </p:pic>
      <p:sp>
        <p:nvSpPr>
          <p:cNvPr id="20" name="TextBox 19"/>
          <p:cNvSpPr txBox="1"/>
          <p:nvPr/>
        </p:nvSpPr>
        <p:spPr>
          <a:xfrm>
            <a:off x="731520" y="2182688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pic>
        <p:nvPicPr>
          <p:cNvPr id="21" name="Picture 20" descr="s_sources.png"/>
          <p:cNvPicPr>
            <a:picLocks noChangeAspect="1"/>
          </p:cNvPicPr>
          <p:nvPr/>
        </p:nvPicPr>
        <p:blipFill>
          <a:blip r:embed="rId5"/>
          <a:stretch>
            <a:fillRect/>
          </a:stretch>
        </p:blipFill>
        <p:spPr>
          <a:xfrm>
            <a:off x="731520" y="22466969"/>
            <a:ext cx="10607040" cy="4125268"/>
          </a:xfrm>
          <a:prstGeom prst="rect">
            <a:avLst/>
          </a:prstGeom>
        </p:spPr>
      </p:pic>
      <p:sp>
        <p:nvSpPr>
          <p:cNvPr id="22" name="TextBox 21"/>
          <p:cNvSpPr txBox="1"/>
          <p:nvPr/>
        </p:nvSpPr>
        <p:spPr>
          <a:xfrm>
            <a:off x="731520" y="2668367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23" name="TextBox 22"/>
          <p:cNvSpPr txBox="1"/>
          <p:nvPr/>
        </p:nvSpPr>
        <p:spPr>
          <a:xfrm>
            <a:off x="731520" y="2736947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4" name="Rectangle 23"/>
          <p:cNvSpPr/>
          <p:nvPr/>
        </p:nvSpPr>
        <p:spPr>
          <a:xfrm>
            <a:off x="731520" y="2784496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8100997"/>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6" name="TextBox 25"/>
          <p:cNvSpPr txBox="1"/>
          <p:nvPr/>
        </p:nvSpPr>
        <p:spPr>
          <a:xfrm>
            <a:off x="731520" y="29064673"/>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7" name="TextBox 26"/>
          <p:cNvSpPr txBox="1"/>
          <p:nvPr/>
        </p:nvSpPr>
        <p:spPr>
          <a:xfrm>
            <a:off x="731520" y="2967046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8" name="Rectangle 27"/>
          <p:cNvSpPr/>
          <p:nvPr/>
        </p:nvSpPr>
        <p:spPr>
          <a:xfrm>
            <a:off x="731520" y="3014595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0401983"/>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30" name="Rectangle 29"/>
          <p:cNvSpPr/>
          <p:nvPr/>
        </p:nvSpPr>
        <p:spPr>
          <a:xfrm>
            <a:off x="731520" y="3094732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31038761"/>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2" name="TextBox 31"/>
          <p:cNvSpPr txBox="1"/>
          <p:nvPr/>
        </p:nvSpPr>
        <p:spPr>
          <a:xfrm>
            <a:off x="7307884" y="31038761"/>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3" name="Rectangle 32"/>
          <p:cNvSpPr/>
          <p:nvPr/>
        </p:nvSpPr>
        <p:spPr>
          <a:xfrm>
            <a:off x="731520" y="31313081"/>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139537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5" name="TextBox 34"/>
          <p:cNvSpPr txBox="1"/>
          <p:nvPr/>
        </p:nvSpPr>
        <p:spPr>
          <a:xfrm>
            <a:off x="7307884" y="3139537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6" name="TextBox 35"/>
          <p:cNvSpPr txBox="1"/>
          <p:nvPr/>
        </p:nvSpPr>
        <p:spPr>
          <a:xfrm>
            <a:off x="731520" y="3170627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7" name="TextBox 36"/>
          <p:cNvSpPr txBox="1"/>
          <p:nvPr/>
        </p:nvSpPr>
        <p:spPr>
          <a:xfrm>
            <a:off x="7307884" y="3170627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8" name="TextBox 37"/>
          <p:cNvSpPr txBox="1"/>
          <p:nvPr/>
        </p:nvSpPr>
        <p:spPr>
          <a:xfrm>
            <a:off x="731520" y="3201716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9" name="TextBox 38"/>
          <p:cNvSpPr txBox="1"/>
          <p:nvPr/>
        </p:nvSpPr>
        <p:spPr>
          <a:xfrm>
            <a:off x="7307884" y="3201716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40" name="TextBox 39"/>
          <p:cNvSpPr txBox="1"/>
          <p:nvPr/>
        </p:nvSpPr>
        <p:spPr>
          <a:xfrm>
            <a:off x="731520" y="3232806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41" name="TextBox 40"/>
          <p:cNvSpPr txBox="1"/>
          <p:nvPr/>
        </p:nvSpPr>
        <p:spPr>
          <a:xfrm>
            <a:off x="7307884" y="3232806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2" name="Rectangle 41"/>
          <p:cNvSpPr/>
          <p:nvPr/>
        </p:nvSpPr>
        <p:spPr>
          <a:xfrm>
            <a:off x="731520" y="3265724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4" name="Rectangle 43"/>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7" name="TextBox 46"/>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8" name="TextBox 47"/>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9" name="Rectangle 48"/>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51" name="TextBox 50"/>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2" name="TextBox 51"/>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3" name="Rectangle 52"/>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5" name="TextBox 54"/>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6" name="TextBox 55"/>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7" name="Rectangle 56"/>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9" name="TextBox 58"/>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60" name="TextBox 59"/>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61" name="TextBox 60"/>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2" name="Picture 61" descr="a_families.png"/>
          <p:cNvPicPr>
            <a:picLocks noChangeAspect="1"/>
          </p:cNvPicPr>
          <p:nvPr/>
        </p:nvPicPr>
        <p:blipFill>
          <a:blip r:embed="rId6"/>
          <a:stretch>
            <a:fillRect/>
          </a:stretch>
        </p:blipFill>
        <p:spPr>
          <a:xfrm>
            <a:off x="11704320" y="7763255"/>
            <a:ext cx="9989819" cy="5361065"/>
          </a:xfrm>
          <a:prstGeom prst="rect">
            <a:avLst/>
          </a:prstGeom>
        </p:spPr>
      </p:pic>
      <p:sp>
        <p:nvSpPr>
          <p:cNvPr id="63" name="TextBox 62"/>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Three detector families on the CottonWeedDet12 holdout, three seeds each. How the network is initialised is worth three times what the architecture is worth.</a:t>
            </a:r>
          </a:p>
        </p:txBody>
      </p:sp>
      <p:pic>
        <p:nvPicPr>
          <p:cNvPr id="64" name="Picture 63" descr="b_zeroshot.png"/>
          <p:cNvPicPr>
            <a:picLocks noChangeAspect="1"/>
          </p:cNvPicPr>
          <p:nvPr/>
        </p:nvPicPr>
        <p:blipFill>
          <a:blip r:embed="rId7"/>
          <a:stretch>
            <a:fillRect/>
          </a:stretch>
        </p:blipFill>
        <p:spPr>
          <a:xfrm>
            <a:off x="22197060" y="7763255"/>
            <a:ext cx="9989819" cy="4817913"/>
          </a:xfrm>
          <a:prstGeom prst="rect">
            <a:avLst/>
          </a:prstGeom>
        </p:spPr>
      </p:pic>
      <p:sp>
        <p:nvSpPr>
          <p:cNvPr id="65" name="TextBox 64"/>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One deterministic pass per model, no repeats. Fifteen zero-shot vision-language models against the fine-tuned detector: the best of them reaches 0.434 against 0.929, and five produce no usable grounding at all.</a:t>
            </a:r>
          </a:p>
        </p:txBody>
      </p:sp>
      <p:sp>
        <p:nvSpPr>
          <p:cNvPr id="66" name="TextBox 65"/>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7" name="Picture 66" descr="c_ladder.png"/>
          <p:cNvPicPr>
            <a:picLocks noChangeAspect="1"/>
          </p:cNvPicPr>
          <p:nvPr/>
        </p:nvPicPr>
        <p:blipFill>
          <a:blip r:embed="rId8"/>
          <a:stretch>
            <a:fillRect/>
          </a:stretch>
        </p:blipFill>
        <p:spPr>
          <a:xfrm>
            <a:off x="11704320" y="14258176"/>
            <a:ext cx="9989819" cy="2543654"/>
          </a:xfrm>
          <a:prstGeom prst="rect">
            <a:avLst/>
          </a:prstGeom>
        </p:spPr>
      </p:pic>
      <p:sp>
        <p:nvSpPr>
          <p:cNvPr id="68" name="TextBox 67"/>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9" name="TextBox 68"/>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70" name="Rectangle 69"/>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2" name="TextBox 71"/>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3" name="TextBox 72"/>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4" name="Rectangle 73"/>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6" name="TextBox 75"/>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7" name="TextBox 76"/>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8" name="TextBox 77"/>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9" name="TextBox 78"/>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80" name="TextBox 79"/>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1" name="TextBox 80"/>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2" name="TextBox 81"/>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3" name="TextBox 82"/>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4" name="TextBox 83"/>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5" name="TextBox 84"/>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6" name="TextBox 85"/>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7" name="Rectangle 86"/>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9" name="TextBox 88"/>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90" name="Picture 89" descr="e_supervision.png"/>
          <p:cNvPicPr>
            <a:picLocks noChangeAspect="1"/>
          </p:cNvPicPr>
          <p:nvPr/>
        </p:nvPicPr>
        <p:blipFill>
          <a:blip r:embed="rId9"/>
          <a:stretch>
            <a:fillRect/>
          </a:stretch>
        </p:blipFill>
        <p:spPr>
          <a:xfrm>
            <a:off x="11704320" y="18118567"/>
            <a:ext cx="9989819" cy="5906650"/>
          </a:xfrm>
          <a:prstGeom prst="rect">
            <a:avLst/>
          </a:prstGeom>
        </p:spPr>
      </p:pic>
      <p:sp>
        <p:nvSpPr>
          <p:cNvPr id="91" name="TextBox 90"/>
          <p:cNvSpPr txBox="1"/>
          <p:nvPr/>
        </p:nvSpPr>
        <p:spPr>
          <a:xfrm>
            <a:off x="11704320" y="2411665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Every arm on one frozen corpus of real incidents from this project's own history -- 116 incidents and 33 controls -- scored by the project's own scorer: a detection counts only when the arm returns an issue verdict carrying a finding at or above a severity bar, and a case that produced no answer leaves the denominator rather than counting as a miss. Up and to the left is better. Open circle: the model reads raw artifact excerpts. Filled: the same model with a retrieval round over the same artifacts. The retrieval tier is worth +0.149 recall to the 27B and +0.012 to the 14B, so tiering pays where the model can use it and not otherwise.</a:t>
            </a:r>
          </a:p>
        </p:txBody>
      </p:sp>
      <p:sp>
        <p:nvSpPr>
          <p:cNvPr id="92" name="TextBox 91"/>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3" name="Rectangle 92"/>
          <p:cNvSpPr/>
          <p:nvPr/>
        </p:nvSpPr>
        <p:spPr>
          <a:xfrm>
            <a:off x="22197060" y="19291412"/>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9382852"/>
            <a:ext cx="2597353"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5" name="TextBox 94"/>
          <p:cNvSpPr txBox="1"/>
          <p:nvPr/>
        </p:nvSpPr>
        <p:spPr>
          <a:xfrm>
            <a:off x="24794413" y="19382852"/>
            <a:ext cx="2597353"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6" name="TextBox 95"/>
          <p:cNvSpPr txBox="1"/>
          <p:nvPr/>
        </p:nvSpPr>
        <p:spPr>
          <a:xfrm>
            <a:off x="27391766" y="19382852"/>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7" name="TextBox 96"/>
          <p:cNvSpPr txBox="1"/>
          <p:nvPr/>
        </p:nvSpPr>
        <p:spPr>
          <a:xfrm>
            <a:off x="28690443" y="19382852"/>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8" name="TextBox 97"/>
          <p:cNvSpPr txBox="1"/>
          <p:nvPr/>
        </p:nvSpPr>
        <p:spPr>
          <a:xfrm>
            <a:off x="30089017" y="19382852"/>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9" name="TextBox 98"/>
          <p:cNvSpPr txBox="1"/>
          <p:nvPr/>
        </p:nvSpPr>
        <p:spPr>
          <a:xfrm>
            <a:off x="31387694" y="19382852"/>
            <a:ext cx="79918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100" name="Rectangle 99"/>
          <p:cNvSpPr/>
          <p:nvPr/>
        </p:nvSpPr>
        <p:spPr>
          <a:xfrm>
            <a:off x="22197060" y="19657172"/>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2197060" y="19739468"/>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2" name="TextBox 101"/>
          <p:cNvSpPr txBox="1"/>
          <p:nvPr/>
        </p:nvSpPr>
        <p:spPr>
          <a:xfrm>
            <a:off x="24794413" y="19739468"/>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3" name="TextBox 102"/>
          <p:cNvSpPr txBox="1"/>
          <p:nvPr/>
        </p:nvSpPr>
        <p:spPr>
          <a:xfrm>
            <a:off x="27391766" y="1973946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4" name="TextBox 103"/>
          <p:cNvSpPr txBox="1"/>
          <p:nvPr/>
        </p:nvSpPr>
        <p:spPr>
          <a:xfrm>
            <a:off x="28690443" y="1973946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5" name="TextBox 104"/>
          <p:cNvSpPr txBox="1"/>
          <p:nvPr/>
        </p:nvSpPr>
        <p:spPr>
          <a:xfrm>
            <a:off x="30089017" y="1973946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6" name="TextBox 105"/>
          <p:cNvSpPr txBox="1"/>
          <p:nvPr/>
        </p:nvSpPr>
        <p:spPr>
          <a:xfrm>
            <a:off x="31387694" y="19739468"/>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7" name="TextBox 106"/>
          <p:cNvSpPr txBox="1"/>
          <p:nvPr/>
        </p:nvSpPr>
        <p:spPr>
          <a:xfrm>
            <a:off x="22197060" y="20050364"/>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08" name="TextBox 107"/>
          <p:cNvSpPr txBox="1"/>
          <p:nvPr/>
        </p:nvSpPr>
        <p:spPr>
          <a:xfrm>
            <a:off x="24794413" y="20050364"/>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09" name="TextBox 108"/>
          <p:cNvSpPr txBox="1"/>
          <p:nvPr/>
        </p:nvSpPr>
        <p:spPr>
          <a:xfrm>
            <a:off x="27391766" y="2005036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0" name="TextBox 109"/>
          <p:cNvSpPr txBox="1"/>
          <p:nvPr/>
        </p:nvSpPr>
        <p:spPr>
          <a:xfrm>
            <a:off x="28690443" y="2005036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1" name="TextBox 110"/>
          <p:cNvSpPr txBox="1"/>
          <p:nvPr/>
        </p:nvSpPr>
        <p:spPr>
          <a:xfrm>
            <a:off x="30089017" y="2005036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2" name="TextBox 111"/>
          <p:cNvSpPr txBox="1"/>
          <p:nvPr/>
        </p:nvSpPr>
        <p:spPr>
          <a:xfrm>
            <a:off x="31387694" y="20050364"/>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3" name="TextBox 112"/>
          <p:cNvSpPr txBox="1"/>
          <p:nvPr/>
        </p:nvSpPr>
        <p:spPr>
          <a:xfrm>
            <a:off x="22197060" y="20361260"/>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L2</a:t>
            </a:r>
          </a:p>
        </p:txBody>
      </p:sp>
      <p:sp>
        <p:nvSpPr>
          <p:cNvPr id="114" name="TextBox 113"/>
          <p:cNvSpPr txBox="1"/>
          <p:nvPr/>
        </p:nvSpPr>
        <p:spPr>
          <a:xfrm>
            <a:off x="24794413" y="20361260"/>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5" name="TextBox 114"/>
          <p:cNvSpPr txBox="1"/>
          <p:nvPr/>
        </p:nvSpPr>
        <p:spPr>
          <a:xfrm>
            <a:off x="27391766" y="2036126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16" name="TextBox 115"/>
          <p:cNvSpPr txBox="1"/>
          <p:nvPr/>
        </p:nvSpPr>
        <p:spPr>
          <a:xfrm>
            <a:off x="28690443" y="2036126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17" name="TextBox 116"/>
          <p:cNvSpPr txBox="1"/>
          <p:nvPr/>
        </p:nvSpPr>
        <p:spPr>
          <a:xfrm>
            <a:off x="30089017" y="2036126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18" name="TextBox 117"/>
          <p:cNvSpPr txBox="1"/>
          <p:nvPr/>
        </p:nvSpPr>
        <p:spPr>
          <a:xfrm>
            <a:off x="31387694" y="20361260"/>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9" name="TextBox 118"/>
          <p:cNvSpPr txBox="1"/>
          <p:nvPr/>
        </p:nvSpPr>
        <p:spPr>
          <a:xfrm>
            <a:off x="22197060" y="20672156"/>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L3</a:t>
            </a:r>
          </a:p>
        </p:txBody>
      </p:sp>
      <p:sp>
        <p:nvSpPr>
          <p:cNvPr id="120" name="TextBox 119"/>
          <p:cNvSpPr txBox="1"/>
          <p:nvPr/>
        </p:nvSpPr>
        <p:spPr>
          <a:xfrm>
            <a:off x="24794413" y="20672156"/>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21" name="TextBox 120"/>
          <p:cNvSpPr txBox="1"/>
          <p:nvPr/>
        </p:nvSpPr>
        <p:spPr>
          <a:xfrm>
            <a:off x="27391766" y="2067215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22" name="TextBox 121"/>
          <p:cNvSpPr txBox="1"/>
          <p:nvPr/>
        </p:nvSpPr>
        <p:spPr>
          <a:xfrm>
            <a:off x="28690443" y="2067215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23" name="TextBox 122"/>
          <p:cNvSpPr txBox="1"/>
          <p:nvPr/>
        </p:nvSpPr>
        <p:spPr>
          <a:xfrm>
            <a:off x="30089017" y="2067215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24" name="TextBox 123"/>
          <p:cNvSpPr txBox="1"/>
          <p:nvPr/>
        </p:nvSpPr>
        <p:spPr>
          <a:xfrm>
            <a:off x="31387694" y="20672156"/>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5" name="TextBox 124"/>
          <p:cNvSpPr txBox="1"/>
          <p:nvPr/>
        </p:nvSpPr>
        <p:spPr>
          <a:xfrm>
            <a:off x="22197060" y="20983052"/>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Qwen3.8-27B  L2</a:t>
            </a:r>
          </a:p>
        </p:txBody>
      </p:sp>
      <p:sp>
        <p:nvSpPr>
          <p:cNvPr id="126" name="TextBox 125"/>
          <p:cNvSpPr txBox="1"/>
          <p:nvPr/>
        </p:nvSpPr>
        <p:spPr>
          <a:xfrm>
            <a:off x="24794413" y="20983052"/>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27" name="TextBox 126"/>
          <p:cNvSpPr txBox="1"/>
          <p:nvPr/>
        </p:nvSpPr>
        <p:spPr>
          <a:xfrm>
            <a:off x="27391766" y="20983052"/>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28" name="TextBox 127"/>
          <p:cNvSpPr txBox="1"/>
          <p:nvPr/>
        </p:nvSpPr>
        <p:spPr>
          <a:xfrm>
            <a:off x="28690443" y="20983052"/>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29" name="TextBox 128"/>
          <p:cNvSpPr txBox="1"/>
          <p:nvPr/>
        </p:nvSpPr>
        <p:spPr>
          <a:xfrm>
            <a:off x="30089017" y="20983052"/>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30" name="TextBox 129"/>
          <p:cNvSpPr txBox="1"/>
          <p:nvPr/>
        </p:nvSpPr>
        <p:spPr>
          <a:xfrm>
            <a:off x="31387694" y="20983052"/>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1" name="TextBox 130"/>
          <p:cNvSpPr txBox="1"/>
          <p:nvPr/>
        </p:nvSpPr>
        <p:spPr>
          <a:xfrm>
            <a:off x="22197060" y="21293948"/>
            <a:ext cx="2597353"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  L3</a:t>
            </a:r>
          </a:p>
        </p:txBody>
      </p:sp>
      <p:sp>
        <p:nvSpPr>
          <p:cNvPr id="132" name="TextBox 131"/>
          <p:cNvSpPr txBox="1"/>
          <p:nvPr/>
        </p:nvSpPr>
        <p:spPr>
          <a:xfrm>
            <a:off x="24794413" y="21293948"/>
            <a:ext cx="2597353"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artifacts + retrieval</a:t>
            </a:r>
          </a:p>
        </p:txBody>
      </p:sp>
      <p:sp>
        <p:nvSpPr>
          <p:cNvPr id="133" name="TextBox 132"/>
          <p:cNvSpPr txBox="1"/>
          <p:nvPr/>
        </p:nvSpPr>
        <p:spPr>
          <a:xfrm>
            <a:off x="27391766" y="21293948"/>
            <a:ext cx="1298676"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34" name="TextBox 133"/>
          <p:cNvSpPr txBox="1"/>
          <p:nvPr/>
        </p:nvSpPr>
        <p:spPr>
          <a:xfrm>
            <a:off x="28690443" y="21293948"/>
            <a:ext cx="1398574"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35" name="TextBox 134"/>
          <p:cNvSpPr txBox="1"/>
          <p:nvPr/>
        </p:nvSpPr>
        <p:spPr>
          <a:xfrm>
            <a:off x="30089017" y="21293948"/>
            <a:ext cx="1298676"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0.242</a:t>
            </a:r>
          </a:p>
        </p:txBody>
      </p:sp>
      <p:sp>
        <p:nvSpPr>
          <p:cNvPr id="136" name="TextBox 135"/>
          <p:cNvSpPr txBox="1"/>
          <p:nvPr/>
        </p:nvSpPr>
        <p:spPr>
          <a:xfrm>
            <a:off x="31387694" y="21293948"/>
            <a:ext cx="799185"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92</a:t>
            </a:r>
          </a:p>
        </p:txBody>
      </p:sp>
      <p:sp>
        <p:nvSpPr>
          <p:cNvPr id="137" name="TextBox 136"/>
          <p:cNvSpPr txBox="1"/>
          <p:nvPr/>
        </p:nvSpPr>
        <p:spPr>
          <a:xfrm>
            <a:off x="22197060" y="21604844"/>
            <a:ext cx="2597353"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GLM-4.7-Flash  L2</a:t>
            </a:r>
          </a:p>
        </p:txBody>
      </p:sp>
      <p:sp>
        <p:nvSpPr>
          <p:cNvPr id="138" name="TextBox 137"/>
          <p:cNvSpPr txBox="1"/>
          <p:nvPr/>
        </p:nvSpPr>
        <p:spPr>
          <a:xfrm>
            <a:off x="24794413" y="21604844"/>
            <a:ext cx="2597353"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9" name="TextBox 138"/>
          <p:cNvSpPr txBox="1"/>
          <p:nvPr/>
        </p:nvSpPr>
        <p:spPr>
          <a:xfrm>
            <a:off x="27391766" y="2160484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40" name="TextBox 139"/>
          <p:cNvSpPr txBox="1"/>
          <p:nvPr/>
        </p:nvSpPr>
        <p:spPr>
          <a:xfrm>
            <a:off x="28690443" y="2160484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41" name="TextBox 140"/>
          <p:cNvSpPr txBox="1"/>
          <p:nvPr/>
        </p:nvSpPr>
        <p:spPr>
          <a:xfrm>
            <a:off x="30089017" y="2160484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42" name="TextBox 141"/>
          <p:cNvSpPr txBox="1"/>
          <p:nvPr/>
        </p:nvSpPr>
        <p:spPr>
          <a:xfrm>
            <a:off x="31387694" y="21604844"/>
            <a:ext cx="79918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43" name="Rectangle 142"/>
          <p:cNvSpPr/>
          <p:nvPr/>
        </p:nvSpPr>
        <p:spPr>
          <a:xfrm>
            <a:off x="22197060" y="21934028"/>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22197060" y="22135196"/>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The retrieval tier is worth +0.149 recall to the 27B and +0.012 to the 14B, so it pays where the model can use it and not otherwise. Model choice buys precision, not detection: the 14B reaches its recall by flagging 64% of the controls against the 27B's 24%.</a:t>
            </a:r>
          </a:p>
        </p:txBody>
      </p:sp>
      <p:sp>
        <p:nvSpPr>
          <p:cNvPr id="145" name="TextBox 144"/>
          <p:cNvSpPr txBox="1"/>
          <p:nvPr/>
        </p:nvSpPr>
        <p:spPr>
          <a:xfrm>
            <a:off x="22197060" y="23091760"/>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46" name="Picture 145" descr="r_tta.png"/>
          <p:cNvPicPr>
            <a:picLocks noChangeAspect="1"/>
          </p:cNvPicPr>
          <p:nvPr/>
        </p:nvPicPr>
        <p:blipFill>
          <a:blip r:embed="rId10"/>
          <a:stretch>
            <a:fillRect/>
          </a:stretch>
        </p:blipFill>
        <p:spPr>
          <a:xfrm>
            <a:off x="22197060" y="23402656"/>
            <a:ext cx="9989819" cy="3348860"/>
          </a:xfrm>
          <a:prstGeom prst="rect">
            <a:avLst/>
          </a:prstGeom>
        </p:spPr>
      </p:pic>
      <p:sp>
        <p:nvSpPr>
          <p:cNvPr id="147" name="TextBox 146"/>
          <p:cNvSpPr txBox="1"/>
          <p:nvPr/>
        </p:nvSpPr>
        <p:spPr>
          <a:xfrm>
            <a:off x="22197060" y="26842956"/>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48" name="TextBox 147"/>
          <p:cNvSpPr txBox="1"/>
          <p:nvPr/>
        </p:nvSpPr>
        <p:spPr>
          <a:xfrm>
            <a:off x="11704320" y="27940236"/>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49" name="Picture 148" descr="f_rounds.png"/>
          <p:cNvPicPr>
            <a:picLocks noChangeAspect="1"/>
          </p:cNvPicPr>
          <p:nvPr/>
        </p:nvPicPr>
        <p:blipFill>
          <a:blip r:embed="rId11"/>
          <a:stretch>
            <a:fillRect/>
          </a:stretch>
        </p:blipFill>
        <p:spPr>
          <a:xfrm>
            <a:off x="11704320" y="28251132"/>
            <a:ext cx="20482560" cy="3749135"/>
          </a:xfrm>
          <a:prstGeom prst="rect">
            <a:avLst/>
          </a:prstGeom>
        </p:spPr>
      </p:pic>
      <p:sp>
        <p:nvSpPr>
          <p:cNvPr id="150" name="TextBox 149"/>
          <p:cNvSpPr txBox="1"/>
          <p:nvPr/>
        </p:nvSpPr>
        <p:spPr>
          <a:xfrm>
            <a:off x="11704320" y="32091707"/>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51" name="TextBox 150"/>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52" name="Rectangle 151"/>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 name="Picture 152" descr="d_wall.png"/>
          <p:cNvPicPr>
            <a:picLocks noChangeAspect="1"/>
          </p:cNvPicPr>
          <p:nvPr/>
        </p:nvPicPr>
        <p:blipFill>
          <a:blip r:embed="rId12"/>
          <a:stretch>
            <a:fillRect/>
          </a:stretch>
        </p:blipFill>
        <p:spPr>
          <a:xfrm>
            <a:off x="32552640" y="5577840"/>
            <a:ext cx="10607040" cy="6362678"/>
          </a:xfrm>
          <a:prstGeom prst="rect">
            <a:avLst/>
          </a:prstGeom>
        </p:spPr>
      </p:pic>
      <p:sp>
        <p:nvSpPr>
          <p:cNvPr id="154" name="TextBox 153"/>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same three checkpoints and the same matcher on both sides, so the evaluator offset cancels. A detector trained on one field does not transfer to another.</a:t>
            </a:r>
          </a:p>
        </p:txBody>
      </p:sp>
      <p:pic>
        <p:nvPicPr>
          <p:cNvPr id="155" name="Picture 154" descr="p_field.png"/>
          <p:cNvPicPr>
            <a:picLocks noChangeAspect="1"/>
          </p:cNvPicPr>
          <p:nvPr/>
        </p:nvPicPr>
        <p:blipFill>
          <a:blip r:embed="rId13"/>
          <a:stretch>
            <a:fillRect/>
          </a:stretch>
        </p:blipFill>
        <p:spPr>
          <a:xfrm>
            <a:off x="32552640" y="12672038"/>
            <a:ext cx="10607040" cy="5360041"/>
          </a:xfrm>
          <a:prstGeom prst="rect">
            <a:avLst/>
          </a:prstGeom>
        </p:spPr>
      </p:pic>
      <p:sp>
        <p:nvSpPr>
          <p:cNvPr id="156" name="TextBox 155"/>
          <p:cNvSpPr txBox="1"/>
          <p:nvPr/>
        </p:nvSpPr>
        <p:spPr>
          <a:xfrm>
            <a:off x="32552640" y="1812351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57" name="Picture 156" descr="j_species.png"/>
          <p:cNvPicPr>
            <a:picLocks noChangeAspect="1"/>
          </p:cNvPicPr>
          <p:nvPr/>
        </p:nvPicPr>
        <p:blipFill>
          <a:blip r:embed="rId14"/>
          <a:stretch>
            <a:fillRect/>
          </a:stretch>
        </p:blipFill>
        <p:spPr>
          <a:xfrm>
            <a:off x="32552640" y="19129359"/>
            <a:ext cx="10607040" cy="5429067"/>
          </a:xfrm>
          <a:prstGeom prst="rect">
            <a:avLst/>
          </a:prstGeom>
        </p:spPr>
      </p:pic>
      <p:sp>
        <p:nvSpPr>
          <p:cNvPr id="158" name="TextBox 157"/>
          <p:cNvSpPr txBox="1"/>
          <p:nvPr/>
        </p:nvSpPr>
        <p:spPr>
          <a:xfrm>
            <a:off x="32552640" y="2464986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13.  Per-species performance of the deployable checkpoint. The spread across the twelve classes is 0.214, roughly seventy times the seed noise.</a:t>
            </a:r>
          </a:p>
        </p:txBody>
      </p:sp>
      <p:sp>
        <p:nvSpPr>
          <p:cNvPr id="159" name="TextBox 158"/>
          <p:cNvSpPr txBox="1"/>
          <p:nvPr/>
        </p:nvSpPr>
        <p:spPr>
          <a:xfrm>
            <a:off x="32552640" y="2533566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60" name="Rectangle 159"/>
          <p:cNvSpPr/>
          <p:nvPr/>
        </p:nvSpPr>
        <p:spPr>
          <a:xfrm>
            <a:off x="32552640" y="2581115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32552640" y="2606718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62" name="TextBox 161"/>
          <p:cNvSpPr txBox="1"/>
          <p:nvPr/>
        </p:nvSpPr>
        <p:spPr>
          <a:xfrm>
            <a:off x="32552640" y="26773052"/>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63" name="TextBox 162"/>
          <p:cNvSpPr txBox="1"/>
          <p:nvPr/>
        </p:nvSpPr>
        <p:spPr>
          <a:xfrm>
            <a:off x="32552640" y="2727749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64" name="TextBox 163"/>
          <p:cNvSpPr txBox="1"/>
          <p:nvPr/>
        </p:nvSpPr>
        <p:spPr>
          <a:xfrm>
            <a:off x="32552640" y="2778194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65" name="TextBox 164"/>
          <p:cNvSpPr txBox="1"/>
          <p:nvPr/>
        </p:nvSpPr>
        <p:spPr>
          <a:xfrm>
            <a:off x="32552640" y="2848780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66" name="TextBox 165"/>
          <p:cNvSpPr txBox="1"/>
          <p:nvPr/>
        </p:nvSpPr>
        <p:spPr>
          <a:xfrm>
            <a:off x="32552640" y="2899225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67" name="TextBox 166"/>
          <p:cNvSpPr txBox="1"/>
          <p:nvPr/>
        </p:nvSpPr>
        <p:spPr>
          <a:xfrm>
            <a:off x="32552640" y="2978955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68" name="Rectangle 167"/>
          <p:cNvSpPr/>
          <p:nvPr/>
        </p:nvSpPr>
        <p:spPr>
          <a:xfrm>
            <a:off x="32552640" y="3026504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2552640" y="30521076"/>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70" name="TextBox 169"/>
          <p:cNvSpPr txBox="1"/>
          <p:nvPr/>
        </p:nvSpPr>
        <p:spPr>
          <a:xfrm>
            <a:off x="32552640" y="31689602"/>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71" name="Rectangle 170"/>
          <p:cNvSpPr/>
          <p:nvPr/>
        </p:nvSpPr>
        <p:spPr>
          <a:xfrm>
            <a:off x="32552640" y="3216509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32552640" y="32421122"/>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