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image" Target="../media/image1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931920"/>
          </a:xfrm>
          <a:prstGeom prst="rect">
            <a:avLst/>
          </a:prstGeom>
          <a:solidFill>
            <a:srgbClr val="143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931920"/>
            <a:ext cx="43891200" cy="45720"/>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42428160" cy="365760"/>
          </a:xfrm>
          <a:prstGeom prst="rect">
            <a:avLst/>
          </a:prstGeom>
          <a:noFill/>
        </p:spPr>
        <p:txBody>
          <a:bodyPr wrap="square" lIns="0" rIns="0" tIns="0" bIns="0">
            <a:spAutoFit/>
          </a:bodyPr>
          <a:lstStyle/>
          <a:p>
            <a:pPr algn="l">
              <a:lnSpc>
                <a:spcPct val="95000"/>
              </a:lnSpc>
              <a:spcAft>
                <a:spcPts val="0"/>
              </a:spcAft>
            </a:pPr>
            <a:r>
              <a:rPr sz="6600" b="1">
                <a:solidFill>
                  <a:srgbClr val="FFFFFF"/>
                </a:solidFill>
                <a:latin typeface="Arial"/>
              </a:rPr>
              <a:t>What Actually Moves a Weed Detector — and What Catches It Failing</a:t>
            </a:r>
          </a:p>
        </p:txBody>
      </p:sp>
      <p:sp>
        <p:nvSpPr>
          <p:cNvPr id="5" name="TextBox 4"/>
          <p:cNvSpPr txBox="1"/>
          <p:nvPr/>
        </p:nvSpPr>
        <p:spPr>
          <a:xfrm>
            <a:off x="731520" y="2103120"/>
            <a:ext cx="42428160" cy="548640"/>
          </a:xfrm>
          <a:prstGeom prst="rect">
            <a:avLst/>
          </a:prstGeom>
          <a:noFill/>
        </p:spPr>
        <p:txBody>
          <a:bodyPr wrap="square" lIns="0" rIns="0" tIns="0" bIns="0">
            <a:spAutoFit/>
          </a:bodyPr>
          <a:lstStyle/>
          <a:p>
            <a:r>
              <a:rPr sz="3200" b="1">
                <a:solidFill>
                  <a:srgbClr val="FFFFFF"/>
                </a:solidFill>
                <a:latin typeface="Arial"/>
              </a:rPr>
              <a:t>Harry He</a:t>
            </a:r>
            <a:r>
              <a:rPr sz="2000" b="1" baseline="30000">
                <a:solidFill>
                  <a:srgbClr val="FFFFFF"/>
                </a:solidFill>
                <a:latin typeface="Arial"/>
              </a:rPr>
              <a:t/>
            </a:r>
            <a:r>
              <a:rPr sz="3200" b="1">
                <a:solidFill>
                  <a:srgbClr val="FFFFFF"/>
                </a:solidFill>
                <a:latin typeface="Arial"/>
              </a:rPr>
              <a:t>,     Hongbo Zhang</a:t>
            </a:r>
            <a:r>
              <a:rPr sz="2000" b="1" baseline="30000">
                <a:solidFill>
                  <a:srgbClr val="FFFFFF"/>
                </a:solidFill>
                <a:latin typeface="Arial"/>
              </a:rPr>
              <a:t/>
            </a:r>
          </a:p>
        </p:txBody>
      </p:sp>
      <p:sp>
        <p:nvSpPr>
          <p:cNvPr id="6" name="TextBox 5"/>
          <p:cNvSpPr txBox="1"/>
          <p:nvPr/>
        </p:nvSpPr>
        <p:spPr>
          <a:xfrm>
            <a:off x="731520" y="2788920"/>
            <a:ext cx="42428160" cy="365760"/>
          </a:xfrm>
          <a:prstGeom prst="rect">
            <a:avLst/>
          </a:prstGeom>
          <a:noFill/>
        </p:spPr>
        <p:txBody>
          <a:bodyPr wrap="square" lIns="0" rIns="0" tIns="0" bIns="0">
            <a:spAutoFit/>
          </a:bodyPr>
          <a:lstStyle/>
          <a:p>
            <a:pPr algn="l">
              <a:lnSpc>
                <a:spcPct val="100000"/>
              </a:lnSpc>
              <a:spcAft>
                <a:spcPts val="0"/>
              </a:spcAft>
            </a:pPr>
            <a:r>
              <a:rPr sz="2000" b="0">
                <a:solidFill>
                  <a:srgbClr val="C2CEDA"/>
                </a:solidFill>
                <a:latin typeface="Arial"/>
              </a:rPr>
              <a:t>Department of Engineering Technology   ·   Middle Tennessee State University, Murfreesboro, TN, USA</a:t>
            </a:r>
          </a:p>
        </p:txBody>
      </p:sp>
      <p:sp>
        <p:nvSpPr>
          <p:cNvPr id="7" name="TextBox 6"/>
          <p:cNvSpPr txBox="1"/>
          <p:nvPr/>
        </p:nvSpPr>
        <p:spPr>
          <a:xfrm>
            <a:off x="731520" y="4846320"/>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INTRODUCTION</a:t>
            </a:r>
          </a:p>
        </p:txBody>
      </p:sp>
      <p:sp>
        <p:nvSpPr>
          <p:cNvPr id="8" name="Rectangle 7"/>
          <p:cNvSpPr/>
          <p:nvPr/>
        </p:nvSpPr>
        <p:spPr>
          <a:xfrm>
            <a:off x="731520" y="5321808"/>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577840"/>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Autonomous data-harvesting pipelines promise compounding gains: collect field images, label them, retrain, repeat. We built one for cotton-field weed detection — a collector agent and a trainer agent running unattended on an HPC allocation, fed by robots driving crop rows — and ran it for fifteen rounds.</a:t>
            </a:r>
          </a:p>
        </p:txBody>
      </p:sp>
      <p:sp>
        <p:nvSpPr>
          <p:cNvPr id="10" name="TextBox 9"/>
          <p:cNvSpPr txBox="1"/>
          <p:nvPr/>
        </p:nvSpPr>
        <p:spPr>
          <a:xfrm>
            <a:off x="731520" y="6332346"/>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Its dangerous failure mode was not a crash. Every round reported success, every dashboard read green, and the holdout accuracy fell the entire time. This poster reports what we measured when we stopped trusting the pipeline and audited it: which levers actually move a weed detector, and which kind of supervision actually catches it failing.</a:t>
            </a:r>
          </a:p>
        </p:txBody>
      </p:sp>
      <p:sp>
        <p:nvSpPr>
          <p:cNvPr id="11" name="TextBox 10"/>
          <p:cNvSpPr txBox="1"/>
          <p:nvPr/>
        </p:nvSpPr>
        <p:spPr>
          <a:xfrm>
            <a:off x="731520" y="7178293"/>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PLATFORM</a:t>
            </a:r>
          </a:p>
        </p:txBody>
      </p:sp>
      <p:sp>
        <p:nvSpPr>
          <p:cNvPr id="12" name="Rectangle 11"/>
          <p:cNvSpPr/>
          <p:nvPr/>
        </p:nvSpPr>
        <p:spPr>
          <a:xfrm>
            <a:off x="731520" y="7653781"/>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7909814"/>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Two agents run as separate scheduler jobs against one locked dataset registry. A collector searches public sources, downloads and pseudo-labels; a trainer merges, removes duplicates, guards the evaluation set and trains. Field data arrives over a live uplink from two ground robots.</a:t>
            </a:r>
          </a:p>
        </p:txBody>
      </p:sp>
      <p:sp>
        <p:nvSpPr>
          <p:cNvPr id="14" name="TextBox 13"/>
          <p:cNvSpPr txBox="1"/>
          <p:nvPr/>
        </p:nvSpPr>
        <p:spPr>
          <a:xfrm>
            <a:off x="731520" y="8664321"/>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Counted on disk rather than claimed: 2,686 camera frames across 26 sessions from 2 robots, none of them labelled. Robot 241 contributes 2,259 frames at 640 x 360, 2026-08-15 to 2026-09-05, of which 1,704 are genuinely on vegetation or soil, with GPS at 1 Hz and IMU at 15 Hz. The laser cart contributes 427 frames, of which 75 are in a field; it carries laser and vehicle telemetry but no GPS and no IMU.</a:t>
            </a:r>
          </a:p>
        </p:txBody>
      </p:sp>
      <p:pic>
        <p:nvPicPr>
          <p:cNvPr id="15" name="Picture 14" descr="l_robots.png"/>
          <p:cNvPicPr>
            <a:picLocks noChangeAspect="1"/>
          </p:cNvPicPr>
          <p:nvPr/>
        </p:nvPicPr>
        <p:blipFill>
          <a:blip r:embed="rId2"/>
          <a:stretch>
            <a:fillRect/>
          </a:stretch>
        </p:blipFill>
        <p:spPr>
          <a:xfrm>
            <a:off x="731520" y="9719436"/>
            <a:ext cx="10607040" cy="2103120"/>
          </a:xfrm>
          <a:prstGeom prst="rect">
            <a:avLst/>
          </a:prstGeom>
        </p:spPr>
      </p:pic>
      <p:sp>
        <p:nvSpPr>
          <p:cNvPr id="16" name="TextBox 15"/>
          <p:cNvSpPr txBox="1"/>
          <p:nvPr/>
        </p:nvSpPr>
        <p:spPr>
          <a:xfrm>
            <a:off x="731520" y="11913996"/>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1.  Frames as recorded, unenhanced. 2686 frames across 26 sessions and 2 robots sit on the platform and 0 of them are labelled: robot 241 contributes 2259 at 640 x 360 and 1 Hz, the laser cart 427 of which 75 are in a field. The boxes in (n) are the cart's own detector drawing on its own video, not ground truth.</a:t>
            </a:r>
          </a:p>
        </p:txBody>
      </p:sp>
      <p:pic>
        <p:nvPicPr>
          <p:cNvPr id="17" name="Picture 16" descr="h_drive.png"/>
          <p:cNvPicPr>
            <a:picLocks noChangeAspect="1"/>
          </p:cNvPicPr>
          <p:nvPr/>
        </p:nvPicPr>
        <p:blipFill>
          <a:blip r:embed="rId3"/>
          <a:stretch>
            <a:fillRect/>
          </a:stretch>
        </p:blipFill>
        <p:spPr>
          <a:xfrm>
            <a:off x="731520" y="12736957"/>
            <a:ext cx="10607040" cy="3840480"/>
          </a:xfrm>
          <a:prstGeom prst="rect">
            <a:avLst/>
          </a:prstGeom>
        </p:spPr>
      </p:pic>
      <p:sp>
        <p:nvSpPr>
          <p:cNvPr id="18" name="TextBox 17"/>
          <p:cNvSpPr txBox="1"/>
          <p:nvPr/>
        </p:nvSpPr>
        <p:spPr>
          <a:xfrm>
            <a:off x="731520" y="16668877"/>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2.  Robot 241, 2026-08-29: one 213 s pass through a crop plot. (h) GPS track from the board fix. (i) IMU heading over the same pass.</a:t>
            </a:r>
          </a:p>
        </p:txBody>
      </p:sp>
      <p:pic>
        <p:nvPicPr>
          <p:cNvPr id="19" name="Picture 18" descr="k_funnel.png"/>
          <p:cNvPicPr>
            <a:picLocks noChangeAspect="1"/>
          </p:cNvPicPr>
          <p:nvPr/>
        </p:nvPicPr>
        <p:blipFill>
          <a:blip r:embed="rId4"/>
          <a:stretch>
            <a:fillRect/>
          </a:stretch>
        </p:blipFill>
        <p:spPr>
          <a:xfrm>
            <a:off x="731520" y="17126077"/>
            <a:ext cx="10607040" cy="2743200"/>
          </a:xfrm>
          <a:prstGeom prst="rect">
            <a:avLst/>
          </a:prstGeom>
        </p:spPr>
      </p:pic>
      <p:sp>
        <p:nvSpPr>
          <p:cNvPr id="20" name="TextBox 19"/>
          <p:cNvSpPr txBox="1"/>
          <p:nvPr/>
        </p:nvSpPr>
        <p:spPr>
          <a:xfrm>
            <a:off x="731520" y="19960717"/>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3.  One of six audited harvested sources clears the label-precision bar. The audit probe reads 1.000 on human-labelled cwd12, so the low scores are the data.</a:t>
            </a:r>
          </a:p>
        </p:txBody>
      </p:sp>
      <p:pic>
        <p:nvPicPr>
          <p:cNvPr id="21" name="Picture 20" descr="s_sources.png"/>
          <p:cNvPicPr>
            <a:picLocks noChangeAspect="1"/>
          </p:cNvPicPr>
          <p:nvPr/>
        </p:nvPicPr>
        <p:blipFill>
          <a:blip r:embed="rId5"/>
          <a:stretch>
            <a:fillRect/>
          </a:stretch>
        </p:blipFill>
        <p:spPr>
          <a:xfrm>
            <a:off x="731520" y="20600797"/>
            <a:ext cx="10607040" cy="3108960"/>
          </a:xfrm>
          <a:prstGeom prst="rect">
            <a:avLst/>
          </a:prstGeom>
        </p:spPr>
      </p:pic>
      <p:sp>
        <p:nvSpPr>
          <p:cNvPr id="22" name="TextBox 21"/>
          <p:cNvSpPr txBox="1"/>
          <p:nvPr/>
        </p:nvSpPr>
        <p:spPr>
          <a:xfrm>
            <a:off x="731520" y="23801197"/>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4.  The six audited harvested sources. The same probe reads 1.000 on human-labelled CottonWeedDet12, so a source at 0.184 is the data and not the instrument. Only the source at the top clears the bar, and it supplies 3,208 of the 13,527 audited images.</a:t>
            </a:r>
          </a:p>
        </p:txBody>
      </p:sp>
      <p:sp>
        <p:nvSpPr>
          <p:cNvPr id="23" name="TextBox 22"/>
          <p:cNvSpPr txBox="1"/>
          <p:nvPr/>
        </p:nvSpPr>
        <p:spPr>
          <a:xfrm>
            <a:off x="731520" y="24486997"/>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PROTOCOL</a:t>
            </a:r>
          </a:p>
        </p:txBody>
      </p:sp>
      <p:sp>
        <p:nvSpPr>
          <p:cNvPr id="24" name="Rectangle 23"/>
          <p:cNvSpPr/>
          <p:nvPr/>
        </p:nvSpPr>
        <p:spPr>
          <a:xfrm>
            <a:off x="731520" y="24962485"/>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25218517"/>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Every in-domain number is mAP₅₀₋₉₅ on the same 1,977 images and 3,257 instances of CottonWeedDet12, under one evaluator. That set is also the validation set during training, so each figure is a maximum over 21–100 evaluations on the set it is reported on. We measured the size of that optimism rather than hiding it — +0.002 to +0.017 depending on recipe — and every conclusion below survives re-reading at last-epoch and at mean-of-last-five.</a:t>
            </a:r>
          </a:p>
        </p:txBody>
      </p:sp>
      <p:sp>
        <p:nvSpPr>
          <p:cNvPr id="26" name="TextBox 25"/>
          <p:cNvSpPr txBox="1"/>
          <p:nvPr/>
        </p:nvSpPr>
        <p:spPr>
          <a:xfrm>
            <a:off x="731520" y="26182193"/>
            <a:ext cx="10607040"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Three evaluators exist in this project and they do not share a scale: the same checkpoint reads 0.8794 under one and 0.8554 under another. Every number here is stated with the evaluator that produced it, and numbers from different evaluators are never compared.</a:t>
            </a:r>
          </a:p>
        </p:txBody>
      </p:sp>
      <p:sp>
        <p:nvSpPr>
          <p:cNvPr id="27" name="TextBox 26"/>
          <p:cNvSpPr txBox="1"/>
          <p:nvPr/>
        </p:nvSpPr>
        <p:spPr>
          <a:xfrm>
            <a:off x="731520" y="26787983"/>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WHAT THE AUDIT RECOVERED</a:t>
            </a:r>
          </a:p>
        </p:txBody>
      </p:sp>
      <p:sp>
        <p:nvSpPr>
          <p:cNvPr id="28" name="Rectangle 27"/>
          <p:cNvSpPr/>
          <p:nvPr/>
        </p:nvSpPr>
        <p:spPr>
          <a:xfrm>
            <a:off x="731520" y="27263471"/>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27519503"/>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Four defects found by reading the pipeline's own artifacts rather than its dashboards. Each was silent: the run reported success while the defect held.</a:t>
            </a:r>
          </a:p>
        </p:txBody>
      </p:sp>
      <p:sp>
        <p:nvSpPr>
          <p:cNvPr id="30" name="Rectangle 29"/>
          <p:cNvSpPr/>
          <p:nvPr/>
        </p:nvSpPr>
        <p:spPr>
          <a:xfrm>
            <a:off x="731520" y="28064841"/>
            <a:ext cx="10607040"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28156281"/>
            <a:ext cx="6576364" cy="365760"/>
          </a:xfrm>
          <a:prstGeom prst="rect">
            <a:avLst/>
          </a:prstGeom>
          <a:noFill/>
        </p:spPr>
        <p:txBody>
          <a:bodyPr wrap="square" lIns="0" rIns="0" tIns="0" bIns="0">
            <a:spAutoFit/>
          </a:bodyPr>
          <a:lstStyle/>
          <a:p>
            <a:pPr algn="l">
              <a:lnSpc>
                <a:spcPct val="100000"/>
              </a:lnSpc>
              <a:spcAft>
                <a:spcPts val="0"/>
              </a:spcAft>
            </a:pPr>
            <a:r>
              <a:rPr sz="1250" b="1">
                <a:solidFill>
                  <a:srgbClr val="1E293B"/>
                </a:solidFill>
                <a:latin typeface="Arial"/>
              </a:rPr>
              <a:t>defect</a:t>
            </a:r>
          </a:p>
        </p:txBody>
      </p:sp>
      <p:sp>
        <p:nvSpPr>
          <p:cNvPr id="32" name="TextBox 31"/>
          <p:cNvSpPr txBox="1"/>
          <p:nvPr/>
        </p:nvSpPr>
        <p:spPr>
          <a:xfrm>
            <a:off x="7307884" y="28156281"/>
            <a:ext cx="4030675"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recovered</a:t>
            </a:r>
          </a:p>
        </p:txBody>
      </p:sp>
      <p:sp>
        <p:nvSpPr>
          <p:cNvPr id="33" name="Rectangle 32"/>
          <p:cNvSpPr/>
          <p:nvPr/>
        </p:nvSpPr>
        <p:spPr>
          <a:xfrm>
            <a:off x="731520" y="28430601"/>
            <a:ext cx="10607040" cy="12801"/>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28512897"/>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Warm-start chain across rounds</a:t>
            </a:r>
          </a:p>
        </p:txBody>
      </p:sp>
      <p:sp>
        <p:nvSpPr>
          <p:cNvPr id="35" name="TextBox 34"/>
          <p:cNvSpPr txBox="1"/>
          <p:nvPr/>
        </p:nvSpPr>
        <p:spPr>
          <a:xfrm>
            <a:off x="7307884" y="28512897"/>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+0.0287 mAP</a:t>
            </a:r>
          </a:p>
        </p:txBody>
      </p:sp>
      <p:sp>
        <p:nvSpPr>
          <p:cNvPr id="36" name="TextBox 35"/>
          <p:cNvSpPr txBox="1"/>
          <p:nvPr/>
        </p:nvSpPr>
        <p:spPr>
          <a:xfrm>
            <a:off x="731520" y="28823793"/>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GPS logged from a frozen receiver</a:t>
            </a:r>
          </a:p>
        </p:txBody>
      </p:sp>
      <p:sp>
        <p:nvSpPr>
          <p:cNvPr id="37" name="TextBox 36"/>
          <p:cNvSpPr txBox="1"/>
          <p:nvPr/>
        </p:nvSpPr>
        <p:spPr>
          <a:xfrm>
            <a:off x="7307884" y="28823793"/>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200.9 m of track</a:t>
            </a:r>
          </a:p>
        </p:txBody>
      </p:sp>
      <p:sp>
        <p:nvSpPr>
          <p:cNvPr id="38" name="TextBox 37"/>
          <p:cNvSpPr txBox="1"/>
          <p:nvPr/>
        </p:nvSpPr>
        <p:spPr>
          <a:xfrm>
            <a:off x="731520" y="29134689"/>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Harvest decisions never logged</a:t>
            </a:r>
          </a:p>
        </p:txBody>
      </p:sp>
      <p:sp>
        <p:nvSpPr>
          <p:cNvPr id="39" name="TextBox 38"/>
          <p:cNvSpPr txBox="1"/>
          <p:nvPr/>
        </p:nvSpPr>
        <p:spPr>
          <a:xfrm>
            <a:off x="7307884" y="29134689"/>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8 empty rounds seen</a:t>
            </a:r>
          </a:p>
        </p:txBody>
      </p:sp>
      <p:sp>
        <p:nvSpPr>
          <p:cNvPr id="40" name="TextBox 39"/>
          <p:cNvSpPr txBox="1"/>
          <p:nvPr/>
        </p:nvSpPr>
        <p:spPr>
          <a:xfrm>
            <a:off x="731520" y="29445585"/>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Staging directory never cleared</a:t>
            </a:r>
          </a:p>
        </p:txBody>
      </p:sp>
      <p:sp>
        <p:nvSpPr>
          <p:cNvPr id="41" name="TextBox 40"/>
          <p:cNvSpPr txBox="1"/>
          <p:nvPr/>
        </p:nvSpPr>
        <p:spPr>
          <a:xfrm>
            <a:off x="7307884" y="29445585"/>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20,258 stale files</a:t>
            </a:r>
          </a:p>
        </p:txBody>
      </p:sp>
      <p:sp>
        <p:nvSpPr>
          <p:cNvPr id="42" name="Rectangle 41"/>
          <p:cNvSpPr/>
          <p:nvPr/>
        </p:nvSpPr>
        <p:spPr>
          <a:xfrm>
            <a:off x="731520" y="29774769"/>
            <a:ext cx="10607040"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1704320" y="4846320"/>
            <a:ext cx="2048256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RESULTS</a:t>
            </a:r>
          </a:p>
        </p:txBody>
      </p:sp>
      <p:sp>
        <p:nvSpPr>
          <p:cNvPr id="44" name="Rectangle 43"/>
          <p:cNvSpPr/>
          <p:nvPr/>
        </p:nvSpPr>
        <p:spPr>
          <a:xfrm>
            <a:off x="11704320" y="5321808"/>
            <a:ext cx="2048256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170432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193292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+0.0714</a:t>
            </a:r>
          </a:p>
        </p:txBody>
      </p:sp>
      <p:sp>
        <p:nvSpPr>
          <p:cNvPr id="47" name="TextBox 46"/>
          <p:cNvSpPr txBox="1"/>
          <p:nvPr/>
        </p:nvSpPr>
        <p:spPr>
          <a:xfrm>
            <a:off x="1193292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pretraining over random init</a:t>
            </a:r>
          </a:p>
        </p:txBody>
      </p:sp>
      <p:sp>
        <p:nvSpPr>
          <p:cNvPr id="48" name="TextBox 47"/>
          <p:cNvSpPr txBox="1"/>
          <p:nvPr/>
        </p:nvSpPr>
        <p:spPr>
          <a:xfrm>
            <a:off x="1193292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n = 3 each side</a:t>
            </a:r>
          </a:p>
        </p:txBody>
      </p:sp>
      <p:sp>
        <p:nvSpPr>
          <p:cNvPr id="49" name="Rectangle 48"/>
          <p:cNvSpPr/>
          <p:nvPr/>
        </p:nvSpPr>
        <p:spPr>
          <a:xfrm>
            <a:off x="1689354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712214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0.100</a:t>
            </a:r>
          </a:p>
        </p:txBody>
      </p:sp>
      <p:sp>
        <p:nvSpPr>
          <p:cNvPr id="51" name="TextBox 50"/>
          <p:cNvSpPr txBox="1"/>
          <p:nvPr/>
        </p:nvSpPr>
        <p:spPr>
          <a:xfrm>
            <a:off x="1712214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same detector, another field</a:t>
            </a:r>
          </a:p>
        </p:txBody>
      </p:sp>
      <p:sp>
        <p:nvSpPr>
          <p:cNvPr id="52" name="TextBox 51"/>
          <p:cNvSpPr txBox="1"/>
          <p:nvPr/>
        </p:nvSpPr>
        <p:spPr>
          <a:xfrm>
            <a:off x="1712214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from 0.873, n = 3</a:t>
            </a:r>
          </a:p>
        </p:txBody>
      </p:sp>
      <p:sp>
        <p:nvSpPr>
          <p:cNvPr id="53" name="Rectangle 52"/>
          <p:cNvSpPr/>
          <p:nvPr/>
        </p:nvSpPr>
        <p:spPr>
          <a:xfrm>
            <a:off x="2208276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231136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149 of 149</a:t>
            </a:r>
          </a:p>
        </p:txBody>
      </p:sp>
      <p:sp>
        <p:nvSpPr>
          <p:cNvPr id="55" name="TextBox 54"/>
          <p:cNvSpPr txBox="1"/>
          <p:nvPr/>
        </p:nvSpPr>
        <p:spPr>
          <a:xfrm>
            <a:off x="2231136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cases the watchdog could not decide</a:t>
            </a:r>
          </a:p>
        </p:txBody>
      </p:sp>
      <p:sp>
        <p:nvSpPr>
          <p:cNvPr id="56" name="TextBox 55"/>
          <p:cNvSpPr txBox="1"/>
          <p:nvPr/>
        </p:nvSpPr>
        <p:spPr>
          <a:xfrm>
            <a:off x="2231136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116 incidents among them</a:t>
            </a:r>
          </a:p>
        </p:txBody>
      </p:sp>
      <p:sp>
        <p:nvSpPr>
          <p:cNvPr id="57" name="Rectangle 56"/>
          <p:cNvSpPr/>
          <p:nvPr/>
        </p:nvSpPr>
        <p:spPr>
          <a:xfrm>
            <a:off x="2727198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750058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48,752</a:t>
            </a:r>
          </a:p>
        </p:txBody>
      </p:sp>
      <p:sp>
        <p:nvSpPr>
          <p:cNvPr id="59" name="TextBox 58"/>
          <p:cNvSpPr txBox="1"/>
          <p:nvPr/>
        </p:nvSpPr>
        <p:spPr>
          <a:xfrm>
            <a:off x="2750058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images, unchanged for 13 rounds</a:t>
            </a:r>
          </a:p>
        </p:txBody>
      </p:sp>
      <p:sp>
        <p:nvSpPr>
          <p:cNvPr id="60" name="TextBox 59"/>
          <p:cNvSpPr txBox="1"/>
          <p:nvPr/>
        </p:nvSpPr>
        <p:spPr>
          <a:xfrm>
            <a:off x="2750058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while the loop reported progress</a:t>
            </a:r>
          </a:p>
        </p:txBody>
      </p:sp>
      <p:sp>
        <p:nvSpPr>
          <p:cNvPr id="61" name="TextBox 60"/>
          <p:cNvSpPr txBox="1"/>
          <p:nvPr/>
        </p:nvSpPr>
        <p:spPr>
          <a:xfrm>
            <a:off x="11704320" y="7452359"/>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What moves the detector</a:t>
            </a:r>
          </a:p>
        </p:txBody>
      </p:sp>
      <p:pic>
        <p:nvPicPr>
          <p:cNvPr id="62" name="Picture 61" descr="a_families.png"/>
          <p:cNvPicPr>
            <a:picLocks noChangeAspect="1"/>
          </p:cNvPicPr>
          <p:nvPr/>
        </p:nvPicPr>
        <p:blipFill>
          <a:blip r:embed="rId6"/>
          <a:stretch>
            <a:fillRect/>
          </a:stretch>
        </p:blipFill>
        <p:spPr>
          <a:xfrm>
            <a:off x="11704320" y="7763255"/>
            <a:ext cx="9989819" cy="2560710"/>
          </a:xfrm>
          <a:prstGeom prst="rect">
            <a:avLst/>
          </a:prstGeom>
        </p:spPr>
      </p:pic>
      <p:sp>
        <p:nvSpPr>
          <p:cNvPr id="63" name="TextBox 62"/>
          <p:cNvSpPr txBox="1"/>
          <p:nvPr/>
        </p:nvSpPr>
        <p:spPr>
          <a:xfrm>
            <a:off x="11704320" y="10415405"/>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5.  Three detector families on the sealed 1,977-image CottonWeedDet12 holdout. Filled mark: the mean over seeds 101/102/103, with 1 s.d.; open marks behind it: the three runs themselves. How the network is initialised is worth three times what the architecture is worth. The pretrained-versus-Mamba pair carries no bracket on purpose -- one side started from COCO weights and the other from scratch, so it is not an architecture comparison.</a:t>
            </a:r>
          </a:p>
        </p:txBody>
      </p:sp>
      <p:pic>
        <p:nvPicPr>
          <p:cNvPr id="64" name="Picture 63" descr="b_zeroshot.png"/>
          <p:cNvPicPr>
            <a:picLocks noChangeAspect="1"/>
          </p:cNvPicPr>
          <p:nvPr/>
        </p:nvPicPr>
        <p:blipFill>
          <a:blip r:embed="rId7"/>
          <a:stretch>
            <a:fillRect/>
          </a:stretch>
        </p:blipFill>
        <p:spPr>
          <a:xfrm>
            <a:off x="22197060" y="7763255"/>
            <a:ext cx="9989819" cy="3841066"/>
          </a:xfrm>
          <a:prstGeom prst="rect">
            <a:avLst/>
          </a:prstGeom>
        </p:spPr>
      </p:pic>
      <p:sp>
        <p:nvSpPr>
          <p:cNvPr id="65" name="TextBox 64"/>
          <p:cNvSpPr txBox="1"/>
          <p:nvPr/>
        </p:nvSpPr>
        <p:spPr>
          <a:xfrm>
            <a:off x="22197060" y="11695762"/>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6.  One deterministic pass per model, no repeats. Fifteen zero-shot vision-language models against the fine-tuned detector: the best of them reaches 0.434 against 0.929, and five produce no usable grounding at all.</a:t>
            </a:r>
          </a:p>
        </p:txBody>
      </p:sp>
      <p:sp>
        <p:nvSpPr>
          <p:cNvPr id="66" name="TextBox 65"/>
          <p:cNvSpPr txBox="1"/>
          <p:nvPr/>
        </p:nvSpPr>
        <p:spPr>
          <a:xfrm>
            <a:off x="11704320" y="12427282"/>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Does more harvested data help?</a:t>
            </a:r>
          </a:p>
        </p:txBody>
      </p:sp>
      <p:pic>
        <p:nvPicPr>
          <p:cNvPr id="67" name="Picture 66" descr="c_ladder.png"/>
          <p:cNvPicPr>
            <a:picLocks noChangeAspect="1"/>
          </p:cNvPicPr>
          <p:nvPr/>
        </p:nvPicPr>
        <p:blipFill>
          <a:blip r:embed="rId8"/>
          <a:stretch>
            <a:fillRect/>
          </a:stretch>
        </p:blipFill>
        <p:spPr>
          <a:xfrm>
            <a:off x="11704320" y="12738178"/>
            <a:ext cx="9989819" cy="3017980"/>
          </a:xfrm>
          <a:prstGeom prst="rect">
            <a:avLst/>
          </a:prstGeom>
        </p:spPr>
      </p:pic>
      <p:sp>
        <p:nvSpPr>
          <p:cNvPr id="68" name="TextBox 67"/>
          <p:cNvSpPr txBox="1"/>
          <p:nvPr/>
        </p:nvSpPr>
        <p:spPr>
          <a:xfrm>
            <a:off x="11704320" y="15847598"/>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7.  (c) Twelve times the training data costs 0.0189, three seeds at every rung. (d) The same eight checkpoints on a second dataset, class-agnostic, nothing of which it saw in training and 0 images excluded by the leak check; the series labels in (c) apply to (d). Both exams fall, so the narrow metric is not what makes the ladder drop.</a:t>
            </a:r>
          </a:p>
        </p:txBody>
      </p:sp>
      <p:sp>
        <p:nvSpPr>
          <p:cNvPr id="69" name="TextBox 68"/>
          <p:cNvSpPr txBox="1"/>
          <p:nvPr/>
        </p:nvSpPr>
        <p:spPr>
          <a:xfrm>
            <a:off x="22197060" y="12738178"/>
            <a:ext cx="9989819"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Harvested images added to a clean in-domain core, the same images at every seed. Only the training seed varies, so the spread is training noise and not a different sample of the corpus.</a:t>
            </a:r>
          </a:p>
        </p:txBody>
      </p:sp>
      <p:sp>
        <p:nvSpPr>
          <p:cNvPr id="70" name="Rectangle 69"/>
          <p:cNvSpPr/>
          <p:nvPr/>
        </p:nvSpPr>
        <p:spPr>
          <a:xfrm>
            <a:off x="22197060" y="13283516"/>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2197060" y="13374956"/>
            <a:ext cx="4595317" cy="365760"/>
          </a:xfrm>
          <a:prstGeom prst="rect">
            <a:avLst/>
          </a:prstGeom>
          <a:noFill/>
        </p:spPr>
        <p:txBody>
          <a:bodyPr wrap="square" lIns="0" rIns="0" tIns="0" bIns="0">
            <a:spAutoFit/>
          </a:bodyPr>
          <a:lstStyle/>
          <a:p>
            <a:pPr algn="l">
              <a:lnSpc>
                <a:spcPct val="100000"/>
              </a:lnSpc>
              <a:spcAft>
                <a:spcPts val="0"/>
              </a:spcAft>
            </a:pPr>
            <a:r>
              <a:rPr sz="1250" b="1">
                <a:solidFill>
                  <a:srgbClr val="1E293B"/>
                </a:solidFill>
                <a:latin typeface="Arial"/>
              </a:rPr>
              <a:t>harvested added</a:t>
            </a:r>
          </a:p>
        </p:txBody>
      </p:sp>
      <p:sp>
        <p:nvSpPr>
          <p:cNvPr id="72" name="TextBox 71"/>
          <p:cNvSpPr txBox="1"/>
          <p:nvPr/>
        </p:nvSpPr>
        <p:spPr>
          <a:xfrm>
            <a:off x="26792377" y="13374956"/>
            <a:ext cx="3796131"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mAP₅₀₋₉₅</a:t>
            </a:r>
          </a:p>
        </p:txBody>
      </p:sp>
      <p:sp>
        <p:nvSpPr>
          <p:cNvPr id="73" name="TextBox 72"/>
          <p:cNvSpPr txBox="1"/>
          <p:nvPr/>
        </p:nvSpPr>
        <p:spPr>
          <a:xfrm>
            <a:off x="30588508" y="13374956"/>
            <a:ext cx="1598371"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n</a:t>
            </a:r>
          </a:p>
        </p:txBody>
      </p:sp>
      <p:sp>
        <p:nvSpPr>
          <p:cNvPr id="74" name="Rectangle 73"/>
          <p:cNvSpPr/>
          <p:nvPr/>
        </p:nvSpPr>
        <p:spPr>
          <a:xfrm>
            <a:off x="22197060" y="13649276"/>
            <a:ext cx="9989819" cy="12801"/>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22197060" y="13731572"/>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none — the core</a:t>
            </a:r>
          </a:p>
        </p:txBody>
      </p:sp>
      <p:sp>
        <p:nvSpPr>
          <p:cNvPr id="76" name="TextBox 75"/>
          <p:cNvSpPr txBox="1"/>
          <p:nvPr/>
        </p:nvSpPr>
        <p:spPr>
          <a:xfrm>
            <a:off x="26792377" y="13731572"/>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0.8637 ± 0.0027</a:t>
            </a:r>
          </a:p>
        </p:txBody>
      </p:sp>
      <p:sp>
        <p:nvSpPr>
          <p:cNvPr id="77" name="TextBox 76"/>
          <p:cNvSpPr txBox="1"/>
          <p:nvPr/>
        </p:nvSpPr>
        <p:spPr>
          <a:xfrm>
            <a:off x="30588508" y="13731572"/>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3</a:t>
            </a:r>
          </a:p>
        </p:txBody>
      </p:sp>
      <p:sp>
        <p:nvSpPr>
          <p:cNvPr id="78" name="TextBox 77"/>
          <p:cNvSpPr txBox="1"/>
          <p:nvPr/>
        </p:nvSpPr>
        <p:spPr>
          <a:xfrm>
            <a:off x="22197060" y="14042468"/>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+5,000</a:t>
            </a:r>
          </a:p>
        </p:txBody>
      </p:sp>
      <p:sp>
        <p:nvSpPr>
          <p:cNvPr id="79" name="TextBox 78"/>
          <p:cNvSpPr txBox="1"/>
          <p:nvPr/>
        </p:nvSpPr>
        <p:spPr>
          <a:xfrm>
            <a:off x="26792377" y="14042468"/>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0.8609 ± 0.0036</a:t>
            </a:r>
          </a:p>
        </p:txBody>
      </p:sp>
      <p:sp>
        <p:nvSpPr>
          <p:cNvPr id="80" name="TextBox 79"/>
          <p:cNvSpPr txBox="1"/>
          <p:nvPr/>
        </p:nvSpPr>
        <p:spPr>
          <a:xfrm>
            <a:off x="30588508" y="14042468"/>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3</a:t>
            </a:r>
          </a:p>
        </p:txBody>
      </p:sp>
      <p:sp>
        <p:nvSpPr>
          <p:cNvPr id="81" name="TextBox 80"/>
          <p:cNvSpPr txBox="1"/>
          <p:nvPr/>
        </p:nvSpPr>
        <p:spPr>
          <a:xfrm>
            <a:off x="22197060" y="14353364"/>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+15,000</a:t>
            </a:r>
          </a:p>
        </p:txBody>
      </p:sp>
      <p:sp>
        <p:nvSpPr>
          <p:cNvPr id="82" name="TextBox 81"/>
          <p:cNvSpPr txBox="1"/>
          <p:nvPr/>
        </p:nvSpPr>
        <p:spPr>
          <a:xfrm>
            <a:off x="26792377" y="14353364"/>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0.8580 ± 0.0047</a:t>
            </a:r>
          </a:p>
        </p:txBody>
      </p:sp>
      <p:sp>
        <p:nvSpPr>
          <p:cNvPr id="83" name="TextBox 82"/>
          <p:cNvSpPr txBox="1"/>
          <p:nvPr/>
        </p:nvSpPr>
        <p:spPr>
          <a:xfrm>
            <a:off x="30588508" y="14353364"/>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3</a:t>
            </a:r>
          </a:p>
        </p:txBody>
      </p:sp>
      <p:sp>
        <p:nvSpPr>
          <p:cNvPr id="84" name="TextBox 83"/>
          <p:cNvSpPr txBox="1"/>
          <p:nvPr/>
        </p:nvSpPr>
        <p:spPr>
          <a:xfrm>
            <a:off x="22197060" y="14664260"/>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+40,000</a:t>
            </a:r>
          </a:p>
        </p:txBody>
      </p:sp>
      <p:sp>
        <p:nvSpPr>
          <p:cNvPr id="85" name="TextBox 84"/>
          <p:cNvSpPr txBox="1"/>
          <p:nvPr/>
        </p:nvSpPr>
        <p:spPr>
          <a:xfrm>
            <a:off x="26792377" y="14664260"/>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0.8448 ± 0.0018</a:t>
            </a:r>
          </a:p>
        </p:txBody>
      </p:sp>
      <p:sp>
        <p:nvSpPr>
          <p:cNvPr id="86" name="TextBox 85"/>
          <p:cNvSpPr txBox="1"/>
          <p:nvPr/>
        </p:nvSpPr>
        <p:spPr>
          <a:xfrm>
            <a:off x="30588508" y="14664260"/>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3</a:t>
            </a:r>
          </a:p>
        </p:txBody>
      </p:sp>
      <p:sp>
        <p:nvSpPr>
          <p:cNvPr id="87" name="Rectangle 86"/>
          <p:cNvSpPr/>
          <p:nvPr/>
        </p:nvSpPr>
        <p:spPr>
          <a:xfrm>
            <a:off x="22197060" y="14993443"/>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22197060" y="15194611"/>
            <a:ext cx="9989819"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The first two steps sit inside the pooled seed spread and are not separable. The full +40,000 is: −0.0189 against the core, 8.2 σ, three seeds at every rung.</a:t>
            </a:r>
          </a:p>
        </p:txBody>
      </p:sp>
      <p:sp>
        <p:nvSpPr>
          <p:cNvPr id="89" name="TextBox 88"/>
          <p:cNvSpPr txBox="1"/>
          <p:nvPr/>
        </p:nvSpPr>
        <p:spPr>
          <a:xfrm>
            <a:off x="11704320" y="16761998"/>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What catches the pipeline failing</a:t>
            </a:r>
          </a:p>
        </p:txBody>
      </p:sp>
      <p:pic>
        <p:nvPicPr>
          <p:cNvPr id="90" name="Picture 89" descr="e_supervision.png"/>
          <p:cNvPicPr>
            <a:picLocks noChangeAspect="1"/>
          </p:cNvPicPr>
          <p:nvPr/>
        </p:nvPicPr>
        <p:blipFill>
          <a:blip r:embed="rId9"/>
          <a:stretch>
            <a:fillRect/>
          </a:stretch>
        </p:blipFill>
        <p:spPr>
          <a:xfrm>
            <a:off x="11704320" y="17072894"/>
            <a:ext cx="9989819" cy="4938513"/>
          </a:xfrm>
          <a:prstGeom prst="rect">
            <a:avLst/>
          </a:prstGeom>
        </p:spPr>
      </p:pic>
      <p:sp>
        <p:nvSpPr>
          <p:cNvPr id="91" name="TextBox 90"/>
          <p:cNvSpPr txBox="1"/>
          <p:nvPr/>
        </p:nvSpPr>
        <p:spPr>
          <a:xfrm>
            <a:off x="11704320" y="22102847"/>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8.  (e) Every arm on one frozen corpus of real incidents from this project's own history, scored by the project's own scorer. Each mark carries its own denominator: two arms are still running and stand on 57 and 39 incidents against the others' 112 to 114, and bars are 95% Wilson intervals. Open circle: the model reads raw artifact excerpts; the arrow runs to the same model given a retrieval round over them, and is drawn solid only where both ends were scored on the same cases. (f) The same arms, asking how much of that detection quotes a line that resolves in the artifact. The 7 B has the highest recall on the page and 0.55 of it is unevidenced; the 27 B has no gap at all. Recall alone would have cleared the size class this campaign's own reviewer ran on for a week. The intervals are wide and they overlap: on this corpus the ordering among the model arms is not established, and the grounded gap is.</a:t>
            </a:r>
          </a:p>
        </p:txBody>
      </p:sp>
      <p:sp>
        <p:nvSpPr>
          <p:cNvPr id="92" name="TextBox 91"/>
          <p:cNvSpPr txBox="1"/>
          <p:nvPr/>
        </p:nvSpPr>
        <p:spPr>
          <a:xfrm>
            <a:off x="22197060" y="17072894"/>
            <a:ext cx="9989819"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A frozen corpus of 162 real incidents from this project's own engineering record, scored on the dev split: 116 incidents and 33 controls, by the project's own scorer re-reading committed verdicts. A detection counts only when the arm returns an issue verdict carrying a finding at or above a severity bar; “grounded” additionally requires that finding to quote a line that resolves in the artifact. L2 reads raw artifact excerpts; L3 adds a retrieval round over them.</a:t>
            </a:r>
          </a:p>
        </p:txBody>
      </p:sp>
      <p:sp>
        <p:nvSpPr>
          <p:cNvPr id="93" name="Rectangle 92"/>
          <p:cNvSpPr/>
          <p:nvPr/>
        </p:nvSpPr>
        <p:spPr>
          <a:xfrm>
            <a:off x="22197060" y="18245739"/>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2197060" y="18337179"/>
            <a:ext cx="1698269" cy="365760"/>
          </a:xfrm>
          <a:prstGeom prst="rect">
            <a:avLst/>
          </a:prstGeom>
          <a:noFill/>
        </p:spPr>
        <p:txBody>
          <a:bodyPr wrap="square" lIns="0" rIns="0" tIns="0" bIns="0">
            <a:spAutoFit/>
          </a:bodyPr>
          <a:lstStyle/>
          <a:p>
            <a:pPr algn="l">
              <a:lnSpc>
                <a:spcPct val="100000"/>
              </a:lnSpc>
              <a:spcAft>
                <a:spcPts val="0"/>
              </a:spcAft>
            </a:pPr>
            <a:r>
              <a:rPr sz="1250" b="1">
                <a:solidFill>
                  <a:srgbClr val="1E293B"/>
                </a:solidFill>
                <a:latin typeface="Arial"/>
              </a:rPr>
              <a:t>reviewer</a:t>
            </a:r>
          </a:p>
        </p:txBody>
      </p:sp>
      <p:sp>
        <p:nvSpPr>
          <p:cNvPr id="95" name="TextBox 94"/>
          <p:cNvSpPr txBox="1"/>
          <p:nvPr/>
        </p:nvSpPr>
        <p:spPr>
          <a:xfrm>
            <a:off x="23895329" y="18337179"/>
            <a:ext cx="2397556"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reads</a:t>
            </a:r>
          </a:p>
        </p:txBody>
      </p:sp>
      <p:sp>
        <p:nvSpPr>
          <p:cNvPr id="96" name="TextBox 95"/>
          <p:cNvSpPr txBox="1"/>
          <p:nvPr/>
        </p:nvSpPr>
        <p:spPr>
          <a:xfrm>
            <a:off x="26292886" y="18337179"/>
            <a:ext cx="1198778"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recall</a:t>
            </a:r>
          </a:p>
        </p:txBody>
      </p:sp>
      <p:sp>
        <p:nvSpPr>
          <p:cNvPr id="97" name="TextBox 96"/>
          <p:cNvSpPr txBox="1"/>
          <p:nvPr/>
        </p:nvSpPr>
        <p:spPr>
          <a:xfrm>
            <a:off x="27491664" y="18337179"/>
            <a:ext cx="1298676"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grounded</a:t>
            </a:r>
          </a:p>
        </p:txBody>
      </p:sp>
      <p:sp>
        <p:nvSpPr>
          <p:cNvPr id="98" name="TextBox 97"/>
          <p:cNvSpPr txBox="1"/>
          <p:nvPr/>
        </p:nvSpPr>
        <p:spPr>
          <a:xfrm>
            <a:off x="28790341" y="18337179"/>
            <a:ext cx="1398574"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false alarms</a:t>
            </a:r>
          </a:p>
        </p:txBody>
      </p:sp>
      <p:sp>
        <p:nvSpPr>
          <p:cNvPr id="99" name="TextBox 98"/>
          <p:cNvSpPr txBox="1"/>
          <p:nvPr/>
        </p:nvSpPr>
        <p:spPr>
          <a:xfrm>
            <a:off x="30188916" y="18337179"/>
            <a:ext cx="1398574"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citations valid</a:t>
            </a:r>
          </a:p>
        </p:txBody>
      </p:sp>
      <p:sp>
        <p:nvSpPr>
          <p:cNvPr id="100" name="TextBox 99"/>
          <p:cNvSpPr txBox="1"/>
          <p:nvPr/>
        </p:nvSpPr>
        <p:spPr>
          <a:xfrm>
            <a:off x="31587490" y="18337179"/>
            <a:ext cx="599389"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cases</a:t>
            </a:r>
          </a:p>
        </p:txBody>
      </p:sp>
      <p:sp>
        <p:nvSpPr>
          <p:cNvPr id="101" name="Rectangle 100"/>
          <p:cNvSpPr/>
          <p:nvPr/>
        </p:nvSpPr>
        <p:spPr>
          <a:xfrm>
            <a:off x="22197060" y="18611499"/>
            <a:ext cx="9989819" cy="12801"/>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22197060" y="18693795"/>
            <a:ext cx="1698269"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Scripted watchdog</a:t>
            </a:r>
          </a:p>
        </p:txBody>
      </p:sp>
      <p:sp>
        <p:nvSpPr>
          <p:cNvPr id="103" name="TextBox 102"/>
          <p:cNvSpPr txBox="1"/>
          <p:nvPr/>
        </p:nvSpPr>
        <p:spPr>
          <a:xfrm>
            <a:off x="23895329" y="18693795"/>
            <a:ext cx="239755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status fields</a:t>
            </a:r>
          </a:p>
        </p:txBody>
      </p:sp>
      <p:sp>
        <p:nvSpPr>
          <p:cNvPr id="104" name="TextBox 103"/>
          <p:cNvSpPr txBox="1"/>
          <p:nvPr/>
        </p:nvSpPr>
        <p:spPr>
          <a:xfrm>
            <a:off x="26292886" y="18693795"/>
            <a:ext cx="1198778"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t>
            </a:r>
          </a:p>
        </p:txBody>
      </p:sp>
      <p:sp>
        <p:nvSpPr>
          <p:cNvPr id="105" name="TextBox 104"/>
          <p:cNvSpPr txBox="1"/>
          <p:nvPr/>
        </p:nvSpPr>
        <p:spPr>
          <a:xfrm>
            <a:off x="27491664" y="18693795"/>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t>
            </a:r>
          </a:p>
        </p:txBody>
      </p:sp>
      <p:sp>
        <p:nvSpPr>
          <p:cNvPr id="106" name="TextBox 105"/>
          <p:cNvSpPr txBox="1"/>
          <p:nvPr/>
        </p:nvSpPr>
        <p:spPr>
          <a:xfrm>
            <a:off x="28790341" y="18693795"/>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t>
            </a:r>
          </a:p>
        </p:txBody>
      </p:sp>
      <p:sp>
        <p:nvSpPr>
          <p:cNvPr id="107" name="TextBox 106"/>
          <p:cNvSpPr txBox="1"/>
          <p:nvPr/>
        </p:nvSpPr>
        <p:spPr>
          <a:xfrm>
            <a:off x="30188916" y="18693795"/>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t>
            </a:r>
          </a:p>
        </p:txBody>
      </p:sp>
      <p:sp>
        <p:nvSpPr>
          <p:cNvPr id="108" name="TextBox 107"/>
          <p:cNvSpPr txBox="1"/>
          <p:nvPr/>
        </p:nvSpPr>
        <p:spPr>
          <a:xfrm>
            <a:off x="31587490" y="18693795"/>
            <a:ext cx="599389"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09" name="TextBox 108"/>
          <p:cNvSpPr txBox="1"/>
          <p:nvPr/>
        </p:nvSpPr>
        <p:spPr>
          <a:xfrm>
            <a:off x="22197060" y="19004691"/>
            <a:ext cx="1698269"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Deterministic signals</a:t>
            </a:r>
          </a:p>
        </p:txBody>
      </p:sp>
      <p:sp>
        <p:nvSpPr>
          <p:cNvPr id="110" name="TextBox 109"/>
          <p:cNvSpPr txBox="1"/>
          <p:nvPr/>
        </p:nvSpPr>
        <p:spPr>
          <a:xfrm>
            <a:off x="23895329" y="19004691"/>
            <a:ext cx="239755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12 checks</a:t>
            </a:r>
          </a:p>
        </p:txBody>
      </p:sp>
      <p:sp>
        <p:nvSpPr>
          <p:cNvPr id="111" name="TextBox 110"/>
          <p:cNvSpPr txBox="1"/>
          <p:nvPr/>
        </p:nvSpPr>
        <p:spPr>
          <a:xfrm>
            <a:off x="26292886" y="19004691"/>
            <a:ext cx="1198778"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0.095</a:t>
            </a:r>
          </a:p>
        </p:txBody>
      </p:sp>
      <p:sp>
        <p:nvSpPr>
          <p:cNvPr id="112" name="TextBox 111"/>
          <p:cNvSpPr txBox="1"/>
          <p:nvPr/>
        </p:nvSpPr>
        <p:spPr>
          <a:xfrm>
            <a:off x="27491664" y="19004691"/>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0.095</a:t>
            </a:r>
          </a:p>
        </p:txBody>
      </p:sp>
      <p:sp>
        <p:nvSpPr>
          <p:cNvPr id="113" name="TextBox 112"/>
          <p:cNvSpPr txBox="1"/>
          <p:nvPr/>
        </p:nvSpPr>
        <p:spPr>
          <a:xfrm>
            <a:off x="28790341" y="19004691"/>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0.061</a:t>
            </a:r>
          </a:p>
        </p:txBody>
      </p:sp>
      <p:sp>
        <p:nvSpPr>
          <p:cNvPr id="114" name="TextBox 113"/>
          <p:cNvSpPr txBox="1"/>
          <p:nvPr/>
        </p:nvSpPr>
        <p:spPr>
          <a:xfrm>
            <a:off x="30188916" y="19004691"/>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0.846</a:t>
            </a:r>
          </a:p>
        </p:txBody>
      </p:sp>
      <p:sp>
        <p:nvSpPr>
          <p:cNvPr id="115" name="TextBox 114"/>
          <p:cNvSpPr txBox="1"/>
          <p:nvPr/>
        </p:nvSpPr>
        <p:spPr>
          <a:xfrm>
            <a:off x="31587490" y="19004691"/>
            <a:ext cx="599389"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16" name="TextBox 115"/>
          <p:cNvSpPr txBox="1"/>
          <p:nvPr/>
        </p:nvSpPr>
        <p:spPr>
          <a:xfrm>
            <a:off x="22197060" y="19315587"/>
            <a:ext cx="1698269"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7 B  L2</a:t>
            </a:r>
          </a:p>
        </p:txBody>
      </p:sp>
      <p:sp>
        <p:nvSpPr>
          <p:cNvPr id="117" name="TextBox 116"/>
          <p:cNvSpPr txBox="1"/>
          <p:nvPr/>
        </p:nvSpPr>
        <p:spPr>
          <a:xfrm>
            <a:off x="23895329" y="19315587"/>
            <a:ext cx="239755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a:t>
            </a:r>
          </a:p>
        </p:txBody>
      </p:sp>
      <p:sp>
        <p:nvSpPr>
          <p:cNvPr id="118" name="TextBox 117"/>
          <p:cNvSpPr txBox="1"/>
          <p:nvPr/>
        </p:nvSpPr>
        <p:spPr>
          <a:xfrm>
            <a:off x="26292886" y="19315587"/>
            <a:ext cx="1198778"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0.777</a:t>
            </a:r>
          </a:p>
        </p:txBody>
      </p:sp>
      <p:sp>
        <p:nvSpPr>
          <p:cNvPr id="119" name="TextBox 118"/>
          <p:cNvSpPr txBox="1"/>
          <p:nvPr/>
        </p:nvSpPr>
        <p:spPr>
          <a:xfrm>
            <a:off x="27491664" y="19315587"/>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0.223</a:t>
            </a:r>
          </a:p>
        </p:txBody>
      </p:sp>
      <p:sp>
        <p:nvSpPr>
          <p:cNvPr id="120" name="TextBox 119"/>
          <p:cNvSpPr txBox="1"/>
          <p:nvPr/>
        </p:nvSpPr>
        <p:spPr>
          <a:xfrm>
            <a:off x="28790341" y="19315587"/>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0.152</a:t>
            </a:r>
          </a:p>
        </p:txBody>
      </p:sp>
      <p:sp>
        <p:nvSpPr>
          <p:cNvPr id="121" name="TextBox 120"/>
          <p:cNvSpPr txBox="1"/>
          <p:nvPr/>
        </p:nvSpPr>
        <p:spPr>
          <a:xfrm>
            <a:off x="30188916" y="19315587"/>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0.304</a:t>
            </a:r>
          </a:p>
        </p:txBody>
      </p:sp>
      <p:sp>
        <p:nvSpPr>
          <p:cNvPr id="122" name="TextBox 121"/>
          <p:cNvSpPr txBox="1"/>
          <p:nvPr/>
        </p:nvSpPr>
        <p:spPr>
          <a:xfrm>
            <a:off x="31587490" y="19315587"/>
            <a:ext cx="599389"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23" name="TextBox 122"/>
          <p:cNvSpPr txBox="1"/>
          <p:nvPr/>
        </p:nvSpPr>
        <p:spPr>
          <a:xfrm>
            <a:off x="22197060" y="19626483"/>
            <a:ext cx="1698269"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7 B  L3</a:t>
            </a:r>
          </a:p>
        </p:txBody>
      </p:sp>
      <p:sp>
        <p:nvSpPr>
          <p:cNvPr id="124" name="TextBox 123"/>
          <p:cNvSpPr txBox="1"/>
          <p:nvPr/>
        </p:nvSpPr>
        <p:spPr>
          <a:xfrm>
            <a:off x="23895329" y="19626483"/>
            <a:ext cx="239755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 + retrieval</a:t>
            </a:r>
          </a:p>
        </p:txBody>
      </p:sp>
      <p:sp>
        <p:nvSpPr>
          <p:cNvPr id="125" name="TextBox 124"/>
          <p:cNvSpPr txBox="1"/>
          <p:nvPr/>
        </p:nvSpPr>
        <p:spPr>
          <a:xfrm>
            <a:off x="26292886" y="19626483"/>
            <a:ext cx="1198778"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0.823</a:t>
            </a:r>
          </a:p>
        </p:txBody>
      </p:sp>
      <p:sp>
        <p:nvSpPr>
          <p:cNvPr id="126" name="TextBox 125"/>
          <p:cNvSpPr txBox="1"/>
          <p:nvPr/>
        </p:nvSpPr>
        <p:spPr>
          <a:xfrm>
            <a:off x="27491664" y="19626483"/>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0.274</a:t>
            </a:r>
          </a:p>
        </p:txBody>
      </p:sp>
      <p:sp>
        <p:nvSpPr>
          <p:cNvPr id="127" name="TextBox 126"/>
          <p:cNvSpPr txBox="1"/>
          <p:nvPr/>
        </p:nvSpPr>
        <p:spPr>
          <a:xfrm>
            <a:off x="28790341" y="19626483"/>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0.273</a:t>
            </a:r>
          </a:p>
        </p:txBody>
      </p:sp>
      <p:sp>
        <p:nvSpPr>
          <p:cNvPr id="128" name="TextBox 127"/>
          <p:cNvSpPr txBox="1"/>
          <p:nvPr/>
        </p:nvSpPr>
        <p:spPr>
          <a:xfrm>
            <a:off x="30188916" y="19626483"/>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0.195</a:t>
            </a:r>
          </a:p>
        </p:txBody>
      </p:sp>
      <p:sp>
        <p:nvSpPr>
          <p:cNvPr id="129" name="TextBox 128"/>
          <p:cNvSpPr txBox="1"/>
          <p:nvPr/>
        </p:nvSpPr>
        <p:spPr>
          <a:xfrm>
            <a:off x="31587490" y="19626483"/>
            <a:ext cx="599389"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30" name="TextBox 129"/>
          <p:cNvSpPr txBox="1"/>
          <p:nvPr/>
        </p:nvSpPr>
        <p:spPr>
          <a:xfrm>
            <a:off x="22197060" y="19937379"/>
            <a:ext cx="1698269"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14 B  L2</a:t>
            </a:r>
          </a:p>
        </p:txBody>
      </p:sp>
      <p:sp>
        <p:nvSpPr>
          <p:cNvPr id="131" name="TextBox 130"/>
          <p:cNvSpPr txBox="1"/>
          <p:nvPr/>
        </p:nvSpPr>
        <p:spPr>
          <a:xfrm>
            <a:off x="23895329" y="19937379"/>
            <a:ext cx="239755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a:t>
            </a:r>
          </a:p>
        </p:txBody>
      </p:sp>
      <p:sp>
        <p:nvSpPr>
          <p:cNvPr id="132" name="TextBox 131"/>
          <p:cNvSpPr txBox="1"/>
          <p:nvPr/>
        </p:nvSpPr>
        <p:spPr>
          <a:xfrm>
            <a:off x="26292886" y="19937379"/>
            <a:ext cx="1198778"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0.664</a:t>
            </a:r>
          </a:p>
        </p:txBody>
      </p:sp>
      <p:sp>
        <p:nvSpPr>
          <p:cNvPr id="133" name="TextBox 132"/>
          <p:cNvSpPr txBox="1"/>
          <p:nvPr/>
        </p:nvSpPr>
        <p:spPr>
          <a:xfrm>
            <a:off x="27491664" y="19937379"/>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0.602</a:t>
            </a:r>
          </a:p>
        </p:txBody>
      </p:sp>
      <p:sp>
        <p:nvSpPr>
          <p:cNvPr id="134" name="TextBox 133"/>
          <p:cNvSpPr txBox="1"/>
          <p:nvPr/>
        </p:nvSpPr>
        <p:spPr>
          <a:xfrm>
            <a:off x="28790341" y="19937379"/>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0.606</a:t>
            </a:r>
          </a:p>
        </p:txBody>
      </p:sp>
      <p:sp>
        <p:nvSpPr>
          <p:cNvPr id="135" name="TextBox 134"/>
          <p:cNvSpPr txBox="1"/>
          <p:nvPr/>
        </p:nvSpPr>
        <p:spPr>
          <a:xfrm>
            <a:off x="30188916" y="19937379"/>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0.863</a:t>
            </a:r>
          </a:p>
        </p:txBody>
      </p:sp>
      <p:sp>
        <p:nvSpPr>
          <p:cNvPr id="136" name="TextBox 135"/>
          <p:cNvSpPr txBox="1"/>
          <p:nvPr/>
        </p:nvSpPr>
        <p:spPr>
          <a:xfrm>
            <a:off x="31587490" y="19937379"/>
            <a:ext cx="599389"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37" name="TextBox 136"/>
          <p:cNvSpPr txBox="1"/>
          <p:nvPr/>
        </p:nvSpPr>
        <p:spPr>
          <a:xfrm>
            <a:off x="22197060" y="20248275"/>
            <a:ext cx="1698269"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14 B  L3</a:t>
            </a:r>
          </a:p>
        </p:txBody>
      </p:sp>
      <p:sp>
        <p:nvSpPr>
          <p:cNvPr id="138" name="TextBox 137"/>
          <p:cNvSpPr txBox="1"/>
          <p:nvPr/>
        </p:nvSpPr>
        <p:spPr>
          <a:xfrm>
            <a:off x="23895329" y="20248275"/>
            <a:ext cx="239755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 + retrieval</a:t>
            </a:r>
          </a:p>
        </p:txBody>
      </p:sp>
      <p:sp>
        <p:nvSpPr>
          <p:cNvPr id="139" name="TextBox 138"/>
          <p:cNvSpPr txBox="1"/>
          <p:nvPr/>
        </p:nvSpPr>
        <p:spPr>
          <a:xfrm>
            <a:off x="26292886" y="20248275"/>
            <a:ext cx="1198778"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0.675</a:t>
            </a:r>
          </a:p>
        </p:txBody>
      </p:sp>
      <p:sp>
        <p:nvSpPr>
          <p:cNvPr id="140" name="TextBox 139"/>
          <p:cNvSpPr txBox="1"/>
          <p:nvPr/>
        </p:nvSpPr>
        <p:spPr>
          <a:xfrm>
            <a:off x="27491664" y="20248275"/>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0.614</a:t>
            </a:r>
          </a:p>
        </p:txBody>
      </p:sp>
      <p:sp>
        <p:nvSpPr>
          <p:cNvPr id="141" name="TextBox 140"/>
          <p:cNvSpPr txBox="1"/>
          <p:nvPr/>
        </p:nvSpPr>
        <p:spPr>
          <a:xfrm>
            <a:off x="28790341" y="20248275"/>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0.636</a:t>
            </a:r>
          </a:p>
        </p:txBody>
      </p:sp>
      <p:sp>
        <p:nvSpPr>
          <p:cNvPr id="142" name="TextBox 141"/>
          <p:cNvSpPr txBox="1"/>
          <p:nvPr/>
        </p:nvSpPr>
        <p:spPr>
          <a:xfrm>
            <a:off x="30188916" y="20248275"/>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0.820</a:t>
            </a:r>
          </a:p>
        </p:txBody>
      </p:sp>
      <p:sp>
        <p:nvSpPr>
          <p:cNvPr id="143" name="TextBox 142"/>
          <p:cNvSpPr txBox="1"/>
          <p:nvPr/>
        </p:nvSpPr>
        <p:spPr>
          <a:xfrm>
            <a:off x="31587490" y="20248275"/>
            <a:ext cx="599389"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44" name="TextBox 143"/>
          <p:cNvSpPr txBox="1"/>
          <p:nvPr/>
        </p:nvSpPr>
        <p:spPr>
          <a:xfrm>
            <a:off x="22197060" y="20559171"/>
            <a:ext cx="1698269"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27 B  L2</a:t>
            </a:r>
          </a:p>
        </p:txBody>
      </p:sp>
      <p:sp>
        <p:nvSpPr>
          <p:cNvPr id="145" name="TextBox 144"/>
          <p:cNvSpPr txBox="1"/>
          <p:nvPr/>
        </p:nvSpPr>
        <p:spPr>
          <a:xfrm>
            <a:off x="23895329" y="20559171"/>
            <a:ext cx="239755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a:t>
            </a:r>
          </a:p>
        </p:txBody>
      </p:sp>
      <p:sp>
        <p:nvSpPr>
          <p:cNvPr id="146" name="TextBox 145"/>
          <p:cNvSpPr txBox="1"/>
          <p:nvPr/>
        </p:nvSpPr>
        <p:spPr>
          <a:xfrm>
            <a:off x="26292886" y="20559171"/>
            <a:ext cx="1198778"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0.553</a:t>
            </a:r>
          </a:p>
        </p:txBody>
      </p:sp>
      <p:sp>
        <p:nvSpPr>
          <p:cNvPr id="147" name="TextBox 146"/>
          <p:cNvSpPr txBox="1"/>
          <p:nvPr/>
        </p:nvSpPr>
        <p:spPr>
          <a:xfrm>
            <a:off x="27491664" y="20559171"/>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0.518</a:t>
            </a:r>
          </a:p>
        </p:txBody>
      </p:sp>
      <p:sp>
        <p:nvSpPr>
          <p:cNvPr id="148" name="TextBox 147"/>
          <p:cNvSpPr txBox="1"/>
          <p:nvPr/>
        </p:nvSpPr>
        <p:spPr>
          <a:xfrm>
            <a:off x="28790341" y="20559171"/>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0.212</a:t>
            </a:r>
          </a:p>
        </p:txBody>
      </p:sp>
      <p:sp>
        <p:nvSpPr>
          <p:cNvPr id="149" name="TextBox 148"/>
          <p:cNvSpPr txBox="1"/>
          <p:nvPr/>
        </p:nvSpPr>
        <p:spPr>
          <a:xfrm>
            <a:off x="30188916" y="20559171"/>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0.951</a:t>
            </a:r>
          </a:p>
        </p:txBody>
      </p:sp>
      <p:sp>
        <p:nvSpPr>
          <p:cNvPr id="150" name="TextBox 149"/>
          <p:cNvSpPr txBox="1"/>
          <p:nvPr/>
        </p:nvSpPr>
        <p:spPr>
          <a:xfrm>
            <a:off x="31587490" y="20559171"/>
            <a:ext cx="599389"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51" name="TextBox 150"/>
          <p:cNvSpPr txBox="1"/>
          <p:nvPr/>
        </p:nvSpPr>
        <p:spPr>
          <a:xfrm>
            <a:off x="22197060" y="20870067"/>
            <a:ext cx="1698269"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27 B  L3</a:t>
            </a:r>
          </a:p>
        </p:txBody>
      </p:sp>
      <p:sp>
        <p:nvSpPr>
          <p:cNvPr id="152" name="TextBox 151"/>
          <p:cNvSpPr txBox="1"/>
          <p:nvPr/>
        </p:nvSpPr>
        <p:spPr>
          <a:xfrm>
            <a:off x="23895329" y="20870067"/>
            <a:ext cx="239755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 + retrieval</a:t>
            </a:r>
          </a:p>
        </p:txBody>
      </p:sp>
      <p:sp>
        <p:nvSpPr>
          <p:cNvPr id="153" name="TextBox 152"/>
          <p:cNvSpPr txBox="1"/>
          <p:nvPr/>
        </p:nvSpPr>
        <p:spPr>
          <a:xfrm>
            <a:off x="26292886" y="20870067"/>
            <a:ext cx="1198778"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0.702</a:t>
            </a:r>
          </a:p>
        </p:txBody>
      </p:sp>
      <p:sp>
        <p:nvSpPr>
          <p:cNvPr id="154" name="TextBox 153"/>
          <p:cNvSpPr txBox="1"/>
          <p:nvPr/>
        </p:nvSpPr>
        <p:spPr>
          <a:xfrm>
            <a:off x="27491664" y="20870067"/>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0.702</a:t>
            </a:r>
          </a:p>
        </p:txBody>
      </p:sp>
      <p:sp>
        <p:nvSpPr>
          <p:cNvPr id="155" name="TextBox 154"/>
          <p:cNvSpPr txBox="1"/>
          <p:nvPr/>
        </p:nvSpPr>
        <p:spPr>
          <a:xfrm>
            <a:off x="28790341" y="20870067"/>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0.242</a:t>
            </a:r>
          </a:p>
        </p:txBody>
      </p:sp>
      <p:sp>
        <p:nvSpPr>
          <p:cNvPr id="156" name="TextBox 155"/>
          <p:cNvSpPr txBox="1"/>
          <p:nvPr/>
        </p:nvSpPr>
        <p:spPr>
          <a:xfrm>
            <a:off x="30188916" y="20870067"/>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0.968</a:t>
            </a:r>
          </a:p>
        </p:txBody>
      </p:sp>
      <p:sp>
        <p:nvSpPr>
          <p:cNvPr id="157" name="TextBox 156"/>
          <p:cNvSpPr txBox="1"/>
          <p:nvPr/>
        </p:nvSpPr>
        <p:spPr>
          <a:xfrm>
            <a:off x="31587490" y="20870067"/>
            <a:ext cx="599389"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92</a:t>
            </a:r>
          </a:p>
        </p:txBody>
      </p:sp>
      <p:sp>
        <p:nvSpPr>
          <p:cNvPr id="158" name="TextBox 157"/>
          <p:cNvSpPr txBox="1"/>
          <p:nvPr/>
        </p:nvSpPr>
        <p:spPr>
          <a:xfrm>
            <a:off x="22197060" y="21180963"/>
            <a:ext cx="1698269"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30 B  L2</a:t>
            </a:r>
          </a:p>
        </p:txBody>
      </p:sp>
      <p:sp>
        <p:nvSpPr>
          <p:cNvPr id="159" name="TextBox 158"/>
          <p:cNvSpPr txBox="1"/>
          <p:nvPr/>
        </p:nvSpPr>
        <p:spPr>
          <a:xfrm>
            <a:off x="23895329" y="21180963"/>
            <a:ext cx="239755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a:t>
            </a:r>
          </a:p>
        </p:txBody>
      </p:sp>
      <p:sp>
        <p:nvSpPr>
          <p:cNvPr id="160" name="TextBox 159"/>
          <p:cNvSpPr txBox="1"/>
          <p:nvPr/>
        </p:nvSpPr>
        <p:spPr>
          <a:xfrm>
            <a:off x="26292886" y="21180963"/>
            <a:ext cx="1198778"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0.821</a:t>
            </a:r>
          </a:p>
        </p:txBody>
      </p:sp>
      <p:sp>
        <p:nvSpPr>
          <p:cNvPr id="161" name="TextBox 160"/>
          <p:cNvSpPr txBox="1"/>
          <p:nvPr/>
        </p:nvSpPr>
        <p:spPr>
          <a:xfrm>
            <a:off x="27491664" y="21180963"/>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0.769</a:t>
            </a:r>
          </a:p>
        </p:txBody>
      </p:sp>
      <p:sp>
        <p:nvSpPr>
          <p:cNvPr id="162" name="TextBox 161"/>
          <p:cNvSpPr txBox="1"/>
          <p:nvPr/>
        </p:nvSpPr>
        <p:spPr>
          <a:xfrm>
            <a:off x="28790341" y="21180963"/>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0.200</a:t>
            </a:r>
          </a:p>
        </p:txBody>
      </p:sp>
      <p:sp>
        <p:nvSpPr>
          <p:cNvPr id="163" name="TextBox 162"/>
          <p:cNvSpPr txBox="1"/>
          <p:nvPr/>
        </p:nvSpPr>
        <p:spPr>
          <a:xfrm>
            <a:off x="30188916" y="21180963"/>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0.836</a:t>
            </a:r>
          </a:p>
        </p:txBody>
      </p:sp>
      <p:sp>
        <p:nvSpPr>
          <p:cNvPr id="164" name="TextBox 163"/>
          <p:cNvSpPr txBox="1"/>
          <p:nvPr/>
        </p:nvSpPr>
        <p:spPr>
          <a:xfrm>
            <a:off x="31587490" y="21180963"/>
            <a:ext cx="599389"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78</a:t>
            </a:r>
          </a:p>
        </p:txBody>
      </p:sp>
      <p:sp>
        <p:nvSpPr>
          <p:cNvPr id="165" name="Rectangle 164"/>
          <p:cNvSpPr/>
          <p:nvPr/>
        </p:nvSpPr>
        <p:spPr>
          <a:xfrm>
            <a:off x="22197060" y="21510147"/>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22197060" y="21711315"/>
            <a:ext cx="9989819"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The watchdog the pipeline ran never produced a decidable verdict on any of the 149 cases: “no signal fired” is not a judgement. Above it, recall does not order the reviewers by size — the 7 B has the highest on the page — but grounded recall and citation validity do, and they do it steeply: 0.55 of the 7 B's detections quote a line that does not resolve, against 0.00 for the 27 B. The size class the campaign's own reviewer ran on for a week would have passed on recall alone. The retrieval tier is worth +0.149 to the 27 B and +0.012 to the 14 B, so it pays where the model can use it and not otherwise.</a:t>
            </a:r>
          </a:p>
        </p:txBody>
      </p:sp>
      <p:sp>
        <p:nvSpPr>
          <p:cNvPr id="167" name="TextBox 166"/>
          <p:cNvSpPr txBox="1"/>
          <p:nvPr/>
        </p:nvSpPr>
        <p:spPr>
          <a:xfrm>
            <a:off x="22197060" y="22861554"/>
            <a:ext cx="9989819"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What inference-time compute can buy</a:t>
            </a:r>
          </a:p>
        </p:txBody>
      </p:sp>
      <p:pic>
        <p:nvPicPr>
          <p:cNvPr id="168" name="Picture 167" descr="r_tta.png"/>
          <p:cNvPicPr>
            <a:picLocks noChangeAspect="1"/>
          </p:cNvPicPr>
          <p:nvPr/>
        </p:nvPicPr>
        <p:blipFill>
          <a:blip r:embed="rId10"/>
          <a:stretch>
            <a:fillRect/>
          </a:stretch>
        </p:blipFill>
        <p:spPr>
          <a:xfrm>
            <a:off x="22197060" y="23172450"/>
            <a:ext cx="9989819" cy="2652164"/>
          </a:xfrm>
          <a:prstGeom prst="rect">
            <a:avLst/>
          </a:prstGeom>
        </p:spPr>
      </p:pic>
      <p:sp>
        <p:nvSpPr>
          <p:cNvPr id="169" name="TextBox 168"/>
          <p:cNvSpPr txBox="1"/>
          <p:nvPr/>
        </p:nvSpPr>
        <p:spPr>
          <a:xfrm>
            <a:off x="22197060" y="25916054"/>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9.  Test-time compute on the deployable checkpoint. Fusion with no extra views is nothing; multi-scale with h-flip and a 3-seed ensemble are each worth about +0.017 and stack to +0.028. At 2.44 s per image against the deployed 3.7 ms this is a ceiling on what inference-time compute can buy, not a deployment option -- and it is still smaller than the +0.0714 that initialisation is worth.</a:t>
            </a:r>
          </a:p>
        </p:txBody>
      </p:sp>
      <p:sp>
        <p:nvSpPr>
          <p:cNvPr id="170" name="TextBox 169"/>
          <p:cNvSpPr txBox="1"/>
          <p:nvPr/>
        </p:nvSpPr>
        <p:spPr>
          <a:xfrm>
            <a:off x="11704320" y="27013334"/>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Why the loop looked like it was learning</a:t>
            </a:r>
          </a:p>
        </p:txBody>
      </p:sp>
      <p:pic>
        <p:nvPicPr>
          <p:cNvPr id="171" name="Picture 170" descr="f_rounds.png"/>
          <p:cNvPicPr>
            <a:picLocks noChangeAspect="1"/>
          </p:cNvPicPr>
          <p:nvPr/>
        </p:nvPicPr>
        <p:blipFill>
          <a:blip r:embed="rId11"/>
          <a:stretch>
            <a:fillRect/>
          </a:stretch>
        </p:blipFill>
        <p:spPr>
          <a:xfrm>
            <a:off x="11704320" y="27324230"/>
            <a:ext cx="20482560" cy="3657600"/>
          </a:xfrm>
          <a:prstGeom prst="rect">
            <a:avLst/>
          </a:prstGeom>
        </p:spPr>
      </p:pic>
      <p:sp>
        <p:nvSpPr>
          <p:cNvPr id="172" name="TextBox 171"/>
          <p:cNvSpPr txBox="1"/>
          <p:nvPr/>
        </p:nvSpPr>
        <p:spPr>
          <a:xfrm>
            <a:off x="11704320" y="31073270"/>
            <a:ext cx="2048256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10.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173" name="TextBox 172"/>
          <p:cNvSpPr txBox="1"/>
          <p:nvPr/>
        </p:nvSpPr>
        <p:spPr>
          <a:xfrm>
            <a:off x="32552640" y="4846320"/>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GENERALISATION</a:t>
            </a:r>
          </a:p>
        </p:txBody>
      </p:sp>
      <p:sp>
        <p:nvSpPr>
          <p:cNvPr id="174" name="Rectangle 173"/>
          <p:cNvSpPr/>
          <p:nvPr/>
        </p:nvSpPr>
        <p:spPr>
          <a:xfrm>
            <a:off x="32552640" y="5321808"/>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 name="Picture 174" descr="d_wall.png"/>
          <p:cNvPicPr>
            <a:picLocks noChangeAspect="1"/>
          </p:cNvPicPr>
          <p:nvPr/>
        </p:nvPicPr>
        <p:blipFill>
          <a:blip r:embed="rId12"/>
          <a:stretch>
            <a:fillRect/>
          </a:stretch>
        </p:blipFill>
        <p:spPr>
          <a:xfrm>
            <a:off x="32552640" y="5577840"/>
            <a:ext cx="10607040" cy="3840480"/>
          </a:xfrm>
          <a:prstGeom prst="rect">
            <a:avLst/>
          </a:prstGeom>
        </p:spPr>
      </p:pic>
      <p:sp>
        <p:nvSpPr>
          <p:cNvPr id="176" name="TextBox 175"/>
          <p:cNvSpPr txBox="1"/>
          <p:nvPr/>
        </p:nvSpPr>
        <p:spPr>
          <a:xfrm>
            <a:off x="32552640" y="9509760"/>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11.  The same three checkpoints and the same matcher on both sides, so the evaluator offset cancels. A detector trained on one field does not transfer to another.</a:t>
            </a:r>
          </a:p>
        </p:txBody>
      </p:sp>
      <p:pic>
        <p:nvPicPr>
          <p:cNvPr id="177" name="Picture 176" descr="p_field.png"/>
          <p:cNvPicPr>
            <a:picLocks noChangeAspect="1"/>
          </p:cNvPicPr>
          <p:nvPr/>
        </p:nvPicPr>
        <p:blipFill>
          <a:blip r:embed="rId13"/>
          <a:stretch>
            <a:fillRect/>
          </a:stretch>
        </p:blipFill>
        <p:spPr>
          <a:xfrm>
            <a:off x="32552640" y="10149840"/>
            <a:ext cx="10607040" cy="2743200"/>
          </a:xfrm>
          <a:prstGeom prst="rect">
            <a:avLst/>
          </a:prstGeom>
        </p:spPr>
      </p:pic>
      <p:sp>
        <p:nvSpPr>
          <p:cNvPr id="178" name="TextBox 177"/>
          <p:cNvSpPr txBox="1"/>
          <p:nvPr/>
        </p:nvSpPr>
        <p:spPr>
          <a:xfrm>
            <a:off x="32552640" y="12984480"/>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12.  The deployable checkpoint over every frame the two robots recorded, at the confidence the cart deploys at. There is no ground truth for these frames, so this is the rate at which the detector produces a box at all -- not recall and not precision. Vegetation is excess green over a thumbnail, so "nothing to detect" does not account for it: 1157 frames clear that bar and 21 of them draw a box. 24 of the 25 boxes it does draw are the same class.</a:t>
            </a:r>
          </a:p>
        </p:txBody>
      </p:sp>
      <p:pic>
        <p:nvPicPr>
          <p:cNvPr id="179" name="Picture 178" descr="j_species.png"/>
          <p:cNvPicPr>
            <a:picLocks noChangeAspect="1"/>
          </p:cNvPicPr>
          <p:nvPr/>
        </p:nvPicPr>
        <p:blipFill>
          <a:blip r:embed="rId14"/>
          <a:stretch>
            <a:fillRect/>
          </a:stretch>
        </p:blipFill>
        <p:spPr>
          <a:xfrm>
            <a:off x="32552640" y="13990320"/>
            <a:ext cx="10607040" cy="4754880"/>
          </a:xfrm>
          <a:prstGeom prst="rect">
            <a:avLst/>
          </a:prstGeom>
        </p:spPr>
      </p:pic>
      <p:sp>
        <p:nvSpPr>
          <p:cNvPr id="180" name="TextBox 179"/>
          <p:cNvSpPr txBox="1"/>
          <p:nvPr/>
        </p:nvSpPr>
        <p:spPr>
          <a:xfrm>
            <a:off x="32552640" y="18836640"/>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13.  Per-species performance of the deployable checkpoint. The spread across the twelve classes is 0.214, roughly seventy times the seed noise.</a:t>
            </a:r>
          </a:p>
        </p:txBody>
      </p:sp>
      <p:sp>
        <p:nvSpPr>
          <p:cNvPr id="181" name="TextBox 180"/>
          <p:cNvSpPr txBox="1"/>
          <p:nvPr/>
        </p:nvSpPr>
        <p:spPr>
          <a:xfrm>
            <a:off x="32552640" y="19522440"/>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CONCLUSIONS</a:t>
            </a:r>
          </a:p>
        </p:txBody>
      </p:sp>
      <p:sp>
        <p:nvSpPr>
          <p:cNvPr id="182" name="Rectangle 181"/>
          <p:cNvSpPr/>
          <p:nvPr/>
        </p:nvSpPr>
        <p:spPr>
          <a:xfrm>
            <a:off x="32552640" y="19997928"/>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32552640" y="20253960"/>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1.   Initialisation beats architecture beats data. Pretraining is worth +0.0714, architecture at equal initialisation +0.0225, and forty thousand harvested web images −0.020. The data-collection lever the system was built around is the weakest of the three.</a:t>
            </a:r>
          </a:p>
        </p:txBody>
      </p:sp>
      <p:sp>
        <p:nvSpPr>
          <p:cNvPr id="184" name="TextBox 183"/>
          <p:cNvSpPr txBox="1"/>
          <p:nvPr/>
        </p:nvSpPr>
        <p:spPr>
          <a:xfrm>
            <a:off x="32552640" y="20959826"/>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2.   The detector does not travel. 0.873 in-domain becomes 0.100 on another weed dataset, class-agnostic, with the same matcher on both sides.</a:t>
            </a:r>
          </a:p>
        </p:txBody>
      </p:sp>
      <p:sp>
        <p:nvSpPr>
          <p:cNvPr id="185" name="TextBox 184"/>
          <p:cNvSpPr txBox="1"/>
          <p:nvPr/>
        </p:nvSpPr>
        <p:spPr>
          <a:xfrm>
            <a:off x="32552640" y="21464270"/>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3.   Web harvest supplies volume, not supervision: one of six audited sources clears a 0.90 label-precision bar, and 44,750 of 156,521 images are cross-dataset duplicates.</a:t>
            </a:r>
          </a:p>
        </p:txBody>
      </p:sp>
      <p:sp>
        <p:nvSpPr>
          <p:cNvPr id="186" name="TextBox 185"/>
          <p:cNvSpPr txBox="1"/>
          <p:nvPr/>
        </p:nvSpPr>
        <p:spPr>
          <a:xfrm>
            <a:off x="32552640" y="21968714"/>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4.   Retrospective supervision needs the artifacts, not the status fields. The watchdog reading status fields returned no decidable verdict on any of 149 cases, while a model reading the raw artifacts reaches 0.70 recall over the 116 incidents; adding a retrieval tier over those same artifacts is worth another +0.149 to the 27B and +0.012 to the 14B.</a:t>
            </a:r>
          </a:p>
        </p:txBody>
      </p:sp>
      <p:sp>
        <p:nvSpPr>
          <p:cNvPr id="187" name="TextBox 186"/>
          <p:cNvSpPr txBox="1"/>
          <p:nvPr/>
        </p:nvSpPr>
        <p:spPr>
          <a:xfrm>
            <a:off x="32552640" y="22674580"/>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5.   An unattended loop can report success for eight consecutive rounds while collecting nothing. Absence of a failure signal is not evidence of success.</a:t>
            </a:r>
          </a:p>
        </p:txBody>
      </p:sp>
      <p:sp>
        <p:nvSpPr>
          <p:cNvPr id="188" name="TextBox 187"/>
          <p:cNvSpPr txBox="1"/>
          <p:nvPr/>
        </p:nvSpPr>
        <p:spPr>
          <a:xfrm>
            <a:off x="32552640" y="23179024"/>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6.   The gap shows up on our own video too. Over all 2,686 frames the two robots recorded, 1,157 of them more than a third vegetation, the deployable checkpoint draws a box on 25 frames at the deployment threshold and 8 at conf 0.40 — and 24 of those 25 boxes are the same class. These frames carry no ground truth, so that is a fire rate and not a recall.</a:t>
            </a:r>
          </a:p>
        </p:txBody>
      </p:sp>
      <p:sp>
        <p:nvSpPr>
          <p:cNvPr id="189" name="TextBox 188"/>
          <p:cNvSpPr txBox="1"/>
          <p:nvPr/>
        </p:nvSpPr>
        <p:spPr>
          <a:xfrm>
            <a:off x="32552640" y="23976330"/>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LIMITATIONS</a:t>
            </a:r>
          </a:p>
        </p:txBody>
      </p:sp>
      <p:sp>
        <p:nvSpPr>
          <p:cNvPr id="190" name="Rectangle 189"/>
          <p:cNvSpPr/>
          <p:nvPr/>
        </p:nvSpPr>
        <p:spPr>
          <a:xfrm>
            <a:off x="32552640" y="24451818"/>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32552640" y="24707850"/>
            <a:ext cx="10607040"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The evaluation set doubles as the validation set, so every number is a maximum over many evaluations on the reported set; the optimism is measured but not removed. The +40,000 rung and the fresh-start control are single runs with seed repeats in flight. One supervision arm is 78 of 149 cases. The incident corpus was labelled from this project's own record by the same system that wrote the reviewer prompt, and its held-out split is 13 cases — too small to separate methods. None of the 2,686 robot frames is labelled, and the laser cart carries no GPS or IMU, so the sensor-fusion result is robot 241 only.</a:t>
            </a:r>
          </a:p>
        </p:txBody>
      </p:sp>
      <p:sp>
        <p:nvSpPr>
          <p:cNvPr id="192" name="TextBox 191"/>
          <p:cNvSpPr txBox="1"/>
          <p:nvPr/>
        </p:nvSpPr>
        <p:spPr>
          <a:xfrm>
            <a:off x="32552640" y="25876377"/>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REPRODUCIBILITY</a:t>
            </a:r>
          </a:p>
        </p:txBody>
      </p:sp>
      <p:sp>
        <p:nvSpPr>
          <p:cNvPr id="193" name="Rectangle 192"/>
          <p:cNvSpPr/>
          <p:nvPr/>
        </p:nvSpPr>
        <p:spPr>
          <a:xfrm>
            <a:off x="32552640" y="26351865"/>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TextBox 193"/>
          <p:cNvSpPr txBox="1"/>
          <p:nvPr/>
        </p:nvSpPr>
        <p:spPr>
          <a:xfrm>
            <a:off x="32552640" y="26607897"/>
            <a:ext cx="10607040"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Every figure on this poster is regenerated from checked-in artifacts by one command, and every number names the results file it was read from. Numbers that must never be quoted without their caveat are listed in the project's results ledger alongside the reason.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