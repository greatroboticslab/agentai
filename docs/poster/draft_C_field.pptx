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FFFFFF"/>
                </a:solidFill>
                <a:latin typeface="Arial"/>
              </a:rPr>
              <a:t>Robot-Collected Field Data and Agent-Run Training for Laser Weeding</a:t>
            </a:r>
          </a:p>
        </p:txBody>
      </p:sp>
      <p:sp>
        <p:nvSpPr>
          <p:cNvPr id="5" name="TextBox 4"/>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6" name="TextBox 5"/>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2CEDA"/>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Two ground vehicles drive our own cotton plots and a pair of agents turn what they record into trained models. This is what the machines saw, what the agents did with it, and where the path breaks.</a:t>
            </a:r>
          </a:p>
        </p:txBody>
      </p:sp>
      <p:pic>
        <p:nvPicPr>
          <p:cNvPr id="8" name="Picture 7" descr="w_robots.png"/>
          <p:cNvPicPr>
            <a:picLocks noChangeAspect="1"/>
          </p:cNvPicPr>
          <p:nvPr/>
        </p:nvPicPr>
        <p:blipFill>
          <a:blip r:embed="rId2"/>
          <a:stretch>
            <a:fillRect/>
          </a:stretch>
        </p:blipFill>
        <p:spPr>
          <a:xfrm>
            <a:off x="731520" y="5623560"/>
            <a:ext cx="42428160" cy="4023360"/>
          </a:xfrm>
          <a:prstGeom prst="rect">
            <a:avLst/>
          </a:prstGeom>
        </p:spPr>
      </p:pic>
      <p:sp>
        <p:nvSpPr>
          <p:cNvPr id="9" name="TextBox 8"/>
          <p:cNvSpPr txBox="1"/>
          <p:nvPr/>
        </p:nvSpPr>
        <p:spPr>
          <a:xfrm>
            <a:off x="731520" y="9756648"/>
            <a:ext cx="424281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581640"/>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2,686</a:t>
            </a:r>
          </a:p>
        </p:txBody>
      </p:sp>
      <p:sp>
        <p:nvSpPr>
          <p:cNvPr id="12" name="TextBox 11"/>
          <p:cNvSpPr txBox="1"/>
          <p:nvPr/>
        </p:nvSpPr>
        <p:spPr>
          <a:xfrm>
            <a:off x="731520"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camera frames</a:t>
            </a:r>
          </a:p>
        </p:txBody>
      </p:sp>
      <p:sp>
        <p:nvSpPr>
          <p:cNvPr id="13" name="TextBox 12"/>
          <p:cNvSpPr txBox="1"/>
          <p:nvPr/>
        </p:nvSpPr>
        <p:spPr>
          <a:xfrm>
            <a:off x="731520"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26 drives, 2 robots</a:t>
            </a:r>
          </a:p>
        </p:txBody>
      </p:sp>
      <p:sp>
        <p:nvSpPr>
          <p:cNvPr id="14" name="TextBox 13"/>
          <p:cNvSpPr txBox="1"/>
          <p:nvPr/>
        </p:nvSpPr>
        <p:spPr>
          <a:xfrm>
            <a:off x="9317736"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91,955</a:t>
            </a:r>
          </a:p>
        </p:txBody>
      </p:sp>
      <p:sp>
        <p:nvSpPr>
          <p:cNvPr id="15" name="TextBox 14"/>
          <p:cNvSpPr txBox="1"/>
          <p:nvPr/>
        </p:nvSpPr>
        <p:spPr>
          <a:xfrm>
            <a:off x="9317736"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telemetry rows</a:t>
            </a:r>
          </a:p>
        </p:txBody>
      </p:sp>
      <p:sp>
        <p:nvSpPr>
          <p:cNvPr id="16" name="TextBox 15"/>
          <p:cNvSpPr txBox="1"/>
          <p:nvPr/>
        </p:nvSpPr>
        <p:spPr>
          <a:xfrm>
            <a:off x="9317736"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nine streams, counted line by line</a:t>
            </a:r>
          </a:p>
        </p:txBody>
      </p:sp>
      <p:sp>
        <p:nvSpPr>
          <p:cNvPr id="17" name="TextBox 16"/>
          <p:cNvSpPr txBox="1"/>
          <p:nvPr/>
        </p:nvSpPr>
        <p:spPr>
          <a:xfrm>
            <a:off x="17903952"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342 m</a:t>
            </a:r>
          </a:p>
        </p:txBody>
      </p:sp>
      <p:sp>
        <p:nvSpPr>
          <p:cNvPr id="18" name="TextBox 17"/>
          <p:cNvSpPr txBox="1"/>
          <p:nvPr/>
        </p:nvSpPr>
        <p:spPr>
          <a:xfrm>
            <a:off x="17903952"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of GPS track</a:t>
            </a:r>
          </a:p>
        </p:txBody>
      </p:sp>
      <p:sp>
        <p:nvSpPr>
          <p:cNvPr id="19" name="TextBox 18"/>
          <p:cNvSpPr txBox="1"/>
          <p:nvPr/>
        </p:nvSpPr>
        <p:spPr>
          <a:xfrm>
            <a:off x="17903952"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1,502 fixes over 18 drives</a:t>
            </a:r>
          </a:p>
        </p:txBody>
      </p:sp>
      <p:sp>
        <p:nvSpPr>
          <p:cNvPr id="20" name="TextBox 19"/>
          <p:cNvSpPr txBox="1"/>
          <p:nvPr/>
        </p:nvSpPr>
        <p:spPr>
          <a:xfrm>
            <a:off x="26490168"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75</a:t>
            </a:r>
          </a:p>
        </p:txBody>
      </p:sp>
      <p:sp>
        <p:nvSpPr>
          <p:cNvPr id="21" name="TextBox 20"/>
          <p:cNvSpPr txBox="1"/>
          <p:nvPr/>
        </p:nvSpPr>
        <p:spPr>
          <a:xfrm>
            <a:off x="26490168"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cart frames in a field</a:t>
            </a:r>
          </a:p>
        </p:txBody>
      </p:sp>
      <p:sp>
        <p:nvSpPr>
          <p:cNvPr id="22" name="TextBox 21"/>
          <p:cNvSpPr txBox="1"/>
          <p:nvPr/>
        </p:nvSpPr>
        <p:spPr>
          <a:xfrm>
            <a:off x="26490168"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of 427 the cart has recorded</a:t>
            </a:r>
          </a:p>
        </p:txBody>
      </p:sp>
      <p:sp>
        <p:nvSpPr>
          <p:cNvPr id="23" name="TextBox 22"/>
          <p:cNvSpPr txBox="1"/>
          <p:nvPr/>
        </p:nvSpPr>
        <p:spPr>
          <a:xfrm>
            <a:off x="35076384"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0</a:t>
            </a:r>
          </a:p>
        </p:txBody>
      </p:sp>
      <p:sp>
        <p:nvSpPr>
          <p:cNvPr id="24" name="TextBox 23"/>
          <p:cNvSpPr txBox="1"/>
          <p:nvPr/>
        </p:nvSpPr>
        <p:spPr>
          <a:xfrm>
            <a:off x="35076384"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of them labelled</a:t>
            </a:r>
          </a:p>
        </p:txBody>
      </p:sp>
      <p:sp>
        <p:nvSpPr>
          <p:cNvPr id="25" name="TextBox 24"/>
          <p:cNvSpPr txBox="1"/>
          <p:nvPr/>
        </p:nvSpPr>
        <p:spPr>
          <a:xfrm>
            <a:off x="35076384"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the whole archive, so far</a:t>
            </a:r>
          </a:p>
        </p:txBody>
      </p:sp>
      <p:sp>
        <p:nvSpPr>
          <p:cNvPr id="26" name="Rectangle 25"/>
          <p:cNvSpPr/>
          <p:nvPr/>
        </p:nvSpPr>
        <p:spPr>
          <a:xfrm>
            <a:off x="731520" y="12164568"/>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512039"/>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How a drive becomes a dataset</a:t>
            </a:r>
          </a:p>
        </p:txBody>
      </p:sp>
      <p:sp>
        <p:nvSpPr>
          <p:cNvPr id="28" name="Rectangle 27"/>
          <p:cNvSpPr/>
          <p:nvPr/>
        </p:nvSpPr>
        <p:spPr>
          <a:xfrm>
            <a:off x="731520" y="13078967"/>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408151"/>
            <a:ext cx="10607040" cy="365760"/>
          </a:xfrm>
          <a:prstGeom prst="rect">
            <a:avLst/>
          </a:prstGeom>
          <a:noFill/>
        </p:spPr>
        <p:txBody>
          <a:bodyPr wrap="square" lIns="0" rIns="0" tIns="0" bIns="0">
            <a:spAutoFit/>
          </a:bodyPr>
          <a:lstStyle/>
          <a:p>
            <a:pPr algn="l">
              <a:lnSpc>
                <a:spcPct val="122000"/>
              </a:lnSpc>
              <a:spcAft>
                <a:spcPts val="2200"/>
              </a:spcAft>
            </a:pPr>
            <a:r>
              <a:rPr sz="2000" b="0">
                <a:solidFill>
                  <a:srgbClr val="1E293B"/>
                </a:solidFill>
                <a:latin typeface="Arial"/>
              </a:rPr>
              <a:t>A vehicle opens a session, the platform registers it as a governed dataset, and frames and sensor batches arrive over one API key while the vehicle is still driving. Robot 241 sends camera, GPS and two IMUs. The laser cart sends camera, laser state, vehicle telemetry and its own detections, and no position at all.</a:t>
            </a:r>
          </a:p>
        </p:txBody>
      </p:sp>
      <p:sp>
        <p:nvSpPr>
          <p:cNvPr id="30" name="TextBox 29"/>
          <p:cNvSpPr txBox="1"/>
          <p:nvPr/>
        </p:nvSpPr>
        <p:spPr>
          <a:xfrm>
            <a:off x="731520" y="14927071"/>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213 seconds in one crop plot</a:t>
            </a:r>
          </a:p>
        </p:txBody>
      </p:sp>
      <p:pic>
        <p:nvPicPr>
          <p:cNvPr id="31" name="Picture 30" descr="h_drive.png"/>
          <p:cNvPicPr>
            <a:picLocks noChangeAspect="1"/>
          </p:cNvPicPr>
          <p:nvPr/>
        </p:nvPicPr>
        <p:blipFill>
          <a:blip r:embed="rId3"/>
          <a:stretch>
            <a:fillRect/>
          </a:stretch>
        </p:blipFill>
        <p:spPr>
          <a:xfrm>
            <a:off x="731520" y="15347695"/>
            <a:ext cx="10607040" cy="4023360"/>
          </a:xfrm>
          <a:prstGeom prst="rect">
            <a:avLst/>
          </a:prstGeom>
        </p:spPr>
      </p:pic>
      <p:sp>
        <p:nvSpPr>
          <p:cNvPr id="32" name="TextBox 31"/>
          <p:cNvSpPr txBox="1"/>
          <p:nvPr/>
        </p:nvSpPr>
        <p:spPr>
          <a:xfrm>
            <a:off x="731520" y="19480784"/>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2.  Robot 241, 2026-08-29: one 213 s pass through a crop plot. (h) GPS track from the board fix. (i) IMU heading over the same pass.</a:t>
            </a:r>
          </a:p>
        </p:txBody>
      </p:sp>
      <p:sp>
        <p:nvSpPr>
          <p:cNvPr id="33" name="TextBox 32"/>
          <p:cNvSpPr txBox="1"/>
          <p:nvPr/>
        </p:nvSpPr>
        <p:spPr>
          <a:xfrm>
            <a:off x="11704320" y="12512039"/>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the agents do with it</a:t>
            </a:r>
          </a:p>
        </p:txBody>
      </p:sp>
      <p:sp>
        <p:nvSpPr>
          <p:cNvPr id="34" name="Rectangle 33"/>
          <p:cNvSpPr/>
          <p:nvPr/>
        </p:nvSpPr>
        <p:spPr>
          <a:xfrm>
            <a:off x="11704320" y="13078967"/>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n_system.png"/>
          <p:cNvPicPr>
            <a:picLocks noChangeAspect="1"/>
          </p:cNvPicPr>
          <p:nvPr/>
        </p:nvPicPr>
        <p:blipFill>
          <a:blip r:embed="rId4"/>
          <a:stretch>
            <a:fillRect/>
          </a:stretch>
        </p:blipFill>
        <p:spPr>
          <a:xfrm>
            <a:off x="11704320" y="13408151"/>
            <a:ext cx="20482560" cy="3383280"/>
          </a:xfrm>
          <a:prstGeom prst="rect">
            <a:avLst/>
          </a:prstGeom>
        </p:spPr>
      </p:pic>
      <p:sp>
        <p:nvSpPr>
          <p:cNvPr id="36" name="TextBox 35"/>
          <p:cNvSpPr txBox="1"/>
          <p:nvPr/>
        </p:nvSpPr>
        <p:spPr>
          <a:xfrm>
            <a:off x="11704320" y="16901160"/>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The path from a camera in a crop row to a checkpoint on the cluster. Every stage is built and has run. Two are not running today: the collector and trainer are paused after a stop-loss on 2026-08-29, and the supervisor is advisory, so nothing it says is applied to the loop.</a:t>
            </a:r>
          </a:p>
        </p:txBody>
      </p:sp>
      <p:sp>
        <p:nvSpPr>
          <p:cNvPr id="37" name="TextBox 36"/>
          <p:cNvSpPr txBox="1"/>
          <p:nvPr/>
        </p:nvSpPr>
        <p:spPr>
          <a:xfrm>
            <a:off x="11704320" y="17691608"/>
            <a:ext cx="2048256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We let it run itself for fifteen rounds</a:t>
            </a:r>
          </a:p>
        </p:txBody>
      </p:sp>
      <p:pic>
        <p:nvPicPr>
          <p:cNvPr id="38" name="Picture 37" descr="f_rounds.png"/>
          <p:cNvPicPr>
            <a:picLocks noChangeAspect="1"/>
          </p:cNvPicPr>
          <p:nvPr/>
        </p:nvPicPr>
        <p:blipFill>
          <a:blip r:embed="rId5"/>
          <a:stretch>
            <a:fillRect/>
          </a:stretch>
        </p:blipFill>
        <p:spPr>
          <a:xfrm>
            <a:off x="11704320" y="18112232"/>
            <a:ext cx="20482560" cy="4663440"/>
          </a:xfrm>
          <a:prstGeom prst="rect">
            <a:avLst/>
          </a:prstGeom>
        </p:spPr>
      </p:pic>
      <p:sp>
        <p:nvSpPr>
          <p:cNvPr id="39" name="TextBox 38"/>
          <p:cNvSpPr txBox="1"/>
          <p:nvPr/>
        </p:nvSpPr>
        <p:spPr>
          <a:xfrm>
            <a:off x="11704320" y="22885400"/>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0" name="TextBox 39"/>
          <p:cNvSpPr txBox="1"/>
          <p:nvPr/>
        </p:nvSpPr>
        <p:spPr>
          <a:xfrm>
            <a:off x="11704320" y="23915624"/>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Every round reported success and accuracy fell the whole time. The corpus stopped growing at round three and eight rounds collected nothing. What was left was the chain: starting fresh instead of from the previous round's weights is worth +0.0287, 5.1 times this recipe's own seed spread.</a:t>
            </a:r>
          </a:p>
        </p:txBody>
      </p:sp>
      <p:sp>
        <p:nvSpPr>
          <p:cNvPr id="41" name="TextBox 40"/>
          <p:cNvSpPr txBox="1"/>
          <p:nvPr/>
        </p:nvSpPr>
        <p:spPr>
          <a:xfrm>
            <a:off x="32552640" y="12512039"/>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Then we pointed it back at our own rows</a:t>
            </a:r>
          </a:p>
        </p:txBody>
      </p:sp>
      <p:sp>
        <p:nvSpPr>
          <p:cNvPr id="42" name="Rectangle 41"/>
          <p:cNvSpPr/>
          <p:nvPr/>
        </p:nvSpPr>
        <p:spPr>
          <a:xfrm>
            <a:off x="32552640" y="13078967"/>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p_field.png"/>
          <p:cNvPicPr>
            <a:picLocks noChangeAspect="1"/>
          </p:cNvPicPr>
          <p:nvPr/>
        </p:nvPicPr>
        <p:blipFill>
          <a:blip r:embed="rId6"/>
          <a:stretch>
            <a:fillRect/>
          </a:stretch>
        </p:blipFill>
        <p:spPr>
          <a:xfrm>
            <a:off x="32552640" y="13408151"/>
            <a:ext cx="10607040" cy="2468880"/>
          </a:xfrm>
          <a:prstGeom prst="rect">
            <a:avLst/>
          </a:prstGeom>
        </p:spPr>
      </p:pic>
      <p:sp>
        <p:nvSpPr>
          <p:cNvPr id="44" name="TextBox 43"/>
          <p:cNvSpPr txBox="1"/>
          <p:nvPr/>
        </p:nvSpPr>
        <p:spPr>
          <a:xfrm>
            <a:off x="32552640" y="15986760"/>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5.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sp>
        <p:nvSpPr>
          <p:cNvPr id="45" name="TextBox 44"/>
          <p:cNvSpPr txBox="1"/>
          <p:nvPr/>
        </p:nvSpPr>
        <p:spPr>
          <a:xfrm>
            <a:off x="32552640" y="17496536"/>
            <a:ext cx="10607040" cy="365760"/>
          </a:xfrm>
          <a:prstGeom prst="rect">
            <a:avLst/>
          </a:prstGeom>
          <a:noFill/>
        </p:spPr>
        <p:txBody>
          <a:bodyPr wrap="square" lIns="0" rIns="0" tIns="0" bIns="0">
            <a:spAutoFit/>
          </a:bodyPr>
          <a:lstStyle/>
          <a:p>
            <a:pPr algn="l">
              <a:lnSpc>
                <a:spcPct val="122000"/>
              </a:lnSpc>
              <a:spcAft>
                <a:spcPts val="2200"/>
              </a:spcAft>
            </a:pPr>
            <a:r>
              <a:rPr sz="2000" b="0">
                <a:solidFill>
                  <a:srgbClr val="1E293B"/>
                </a:solidFill>
                <a:latin typeface="Arial"/>
              </a:rPr>
              <a:t>The deployable checkpoint draws a box on 25 of the 2,686 frames our robots recorded, and 24 of those 25 boxes are the same class. These frames carry no labels, so that is a firing rate, not recall and not precision. On a second labelled weed dataset the same checkpoints fall from 0.873 to 0.100.</a:t>
            </a:r>
          </a:p>
        </p:txBody>
      </p:sp>
      <p:sp>
        <p:nvSpPr>
          <p:cNvPr id="46" name="TextBox 45"/>
          <p:cNvSpPr txBox="1"/>
          <p:nvPr/>
        </p:nvSpPr>
        <p:spPr>
          <a:xfrm>
            <a:off x="32552640" y="19015456"/>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Does more web data help?</a:t>
            </a:r>
          </a:p>
        </p:txBody>
      </p:sp>
      <p:sp>
        <p:nvSpPr>
          <p:cNvPr id="47" name="Rectangle 46"/>
          <p:cNvSpPr/>
          <p:nvPr/>
        </p:nvSpPr>
        <p:spPr>
          <a:xfrm>
            <a:off x="32552640" y="19436080"/>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552640" y="19554952"/>
            <a:ext cx="4667097"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harvested added</a:t>
            </a:r>
          </a:p>
        </p:txBody>
      </p:sp>
      <p:sp>
        <p:nvSpPr>
          <p:cNvPr id="49" name="TextBox 48"/>
          <p:cNvSpPr txBox="1"/>
          <p:nvPr/>
        </p:nvSpPr>
        <p:spPr>
          <a:xfrm>
            <a:off x="37219737" y="19554952"/>
            <a:ext cx="424281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mAP50-95</a:t>
            </a:r>
          </a:p>
        </p:txBody>
      </p:sp>
      <p:sp>
        <p:nvSpPr>
          <p:cNvPr id="50" name="TextBox 49"/>
          <p:cNvSpPr txBox="1"/>
          <p:nvPr/>
        </p:nvSpPr>
        <p:spPr>
          <a:xfrm>
            <a:off x="41462553" y="19554952"/>
            <a:ext cx="169712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n</a:t>
            </a:r>
          </a:p>
        </p:txBody>
      </p:sp>
      <p:sp>
        <p:nvSpPr>
          <p:cNvPr id="51" name="Rectangle 50"/>
          <p:cNvSpPr/>
          <p:nvPr/>
        </p:nvSpPr>
        <p:spPr>
          <a:xfrm>
            <a:off x="32552640" y="19920712"/>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552640" y="20030440"/>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none, the core</a:t>
            </a:r>
          </a:p>
        </p:txBody>
      </p:sp>
      <p:sp>
        <p:nvSpPr>
          <p:cNvPr id="53" name="TextBox 52"/>
          <p:cNvSpPr txBox="1"/>
          <p:nvPr/>
        </p:nvSpPr>
        <p:spPr>
          <a:xfrm>
            <a:off x="37219737" y="20030440"/>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0.8637 ± 0.0027</a:t>
            </a:r>
          </a:p>
        </p:txBody>
      </p:sp>
      <p:sp>
        <p:nvSpPr>
          <p:cNvPr id="54" name="TextBox 53"/>
          <p:cNvSpPr txBox="1"/>
          <p:nvPr/>
        </p:nvSpPr>
        <p:spPr>
          <a:xfrm>
            <a:off x="41462553" y="20030440"/>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5" name="TextBox 54"/>
          <p:cNvSpPr txBox="1"/>
          <p:nvPr/>
        </p:nvSpPr>
        <p:spPr>
          <a:xfrm>
            <a:off x="32552640" y="20432776"/>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+5,000</a:t>
            </a:r>
          </a:p>
        </p:txBody>
      </p:sp>
      <p:sp>
        <p:nvSpPr>
          <p:cNvPr id="56" name="TextBox 55"/>
          <p:cNvSpPr txBox="1"/>
          <p:nvPr/>
        </p:nvSpPr>
        <p:spPr>
          <a:xfrm>
            <a:off x="37219737" y="20432776"/>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0.8609 ± 0.0036</a:t>
            </a:r>
          </a:p>
        </p:txBody>
      </p:sp>
      <p:sp>
        <p:nvSpPr>
          <p:cNvPr id="57" name="TextBox 56"/>
          <p:cNvSpPr txBox="1"/>
          <p:nvPr/>
        </p:nvSpPr>
        <p:spPr>
          <a:xfrm>
            <a:off x="41462553" y="20432776"/>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8" name="TextBox 57"/>
          <p:cNvSpPr txBox="1"/>
          <p:nvPr/>
        </p:nvSpPr>
        <p:spPr>
          <a:xfrm>
            <a:off x="32552640" y="20835112"/>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+15,000</a:t>
            </a:r>
          </a:p>
        </p:txBody>
      </p:sp>
      <p:sp>
        <p:nvSpPr>
          <p:cNvPr id="59" name="TextBox 58"/>
          <p:cNvSpPr txBox="1"/>
          <p:nvPr/>
        </p:nvSpPr>
        <p:spPr>
          <a:xfrm>
            <a:off x="37219737" y="20835112"/>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0.8580 ± 0.0047</a:t>
            </a:r>
          </a:p>
        </p:txBody>
      </p:sp>
      <p:sp>
        <p:nvSpPr>
          <p:cNvPr id="60" name="TextBox 59"/>
          <p:cNvSpPr txBox="1"/>
          <p:nvPr/>
        </p:nvSpPr>
        <p:spPr>
          <a:xfrm>
            <a:off x="41462553" y="20835112"/>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61" name="TextBox 60"/>
          <p:cNvSpPr txBox="1"/>
          <p:nvPr/>
        </p:nvSpPr>
        <p:spPr>
          <a:xfrm>
            <a:off x="32552640" y="21237448"/>
            <a:ext cx="4667097"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+40,000</a:t>
            </a:r>
          </a:p>
        </p:txBody>
      </p:sp>
      <p:sp>
        <p:nvSpPr>
          <p:cNvPr id="62" name="TextBox 61"/>
          <p:cNvSpPr txBox="1"/>
          <p:nvPr/>
        </p:nvSpPr>
        <p:spPr>
          <a:xfrm>
            <a:off x="37219737" y="21237448"/>
            <a:ext cx="424281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0.8448 ± 0.0018</a:t>
            </a:r>
          </a:p>
        </p:txBody>
      </p:sp>
      <p:sp>
        <p:nvSpPr>
          <p:cNvPr id="63" name="TextBox 62"/>
          <p:cNvSpPr txBox="1"/>
          <p:nvPr/>
        </p:nvSpPr>
        <p:spPr>
          <a:xfrm>
            <a:off x="41462553" y="21237448"/>
            <a:ext cx="169712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3</a:t>
            </a:r>
          </a:p>
        </p:txBody>
      </p:sp>
      <p:sp>
        <p:nvSpPr>
          <p:cNvPr id="64" name="Rectangle 63"/>
          <p:cNvSpPr/>
          <p:nvPr/>
        </p:nvSpPr>
        <p:spPr>
          <a:xfrm>
            <a:off x="32552640" y="21667216"/>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552640" y="21932392"/>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Twelve times the data costs 0.0189, which is 8.2 times the seed spread, and the same eight checkpoints fall on a second dataset too. One of six audited web sources clears a 0.90 label-precision bar. This is why the robots exist.</a:t>
            </a:r>
          </a:p>
        </p:txBody>
      </p:sp>
      <p:sp>
        <p:nvSpPr>
          <p:cNvPr id="66" name="TextBox 65"/>
          <p:cNvSpPr txBox="1"/>
          <p:nvPr/>
        </p:nvSpPr>
        <p:spPr>
          <a:xfrm>
            <a:off x="11704320" y="25144984"/>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Everything we trained, ran, or rejected</a:t>
            </a:r>
          </a:p>
        </p:txBody>
      </p:sp>
      <p:sp>
        <p:nvSpPr>
          <p:cNvPr id="67" name="Rectangle 66"/>
          <p:cNvSpPr/>
          <p:nvPr/>
        </p:nvSpPr>
        <p:spPr>
          <a:xfrm>
            <a:off x="11704320" y="2571191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m_ledger.png"/>
          <p:cNvPicPr>
            <a:picLocks noChangeAspect="1"/>
          </p:cNvPicPr>
          <p:nvPr/>
        </p:nvPicPr>
        <p:blipFill>
          <a:blip r:embed="rId7"/>
          <a:stretch>
            <a:fillRect/>
          </a:stretch>
        </p:blipFill>
        <p:spPr>
          <a:xfrm>
            <a:off x="11704320" y="26041096"/>
            <a:ext cx="20482560" cy="3749040"/>
          </a:xfrm>
          <a:prstGeom prst="rect">
            <a:avLst/>
          </a:prstGeom>
        </p:spPr>
      </p:pic>
      <p:sp>
        <p:nvSpPr>
          <p:cNvPr id="69" name="TextBox 68"/>
          <p:cNvSpPr txBox="1"/>
          <p:nvPr/>
        </p:nvSpPr>
        <p:spPr>
          <a:xfrm>
            <a:off x="11704320" y="29899864"/>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6.  27 distinct models, in four families, on one holdout or one incident corpus. One of them is deployed. The zero-shot column is a single deterministic pass per model with no repeats; the reviewer column is the 149-case dev split, and two of its arms are still running.</a:t>
            </a:r>
          </a:p>
        </p:txBody>
      </p:sp>
      <p:sp>
        <p:nvSpPr>
          <p:cNvPr id="70" name="TextBox 69"/>
          <p:cNvSpPr txBox="1"/>
          <p:nvPr/>
        </p:nvSpPr>
        <p:spPr>
          <a:xfrm>
            <a:off x="731520" y="2514498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Six audited web sources</a:t>
            </a:r>
          </a:p>
        </p:txBody>
      </p:sp>
      <p:sp>
        <p:nvSpPr>
          <p:cNvPr id="71" name="Rectangle 70"/>
          <p:cNvSpPr/>
          <p:nvPr/>
        </p:nvSpPr>
        <p:spPr>
          <a:xfrm>
            <a:off x="731520" y="257119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31520" y="26041096"/>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Of 13,527 labelled images from six audited harvested sources, only 3,208 come from a source that clears a 0.90 label-precision bar. The other five score between 0.18 and 0.74. The same probe reads 1.000 on human-labelled CottonWeedDet12, so those are the data and not the instrument.</a:t>
            </a:r>
          </a:p>
        </p:txBody>
      </p:sp>
      <p:sp>
        <p:nvSpPr>
          <p:cNvPr id="73" name="TextBox 72"/>
          <p:cNvSpPr txBox="1"/>
          <p:nvPr/>
        </p:nvSpPr>
        <p:spPr>
          <a:xfrm>
            <a:off x="32552640" y="2514498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Who notices when it breaks</a:t>
            </a:r>
          </a:p>
        </p:txBody>
      </p:sp>
      <p:sp>
        <p:nvSpPr>
          <p:cNvPr id="74" name="Rectangle 73"/>
          <p:cNvSpPr/>
          <p:nvPr/>
        </p:nvSpPr>
        <p:spPr>
          <a:xfrm>
            <a:off x="32552640" y="257119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2552640" y="26041096"/>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2552640" y="26159968"/>
            <a:ext cx="4879238"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reviewer</a:t>
            </a:r>
          </a:p>
        </p:txBody>
      </p:sp>
      <p:sp>
        <p:nvSpPr>
          <p:cNvPr id="77" name="TextBox 76"/>
          <p:cNvSpPr txBox="1"/>
          <p:nvPr/>
        </p:nvSpPr>
        <p:spPr>
          <a:xfrm>
            <a:off x="37431878" y="26159968"/>
            <a:ext cx="2863900"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recall</a:t>
            </a:r>
          </a:p>
        </p:txBody>
      </p:sp>
      <p:sp>
        <p:nvSpPr>
          <p:cNvPr id="78" name="TextBox 77"/>
          <p:cNvSpPr txBox="1"/>
          <p:nvPr/>
        </p:nvSpPr>
        <p:spPr>
          <a:xfrm>
            <a:off x="40295779" y="26159968"/>
            <a:ext cx="2863900"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grounded</a:t>
            </a:r>
          </a:p>
        </p:txBody>
      </p:sp>
      <p:sp>
        <p:nvSpPr>
          <p:cNvPr id="79" name="Rectangle 78"/>
          <p:cNvSpPr/>
          <p:nvPr/>
        </p:nvSpPr>
        <p:spPr>
          <a:xfrm>
            <a:off x="32552640" y="26525728"/>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2552640" y="26635456"/>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scripted watchdog</a:t>
            </a:r>
          </a:p>
        </p:txBody>
      </p:sp>
      <p:sp>
        <p:nvSpPr>
          <p:cNvPr id="81" name="TextBox 80"/>
          <p:cNvSpPr txBox="1"/>
          <p:nvPr/>
        </p:nvSpPr>
        <p:spPr>
          <a:xfrm>
            <a:off x="37431878" y="26635456"/>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no decision</a:t>
            </a:r>
          </a:p>
        </p:txBody>
      </p:sp>
      <p:sp>
        <p:nvSpPr>
          <p:cNvPr id="82" name="TextBox 81"/>
          <p:cNvSpPr txBox="1"/>
          <p:nvPr/>
        </p:nvSpPr>
        <p:spPr>
          <a:xfrm>
            <a:off x="40295779" y="26635456"/>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83" name="TextBox 82"/>
          <p:cNvSpPr txBox="1"/>
          <p:nvPr/>
        </p:nvSpPr>
        <p:spPr>
          <a:xfrm>
            <a:off x="32552640" y="27037792"/>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12 rules</a:t>
            </a:r>
          </a:p>
        </p:txBody>
      </p:sp>
      <p:sp>
        <p:nvSpPr>
          <p:cNvPr id="84" name="TextBox 83"/>
          <p:cNvSpPr txBox="1"/>
          <p:nvPr/>
        </p:nvSpPr>
        <p:spPr>
          <a:xfrm>
            <a:off x="37431878" y="27037792"/>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5" name="TextBox 84"/>
          <p:cNvSpPr txBox="1"/>
          <p:nvPr/>
        </p:nvSpPr>
        <p:spPr>
          <a:xfrm>
            <a:off x="40295779" y="27037792"/>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6" name="TextBox 85"/>
          <p:cNvSpPr txBox="1"/>
          <p:nvPr/>
        </p:nvSpPr>
        <p:spPr>
          <a:xfrm>
            <a:off x="32552640" y="27440128"/>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Qwen2.5-7B</a:t>
            </a:r>
          </a:p>
        </p:txBody>
      </p:sp>
      <p:sp>
        <p:nvSpPr>
          <p:cNvPr id="87" name="TextBox 86"/>
          <p:cNvSpPr txBox="1"/>
          <p:nvPr/>
        </p:nvSpPr>
        <p:spPr>
          <a:xfrm>
            <a:off x="37431878" y="27440128"/>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0.823</a:t>
            </a:r>
          </a:p>
        </p:txBody>
      </p:sp>
      <p:sp>
        <p:nvSpPr>
          <p:cNvPr id="88" name="TextBox 87"/>
          <p:cNvSpPr txBox="1"/>
          <p:nvPr/>
        </p:nvSpPr>
        <p:spPr>
          <a:xfrm>
            <a:off x="40295779" y="27440128"/>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0.274</a:t>
            </a:r>
          </a:p>
        </p:txBody>
      </p:sp>
      <p:sp>
        <p:nvSpPr>
          <p:cNvPr id="89" name="TextBox 88"/>
          <p:cNvSpPr txBox="1"/>
          <p:nvPr/>
        </p:nvSpPr>
        <p:spPr>
          <a:xfrm>
            <a:off x="32552640" y="27842464"/>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Qwen3-14B</a:t>
            </a:r>
          </a:p>
        </p:txBody>
      </p:sp>
      <p:sp>
        <p:nvSpPr>
          <p:cNvPr id="90" name="TextBox 89"/>
          <p:cNvSpPr txBox="1"/>
          <p:nvPr/>
        </p:nvSpPr>
        <p:spPr>
          <a:xfrm>
            <a:off x="37431878" y="27842464"/>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0.675</a:t>
            </a:r>
          </a:p>
        </p:txBody>
      </p:sp>
      <p:sp>
        <p:nvSpPr>
          <p:cNvPr id="91" name="TextBox 90"/>
          <p:cNvSpPr txBox="1"/>
          <p:nvPr/>
        </p:nvSpPr>
        <p:spPr>
          <a:xfrm>
            <a:off x="40295779" y="27842464"/>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0.614</a:t>
            </a:r>
          </a:p>
        </p:txBody>
      </p:sp>
      <p:sp>
        <p:nvSpPr>
          <p:cNvPr id="92" name="TextBox 91"/>
          <p:cNvSpPr txBox="1"/>
          <p:nvPr/>
        </p:nvSpPr>
        <p:spPr>
          <a:xfrm>
            <a:off x="32552640" y="28244800"/>
            <a:ext cx="4879238"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Qwen3.8-27B</a:t>
            </a:r>
          </a:p>
        </p:txBody>
      </p:sp>
      <p:sp>
        <p:nvSpPr>
          <p:cNvPr id="93" name="TextBox 92"/>
          <p:cNvSpPr txBox="1"/>
          <p:nvPr/>
        </p:nvSpPr>
        <p:spPr>
          <a:xfrm>
            <a:off x="37431878" y="28244800"/>
            <a:ext cx="2863900"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0.702</a:t>
            </a:r>
          </a:p>
        </p:txBody>
      </p:sp>
      <p:sp>
        <p:nvSpPr>
          <p:cNvPr id="94" name="TextBox 93"/>
          <p:cNvSpPr txBox="1"/>
          <p:nvPr/>
        </p:nvSpPr>
        <p:spPr>
          <a:xfrm>
            <a:off x="40295779" y="28244800"/>
            <a:ext cx="2863900"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0.702</a:t>
            </a:r>
          </a:p>
        </p:txBody>
      </p:sp>
      <p:sp>
        <p:nvSpPr>
          <p:cNvPr id="95" name="Rectangle 94"/>
          <p:cNvSpPr/>
          <p:nvPr/>
        </p:nvSpPr>
        <p:spPr>
          <a:xfrm>
            <a:off x="32552640" y="28674568"/>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2552640" y="28939744"/>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162 real failures out of this project's own record, frozen as a corpus. The watchdog the loop was running returned no decision on any of the 149 dev cases. Recall does not order the reviewers by size; evidence does.</a:t>
            </a:r>
          </a:p>
        </p:txBody>
      </p:sp>
      <p:sp>
        <p:nvSpPr>
          <p:cNvPr id="97" name="Rectangle 96"/>
          <p:cNvSpPr/>
          <p:nvPr/>
        </p:nvSpPr>
        <p:spPr>
          <a:xfrm>
            <a:off x="731520" y="30937199"/>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31520" y="31193231"/>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Where this stands today. The collector and trainer are paused after a stop-loss on 2026-08-29 and the last field drive was the same day. The supervisor is advisory. The laser has never fired at a weed under our control.</a:t>
            </a:r>
          </a:p>
        </p:txBody>
      </p:sp>
      <p:sp>
        <p:nvSpPr>
          <p:cNvPr id="99" name="TextBox 98"/>
          <p:cNvSpPr txBox="1"/>
          <p:nvPr/>
        </p:nvSpPr>
        <p:spPr>
          <a:xfrm>
            <a:off x="15026640" y="31193231"/>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Every in-domain number is mAP50-95 on the same 1,977 images under one evaluator, and that set is also the validation set during training, so each figure is a maximum over many evaluations. We measured that optimism at +0.002 to +0.017.</a:t>
            </a:r>
          </a:p>
        </p:txBody>
      </p:sp>
      <p:sp>
        <p:nvSpPr>
          <p:cNvPr id="100" name="TextBox 99"/>
          <p:cNvSpPr txBox="1"/>
          <p:nvPr/>
        </p:nvSpPr>
        <p:spPr>
          <a:xfrm>
            <a:off x="29321759" y="31193231"/>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check we built after publishing it. 0.9033 is the best of four unseeded runs.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