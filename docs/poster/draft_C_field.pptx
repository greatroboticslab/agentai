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000" b="1">
                <a:solidFill>
                  <a:srgbClr val="FFFFFF"/>
                </a:solidFill>
                <a:latin typeface="Arial"/>
              </a:rPr>
              <a:t>Robot-Collected Field Data and Agent-Run Training for Laser Weeding</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Two ground vehicles drive our own crop plots while a pair of agents collect, filter and train on the cluster with nobody in the room. This is what the machines recorded, what the agents did, and the one link between them we have not closed.</a:t>
            </a:r>
          </a:p>
        </p:txBody>
      </p:sp>
      <p:pic>
        <p:nvPicPr>
          <p:cNvPr id="9" name="Picture 8" descr="w_robots.png"/>
          <p:cNvPicPr>
            <a:picLocks noChangeAspect="1"/>
          </p:cNvPicPr>
          <p:nvPr/>
        </p:nvPicPr>
        <p:blipFill>
          <a:blip r:embed="rId2"/>
          <a:stretch>
            <a:fillRect/>
          </a:stretch>
        </p:blipFill>
        <p:spPr>
          <a:xfrm>
            <a:off x="731520" y="5623560"/>
            <a:ext cx="42428160" cy="4023360"/>
          </a:xfrm>
          <a:prstGeom prst="rect">
            <a:avLst/>
          </a:prstGeom>
        </p:spPr>
      </p:pic>
      <p:sp>
        <p:nvSpPr>
          <p:cNvPr id="10" name="TextBox 9"/>
          <p:cNvSpPr txBox="1"/>
          <p:nvPr/>
        </p:nvSpPr>
        <p:spPr>
          <a:xfrm>
            <a:off x="731520" y="9756648"/>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Four frames as recorded, unenhanced and unlabelled. The rectangle in (c) is the cart's fixed work-zone overlay. It is drawn on every frame, including the ones with no vegetation in them.</a:t>
            </a:r>
          </a:p>
        </p:txBody>
      </p:sp>
      <p:sp>
        <p:nvSpPr>
          <p:cNvPr id="11" name="Rectangle 10"/>
          <p:cNvSpPr/>
          <p:nvPr/>
        </p:nvSpPr>
        <p:spPr>
          <a:xfrm>
            <a:off x="731520" y="10581640"/>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2,686</a:t>
            </a:r>
          </a:p>
        </p:txBody>
      </p:sp>
      <p:sp>
        <p:nvSpPr>
          <p:cNvPr id="13" name="TextBox 12"/>
          <p:cNvSpPr txBox="1"/>
          <p:nvPr/>
        </p:nvSpPr>
        <p:spPr>
          <a:xfrm>
            <a:off x="731520"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camera frames</a:t>
            </a:r>
          </a:p>
        </p:txBody>
      </p:sp>
      <p:sp>
        <p:nvSpPr>
          <p:cNvPr id="14" name="TextBox 13"/>
          <p:cNvSpPr txBox="1"/>
          <p:nvPr/>
        </p:nvSpPr>
        <p:spPr>
          <a:xfrm>
            <a:off x="731520"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26 drives, 2 robots</a:t>
            </a:r>
          </a:p>
        </p:txBody>
      </p:sp>
      <p:sp>
        <p:nvSpPr>
          <p:cNvPr id="15" name="TextBox 14"/>
          <p:cNvSpPr txBox="1"/>
          <p:nvPr/>
        </p:nvSpPr>
        <p:spPr>
          <a:xfrm>
            <a:off x="9317736"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91,955</a:t>
            </a:r>
          </a:p>
        </p:txBody>
      </p:sp>
      <p:sp>
        <p:nvSpPr>
          <p:cNvPr id="16" name="TextBox 15"/>
          <p:cNvSpPr txBox="1"/>
          <p:nvPr/>
        </p:nvSpPr>
        <p:spPr>
          <a:xfrm>
            <a:off x="9317736"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telemetry rows</a:t>
            </a:r>
          </a:p>
        </p:txBody>
      </p:sp>
      <p:sp>
        <p:nvSpPr>
          <p:cNvPr id="17" name="TextBox 16"/>
          <p:cNvSpPr txBox="1"/>
          <p:nvPr/>
        </p:nvSpPr>
        <p:spPr>
          <a:xfrm>
            <a:off x="9317736"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nine streams, counted line by line</a:t>
            </a:r>
          </a:p>
        </p:txBody>
      </p:sp>
      <p:sp>
        <p:nvSpPr>
          <p:cNvPr id="18" name="TextBox 17"/>
          <p:cNvSpPr txBox="1"/>
          <p:nvPr/>
        </p:nvSpPr>
        <p:spPr>
          <a:xfrm>
            <a:off x="17903952"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342 m</a:t>
            </a:r>
          </a:p>
        </p:txBody>
      </p:sp>
      <p:sp>
        <p:nvSpPr>
          <p:cNvPr id="19" name="TextBox 18"/>
          <p:cNvSpPr txBox="1"/>
          <p:nvPr/>
        </p:nvSpPr>
        <p:spPr>
          <a:xfrm>
            <a:off x="17903952"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GPS track</a:t>
            </a:r>
          </a:p>
        </p:txBody>
      </p:sp>
      <p:sp>
        <p:nvSpPr>
          <p:cNvPr id="20" name="TextBox 19"/>
          <p:cNvSpPr txBox="1"/>
          <p:nvPr/>
        </p:nvSpPr>
        <p:spPr>
          <a:xfrm>
            <a:off x="17903952"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1,502 fixes over 18 drives</a:t>
            </a:r>
          </a:p>
        </p:txBody>
      </p:sp>
      <p:sp>
        <p:nvSpPr>
          <p:cNvPr id="21" name="TextBox 20"/>
          <p:cNvSpPr txBox="1"/>
          <p:nvPr/>
        </p:nvSpPr>
        <p:spPr>
          <a:xfrm>
            <a:off x="26490168"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75</a:t>
            </a:r>
          </a:p>
        </p:txBody>
      </p:sp>
      <p:sp>
        <p:nvSpPr>
          <p:cNvPr id="22" name="TextBox 21"/>
          <p:cNvSpPr txBox="1"/>
          <p:nvPr/>
        </p:nvSpPr>
        <p:spPr>
          <a:xfrm>
            <a:off x="26490168"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cart frames in a field</a:t>
            </a:r>
          </a:p>
        </p:txBody>
      </p:sp>
      <p:sp>
        <p:nvSpPr>
          <p:cNvPr id="23" name="TextBox 22"/>
          <p:cNvSpPr txBox="1"/>
          <p:nvPr/>
        </p:nvSpPr>
        <p:spPr>
          <a:xfrm>
            <a:off x="26490168"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of 427 the cart has recorded</a:t>
            </a:r>
          </a:p>
        </p:txBody>
      </p:sp>
      <p:sp>
        <p:nvSpPr>
          <p:cNvPr id="24" name="TextBox 23"/>
          <p:cNvSpPr txBox="1"/>
          <p:nvPr/>
        </p:nvSpPr>
        <p:spPr>
          <a:xfrm>
            <a:off x="35076384" y="10764520"/>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1C6FB5"/>
                </a:solidFill>
                <a:latin typeface="Arial"/>
              </a:rPr>
              <a:t>0</a:t>
            </a:r>
          </a:p>
        </p:txBody>
      </p:sp>
      <p:sp>
        <p:nvSpPr>
          <p:cNvPr id="25" name="TextBox 24"/>
          <p:cNvSpPr txBox="1"/>
          <p:nvPr/>
        </p:nvSpPr>
        <p:spPr>
          <a:xfrm>
            <a:off x="35076384" y="11489944"/>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1E293B"/>
                </a:solidFill>
                <a:latin typeface="Arial"/>
              </a:rPr>
              <a:t>of them labelled</a:t>
            </a:r>
          </a:p>
        </p:txBody>
      </p:sp>
      <p:sp>
        <p:nvSpPr>
          <p:cNvPr id="26" name="TextBox 25"/>
          <p:cNvSpPr txBox="1"/>
          <p:nvPr/>
        </p:nvSpPr>
        <p:spPr>
          <a:xfrm>
            <a:off x="35076384" y="11825224"/>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556575"/>
                </a:solidFill>
                <a:latin typeface="Arial"/>
              </a:rPr>
              <a:t>the whole archive, so far</a:t>
            </a:r>
          </a:p>
        </p:txBody>
      </p:sp>
      <p:sp>
        <p:nvSpPr>
          <p:cNvPr id="27" name="Rectangle 26"/>
          <p:cNvSpPr/>
          <p:nvPr/>
        </p:nvSpPr>
        <p:spPr>
          <a:xfrm>
            <a:off x="731520" y="12164568"/>
            <a:ext cx="42428160" cy="23774"/>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12512039"/>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How a drive becomes a dataset</a:t>
            </a:r>
          </a:p>
        </p:txBody>
      </p:sp>
      <p:sp>
        <p:nvSpPr>
          <p:cNvPr id="29" name="Rectangle 28"/>
          <p:cNvSpPr/>
          <p:nvPr/>
        </p:nvSpPr>
        <p:spPr>
          <a:xfrm>
            <a:off x="731520" y="1307337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13402563"/>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A vehicle opens a session, the platform registers it as a governed dataset, and frames and sensor batches arrive over one API key while the vehicle is still driving. Robot 241 sends camera, GPS and two IMUs. The laser cart sends camera, laser state, vehicle telemetry and its own detections, and no position at all.</a:t>
            </a:r>
          </a:p>
        </p:txBody>
      </p:sp>
      <p:sp>
        <p:nvSpPr>
          <p:cNvPr id="31" name="TextBox 30"/>
          <p:cNvSpPr txBox="1"/>
          <p:nvPr/>
        </p:nvSpPr>
        <p:spPr>
          <a:xfrm>
            <a:off x="731520" y="14921483"/>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213 seconds in one crop plot</a:t>
            </a:r>
          </a:p>
        </p:txBody>
      </p:sp>
      <p:pic>
        <p:nvPicPr>
          <p:cNvPr id="32" name="Picture 31" descr="h_drive.png"/>
          <p:cNvPicPr>
            <a:picLocks noChangeAspect="1"/>
          </p:cNvPicPr>
          <p:nvPr/>
        </p:nvPicPr>
        <p:blipFill>
          <a:blip r:embed="rId3"/>
          <a:stretch>
            <a:fillRect/>
          </a:stretch>
        </p:blipFill>
        <p:spPr>
          <a:xfrm>
            <a:off x="731520" y="15342108"/>
            <a:ext cx="10607040" cy="4023360"/>
          </a:xfrm>
          <a:prstGeom prst="rect">
            <a:avLst/>
          </a:prstGeom>
        </p:spPr>
      </p:pic>
      <p:sp>
        <p:nvSpPr>
          <p:cNvPr id="33" name="TextBox 32"/>
          <p:cNvSpPr txBox="1"/>
          <p:nvPr/>
        </p:nvSpPr>
        <p:spPr>
          <a:xfrm>
            <a:off x="731520" y="19475196"/>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Robot 241, 2026-08-29: one 213 s pass through a crop plot. (h) GPS track from the board fix. (i) IMU heading over the same pass.</a:t>
            </a:r>
          </a:p>
        </p:txBody>
      </p:sp>
      <p:sp>
        <p:nvSpPr>
          <p:cNvPr id="34" name="TextBox 33"/>
          <p:cNvSpPr txBox="1"/>
          <p:nvPr/>
        </p:nvSpPr>
        <p:spPr>
          <a:xfrm>
            <a:off x="11704320" y="12512039"/>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the agents do with it</a:t>
            </a:r>
          </a:p>
        </p:txBody>
      </p:sp>
      <p:sp>
        <p:nvSpPr>
          <p:cNvPr id="35" name="Rectangle 34"/>
          <p:cNvSpPr/>
          <p:nvPr/>
        </p:nvSpPr>
        <p:spPr>
          <a:xfrm>
            <a:off x="11704320" y="13073379"/>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n_system.png"/>
          <p:cNvPicPr>
            <a:picLocks noChangeAspect="1"/>
          </p:cNvPicPr>
          <p:nvPr/>
        </p:nvPicPr>
        <p:blipFill>
          <a:blip r:embed="rId4"/>
          <a:stretch>
            <a:fillRect/>
          </a:stretch>
        </p:blipFill>
        <p:spPr>
          <a:xfrm>
            <a:off x="11704320" y="13402563"/>
            <a:ext cx="20482560" cy="3383280"/>
          </a:xfrm>
          <a:prstGeom prst="rect">
            <a:avLst/>
          </a:prstGeom>
        </p:spPr>
      </p:pic>
      <p:sp>
        <p:nvSpPr>
          <p:cNvPr id="37" name="TextBox 36"/>
          <p:cNvSpPr txBox="1"/>
          <p:nvPr/>
        </p:nvSpPr>
        <p:spPr>
          <a:xfrm>
            <a:off x="11704320" y="16895572"/>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38" name="TextBox 37"/>
          <p:cNvSpPr txBox="1"/>
          <p:nvPr/>
        </p:nvSpPr>
        <p:spPr>
          <a:xfrm>
            <a:off x="11704320" y="17686020"/>
            <a:ext cx="2048256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We let it run itself for fifteen rounds</a:t>
            </a:r>
          </a:p>
        </p:txBody>
      </p:sp>
      <p:pic>
        <p:nvPicPr>
          <p:cNvPr id="39" name="Picture 38" descr="f_rounds.png"/>
          <p:cNvPicPr>
            <a:picLocks noChangeAspect="1"/>
          </p:cNvPicPr>
          <p:nvPr/>
        </p:nvPicPr>
        <p:blipFill>
          <a:blip r:embed="rId5"/>
          <a:stretch>
            <a:fillRect/>
          </a:stretch>
        </p:blipFill>
        <p:spPr>
          <a:xfrm>
            <a:off x="11704320" y="18106644"/>
            <a:ext cx="20482560" cy="4663440"/>
          </a:xfrm>
          <a:prstGeom prst="rect">
            <a:avLst/>
          </a:prstGeom>
        </p:spPr>
      </p:pic>
      <p:sp>
        <p:nvSpPr>
          <p:cNvPr id="40" name="TextBox 39"/>
          <p:cNvSpPr txBox="1"/>
          <p:nvPr/>
        </p:nvSpPr>
        <p:spPr>
          <a:xfrm>
            <a:off x="11704320" y="22879812"/>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1" name="TextBox 40"/>
          <p:cNvSpPr txBox="1"/>
          <p:nvPr/>
        </p:nvSpPr>
        <p:spPr>
          <a:xfrm>
            <a:off x="11704320" y="23910035"/>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Every round reported success and accuracy fell the whole time. The corpus stopped growing at round three and eight rounds collected nothing. What was left was the chain: starting fresh instead of from the previous round's weights is worth +0.0287, 5.1 times this recipe's own seed spread.</a:t>
            </a:r>
          </a:p>
        </p:txBody>
      </p:sp>
      <p:sp>
        <p:nvSpPr>
          <p:cNvPr id="42" name="TextBox 41"/>
          <p:cNvSpPr txBox="1"/>
          <p:nvPr/>
        </p:nvSpPr>
        <p:spPr>
          <a:xfrm>
            <a:off x="32552640" y="12512039"/>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Then we pointed it back at our own rows</a:t>
            </a:r>
          </a:p>
        </p:txBody>
      </p:sp>
      <p:sp>
        <p:nvSpPr>
          <p:cNvPr id="43" name="Rectangle 42"/>
          <p:cNvSpPr/>
          <p:nvPr/>
        </p:nvSpPr>
        <p:spPr>
          <a:xfrm>
            <a:off x="32552640" y="13073379"/>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p_field.png"/>
          <p:cNvPicPr>
            <a:picLocks noChangeAspect="1"/>
          </p:cNvPicPr>
          <p:nvPr/>
        </p:nvPicPr>
        <p:blipFill>
          <a:blip r:embed="rId6"/>
          <a:stretch>
            <a:fillRect/>
          </a:stretch>
        </p:blipFill>
        <p:spPr>
          <a:xfrm>
            <a:off x="32552640" y="13402563"/>
            <a:ext cx="10607040" cy="2468880"/>
          </a:xfrm>
          <a:prstGeom prst="rect">
            <a:avLst/>
          </a:prstGeom>
        </p:spPr>
      </p:pic>
      <p:sp>
        <p:nvSpPr>
          <p:cNvPr id="45" name="TextBox 44"/>
          <p:cNvSpPr txBox="1"/>
          <p:nvPr/>
        </p:nvSpPr>
        <p:spPr>
          <a:xfrm>
            <a:off x="32552640" y="15981171"/>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46" name="TextBox 45"/>
          <p:cNvSpPr txBox="1"/>
          <p:nvPr/>
        </p:nvSpPr>
        <p:spPr>
          <a:xfrm>
            <a:off x="32552640" y="17490947"/>
            <a:ext cx="10607040" cy="365760"/>
          </a:xfrm>
          <a:prstGeom prst="rect">
            <a:avLst/>
          </a:prstGeom>
          <a:noFill/>
        </p:spPr>
        <p:txBody>
          <a:bodyPr wrap="square" lIns="0" rIns="0" tIns="0" bIns="0">
            <a:spAutoFit/>
          </a:bodyPr>
          <a:lstStyle/>
          <a:p>
            <a:pPr algn="l">
              <a:lnSpc>
                <a:spcPct val="122000"/>
              </a:lnSpc>
              <a:spcAft>
                <a:spcPts val="2200"/>
              </a:spcAft>
            </a:pPr>
            <a:r>
              <a:rPr sz="2000" b="0">
                <a:solidFill>
                  <a:srgbClr val="1E293B"/>
                </a:solidFill>
                <a:latin typeface="Arial"/>
              </a:rPr>
              <a:t>The deployable checkpoint draws a box on 25 of the 2,686 frames our robots recorded, and 24 of those 25 boxes are the same class. These frames carry no labels, so that is a firing rate, not recall and not precision. On a second labelled weed dataset the same checkpoints fall from 0.873 to 0.100.</a:t>
            </a:r>
          </a:p>
        </p:txBody>
      </p:sp>
      <p:sp>
        <p:nvSpPr>
          <p:cNvPr id="47" name="TextBox 46"/>
          <p:cNvSpPr txBox="1"/>
          <p:nvPr/>
        </p:nvSpPr>
        <p:spPr>
          <a:xfrm>
            <a:off x="32552640" y="19009867"/>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Does more web data help?</a:t>
            </a:r>
          </a:p>
        </p:txBody>
      </p:sp>
      <p:sp>
        <p:nvSpPr>
          <p:cNvPr id="48" name="Rectangle 47"/>
          <p:cNvSpPr/>
          <p:nvPr/>
        </p:nvSpPr>
        <p:spPr>
          <a:xfrm>
            <a:off x="32552640" y="1943049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552640" y="19549363"/>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50" name="TextBox 49"/>
          <p:cNvSpPr txBox="1"/>
          <p:nvPr/>
        </p:nvSpPr>
        <p:spPr>
          <a:xfrm>
            <a:off x="37219737" y="19549363"/>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51" name="TextBox 50"/>
          <p:cNvSpPr txBox="1"/>
          <p:nvPr/>
        </p:nvSpPr>
        <p:spPr>
          <a:xfrm>
            <a:off x="41462553" y="19549363"/>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52" name="Rectangle 51"/>
          <p:cNvSpPr/>
          <p:nvPr/>
        </p:nvSpPr>
        <p:spPr>
          <a:xfrm>
            <a:off x="32552640" y="19915123"/>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552640" y="20024851"/>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54" name="TextBox 53"/>
          <p:cNvSpPr txBox="1"/>
          <p:nvPr/>
        </p:nvSpPr>
        <p:spPr>
          <a:xfrm>
            <a:off x="37219737" y="20024851"/>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55" name="TextBox 54"/>
          <p:cNvSpPr txBox="1"/>
          <p:nvPr/>
        </p:nvSpPr>
        <p:spPr>
          <a:xfrm>
            <a:off x="41462553" y="20024851"/>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6" name="TextBox 55"/>
          <p:cNvSpPr txBox="1"/>
          <p:nvPr/>
        </p:nvSpPr>
        <p:spPr>
          <a:xfrm>
            <a:off x="32552640" y="20427188"/>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57" name="TextBox 56"/>
          <p:cNvSpPr txBox="1"/>
          <p:nvPr/>
        </p:nvSpPr>
        <p:spPr>
          <a:xfrm>
            <a:off x="37219737" y="20427188"/>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58" name="TextBox 57"/>
          <p:cNvSpPr txBox="1"/>
          <p:nvPr/>
        </p:nvSpPr>
        <p:spPr>
          <a:xfrm>
            <a:off x="41462553" y="20427188"/>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59" name="TextBox 58"/>
          <p:cNvSpPr txBox="1"/>
          <p:nvPr/>
        </p:nvSpPr>
        <p:spPr>
          <a:xfrm>
            <a:off x="32552640" y="20829524"/>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60" name="TextBox 59"/>
          <p:cNvSpPr txBox="1"/>
          <p:nvPr/>
        </p:nvSpPr>
        <p:spPr>
          <a:xfrm>
            <a:off x="37219737" y="20829524"/>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61" name="TextBox 60"/>
          <p:cNvSpPr txBox="1"/>
          <p:nvPr/>
        </p:nvSpPr>
        <p:spPr>
          <a:xfrm>
            <a:off x="41462553" y="20829524"/>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2" name="TextBox 61"/>
          <p:cNvSpPr txBox="1"/>
          <p:nvPr/>
        </p:nvSpPr>
        <p:spPr>
          <a:xfrm>
            <a:off x="32552640" y="21231860"/>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63" name="TextBox 62"/>
          <p:cNvSpPr txBox="1"/>
          <p:nvPr/>
        </p:nvSpPr>
        <p:spPr>
          <a:xfrm>
            <a:off x="37219737" y="21231860"/>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64" name="TextBox 63"/>
          <p:cNvSpPr txBox="1"/>
          <p:nvPr/>
        </p:nvSpPr>
        <p:spPr>
          <a:xfrm>
            <a:off x="41462553" y="21231860"/>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65" name="Rectangle 64"/>
          <p:cNvSpPr/>
          <p:nvPr/>
        </p:nvSpPr>
        <p:spPr>
          <a:xfrm>
            <a:off x="32552640" y="2166162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21926804"/>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data costs 0.0189, which is 8.2 times the seed spread, and the same eight checkpoints fall on a second dataset too. One of six audited web sources clears a 0.90 label-precision bar. This is why the robots exist.</a:t>
            </a:r>
          </a:p>
        </p:txBody>
      </p:sp>
      <p:sp>
        <p:nvSpPr>
          <p:cNvPr id="67" name="TextBox 66"/>
          <p:cNvSpPr txBox="1"/>
          <p:nvPr/>
        </p:nvSpPr>
        <p:spPr>
          <a:xfrm>
            <a:off x="11704320" y="2513939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68" name="Rectangle 67"/>
          <p:cNvSpPr/>
          <p:nvPr/>
        </p:nvSpPr>
        <p:spPr>
          <a:xfrm>
            <a:off x="11704320" y="2570073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m_ledger.png"/>
          <p:cNvPicPr>
            <a:picLocks noChangeAspect="1"/>
          </p:cNvPicPr>
          <p:nvPr/>
        </p:nvPicPr>
        <p:blipFill>
          <a:blip r:embed="rId7"/>
          <a:stretch>
            <a:fillRect/>
          </a:stretch>
        </p:blipFill>
        <p:spPr>
          <a:xfrm>
            <a:off x="11704320" y="26029919"/>
            <a:ext cx="20482560" cy="3749040"/>
          </a:xfrm>
          <a:prstGeom prst="rect">
            <a:avLst/>
          </a:prstGeom>
        </p:spPr>
      </p:pic>
      <p:sp>
        <p:nvSpPr>
          <p:cNvPr id="70" name="TextBox 69"/>
          <p:cNvSpPr txBox="1"/>
          <p:nvPr/>
        </p:nvSpPr>
        <p:spPr>
          <a:xfrm>
            <a:off x="11704320" y="29888687"/>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71" name="TextBox 70"/>
          <p:cNvSpPr txBox="1"/>
          <p:nvPr/>
        </p:nvSpPr>
        <p:spPr>
          <a:xfrm>
            <a:off x="731520" y="2513939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Six audited web sources</a:t>
            </a:r>
          </a:p>
        </p:txBody>
      </p:sp>
      <p:sp>
        <p:nvSpPr>
          <p:cNvPr id="72" name="Rectangle 71"/>
          <p:cNvSpPr/>
          <p:nvPr/>
        </p:nvSpPr>
        <p:spPr>
          <a:xfrm>
            <a:off x="731520" y="2570073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26029919"/>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Of 13,527 labelled images from six audited harvested sources, only 3,208 come from a source that clears a 0.90 label-precision bar. The other five score between 0.18 and 0.74. The same probe reads 1.000 on human-labelled CottonWeedDet12, so those are the data and not the instrument.</a:t>
            </a:r>
          </a:p>
        </p:txBody>
      </p:sp>
      <p:sp>
        <p:nvSpPr>
          <p:cNvPr id="74" name="TextBox 73"/>
          <p:cNvSpPr txBox="1"/>
          <p:nvPr/>
        </p:nvSpPr>
        <p:spPr>
          <a:xfrm>
            <a:off x="32552640" y="2513939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Who notices when it breaks</a:t>
            </a:r>
          </a:p>
        </p:txBody>
      </p:sp>
      <p:sp>
        <p:nvSpPr>
          <p:cNvPr id="75" name="Rectangle 74"/>
          <p:cNvSpPr/>
          <p:nvPr/>
        </p:nvSpPr>
        <p:spPr>
          <a:xfrm>
            <a:off x="32552640" y="2570073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2552640" y="26029919"/>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2552640" y="26148791"/>
            <a:ext cx="4030675"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78" name="TextBox 77"/>
          <p:cNvSpPr txBox="1"/>
          <p:nvPr/>
        </p:nvSpPr>
        <p:spPr>
          <a:xfrm>
            <a:off x="36583315" y="26148791"/>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79" name="TextBox 78"/>
          <p:cNvSpPr txBox="1"/>
          <p:nvPr/>
        </p:nvSpPr>
        <p:spPr>
          <a:xfrm>
            <a:off x="38810793" y="26148791"/>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80" name="TextBox 79"/>
          <p:cNvSpPr txBox="1"/>
          <p:nvPr/>
        </p:nvSpPr>
        <p:spPr>
          <a:xfrm>
            <a:off x="41038272" y="26148791"/>
            <a:ext cx="212140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incidents</a:t>
            </a:r>
          </a:p>
        </p:txBody>
      </p:sp>
      <p:sp>
        <p:nvSpPr>
          <p:cNvPr id="81" name="Rectangle 80"/>
          <p:cNvSpPr/>
          <p:nvPr/>
        </p:nvSpPr>
        <p:spPr>
          <a:xfrm>
            <a:off x="32552640" y="26514551"/>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2552640" y="26624279"/>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83" name="TextBox 82"/>
          <p:cNvSpPr txBox="1"/>
          <p:nvPr/>
        </p:nvSpPr>
        <p:spPr>
          <a:xfrm>
            <a:off x="36583315" y="26624279"/>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84" name="TextBox 83"/>
          <p:cNvSpPr txBox="1"/>
          <p:nvPr/>
        </p:nvSpPr>
        <p:spPr>
          <a:xfrm>
            <a:off x="38810793" y="26624279"/>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5" name="TextBox 84"/>
          <p:cNvSpPr txBox="1"/>
          <p:nvPr/>
        </p:nvSpPr>
        <p:spPr>
          <a:xfrm>
            <a:off x="41038272" y="26624279"/>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86" name="TextBox 85"/>
          <p:cNvSpPr txBox="1"/>
          <p:nvPr/>
        </p:nvSpPr>
        <p:spPr>
          <a:xfrm>
            <a:off x="32552640" y="27026615"/>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87" name="TextBox 86"/>
          <p:cNvSpPr txBox="1"/>
          <p:nvPr/>
        </p:nvSpPr>
        <p:spPr>
          <a:xfrm>
            <a:off x="36583315" y="27026615"/>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8" name="TextBox 87"/>
          <p:cNvSpPr txBox="1"/>
          <p:nvPr/>
        </p:nvSpPr>
        <p:spPr>
          <a:xfrm>
            <a:off x="38810793" y="27026615"/>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89" name="TextBox 88"/>
          <p:cNvSpPr txBox="1"/>
          <p:nvPr/>
        </p:nvSpPr>
        <p:spPr>
          <a:xfrm>
            <a:off x="41038272" y="27026615"/>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116</a:t>
            </a:r>
          </a:p>
        </p:txBody>
      </p:sp>
      <p:sp>
        <p:nvSpPr>
          <p:cNvPr id="90" name="TextBox 89"/>
          <p:cNvSpPr txBox="1"/>
          <p:nvPr/>
        </p:nvSpPr>
        <p:spPr>
          <a:xfrm>
            <a:off x="32552640" y="27428951"/>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91" name="TextBox 90"/>
          <p:cNvSpPr txBox="1"/>
          <p:nvPr/>
        </p:nvSpPr>
        <p:spPr>
          <a:xfrm>
            <a:off x="36583315" y="27428951"/>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92" name="TextBox 91"/>
          <p:cNvSpPr txBox="1"/>
          <p:nvPr/>
        </p:nvSpPr>
        <p:spPr>
          <a:xfrm>
            <a:off x="38810793" y="27428951"/>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93" name="TextBox 92"/>
          <p:cNvSpPr txBox="1"/>
          <p:nvPr/>
        </p:nvSpPr>
        <p:spPr>
          <a:xfrm>
            <a:off x="41038272" y="27428951"/>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113</a:t>
            </a:r>
          </a:p>
        </p:txBody>
      </p:sp>
      <p:sp>
        <p:nvSpPr>
          <p:cNvPr id="94" name="TextBox 93"/>
          <p:cNvSpPr txBox="1"/>
          <p:nvPr/>
        </p:nvSpPr>
        <p:spPr>
          <a:xfrm>
            <a:off x="32552640" y="27831287"/>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95" name="TextBox 94"/>
          <p:cNvSpPr txBox="1"/>
          <p:nvPr/>
        </p:nvSpPr>
        <p:spPr>
          <a:xfrm>
            <a:off x="36583315" y="27831287"/>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96" name="TextBox 95"/>
          <p:cNvSpPr txBox="1"/>
          <p:nvPr/>
        </p:nvSpPr>
        <p:spPr>
          <a:xfrm>
            <a:off x="38810793" y="27831287"/>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97" name="TextBox 96"/>
          <p:cNvSpPr txBox="1"/>
          <p:nvPr/>
        </p:nvSpPr>
        <p:spPr>
          <a:xfrm>
            <a:off x="41038272" y="27831287"/>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114</a:t>
            </a:r>
          </a:p>
        </p:txBody>
      </p:sp>
      <p:sp>
        <p:nvSpPr>
          <p:cNvPr id="98" name="TextBox 97"/>
          <p:cNvSpPr txBox="1"/>
          <p:nvPr/>
        </p:nvSpPr>
        <p:spPr>
          <a:xfrm>
            <a:off x="32552640" y="28233624"/>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Qwen3.8-27B</a:t>
            </a:r>
          </a:p>
        </p:txBody>
      </p:sp>
      <p:sp>
        <p:nvSpPr>
          <p:cNvPr id="99" name="TextBox 98"/>
          <p:cNvSpPr txBox="1"/>
          <p:nvPr/>
        </p:nvSpPr>
        <p:spPr>
          <a:xfrm>
            <a:off x="36583315" y="282336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100" name="TextBox 99"/>
          <p:cNvSpPr txBox="1"/>
          <p:nvPr/>
        </p:nvSpPr>
        <p:spPr>
          <a:xfrm>
            <a:off x="38810793" y="282336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101" name="TextBox 100"/>
          <p:cNvSpPr txBox="1"/>
          <p:nvPr/>
        </p:nvSpPr>
        <p:spPr>
          <a:xfrm>
            <a:off x="41038272" y="28233624"/>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57</a:t>
            </a:r>
          </a:p>
        </p:txBody>
      </p:sp>
      <p:sp>
        <p:nvSpPr>
          <p:cNvPr id="102" name="Rectangle 101"/>
          <p:cNvSpPr/>
          <p:nvPr/>
        </p:nvSpPr>
        <p:spPr>
          <a:xfrm>
            <a:off x="32552640" y="2866339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2552640" y="28928568"/>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162 real failures out of this project's own record, frozen as a corpus. The watchdog the loop was running returned no decision on any of the 149 dev cases. Recall does not order the reviewers by size; evidence does.</a:t>
            </a:r>
          </a:p>
        </p:txBody>
      </p:sp>
      <p:sp>
        <p:nvSpPr>
          <p:cNvPr id="104" name="Rectangle 103"/>
          <p:cNvSpPr/>
          <p:nvPr/>
        </p:nvSpPr>
        <p:spPr>
          <a:xfrm>
            <a:off x="731520" y="31165799"/>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731520" y="314218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and the last field drive was the same day. The supervisor is advisory. The laser has never fired at a weed under our control.</a:t>
            </a:r>
          </a:p>
        </p:txBody>
      </p:sp>
      <p:sp>
        <p:nvSpPr>
          <p:cNvPr id="106" name="TextBox 105"/>
          <p:cNvSpPr txBox="1"/>
          <p:nvPr/>
        </p:nvSpPr>
        <p:spPr>
          <a:xfrm>
            <a:off x="15026640" y="314218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test split; neither is ever differenced against the rest. That holdout is also the validation set during training, so every mAP here is a run's best epoch, a maximum over 21 to 100 evaluations on the set it is reported on.</a:t>
            </a:r>
          </a:p>
        </p:txBody>
      </p:sp>
      <p:sp>
        <p:nvSpPr>
          <p:cNvPr id="107" name="TextBox 106"/>
          <p:cNvSpPr txBox="1"/>
          <p:nvPr/>
        </p:nvSpPr>
        <p:spPr>
          <a:xfrm>
            <a:off x="29321759" y="31421831"/>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check we built after publishing it. 0.9033 is the best of four unseeded runs.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