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931920"/>
          </a:xfrm>
          <a:prstGeom prst="rect">
            <a:avLst/>
          </a:prstGeom>
          <a:solidFill>
            <a:srgbClr val="143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31920"/>
            <a:ext cx="43891200" cy="45720"/>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10200" b="1">
                <a:solidFill>
                  <a:srgbClr val="FFFFFF"/>
                </a:solidFill>
                <a:latin typeface="Arial"/>
              </a:rPr>
              <a:t>How Much of This Pipeline Can the Agents Run by Themselves?</a:t>
            </a:r>
          </a:p>
        </p:txBody>
      </p:sp>
      <p:sp>
        <p:nvSpPr>
          <p:cNvPr id="5" name="TextBox 4"/>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FFFFFF"/>
                </a:solidFill>
                <a:latin typeface="Arial"/>
              </a:rPr>
              <a:t>Harry He   ·   Hongbo Zhang</a:t>
            </a:r>
          </a:p>
        </p:txBody>
      </p:sp>
      <p:sp>
        <p:nvSpPr>
          <p:cNvPr id="6" name="TextBox 5"/>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C2CEDA"/>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1E293B"/>
                </a:solidFill>
                <a:latin typeface="Arial"/>
              </a:rPr>
              <a:t>We spent six months finding out, on our own robots and on PSC Bridges-2. The answer is that collection and training run alone, and judging does not.</a:t>
            </a:r>
          </a:p>
        </p:txBody>
      </p:sp>
      <p:sp>
        <p:nvSpPr>
          <p:cNvPr id="8" name="TextBox 7"/>
          <p:cNvSpPr txBox="1"/>
          <p:nvPr/>
        </p:nvSpPr>
        <p:spPr>
          <a:xfrm>
            <a:off x="731520" y="5623560"/>
            <a:ext cx="424281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The route we actually took</a:t>
            </a:r>
          </a:p>
        </p:txBody>
      </p:sp>
      <p:sp>
        <p:nvSpPr>
          <p:cNvPr id="9" name="Rectangle 8"/>
          <p:cNvSpPr/>
          <p:nvPr/>
        </p:nvSpPr>
        <p:spPr>
          <a:xfrm>
            <a:off x="731520" y="6190488"/>
            <a:ext cx="424281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_journey.png"/>
          <p:cNvPicPr>
            <a:picLocks noChangeAspect="1"/>
          </p:cNvPicPr>
          <p:nvPr/>
        </p:nvPicPr>
        <p:blipFill>
          <a:blip r:embed="rId2"/>
          <a:stretch>
            <a:fillRect/>
          </a:stretch>
        </p:blipFill>
        <p:spPr>
          <a:xfrm>
            <a:off x="731520" y="6519672"/>
            <a:ext cx="42428160" cy="3017520"/>
          </a:xfrm>
          <a:prstGeom prst="rect">
            <a:avLst/>
          </a:prstGeom>
        </p:spPr>
      </p:pic>
      <p:sp>
        <p:nvSpPr>
          <p:cNvPr id="11" name="TextBox 10"/>
          <p:cNvSpPr txBox="1"/>
          <p:nvPr/>
        </p:nvSpPr>
        <p:spPr>
          <a:xfrm>
            <a:off x="731520" y="9646919"/>
            <a:ext cx="424281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1.  Six months. Four of these eight turns are things that did not work, and two are numbers this project measured, published internally and then withdrew after checking them.</a:t>
            </a:r>
          </a:p>
        </p:txBody>
      </p:sp>
      <p:sp>
        <p:nvSpPr>
          <p:cNvPr id="12" name="TextBox 11"/>
          <p:cNvSpPr txBox="1"/>
          <p:nvPr/>
        </p:nvSpPr>
        <p:spPr>
          <a:xfrm>
            <a:off x="731520" y="10508487"/>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What we collect now</a:t>
            </a:r>
          </a:p>
        </p:txBody>
      </p:sp>
      <p:sp>
        <p:nvSpPr>
          <p:cNvPr id="13" name="Rectangle 12"/>
          <p:cNvSpPr/>
          <p:nvPr/>
        </p:nvSpPr>
        <p:spPr>
          <a:xfrm>
            <a:off x="731520" y="11075415"/>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_robots.png"/>
          <p:cNvPicPr>
            <a:picLocks noChangeAspect="1"/>
          </p:cNvPicPr>
          <p:nvPr/>
        </p:nvPicPr>
        <p:blipFill>
          <a:blip r:embed="rId3"/>
          <a:stretch>
            <a:fillRect/>
          </a:stretch>
        </p:blipFill>
        <p:spPr>
          <a:xfrm>
            <a:off x="731520" y="11404600"/>
            <a:ext cx="10607040" cy="2377440"/>
          </a:xfrm>
          <a:prstGeom prst="rect">
            <a:avLst/>
          </a:prstGeom>
        </p:spPr>
      </p:pic>
      <p:sp>
        <p:nvSpPr>
          <p:cNvPr id="15" name="TextBox 14"/>
          <p:cNvSpPr txBox="1"/>
          <p:nvPr/>
        </p:nvSpPr>
        <p:spPr>
          <a:xfrm>
            <a:off x="731520" y="13891767"/>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2.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16" name="TextBox 15"/>
          <p:cNvSpPr txBox="1"/>
          <p:nvPr/>
        </p:nvSpPr>
        <p:spPr>
          <a:xfrm>
            <a:off x="731520" y="15161767"/>
            <a:ext cx="10607040" cy="365760"/>
          </a:xfrm>
          <a:prstGeom prst="rect">
            <a:avLst/>
          </a:prstGeom>
          <a:noFill/>
        </p:spPr>
        <p:txBody>
          <a:bodyPr wrap="square" lIns="0" rIns="0" tIns="0" bIns="0">
            <a:spAutoFit/>
          </a:bodyPr>
          <a:lstStyle/>
          <a:p>
            <a:pPr algn="l">
              <a:lnSpc>
                <a:spcPct val="122000"/>
              </a:lnSpc>
              <a:spcAft>
                <a:spcPts val="2400"/>
              </a:spcAft>
            </a:pPr>
            <a:r>
              <a:rPr sz="2000" b="0">
                <a:solidFill>
                  <a:srgbClr val="1E293B"/>
                </a:solidFill>
                <a:latin typeface="Arial"/>
              </a:rPr>
              <a:t>Two ground vehicles drive our own crop plots. Robot 241 streams frames, position and attitude; the laser cart carries the weeder and two cameras. 2,686 frames in 26 drives, 91,955 telemetry rows across nine streams, 342 m of GPS track. None of it is labelled, and the cart writes no position at all.</a:t>
            </a:r>
          </a:p>
        </p:txBody>
      </p:sp>
      <p:pic>
        <p:nvPicPr>
          <p:cNvPr id="17" name="Picture 16" descr="h_drive.png"/>
          <p:cNvPicPr>
            <a:picLocks noChangeAspect="1"/>
          </p:cNvPicPr>
          <p:nvPr/>
        </p:nvPicPr>
        <p:blipFill>
          <a:blip r:embed="rId4"/>
          <a:stretch>
            <a:fillRect/>
          </a:stretch>
        </p:blipFill>
        <p:spPr>
          <a:xfrm>
            <a:off x="731520" y="16706088"/>
            <a:ext cx="10607040" cy="4023360"/>
          </a:xfrm>
          <a:prstGeom prst="rect">
            <a:avLst/>
          </a:prstGeom>
        </p:spPr>
      </p:pic>
      <p:sp>
        <p:nvSpPr>
          <p:cNvPr id="18" name="TextBox 17"/>
          <p:cNvSpPr txBox="1"/>
          <p:nvPr/>
        </p:nvSpPr>
        <p:spPr>
          <a:xfrm>
            <a:off x="731520" y="20839176"/>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3.  Robot 241, 2026-08-29: one 213 s pass through a crop plot. (h) GPS track from the board fix. (i) IMU heading over the same pass.</a:t>
            </a:r>
          </a:p>
        </p:txBody>
      </p:sp>
      <p:sp>
        <p:nvSpPr>
          <p:cNvPr id="19" name="TextBox 18"/>
          <p:cNvSpPr txBox="1"/>
          <p:nvPr/>
        </p:nvSpPr>
        <p:spPr>
          <a:xfrm>
            <a:off x="11704320" y="10508487"/>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The part that runs alone</a:t>
            </a:r>
          </a:p>
        </p:txBody>
      </p:sp>
      <p:sp>
        <p:nvSpPr>
          <p:cNvPr id="20" name="Rectangle 19"/>
          <p:cNvSpPr/>
          <p:nvPr/>
        </p:nvSpPr>
        <p:spPr>
          <a:xfrm>
            <a:off x="11704320" y="11075415"/>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n_system.png"/>
          <p:cNvPicPr>
            <a:picLocks noChangeAspect="1"/>
          </p:cNvPicPr>
          <p:nvPr/>
        </p:nvPicPr>
        <p:blipFill>
          <a:blip r:embed="rId5"/>
          <a:stretch>
            <a:fillRect/>
          </a:stretch>
        </p:blipFill>
        <p:spPr>
          <a:xfrm>
            <a:off x="11704320" y="11404600"/>
            <a:ext cx="20482560" cy="3383280"/>
          </a:xfrm>
          <a:prstGeom prst="rect">
            <a:avLst/>
          </a:prstGeom>
        </p:spPr>
      </p:pic>
      <p:sp>
        <p:nvSpPr>
          <p:cNvPr id="22" name="TextBox 21"/>
          <p:cNvSpPr txBox="1"/>
          <p:nvPr/>
        </p:nvSpPr>
        <p:spPr>
          <a:xfrm>
            <a:off x="11704320" y="14897608"/>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4.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23" name="TextBox 22"/>
          <p:cNvSpPr txBox="1"/>
          <p:nvPr/>
        </p:nvSpPr>
        <p:spPr>
          <a:xfrm>
            <a:off x="11704320" y="15688056"/>
            <a:ext cx="20482560" cy="365760"/>
          </a:xfrm>
          <a:prstGeom prst="rect">
            <a:avLst/>
          </a:prstGeom>
          <a:noFill/>
        </p:spPr>
        <p:txBody>
          <a:bodyPr wrap="square" lIns="0" rIns="0" tIns="0" bIns="0">
            <a:spAutoFit/>
          </a:bodyPr>
          <a:lstStyle/>
          <a:p>
            <a:pPr algn="l">
              <a:lnSpc>
                <a:spcPct val="122000"/>
              </a:lnSpc>
              <a:spcAft>
                <a:spcPts val="1200"/>
              </a:spcAft>
            </a:pPr>
            <a:r>
              <a:rPr sz="2000" b="0">
                <a:solidFill>
                  <a:srgbClr val="1E293B"/>
                </a:solidFill>
                <a:latin typeface="Arial"/>
              </a:rPr>
              <a:t>Collection and training run without a person. A round searches public sources, filters what it finds against a DINOv2 gate, merges into a registry that excludes the holdout by content hash, trains on an H100 allocation and evaluates. Fifteen rounds went through that path and every one reported success.</a:t>
            </a:r>
          </a:p>
        </p:txBody>
      </p:sp>
      <p:sp>
        <p:nvSpPr>
          <p:cNvPr id="24" name="TextBox 23"/>
          <p:cNvSpPr txBox="1"/>
          <p:nvPr/>
        </p:nvSpPr>
        <p:spPr>
          <a:xfrm>
            <a:off x="11704320" y="16460216"/>
            <a:ext cx="20482560" cy="365760"/>
          </a:xfrm>
          <a:prstGeom prst="rect">
            <a:avLst/>
          </a:prstGeom>
          <a:noFill/>
        </p:spPr>
        <p:txBody>
          <a:bodyPr wrap="square" lIns="0" rIns="0" tIns="0" bIns="0">
            <a:spAutoFit/>
          </a:bodyPr>
          <a:lstStyle/>
          <a:p>
            <a:pPr algn="l">
              <a:lnSpc>
                <a:spcPct val="100000"/>
              </a:lnSpc>
              <a:spcAft>
                <a:spcPts val="0"/>
              </a:spcAft>
            </a:pPr>
            <a:r>
              <a:rPr sz="2400" b="1">
                <a:solidFill>
                  <a:srgbClr val="1E293B"/>
                </a:solidFill>
                <a:latin typeface="Arial"/>
              </a:rPr>
              <a:t>What fifteen unattended rounds actually did</a:t>
            </a:r>
          </a:p>
        </p:txBody>
      </p:sp>
      <p:pic>
        <p:nvPicPr>
          <p:cNvPr id="25" name="Picture 24" descr="f_rounds.png"/>
          <p:cNvPicPr>
            <a:picLocks noChangeAspect="1"/>
          </p:cNvPicPr>
          <p:nvPr/>
        </p:nvPicPr>
        <p:blipFill>
          <a:blip r:embed="rId6"/>
          <a:stretch>
            <a:fillRect/>
          </a:stretch>
        </p:blipFill>
        <p:spPr>
          <a:xfrm>
            <a:off x="11704320" y="16880840"/>
            <a:ext cx="20482560" cy="4663440"/>
          </a:xfrm>
          <a:prstGeom prst="rect">
            <a:avLst/>
          </a:prstGeom>
        </p:spPr>
      </p:pic>
      <p:sp>
        <p:nvSpPr>
          <p:cNvPr id="26" name="TextBox 25"/>
          <p:cNvSpPr txBox="1"/>
          <p:nvPr/>
        </p:nvSpPr>
        <p:spPr>
          <a:xfrm>
            <a:off x="11704320" y="21654008"/>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5.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27" name="TextBox 26"/>
          <p:cNvSpPr txBox="1"/>
          <p:nvPr/>
        </p:nvSpPr>
        <p:spPr>
          <a:xfrm>
            <a:off x="11704320" y="22684232"/>
            <a:ext cx="20482560" cy="365760"/>
          </a:xfrm>
          <a:prstGeom prst="rect">
            <a:avLst/>
          </a:prstGeom>
          <a:noFill/>
        </p:spPr>
        <p:txBody>
          <a:bodyPr wrap="square" lIns="0" rIns="0" tIns="0" bIns="0">
            <a:spAutoFit/>
          </a:bodyPr>
          <a:lstStyle/>
          <a:p>
            <a:pPr algn="l">
              <a:lnSpc>
                <a:spcPct val="122000"/>
              </a:lnSpc>
              <a:spcAft>
                <a:spcPts val="1200"/>
              </a:spcAft>
            </a:pPr>
            <a:r>
              <a:rPr sz="2000" b="0">
                <a:solidFill>
                  <a:srgbClr val="1E293B"/>
                </a:solidFill>
                <a:latin typeface="Arial"/>
              </a:rPr>
              <a:t>Accuracy fell the whole time. The corpus stopped growing at round three and eight rounds collected nothing while reporting success, so what was left was the chain: each round warm-started from the last one's weights. A control on round 15's own data prices that at +0.0287, 5.1 times this recipe's own seed spread. Completing the truncated schedule does not recover it, which was the obvious fix and the wrong one.</a:t>
            </a:r>
          </a:p>
        </p:txBody>
      </p:sp>
      <p:sp>
        <p:nvSpPr>
          <p:cNvPr id="28" name="TextBox 27"/>
          <p:cNvSpPr txBox="1"/>
          <p:nvPr/>
        </p:nvSpPr>
        <p:spPr>
          <a:xfrm>
            <a:off x="32552640" y="10508487"/>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The part that does not</a:t>
            </a:r>
          </a:p>
        </p:txBody>
      </p:sp>
      <p:sp>
        <p:nvSpPr>
          <p:cNvPr id="29" name="Rectangle 28"/>
          <p:cNvSpPr/>
          <p:nvPr/>
        </p:nvSpPr>
        <p:spPr>
          <a:xfrm>
            <a:off x="32552640" y="11075415"/>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552640" y="11404600"/>
            <a:ext cx="10607040" cy="365760"/>
          </a:xfrm>
          <a:prstGeom prst="rect">
            <a:avLst/>
          </a:prstGeom>
          <a:noFill/>
        </p:spPr>
        <p:txBody>
          <a:bodyPr wrap="square" lIns="0" rIns="0" tIns="0" bIns="0">
            <a:spAutoFit/>
          </a:bodyPr>
          <a:lstStyle/>
          <a:p>
            <a:pPr algn="l">
              <a:lnSpc>
                <a:spcPct val="122000"/>
              </a:lnSpc>
              <a:spcAft>
                <a:spcPts val="2400"/>
              </a:spcAft>
            </a:pPr>
            <a:r>
              <a:rPr sz="2000" b="0">
                <a:solidFill>
                  <a:srgbClr val="1E293B"/>
                </a:solidFill>
                <a:latin typeface="Arial"/>
              </a:rPr>
              <a:t>Judging does not run alone yet. We froze 162 real failures out of this project's own engineering record and scored every kind of supervision we had. The watchdog the loop was running returned no decision on any of the 149 dev cases.</a:t>
            </a:r>
          </a:p>
        </p:txBody>
      </p:sp>
      <p:sp>
        <p:nvSpPr>
          <p:cNvPr id="31" name="Rectangle 30"/>
          <p:cNvSpPr/>
          <p:nvPr/>
        </p:nvSpPr>
        <p:spPr>
          <a:xfrm>
            <a:off x="32552640" y="12639039"/>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552640" y="12757912"/>
            <a:ext cx="4030675" cy="365760"/>
          </a:xfrm>
          <a:prstGeom prst="rect">
            <a:avLst/>
          </a:prstGeom>
          <a:noFill/>
        </p:spPr>
        <p:txBody>
          <a:bodyPr wrap="square" lIns="0" rIns="0" tIns="0" bIns="0">
            <a:spAutoFit/>
          </a:bodyPr>
          <a:lstStyle/>
          <a:p>
            <a:pPr algn="l">
              <a:lnSpc>
                <a:spcPct val="100000"/>
              </a:lnSpc>
              <a:spcAft>
                <a:spcPts val="0"/>
              </a:spcAft>
            </a:pPr>
            <a:r>
              <a:rPr sz="1550" b="1">
                <a:solidFill>
                  <a:srgbClr val="1E293B"/>
                </a:solidFill>
                <a:latin typeface="Arial"/>
              </a:rPr>
              <a:t>reviewer</a:t>
            </a:r>
          </a:p>
        </p:txBody>
      </p:sp>
      <p:sp>
        <p:nvSpPr>
          <p:cNvPr id="33" name="TextBox 32"/>
          <p:cNvSpPr txBox="1"/>
          <p:nvPr/>
        </p:nvSpPr>
        <p:spPr>
          <a:xfrm>
            <a:off x="36583315" y="12757912"/>
            <a:ext cx="2227478"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recall</a:t>
            </a:r>
          </a:p>
        </p:txBody>
      </p:sp>
      <p:sp>
        <p:nvSpPr>
          <p:cNvPr id="34" name="TextBox 33"/>
          <p:cNvSpPr txBox="1"/>
          <p:nvPr/>
        </p:nvSpPr>
        <p:spPr>
          <a:xfrm>
            <a:off x="38810793" y="12757912"/>
            <a:ext cx="2227478"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grounded</a:t>
            </a:r>
          </a:p>
        </p:txBody>
      </p:sp>
      <p:sp>
        <p:nvSpPr>
          <p:cNvPr id="35" name="TextBox 34"/>
          <p:cNvSpPr txBox="1"/>
          <p:nvPr/>
        </p:nvSpPr>
        <p:spPr>
          <a:xfrm>
            <a:off x="41038272" y="12757912"/>
            <a:ext cx="2121408"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incidents</a:t>
            </a:r>
          </a:p>
        </p:txBody>
      </p:sp>
      <p:sp>
        <p:nvSpPr>
          <p:cNvPr id="36" name="Rectangle 35"/>
          <p:cNvSpPr/>
          <p:nvPr/>
        </p:nvSpPr>
        <p:spPr>
          <a:xfrm>
            <a:off x="32552640" y="13123672"/>
            <a:ext cx="10607040" cy="14630"/>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552640" y="13233400"/>
            <a:ext cx="4030675"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scripted watchdog</a:t>
            </a:r>
          </a:p>
        </p:txBody>
      </p:sp>
      <p:sp>
        <p:nvSpPr>
          <p:cNvPr id="38" name="TextBox 37"/>
          <p:cNvSpPr txBox="1"/>
          <p:nvPr/>
        </p:nvSpPr>
        <p:spPr>
          <a:xfrm>
            <a:off x="36583315" y="13233400"/>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no decision</a:t>
            </a:r>
          </a:p>
        </p:txBody>
      </p:sp>
      <p:sp>
        <p:nvSpPr>
          <p:cNvPr id="39" name="TextBox 38"/>
          <p:cNvSpPr txBox="1"/>
          <p:nvPr/>
        </p:nvSpPr>
        <p:spPr>
          <a:xfrm>
            <a:off x="38810793" y="13233400"/>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a:t>
            </a:r>
          </a:p>
        </p:txBody>
      </p:sp>
      <p:sp>
        <p:nvSpPr>
          <p:cNvPr id="40" name="TextBox 39"/>
          <p:cNvSpPr txBox="1"/>
          <p:nvPr/>
        </p:nvSpPr>
        <p:spPr>
          <a:xfrm>
            <a:off x="41038272" y="13233400"/>
            <a:ext cx="212140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a:t>
            </a:r>
          </a:p>
        </p:txBody>
      </p:sp>
      <p:sp>
        <p:nvSpPr>
          <p:cNvPr id="41" name="TextBox 40"/>
          <p:cNvSpPr txBox="1"/>
          <p:nvPr/>
        </p:nvSpPr>
        <p:spPr>
          <a:xfrm>
            <a:off x="32552640" y="13635735"/>
            <a:ext cx="4030675"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12 rules</a:t>
            </a:r>
          </a:p>
        </p:txBody>
      </p:sp>
      <p:sp>
        <p:nvSpPr>
          <p:cNvPr id="42" name="TextBox 41"/>
          <p:cNvSpPr txBox="1"/>
          <p:nvPr/>
        </p:nvSpPr>
        <p:spPr>
          <a:xfrm>
            <a:off x="36583315" y="13635735"/>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0.095</a:t>
            </a:r>
          </a:p>
        </p:txBody>
      </p:sp>
      <p:sp>
        <p:nvSpPr>
          <p:cNvPr id="43" name="TextBox 42"/>
          <p:cNvSpPr txBox="1"/>
          <p:nvPr/>
        </p:nvSpPr>
        <p:spPr>
          <a:xfrm>
            <a:off x="38810793" y="13635735"/>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0.095</a:t>
            </a:r>
          </a:p>
        </p:txBody>
      </p:sp>
      <p:sp>
        <p:nvSpPr>
          <p:cNvPr id="44" name="TextBox 43"/>
          <p:cNvSpPr txBox="1"/>
          <p:nvPr/>
        </p:nvSpPr>
        <p:spPr>
          <a:xfrm>
            <a:off x="41038272" y="13635735"/>
            <a:ext cx="212140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116</a:t>
            </a:r>
          </a:p>
        </p:txBody>
      </p:sp>
      <p:sp>
        <p:nvSpPr>
          <p:cNvPr id="45" name="TextBox 44"/>
          <p:cNvSpPr txBox="1"/>
          <p:nvPr/>
        </p:nvSpPr>
        <p:spPr>
          <a:xfrm>
            <a:off x="32552640" y="14038071"/>
            <a:ext cx="4030675"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Qwen2.5-7B</a:t>
            </a:r>
          </a:p>
        </p:txBody>
      </p:sp>
      <p:sp>
        <p:nvSpPr>
          <p:cNvPr id="46" name="TextBox 45"/>
          <p:cNvSpPr txBox="1"/>
          <p:nvPr/>
        </p:nvSpPr>
        <p:spPr>
          <a:xfrm>
            <a:off x="36583315" y="14038071"/>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0.823</a:t>
            </a:r>
          </a:p>
        </p:txBody>
      </p:sp>
      <p:sp>
        <p:nvSpPr>
          <p:cNvPr id="47" name="TextBox 46"/>
          <p:cNvSpPr txBox="1"/>
          <p:nvPr/>
        </p:nvSpPr>
        <p:spPr>
          <a:xfrm>
            <a:off x="38810793" y="14038071"/>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0.274</a:t>
            </a:r>
          </a:p>
        </p:txBody>
      </p:sp>
      <p:sp>
        <p:nvSpPr>
          <p:cNvPr id="48" name="TextBox 47"/>
          <p:cNvSpPr txBox="1"/>
          <p:nvPr/>
        </p:nvSpPr>
        <p:spPr>
          <a:xfrm>
            <a:off x="41038272" y="14038071"/>
            <a:ext cx="212140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113</a:t>
            </a:r>
          </a:p>
        </p:txBody>
      </p:sp>
      <p:sp>
        <p:nvSpPr>
          <p:cNvPr id="49" name="TextBox 48"/>
          <p:cNvSpPr txBox="1"/>
          <p:nvPr/>
        </p:nvSpPr>
        <p:spPr>
          <a:xfrm>
            <a:off x="32552640" y="14440407"/>
            <a:ext cx="4030675"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Qwen3-14B</a:t>
            </a:r>
          </a:p>
        </p:txBody>
      </p:sp>
      <p:sp>
        <p:nvSpPr>
          <p:cNvPr id="50" name="TextBox 49"/>
          <p:cNvSpPr txBox="1"/>
          <p:nvPr/>
        </p:nvSpPr>
        <p:spPr>
          <a:xfrm>
            <a:off x="36583315" y="14440407"/>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0.675</a:t>
            </a:r>
          </a:p>
        </p:txBody>
      </p:sp>
      <p:sp>
        <p:nvSpPr>
          <p:cNvPr id="51" name="TextBox 50"/>
          <p:cNvSpPr txBox="1"/>
          <p:nvPr/>
        </p:nvSpPr>
        <p:spPr>
          <a:xfrm>
            <a:off x="38810793" y="14440407"/>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0.614</a:t>
            </a:r>
          </a:p>
        </p:txBody>
      </p:sp>
      <p:sp>
        <p:nvSpPr>
          <p:cNvPr id="52" name="TextBox 51"/>
          <p:cNvSpPr txBox="1"/>
          <p:nvPr/>
        </p:nvSpPr>
        <p:spPr>
          <a:xfrm>
            <a:off x="41038272" y="14440407"/>
            <a:ext cx="212140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114</a:t>
            </a:r>
          </a:p>
        </p:txBody>
      </p:sp>
      <p:sp>
        <p:nvSpPr>
          <p:cNvPr id="53" name="TextBox 52"/>
          <p:cNvSpPr txBox="1"/>
          <p:nvPr/>
        </p:nvSpPr>
        <p:spPr>
          <a:xfrm>
            <a:off x="32552640" y="14842743"/>
            <a:ext cx="4030675"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Qwen3.8-27B</a:t>
            </a:r>
          </a:p>
        </p:txBody>
      </p:sp>
      <p:sp>
        <p:nvSpPr>
          <p:cNvPr id="54" name="TextBox 53"/>
          <p:cNvSpPr txBox="1"/>
          <p:nvPr/>
        </p:nvSpPr>
        <p:spPr>
          <a:xfrm>
            <a:off x="36583315" y="14842743"/>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0.702</a:t>
            </a:r>
          </a:p>
        </p:txBody>
      </p:sp>
      <p:sp>
        <p:nvSpPr>
          <p:cNvPr id="55" name="TextBox 54"/>
          <p:cNvSpPr txBox="1"/>
          <p:nvPr/>
        </p:nvSpPr>
        <p:spPr>
          <a:xfrm>
            <a:off x="38810793" y="14842743"/>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0.702</a:t>
            </a:r>
          </a:p>
        </p:txBody>
      </p:sp>
      <p:sp>
        <p:nvSpPr>
          <p:cNvPr id="56" name="TextBox 55"/>
          <p:cNvSpPr txBox="1"/>
          <p:nvPr/>
        </p:nvSpPr>
        <p:spPr>
          <a:xfrm>
            <a:off x="41038272" y="14842743"/>
            <a:ext cx="212140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57</a:t>
            </a:r>
          </a:p>
        </p:txBody>
      </p:sp>
      <p:sp>
        <p:nvSpPr>
          <p:cNvPr id="57" name="Rectangle 56"/>
          <p:cNvSpPr/>
          <p:nvPr/>
        </p:nvSpPr>
        <p:spPr>
          <a:xfrm>
            <a:off x="32552640" y="15272512"/>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552640" y="15537687"/>
            <a:ext cx="1060704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Recall does not order the reviewers by size. Evidence does. The 7 B has the highest recall on the table and two thirds of what it reports quotes a line that does not exist. That is the size class we had been running.</a:t>
            </a:r>
          </a:p>
        </p:txBody>
      </p:sp>
      <p:sp>
        <p:nvSpPr>
          <p:cNvPr id="59" name="TextBox 58"/>
          <p:cNvSpPr txBox="1"/>
          <p:nvPr/>
        </p:nvSpPr>
        <p:spPr>
          <a:xfrm>
            <a:off x="32552640" y="16488663"/>
            <a:ext cx="10607040" cy="365760"/>
          </a:xfrm>
          <a:prstGeom prst="rect">
            <a:avLst/>
          </a:prstGeom>
          <a:noFill/>
        </p:spPr>
        <p:txBody>
          <a:bodyPr wrap="square" lIns="0" rIns="0" tIns="0" bIns="0">
            <a:spAutoFit/>
          </a:bodyPr>
          <a:lstStyle/>
          <a:p>
            <a:pPr algn="l">
              <a:lnSpc>
                <a:spcPct val="100000"/>
              </a:lnSpc>
              <a:spcAft>
                <a:spcPts val="0"/>
              </a:spcAft>
            </a:pPr>
            <a:r>
              <a:rPr sz="2400" b="1">
                <a:solidFill>
                  <a:srgbClr val="1E293B"/>
                </a:solidFill>
                <a:latin typeface="Arial"/>
              </a:rPr>
              <a:t>Does more data help?</a:t>
            </a:r>
          </a:p>
        </p:txBody>
      </p:sp>
      <p:sp>
        <p:nvSpPr>
          <p:cNvPr id="60" name="Rectangle 59"/>
          <p:cNvSpPr/>
          <p:nvPr/>
        </p:nvSpPr>
        <p:spPr>
          <a:xfrm>
            <a:off x="32552640" y="16909288"/>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552640" y="17028159"/>
            <a:ext cx="4667097" cy="365760"/>
          </a:xfrm>
          <a:prstGeom prst="rect">
            <a:avLst/>
          </a:prstGeom>
          <a:noFill/>
        </p:spPr>
        <p:txBody>
          <a:bodyPr wrap="square" lIns="0" rIns="0" tIns="0" bIns="0">
            <a:spAutoFit/>
          </a:bodyPr>
          <a:lstStyle/>
          <a:p>
            <a:pPr algn="l">
              <a:lnSpc>
                <a:spcPct val="100000"/>
              </a:lnSpc>
              <a:spcAft>
                <a:spcPts val="0"/>
              </a:spcAft>
            </a:pPr>
            <a:r>
              <a:rPr sz="1550" b="1">
                <a:solidFill>
                  <a:srgbClr val="1E293B"/>
                </a:solidFill>
                <a:latin typeface="Arial"/>
              </a:rPr>
              <a:t>harvested added</a:t>
            </a:r>
          </a:p>
        </p:txBody>
      </p:sp>
      <p:sp>
        <p:nvSpPr>
          <p:cNvPr id="62" name="TextBox 61"/>
          <p:cNvSpPr txBox="1"/>
          <p:nvPr/>
        </p:nvSpPr>
        <p:spPr>
          <a:xfrm>
            <a:off x="37219737" y="17028159"/>
            <a:ext cx="4242816"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mAP50-95</a:t>
            </a:r>
          </a:p>
        </p:txBody>
      </p:sp>
      <p:sp>
        <p:nvSpPr>
          <p:cNvPr id="63" name="TextBox 62"/>
          <p:cNvSpPr txBox="1"/>
          <p:nvPr/>
        </p:nvSpPr>
        <p:spPr>
          <a:xfrm>
            <a:off x="41462553" y="17028159"/>
            <a:ext cx="1697126"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n</a:t>
            </a:r>
          </a:p>
        </p:txBody>
      </p:sp>
      <p:sp>
        <p:nvSpPr>
          <p:cNvPr id="64" name="Rectangle 63"/>
          <p:cNvSpPr/>
          <p:nvPr/>
        </p:nvSpPr>
        <p:spPr>
          <a:xfrm>
            <a:off x="32552640" y="17393919"/>
            <a:ext cx="10607040" cy="14630"/>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552640" y="17503647"/>
            <a:ext cx="4667097"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none, the core</a:t>
            </a:r>
          </a:p>
        </p:txBody>
      </p:sp>
      <p:sp>
        <p:nvSpPr>
          <p:cNvPr id="66" name="TextBox 65"/>
          <p:cNvSpPr txBox="1"/>
          <p:nvPr/>
        </p:nvSpPr>
        <p:spPr>
          <a:xfrm>
            <a:off x="37219737" y="17503647"/>
            <a:ext cx="424281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0.8637 ± 0.0027</a:t>
            </a:r>
          </a:p>
        </p:txBody>
      </p:sp>
      <p:sp>
        <p:nvSpPr>
          <p:cNvPr id="67" name="TextBox 66"/>
          <p:cNvSpPr txBox="1"/>
          <p:nvPr/>
        </p:nvSpPr>
        <p:spPr>
          <a:xfrm>
            <a:off x="41462553" y="17503647"/>
            <a:ext cx="169712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3</a:t>
            </a:r>
          </a:p>
        </p:txBody>
      </p:sp>
      <p:sp>
        <p:nvSpPr>
          <p:cNvPr id="68" name="TextBox 67"/>
          <p:cNvSpPr txBox="1"/>
          <p:nvPr/>
        </p:nvSpPr>
        <p:spPr>
          <a:xfrm>
            <a:off x="32552640" y="17905984"/>
            <a:ext cx="4667097"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+5,000</a:t>
            </a:r>
          </a:p>
        </p:txBody>
      </p:sp>
      <p:sp>
        <p:nvSpPr>
          <p:cNvPr id="69" name="TextBox 68"/>
          <p:cNvSpPr txBox="1"/>
          <p:nvPr/>
        </p:nvSpPr>
        <p:spPr>
          <a:xfrm>
            <a:off x="37219737" y="17905984"/>
            <a:ext cx="424281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0.8609 ± 0.0036</a:t>
            </a:r>
          </a:p>
        </p:txBody>
      </p:sp>
      <p:sp>
        <p:nvSpPr>
          <p:cNvPr id="70" name="TextBox 69"/>
          <p:cNvSpPr txBox="1"/>
          <p:nvPr/>
        </p:nvSpPr>
        <p:spPr>
          <a:xfrm>
            <a:off x="41462553" y="17905984"/>
            <a:ext cx="169712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3</a:t>
            </a:r>
          </a:p>
        </p:txBody>
      </p:sp>
      <p:sp>
        <p:nvSpPr>
          <p:cNvPr id="71" name="TextBox 70"/>
          <p:cNvSpPr txBox="1"/>
          <p:nvPr/>
        </p:nvSpPr>
        <p:spPr>
          <a:xfrm>
            <a:off x="32552640" y="18308320"/>
            <a:ext cx="4667097"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+15,000</a:t>
            </a:r>
          </a:p>
        </p:txBody>
      </p:sp>
      <p:sp>
        <p:nvSpPr>
          <p:cNvPr id="72" name="TextBox 71"/>
          <p:cNvSpPr txBox="1"/>
          <p:nvPr/>
        </p:nvSpPr>
        <p:spPr>
          <a:xfrm>
            <a:off x="37219737" y="18308320"/>
            <a:ext cx="424281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0.8580 ± 0.0047</a:t>
            </a:r>
          </a:p>
        </p:txBody>
      </p:sp>
      <p:sp>
        <p:nvSpPr>
          <p:cNvPr id="73" name="TextBox 72"/>
          <p:cNvSpPr txBox="1"/>
          <p:nvPr/>
        </p:nvSpPr>
        <p:spPr>
          <a:xfrm>
            <a:off x="41462553" y="18308320"/>
            <a:ext cx="169712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3</a:t>
            </a:r>
          </a:p>
        </p:txBody>
      </p:sp>
      <p:sp>
        <p:nvSpPr>
          <p:cNvPr id="74" name="TextBox 73"/>
          <p:cNvSpPr txBox="1"/>
          <p:nvPr/>
        </p:nvSpPr>
        <p:spPr>
          <a:xfrm>
            <a:off x="32552640" y="18710656"/>
            <a:ext cx="4667097" cy="365760"/>
          </a:xfrm>
          <a:prstGeom prst="rect">
            <a:avLst/>
          </a:prstGeom>
          <a:noFill/>
        </p:spPr>
        <p:txBody>
          <a:bodyPr wrap="square" lIns="0" rIns="0" tIns="0" bIns="0">
            <a:spAutoFit/>
          </a:bodyPr>
          <a:lstStyle/>
          <a:p>
            <a:pPr algn="l">
              <a:lnSpc>
                <a:spcPct val="100000"/>
              </a:lnSpc>
              <a:spcAft>
                <a:spcPts val="0"/>
              </a:spcAft>
            </a:pPr>
            <a:r>
              <a:rPr sz="1700" b="1">
                <a:solidFill>
                  <a:srgbClr val="1C6FB5"/>
                </a:solidFill>
                <a:latin typeface="Arial"/>
              </a:rPr>
              <a:t>+40,000</a:t>
            </a:r>
          </a:p>
        </p:txBody>
      </p:sp>
      <p:sp>
        <p:nvSpPr>
          <p:cNvPr id="75" name="TextBox 74"/>
          <p:cNvSpPr txBox="1"/>
          <p:nvPr/>
        </p:nvSpPr>
        <p:spPr>
          <a:xfrm>
            <a:off x="37219737" y="18710656"/>
            <a:ext cx="4242816" cy="365760"/>
          </a:xfrm>
          <a:prstGeom prst="rect">
            <a:avLst/>
          </a:prstGeom>
          <a:noFill/>
        </p:spPr>
        <p:txBody>
          <a:bodyPr wrap="square" lIns="0" rIns="0" tIns="0" bIns="0">
            <a:spAutoFit/>
          </a:bodyPr>
          <a:lstStyle/>
          <a:p>
            <a:pPr algn="r">
              <a:lnSpc>
                <a:spcPct val="100000"/>
              </a:lnSpc>
              <a:spcAft>
                <a:spcPts val="0"/>
              </a:spcAft>
            </a:pPr>
            <a:r>
              <a:rPr sz="1700" b="1">
                <a:solidFill>
                  <a:srgbClr val="1C6FB5"/>
                </a:solidFill>
                <a:latin typeface="Arial"/>
              </a:rPr>
              <a:t>0.8448 ± 0.0018</a:t>
            </a:r>
          </a:p>
        </p:txBody>
      </p:sp>
      <p:sp>
        <p:nvSpPr>
          <p:cNvPr id="76" name="TextBox 75"/>
          <p:cNvSpPr txBox="1"/>
          <p:nvPr/>
        </p:nvSpPr>
        <p:spPr>
          <a:xfrm>
            <a:off x="41462553" y="18710656"/>
            <a:ext cx="1697126" cy="365760"/>
          </a:xfrm>
          <a:prstGeom prst="rect">
            <a:avLst/>
          </a:prstGeom>
          <a:noFill/>
        </p:spPr>
        <p:txBody>
          <a:bodyPr wrap="square" lIns="0" rIns="0" tIns="0" bIns="0">
            <a:spAutoFit/>
          </a:bodyPr>
          <a:lstStyle/>
          <a:p>
            <a:pPr algn="r">
              <a:lnSpc>
                <a:spcPct val="100000"/>
              </a:lnSpc>
              <a:spcAft>
                <a:spcPts val="0"/>
              </a:spcAft>
            </a:pPr>
            <a:r>
              <a:rPr sz="1700" b="1">
                <a:solidFill>
                  <a:srgbClr val="1C6FB5"/>
                </a:solidFill>
                <a:latin typeface="Arial"/>
              </a:rPr>
              <a:t>3</a:t>
            </a:r>
          </a:p>
        </p:txBody>
      </p:sp>
      <p:sp>
        <p:nvSpPr>
          <p:cNvPr id="77" name="Rectangle 76"/>
          <p:cNvSpPr/>
          <p:nvPr/>
        </p:nvSpPr>
        <p:spPr>
          <a:xfrm>
            <a:off x="32552640" y="19140424"/>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2552640" y="19405600"/>
            <a:ext cx="1060704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Twelve times the data costs 0.0189, which is 8.2 times the seed spread, and the same eight checkpoints fall on a second weed dataset too. One of six audited web sources clears a 0.90 label-precision bar.</a:t>
            </a:r>
          </a:p>
        </p:txBody>
      </p:sp>
      <p:sp>
        <p:nvSpPr>
          <p:cNvPr id="79" name="TextBox 78"/>
          <p:cNvSpPr txBox="1"/>
          <p:nvPr/>
        </p:nvSpPr>
        <p:spPr>
          <a:xfrm>
            <a:off x="11704320" y="24223472"/>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Everything we trained, ran, or rejected</a:t>
            </a:r>
          </a:p>
        </p:txBody>
      </p:sp>
      <p:sp>
        <p:nvSpPr>
          <p:cNvPr id="80" name="Rectangle 79"/>
          <p:cNvSpPr/>
          <p:nvPr/>
        </p:nvSpPr>
        <p:spPr>
          <a:xfrm>
            <a:off x="11704320" y="24790400"/>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m_ledger.png"/>
          <p:cNvPicPr>
            <a:picLocks noChangeAspect="1"/>
          </p:cNvPicPr>
          <p:nvPr/>
        </p:nvPicPr>
        <p:blipFill>
          <a:blip r:embed="rId7"/>
          <a:stretch>
            <a:fillRect/>
          </a:stretch>
        </p:blipFill>
        <p:spPr>
          <a:xfrm>
            <a:off x="11704320" y="25119584"/>
            <a:ext cx="20482560" cy="3749040"/>
          </a:xfrm>
          <a:prstGeom prst="rect">
            <a:avLst/>
          </a:prstGeom>
        </p:spPr>
      </p:pic>
      <p:sp>
        <p:nvSpPr>
          <p:cNvPr id="82" name="TextBox 81"/>
          <p:cNvSpPr txBox="1"/>
          <p:nvPr/>
        </p:nvSpPr>
        <p:spPr>
          <a:xfrm>
            <a:off x="11704320" y="28978351"/>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6.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83" name="TextBox 82"/>
          <p:cNvSpPr txBox="1"/>
          <p:nvPr/>
        </p:nvSpPr>
        <p:spPr>
          <a:xfrm>
            <a:off x="731520" y="2422347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Six audited web sources</a:t>
            </a:r>
          </a:p>
        </p:txBody>
      </p:sp>
      <p:sp>
        <p:nvSpPr>
          <p:cNvPr id="84" name="Rectangle 83"/>
          <p:cNvSpPr/>
          <p:nvPr/>
        </p:nvSpPr>
        <p:spPr>
          <a:xfrm>
            <a:off x="731520" y="2479040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5" name="Picture 84" descr="s_sources.png"/>
          <p:cNvPicPr>
            <a:picLocks noChangeAspect="1"/>
          </p:cNvPicPr>
          <p:nvPr/>
        </p:nvPicPr>
        <p:blipFill>
          <a:blip r:embed="rId8"/>
          <a:stretch>
            <a:fillRect/>
          </a:stretch>
        </p:blipFill>
        <p:spPr>
          <a:xfrm>
            <a:off x="731520" y="25119584"/>
            <a:ext cx="10607040" cy="3931920"/>
          </a:xfrm>
          <a:prstGeom prst="rect">
            <a:avLst/>
          </a:prstGeom>
        </p:spPr>
      </p:pic>
      <p:sp>
        <p:nvSpPr>
          <p:cNvPr id="86" name="TextBox 85"/>
          <p:cNvSpPr txBox="1"/>
          <p:nvPr/>
        </p:nvSpPr>
        <p:spPr>
          <a:xfrm>
            <a:off x="731520" y="29161232"/>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7.  The six audited harvested sources. The same probe reads 1.000 on human-labelled CottonWeedDet12, so a source at 0.184 is the data and not the instrument. Only the source at the top clears the bar, and it supplies 3,208 of the 13,527 audited images.</a:t>
            </a:r>
          </a:p>
        </p:txBody>
      </p:sp>
      <p:sp>
        <p:nvSpPr>
          <p:cNvPr id="87" name="TextBox 86"/>
          <p:cNvSpPr txBox="1"/>
          <p:nvPr/>
        </p:nvSpPr>
        <p:spPr>
          <a:xfrm>
            <a:off x="32552640" y="2422347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Back on our own rows</a:t>
            </a:r>
          </a:p>
        </p:txBody>
      </p:sp>
      <p:sp>
        <p:nvSpPr>
          <p:cNvPr id="88" name="Rectangle 87"/>
          <p:cNvSpPr/>
          <p:nvPr/>
        </p:nvSpPr>
        <p:spPr>
          <a:xfrm>
            <a:off x="32552640" y="2479040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9" name="Picture 88" descr="p_field.png"/>
          <p:cNvPicPr>
            <a:picLocks noChangeAspect="1"/>
          </p:cNvPicPr>
          <p:nvPr/>
        </p:nvPicPr>
        <p:blipFill>
          <a:blip r:embed="rId9"/>
          <a:stretch>
            <a:fillRect/>
          </a:stretch>
        </p:blipFill>
        <p:spPr>
          <a:xfrm>
            <a:off x="32552640" y="25119584"/>
            <a:ext cx="10607040" cy="2468880"/>
          </a:xfrm>
          <a:prstGeom prst="rect">
            <a:avLst/>
          </a:prstGeom>
        </p:spPr>
      </p:pic>
      <p:sp>
        <p:nvSpPr>
          <p:cNvPr id="90" name="TextBox 89"/>
          <p:cNvSpPr txBox="1"/>
          <p:nvPr/>
        </p:nvSpPr>
        <p:spPr>
          <a:xfrm>
            <a:off x="32552640" y="27698192"/>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8.  The deployable checkpoint over every frame the two robots recorded, at the confidence the cart deploys at. There is no ground truth for these frames, so this is the rate at which the detector produces a box at all -- not recall and not precision. Vegetation is excess green over a thumbnail, so "nothing to detect" does not account for it: 1157 frames clear that bar and 21 of them draw a box. 24 of the 25 boxes it does draw are the same class.</a:t>
            </a:r>
          </a:p>
        </p:txBody>
      </p:sp>
      <p:sp>
        <p:nvSpPr>
          <p:cNvPr id="91" name="Rectangle 90"/>
          <p:cNvSpPr/>
          <p:nvPr/>
        </p:nvSpPr>
        <p:spPr>
          <a:xfrm>
            <a:off x="731520" y="30438344"/>
            <a:ext cx="42428160" cy="20116"/>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31520" y="30694376"/>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Where this stands today. The collector and trainer are paused after a stop-loss on 2026-08-29, the supervisor is advisory, the laser has never fired at a weed under our control, and none of the 2,686 frames is labelled.</a:t>
            </a:r>
          </a:p>
        </p:txBody>
      </p:sp>
      <p:sp>
        <p:nvSpPr>
          <p:cNvPr id="93" name="TextBox 92"/>
          <p:cNvSpPr txBox="1"/>
          <p:nvPr/>
        </p:nvSpPr>
        <p:spPr>
          <a:xfrm>
            <a:off x="15026640" y="30694376"/>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What we ran. Thirty model runs in four families: five detectors trained on our own holdout, two vision models inside the loop, fourteen vision-language models zero-shot, and nine language models as reviewers. That is 27 distinct models, because OWLv2-large and Qwen2.5-7B each do two of those jobs. One is deployed.</a:t>
            </a:r>
          </a:p>
        </p:txBody>
      </p:sp>
      <p:sp>
        <p:nvSpPr>
          <p:cNvPr id="94" name="TextBox 93"/>
          <p:cNvSpPr txBox="1"/>
          <p:nvPr/>
        </p:nvSpPr>
        <p:spPr>
          <a:xfrm>
            <a:off x="29321759" y="30694376"/>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How the numbers were made. The 1,977-image holdout was also the validation set during training, so every mAP here is a run's best epoch, a maximum over 21 to 100 evaluations on the set it is reported on. Numbers we withdrew: 0.910 was a data leak found by a check we built after publishing it, 0.9033 is the best of four unseeded runs, and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