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10200" b="1">
                <a:solidFill>
                  <a:srgbClr val="FFFFFF"/>
                </a:solidFill>
                <a:latin typeface="Arial"/>
              </a:rPr>
              <a:t>How Much of This Pipeline Can the Agents Run by Themselves?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C2CEDA"/>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Arial"/>
              </a:rPr>
              <a:t>We spent six months finding out, on our own robots and on PSC Bridges-2. The answer is that collection and training run alone, and judging does not.</a:t>
            </a:r>
          </a:p>
        </p:txBody>
      </p:sp>
      <p:sp>
        <p:nvSpPr>
          <p:cNvPr id="9" name="TextBox 8"/>
          <p:cNvSpPr txBox="1"/>
          <p:nvPr/>
        </p:nvSpPr>
        <p:spPr>
          <a:xfrm>
            <a:off x="731520" y="5623560"/>
            <a:ext cx="424281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 route we actually took</a:t>
            </a:r>
          </a:p>
        </p:txBody>
      </p:sp>
      <p:sp>
        <p:nvSpPr>
          <p:cNvPr id="10" name="Rectangle 9"/>
          <p:cNvSpPr/>
          <p:nvPr/>
        </p:nvSpPr>
        <p:spPr>
          <a:xfrm>
            <a:off x="731520" y="6184900"/>
            <a:ext cx="424281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_journey.png"/>
          <p:cNvPicPr>
            <a:picLocks noChangeAspect="1"/>
          </p:cNvPicPr>
          <p:nvPr/>
        </p:nvPicPr>
        <p:blipFill>
          <a:blip r:embed="rId2"/>
          <a:stretch>
            <a:fillRect/>
          </a:stretch>
        </p:blipFill>
        <p:spPr>
          <a:xfrm>
            <a:off x="731520" y="6514084"/>
            <a:ext cx="42428160" cy="3017520"/>
          </a:xfrm>
          <a:prstGeom prst="rect">
            <a:avLst/>
          </a:prstGeom>
        </p:spPr>
      </p:pic>
      <p:sp>
        <p:nvSpPr>
          <p:cNvPr id="12" name="TextBox 11"/>
          <p:cNvSpPr txBox="1"/>
          <p:nvPr/>
        </p:nvSpPr>
        <p:spPr>
          <a:xfrm>
            <a:off x="731520" y="9641332"/>
            <a:ext cx="424281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1.  Six months. Four of these eight turns are things that did not work, and two are numbers this project measured, published internally and then withdrew after checking them.</a:t>
            </a:r>
          </a:p>
        </p:txBody>
      </p:sp>
      <p:sp>
        <p:nvSpPr>
          <p:cNvPr id="13" name="TextBox 12"/>
          <p:cNvSpPr txBox="1"/>
          <p:nvPr/>
        </p:nvSpPr>
        <p:spPr>
          <a:xfrm>
            <a:off x="731520" y="1050290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What we collect now</a:t>
            </a:r>
          </a:p>
        </p:txBody>
      </p:sp>
      <p:sp>
        <p:nvSpPr>
          <p:cNvPr id="14" name="Rectangle 13"/>
          <p:cNvSpPr/>
          <p:nvPr/>
        </p:nvSpPr>
        <p:spPr>
          <a:xfrm>
            <a:off x="731520" y="1106424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_robots.png"/>
          <p:cNvPicPr>
            <a:picLocks noChangeAspect="1"/>
          </p:cNvPicPr>
          <p:nvPr/>
        </p:nvPicPr>
        <p:blipFill>
          <a:blip r:embed="rId3"/>
          <a:stretch>
            <a:fillRect/>
          </a:stretch>
        </p:blipFill>
        <p:spPr>
          <a:xfrm>
            <a:off x="731520" y="11393424"/>
            <a:ext cx="10607040" cy="2377440"/>
          </a:xfrm>
          <a:prstGeom prst="rect">
            <a:avLst/>
          </a:prstGeom>
        </p:spPr>
      </p:pic>
      <p:sp>
        <p:nvSpPr>
          <p:cNvPr id="16" name="TextBox 15"/>
          <p:cNvSpPr txBox="1"/>
          <p:nvPr/>
        </p:nvSpPr>
        <p:spPr>
          <a:xfrm>
            <a:off x="731520" y="13880591"/>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2.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17" name="TextBox 16"/>
          <p:cNvSpPr txBox="1"/>
          <p:nvPr/>
        </p:nvSpPr>
        <p:spPr>
          <a:xfrm>
            <a:off x="731520" y="15150591"/>
            <a:ext cx="10607040" cy="365760"/>
          </a:xfrm>
          <a:prstGeom prst="rect">
            <a:avLst/>
          </a:prstGeom>
          <a:noFill/>
        </p:spPr>
        <p:txBody>
          <a:bodyPr wrap="square" lIns="0" rIns="0" tIns="0" bIns="0">
            <a:spAutoFit/>
          </a:bodyPr>
          <a:lstStyle/>
          <a:p>
            <a:pPr algn="l">
              <a:lnSpc>
                <a:spcPct val="122000"/>
              </a:lnSpc>
              <a:spcAft>
                <a:spcPts val="2400"/>
              </a:spcAft>
            </a:pPr>
            <a:r>
              <a:rPr sz="2000" b="0">
                <a:solidFill>
                  <a:srgbClr val="1E293B"/>
                </a:solidFill>
                <a:latin typeface="Arial"/>
              </a:rPr>
              <a:t>Two ground vehicles drive our own crop plots. Robot 241 streams frames, position and attitude; the laser cart carries the weeder and two cameras. 2,686 frames in 26 drives, 91,955 telemetry rows across nine streams, 342 m of GPS track. None of it is labelled, and the cart writes no position at all.</a:t>
            </a:r>
          </a:p>
        </p:txBody>
      </p:sp>
      <p:pic>
        <p:nvPicPr>
          <p:cNvPr id="18" name="Picture 17" descr="h_drive.png"/>
          <p:cNvPicPr>
            <a:picLocks noChangeAspect="1"/>
          </p:cNvPicPr>
          <p:nvPr/>
        </p:nvPicPr>
        <p:blipFill>
          <a:blip r:embed="rId4"/>
          <a:stretch>
            <a:fillRect/>
          </a:stretch>
        </p:blipFill>
        <p:spPr>
          <a:xfrm>
            <a:off x="731520" y="16694911"/>
            <a:ext cx="10607040" cy="4023360"/>
          </a:xfrm>
          <a:prstGeom prst="rect">
            <a:avLst/>
          </a:prstGeom>
        </p:spPr>
      </p:pic>
      <p:sp>
        <p:nvSpPr>
          <p:cNvPr id="19" name="TextBox 18"/>
          <p:cNvSpPr txBox="1"/>
          <p:nvPr/>
        </p:nvSpPr>
        <p:spPr>
          <a:xfrm>
            <a:off x="731520" y="20827999"/>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3.  Robot 241, 2026-08-29: one 213 s pass through a crop plot. (h) GPS track from the board fix. (i) IMU heading over the same pass.</a:t>
            </a:r>
          </a:p>
        </p:txBody>
      </p:sp>
      <p:sp>
        <p:nvSpPr>
          <p:cNvPr id="20" name="TextBox 19"/>
          <p:cNvSpPr txBox="1"/>
          <p:nvPr/>
        </p:nvSpPr>
        <p:spPr>
          <a:xfrm>
            <a:off x="11704320" y="10502900"/>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 part that runs alone</a:t>
            </a:r>
          </a:p>
        </p:txBody>
      </p:sp>
      <p:sp>
        <p:nvSpPr>
          <p:cNvPr id="21" name="Rectangle 20"/>
          <p:cNvSpPr/>
          <p:nvPr/>
        </p:nvSpPr>
        <p:spPr>
          <a:xfrm>
            <a:off x="11704320" y="11064240"/>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n_system.png"/>
          <p:cNvPicPr>
            <a:picLocks noChangeAspect="1"/>
          </p:cNvPicPr>
          <p:nvPr/>
        </p:nvPicPr>
        <p:blipFill>
          <a:blip r:embed="rId5"/>
          <a:stretch>
            <a:fillRect/>
          </a:stretch>
        </p:blipFill>
        <p:spPr>
          <a:xfrm>
            <a:off x="11704320" y="11393424"/>
            <a:ext cx="20482560" cy="3383280"/>
          </a:xfrm>
          <a:prstGeom prst="rect">
            <a:avLst/>
          </a:prstGeom>
        </p:spPr>
      </p:pic>
      <p:sp>
        <p:nvSpPr>
          <p:cNvPr id="23" name="TextBox 22"/>
          <p:cNvSpPr txBox="1"/>
          <p:nvPr/>
        </p:nvSpPr>
        <p:spPr>
          <a:xfrm>
            <a:off x="11704320" y="14886432"/>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4.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24" name="TextBox 23"/>
          <p:cNvSpPr txBox="1"/>
          <p:nvPr/>
        </p:nvSpPr>
        <p:spPr>
          <a:xfrm>
            <a:off x="11704320" y="15676880"/>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Collection and training run without a person. A round searches public sources, filters what it finds against a DINOv2 gate, merges into a registry that excludes the holdout by content hash, trains on an H100 allocation and evaluates. Fifteen rounds went through that path and every one reported success.</a:t>
            </a:r>
          </a:p>
        </p:txBody>
      </p:sp>
      <p:sp>
        <p:nvSpPr>
          <p:cNvPr id="25" name="TextBox 24"/>
          <p:cNvSpPr txBox="1"/>
          <p:nvPr/>
        </p:nvSpPr>
        <p:spPr>
          <a:xfrm>
            <a:off x="11704320" y="16449040"/>
            <a:ext cx="2048256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What fifteen unattended rounds actually did</a:t>
            </a:r>
          </a:p>
        </p:txBody>
      </p:sp>
      <p:pic>
        <p:nvPicPr>
          <p:cNvPr id="26" name="Picture 25" descr="f_rounds.png"/>
          <p:cNvPicPr>
            <a:picLocks noChangeAspect="1"/>
          </p:cNvPicPr>
          <p:nvPr/>
        </p:nvPicPr>
        <p:blipFill>
          <a:blip r:embed="rId6"/>
          <a:stretch>
            <a:fillRect/>
          </a:stretch>
        </p:blipFill>
        <p:spPr>
          <a:xfrm>
            <a:off x="11704320" y="16869664"/>
            <a:ext cx="20482560" cy="4663440"/>
          </a:xfrm>
          <a:prstGeom prst="rect">
            <a:avLst/>
          </a:prstGeom>
        </p:spPr>
      </p:pic>
      <p:sp>
        <p:nvSpPr>
          <p:cNvPr id="27" name="TextBox 26"/>
          <p:cNvSpPr txBox="1"/>
          <p:nvPr/>
        </p:nvSpPr>
        <p:spPr>
          <a:xfrm>
            <a:off x="11704320" y="21642832"/>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5.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28" name="TextBox 27"/>
          <p:cNvSpPr txBox="1"/>
          <p:nvPr/>
        </p:nvSpPr>
        <p:spPr>
          <a:xfrm>
            <a:off x="11704320" y="22673056"/>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Accuracy fell the whole time. The corpus stopped growing at round three and eight rounds collected nothing while reporting success, so what was left was the chain: each round warm-started from the last one's weights. A control on round 15's own data prices that at +0.0287, 5.1 times this recipe's own seed spread. Completing the truncated schedule does not recover it, which was the obvious fix and the wrong one.</a:t>
            </a:r>
          </a:p>
        </p:txBody>
      </p:sp>
      <p:sp>
        <p:nvSpPr>
          <p:cNvPr id="29" name="TextBox 28"/>
          <p:cNvSpPr txBox="1"/>
          <p:nvPr/>
        </p:nvSpPr>
        <p:spPr>
          <a:xfrm>
            <a:off x="32552640" y="1050290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 part that does not</a:t>
            </a:r>
          </a:p>
        </p:txBody>
      </p:sp>
      <p:sp>
        <p:nvSpPr>
          <p:cNvPr id="30" name="Rectangle 29"/>
          <p:cNvSpPr/>
          <p:nvPr/>
        </p:nvSpPr>
        <p:spPr>
          <a:xfrm>
            <a:off x="32552640" y="1106424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552640" y="11393424"/>
            <a:ext cx="10607040" cy="365760"/>
          </a:xfrm>
          <a:prstGeom prst="rect">
            <a:avLst/>
          </a:prstGeom>
          <a:noFill/>
        </p:spPr>
        <p:txBody>
          <a:bodyPr wrap="square" lIns="0" rIns="0" tIns="0" bIns="0">
            <a:spAutoFit/>
          </a:bodyPr>
          <a:lstStyle/>
          <a:p>
            <a:pPr algn="l">
              <a:lnSpc>
                <a:spcPct val="122000"/>
              </a:lnSpc>
              <a:spcAft>
                <a:spcPts val="2400"/>
              </a:spcAft>
            </a:pPr>
            <a:r>
              <a:rPr sz="2000" b="0">
                <a:solidFill>
                  <a:srgbClr val="1E293B"/>
                </a:solidFill>
                <a:latin typeface="Arial"/>
              </a:rPr>
              <a:t>Judging does not run alone yet. We froze 162 real failures out of this project's own engineering record and scored every kind of supervision we had. The watchdog the loop was running returned no decision on any of the 149 dev cases.</a:t>
            </a:r>
          </a:p>
        </p:txBody>
      </p:sp>
      <p:sp>
        <p:nvSpPr>
          <p:cNvPr id="32" name="Rectangle 31"/>
          <p:cNvSpPr/>
          <p:nvPr/>
        </p:nvSpPr>
        <p:spPr>
          <a:xfrm>
            <a:off x="32552640" y="12627863"/>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552640" y="12746736"/>
            <a:ext cx="4030675"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reviewer</a:t>
            </a:r>
          </a:p>
        </p:txBody>
      </p:sp>
      <p:sp>
        <p:nvSpPr>
          <p:cNvPr id="34" name="TextBox 33"/>
          <p:cNvSpPr txBox="1"/>
          <p:nvPr/>
        </p:nvSpPr>
        <p:spPr>
          <a:xfrm>
            <a:off x="36583315" y="12746736"/>
            <a:ext cx="222747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recall</a:t>
            </a:r>
          </a:p>
        </p:txBody>
      </p:sp>
      <p:sp>
        <p:nvSpPr>
          <p:cNvPr id="35" name="TextBox 34"/>
          <p:cNvSpPr txBox="1"/>
          <p:nvPr/>
        </p:nvSpPr>
        <p:spPr>
          <a:xfrm>
            <a:off x="38810793" y="12746736"/>
            <a:ext cx="222747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grounded</a:t>
            </a:r>
          </a:p>
        </p:txBody>
      </p:sp>
      <p:sp>
        <p:nvSpPr>
          <p:cNvPr id="36" name="TextBox 35"/>
          <p:cNvSpPr txBox="1"/>
          <p:nvPr/>
        </p:nvSpPr>
        <p:spPr>
          <a:xfrm>
            <a:off x="41038272" y="12746736"/>
            <a:ext cx="2121408"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incidents</a:t>
            </a:r>
          </a:p>
        </p:txBody>
      </p:sp>
      <p:sp>
        <p:nvSpPr>
          <p:cNvPr id="37" name="Rectangle 36"/>
          <p:cNvSpPr/>
          <p:nvPr/>
        </p:nvSpPr>
        <p:spPr>
          <a:xfrm>
            <a:off x="32552640" y="13112496"/>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552640" y="13222224"/>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scripted watchdog</a:t>
            </a:r>
          </a:p>
        </p:txBody>
      </p:sp>
      <p:sp>
        <p:nvSpPr>
          <p:cNvPr id="39" name="TextBox 38"/>
          <p:cNvSpPr txBox="1"/>
          <p:nvPr/>
        </p:nvSpPr>
        <p:spPr>
          <a:xfrm>
            <a:off x="36583315" y="13222224"/>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no decision</a:t>
            </a:r>
          </a:p>
        </p:txBody>
      </p:sp>
      <p:sp>
        <p:nvSpPr>
          <p:cNvPr id="40" name="TextBox 39"/>
          <p:cNvSpPr txBox="1"/>
          <p:nvPr/>
        </p:nvSpPr>
        <p:spPr>
          <a:xfrm>
            <a:off x="38810793" y="13222224"/>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41" name="TextBox 40"/>
          <p:cNvSpPr txBox="1"/>
          <p:nvPr/>
        </p:nvSpPr>
        <p:spPr>
          <a:xfrm>
            <a:off x="41038272" y="13222224"/>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42" name="TextBox 41"/>
          <p:cNvSpPr txBox="1"/>
          <p:nvPr/>
        </p:nvSpPr>
        <p:spPr>
          <a:xfrm>
            <a:off x="32552640" y="13624559"/>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12 rules</a:t>
            </a:r>
          </a:p>
        </p:txBody>
      </p:sp>
      <p:sp>
        <p:nvSpPr>
          <p:cNvPr id="43" name="TextBox 42"/>
          <p:cNvSpPr txBox="1"/>
          <p:nvPr/>
        </p:nvSpPr>
        <p:spPr>
          <a:xfrm>
            <a:off x="36583315" y="13624559"/>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44" name="TextBox 43"/>
          <p:cNvSpPr txBox="1"/>
          <p:nvPr/>
        </p:nvSpPr>
        <p:spPr>
          <a:xfrm>
            <a:off x="38810793" y="13624559"/>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45" name="TextBox 44"/>
          <p:cNvSpPr txBox="1"/>
          <p:nvPr/>
        </p:nvSpPr>
        <p:spPr>
          <a:xfrm>
            <a:off x="41038272" y="13624559"/>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116</a:t>
            </a:r>
          </a:p>
        </p:txBody>
      </p:sp>
      <p:sp>
        <p:nvSpPr>
          <p:cNvPr id="46" name="TextBox 45"/>
          <p:cNvSpPr txBox="1"/>
          <p:nvPr/>
        </p:nvSpPr>
        <p:spPr>
          <a:xfrm>
            <a:off x="32552640" y="14026895"/>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Qwen2.5-7B</a:t>
            </a:r>
          </a:p>
        </p:txBody>
      </p:sp>
      <p:sp>
        <p:nvSpPr>
          <p:cNvPr id="47" name="TextBox 46"/>
          <p:cNvSpPr txBox="1"/>
          <p:nvPr/>
        </p:nvSpPr>
        <p:spPr>
          <a:xfrm>
            <a:off x="36583315" y="14026895"/>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0.823</a:t>
            </a:r>
          </a:p>
        </p:txBody>
      </p:sp>
      <p:sp>
        <p:nvSpPr>
          <p:cNvPr id="48" name="TextBox 47"/>
          <p:cNvSpPr txBox="1"/>
          <p:nvPr/>
        </p:nvSpPr>
        <p:spPr>
          <a:xfrm>
            <a:off x="38810793" y="14026895"/>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0.274</a:t>
            </a:r>
          </a:p>
        </p:txBody>
      </p:sp>
      <p:sp>
        <p:nvSpPr>
          <p:cNvPr id="49" name="TextBox 48"/>
          <p:cNvSpPr txBox="1"/>
          <p:nvPr/>
        </p:nvSpPr>
        <p:spPr>
          <a:xfrm>
            <a:off x="41038272" y="14026895"/>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113</a:t>
            </a:r>
          </a:p>
        </p:txBody>
      </p:sp>
      <p:sp>
        <p:nvSpPr>
          <p:cNvPr id="50" name="TextBox 49"/>
          <p:cNvSpPr txBox="1"/>
          <p:nvPr/>
        </p:nvSpPr>
        <p:spPr>
          <a:xfrm>
            <a:off x="32552640" y="14429231"/>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Qwen3-14B</a:t>
            </a:r>
          </a:p>
        </p:txBody>
      </p:sp>
      <p:sp>
        <p:nvSpPr>
          <p:cNvPr id="51" name="TextBox 50"/>
          <p:cNvSpPr txBox="1"/>
          <p:nvPr/>
        </p:nvSpPr>
        <p:spPr>
          <a:xfrm>
            <a:off x="36583315" y="14429231"/>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0.675</a:t>
            </a:r>
          </a:p>
        </p:txBody>
      </p:sp>
      <p:sp>
        <p:nvSpPr>
          <p:cNvPr id="52" name="TextBox 51"/>
          <p:cNvSpPr txBox="1"/>
          <p:nvPr/>
        </p:nvSpPr>
        <p:spPr>
          <a:xfrm>
            <a:off x="38810793" y="14429231"/>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0.614</a:t>
            </a:r>
          </a:p>
        </p:txBody>
      </p:sp>
      <p:sp>
        <p:nvSpPr>
          <p:cNvPr id="53" name="TextBox 52"/>
          <p:cNvSpPr txBox="1"/>
          <p:nvPr/>
        </p:nvSpPr>
        <p:spPr>
          <a:xfrm>
            <a:off x="41038272" y="14429231"/>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114</a:t>
            </a:r>
          </a:p>
        </p:txBody>
      </p:sp>
      <p:sp>
        <p:nvSpPr>
          <p:cNvPr id="54" name="TextBox 53"/>
          <p:cNvSpPr txBox="1"/>
          <p:nvPr/>
        </p:nvSpPr>
        <p:spPr>
          <a:xfrm>
            <a:off x="32552640" y="14831567"/>
            <a:ext cx="4030675"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Qwen3.8-27B</a:t>
            </a:r>
          </a:p>
        </p:txBody>
      </p:sp>
      <p:sp>
        <p:nvSpPr>
          <p:cNvPr id="55" name="TextBox 54"/>
          <p:cNvSpPr txBox="1"/>
          <p:nvPr/>
        </p:nvSpPr>
        <p:spPr>
          <a:xfrm>
            <a:off x="36583315" y="14831567"/>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0.702</a:t>
            </a:r>
          </a:p>
        </p:txBody>
      </p:sp>
      <p:sp>
        <p:nvSpPr>
          <p:cNvPr id="56" name="TextBox 55"/>
          <p:cNvSpPr txBox="1"/>
          <p:nvPr/>
        </p:nvSpPr>
        <p:spPr>
          <a:xfrm>
            <a:off x="38810793" y="14831567"/>
            <a:ext cx="222747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0.702</a:t>
            </a:r>
          </a:p>
        </p:txBody>
      </p:sp>
      <p:sp>
        <p:nvSpPr>
          <p:cNvPr id="57" name="TextBox 56"/>
          <p:cNvSpPr txBox="1"/>
          <p:nvPr/>
        </p:nvSpPr>
        <p:spPr>
          <a:xfrm>
            <a:off x="41038272" y="14831567"/>
            <a:ext cx="2121408"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57</a:t>
            </a:r>
          </a:p>
        </p:txBody>
      </p:sp>
      <p:sp>
        <p:nvSpPr>
          <p:cNvPr id="58" name="Rectangle 57"/>
          <p:cNvSpPr/>
          <p:nvPr/>
        </p:nvSpPr>
        <p:spPr>
          <a:xfrm>
            <a:off x="32552640" y="15261336"/>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552640" y="15526512"/>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Recall does not order the reviewers by size. Evidence does. The 7 B has the highest recall on the table and two thirds of what it reports quotes a line that does not exist. That is the size class we had been running.</a:t>
            </a:r>
          </a:p>
        </p:txBody>
      </p:sp>
      <p:sp>
        <p:nvSpPr>
          <p:cNvPr id="60" name="TextBox 59"/>
          <p:cNvSpPr txBox="1"/>
          <p:nvPr/>
        </p:nvSpPr>
        <p:spPr>
          <a:xfrm>
            <a:off x="32552640" y="16477488"/>
            <a:ext cx="1060704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Does more data help?</a:t>
            </a:r>
          </a:p>
        </p:txBody>
      </p:sp>
      <p:sp>
        <p:nvSpPr>
          <p:cNvPr id="61" name="Rectangle 60"/>
          <p:cNvSpPr/>
          <p:nvPr/>
        </p:nvSpPr>
        <p:spPr>
          <a:xfrm>
            <a:off x="32552640" y="16898112"/>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552640" y="17016984"/>
            <a:ext cx="4667097"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harvested added</a:t>
            </a:r>
          </a:p>
        </p:txBody>
      </p:sp>
      <p:sp>
        <p:nvSpPr>
          <p:cNvPr id="63" name="TextBox 62"/>
          <p:cNvSpPr txBox="1"/>
          <p:nvPr/>
        </p:nvSpPr>
        <p:spPr>
          <a:xfrm>
            <a:off x="37219737" y="17016984"/>
            <a:ext cx="424281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mAP50-95</a:t>
            </a:r>
          </a:p>
        </p:txBody>
      </p:sp>
      <p:sp>
        <p:nvSpPr>
          <p:cNvPr id="64" name="TextBox 63"/>
          <p:cNvSpPr txBox="1"/>
          <p:nvPr/>
        </p:nvSpPr>
        <p:spPr>
          <a:xfrm>
            <a:off x="41462553" y="17016984"/>
            <a:ext cx="169712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n</a:t>
            </a:r>
          </a:p>
        </p:txBody>
      </p:sp>
      <p:sp>
        <p:nvSpPr>
          <p:cNvPr id="65" name="Rectangle 64"/>
          <p:cNvSpPr/>
          <p:nvPr/>
        </p:nvSpPr>
        <p:spPr>
          <a:xfrm>
            <a:off x="32552640" y="17382744"/>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2552640" y="17492472"/>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none, the core</a:t>
            </a:r>
          </a:p>
        </p:txBody>
      </p:sp>
      <p:sp>
        <p:nvSpPr>
          <p:cNvPr id="67" name="TextBox 66"/>
          <p:cNvSpPr txBox="1"/>
          <p:nvPr/>
        </p:nvSpPr>
        <p:spPr>
          <a:xfrm>
            <a:off x="37219737" y="17492472"/>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0.8637 ± 0.0027</a:t>
            </a:r>
          </a:p>
        </p:txBody>
      </p:sp>
      <p:sp>
        <p:nvSpPr>
          <p:cNvPr id="68" name="TextBox 67"/>
          <p:cNvSpPr txBox="1"/>
          <p:nvPr/>
        </p:nvSpPr>
        <p:spPr>
          <a:xfrm>
            <a:off x="41462553" y="17492472"/>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69" name="TextBox 68"/>
          <p:cNvSpPr txBox="1"/>
          <p:nvPr/>
        </p:nvSpPr>
        <p:spPr>
          <a:xfrm>
            <a:off x="32552640" y="17894808"/>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+5,000</a:t>
            </a:r>
          </a:p>
        </p:txBody>
      </p:sp>
      <p:sp>
        <p:nvSpPr>
          <p:cNvPr id="70" name="TextBox 69"/>
          <p:cNvSpPr txBox="1"/>
          <p:nvPr/>
        </p:nvSpPr>
        <p:spPr>
          <a:xfrm>
            <a:off x="37219737" y="17894808"/>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0.8609 ± 0.0036</a:t>
            </a:r>
          </a:p>
        </p:txBody>
      </p:sp>
      <p:sp>
        <p:nvSpPr>
          <p:cNvPr id="71" name="TextBox 70"/>
          <p:cNvSpPr txBox="1"/>
          <p:nvPr/>
        </p:nvSpPr>
        <p:spPr>
          <a:xfrm>
            <a:off x="41462553" y="17894808"/>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72" name="TextBox 71"/>
          <p:cNvSpPr txBox="1"/>
          <p:nvPr/>
        </p:nvSpPr>
        <p:spPr>
          <a:xfrm>
            <a:off x="32552640" y="18297144"/>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+15,000</a:t>
            </a:r>
          </a:p>
        </p:txBody>
      </p:sp>
      <p:sp>
        <p:nvSpPr>
          <p:cNvPr id="73" name="TextBox 72"/>
          <p:cNvSpPr txBox="1"/>
          <p:nvPr/>
        </p:nvSpPr>
        <p:spPr>
          <a:xfrm>
            <a:off x="37219737" y="18297144"/>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0.8580 ± 0.0047</a:t>
            </a:r>
          </a:p>
        </p:txBody>
      </p:sp>
      <p:sp>
        <p:nvSpPr>
          <p:cNvPr id="74" name="TextBox 73"/>
          <p:cNvSpPr txBox="1"/>
          <p:nvPr/>
        </p:nvSpPr>
        <p:spPr>
          <a:xfrm>
            <a:off x="41462553" y="18297144"/>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75" name="TextBox 74"/>
          <p:cNvSpPr txBox="1"/>
          <p:nvPr/>
        </p:nvSpPr>
        <p:spPr>
          <a:xfrm>
            <a:off x="32552640" y="18699480"/>
            <a:ext cx="4667097" cy="365760"/>
          </a:xfrm>
          <a:prstGeom prst="rect">
            <a:avLst/>
          </a:prstGeom>
          <a:noFill/>
        </p:spPr>
        <p:txBody>
          <a:bodyPr wrap="square" lIns="0" rIns="0" tIns="0" bIns="0">
            <a:spAutoFit/>
          </a:bodyPr>
          <a:lstStyle/>
          <a:p>
            <a:pPr algn="l">
              <a:lnSpc>
                <a:spcPct val="100000"/>
              </a:lnSpc>
              <a:spcAft>
                <a:spcPts val="0"/>
              </a:spcAft>
            </a:pPr>
            <a:r>
              <a:rPr sz="1700" b="1">
                <a:solidFill>
                  <a:srgbClr val="1C6FB5"/>
                </a:solidFill>
                <a:latin typeface="Arial"/>
              </a:rPr>
              <a:t>+40,000</a:t>
            </a:r>
          </a:p>
        </p:txBody>
      </p:sp>
      <p:sp>
        <p:nvSpPr>
          <p:cNvPr id="76" name="TextBox 75"/>
          <p:cNvSpPr txBox="1"/>
          <p:nvPr/>
        </p:nvSpPr>
        <p:spPr>
          <a:xfrm>
            <a:off x="37219737" y="18699480"/>
            <a:ext cx="424281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0.8448 ± 0.0018</a:t>
            </a:r>
          </a:p>
        </p:txBody>
      </p:sp>
      <p:sp>
        <p:nvSpPr>
          <p:cNvPr id="77" name="TextBox 76"/>
          <p:cNvSpPr txBox="1"/>
          <p:nvPr/>
        </p:nvSpPr>
        <p:spPr>
          <a:xfrm>
            <a:off x="41462553" y="18699480"/>
            <a:ext cx="169712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3</a:t>
            </a:r>
          </a:p>
        </p:txBody>
      </p:sp>
      <p:sp>
        <p:nvSpPr>
          <p:cNvPr id="78" name="Rectangle 77"/>
          <p:cNvSpPr/>
          <p:nvPr/>
        </p:nvSpPr>
        <p:spPr>
          <a:xfrm>
            <a:off x="32552640" y="19129248"/>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2552640" y="19394424"/>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Twelve times the data costs 0.0189, which is 8.2 times the seed spread, and the same eight checkpoints fall on a second weed dataset too. One of six audited web sources clears a 0.90 label-precision bar.</a:t>
            </a:r>
          </a:p>
        </p:txBody>
      </p:sp>
      <p:sp>
        <p:nvSpPr>
          <p:cNvPr id="80" name="TextBox 79"/>
          <p:cNvSpPr txBox="1"/>
          <p:nvPr/>
        </p:nvSpPr>
        <p:spPr>
          <a:xfrm>
            <a:off x="11704320" y="24212296"/>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Everything we trained, ran, or rejected</a:t>
            </a:r>
          </a:p>
        </p:txBody>
      </p:sp>
      <p:sp>
        <p:nvSpPr>
          <p:cNvPr id="81" name="Rectangle 80"/>
          <p:cNvSpPr/>
          <p:nvPr/>
        </p:nvSpPr>
        <p:spPr>
          <a:xfrm>
            <a:off x="11704320" y="24773636"/>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m_ledger.png"/>
          <p:cNvPicPr>
            <a:picLocks noChangeAspect="1"/>
          </p:cNvPicPr>
          <p:nvPr/>
        </p:nvPicPr>
        <p:blipFill>
          <a:blip r:embed="rId7"/>
          <a:stretch>
            <a:fillRect/>
          </a:stretch>
        </p:blipFill>
        <p:spPr>
          <a:xfrm>
            <a:off x="11704320" y="25102819"/>
            <a:ext cx="20482560" cy="3749040"/>
          </a:xfrm>
          <a:prstGeom prst="rect">
            <a:avLst/>
          </a:prstGeom>
        </p:spPr>
      </p:pic>
      <p:sp>
        <p:nvSpPr>
          <p:cNvPr id="83" name="TextBox 82"/>
          <p:cNvSpPr txBox="1"/>
          <p:nvPr/>
        </p:nvSpPr>
        <p:spPr>
          <a:xfrm>
            <a:off x="11704320" y="28961588"/>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6.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84" name="TextBox 83"/>
          <p:cNvSpPr txBox="1"/>
          <p:nvPr/>
        </p:nvSpPr>
        <p:spPr>
          <a:xfrm>
            <a:off x="731520" y="2421229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Six audited web sources</a:t>
            </a:r>
          </a:p>
        </p:txBody>
      </p:sp>
      <p:sp>
        <p:nvSpPr>
          <p:cNvPr id="85" name="Rectangle 84"/>
          <p:cNvSpPr/>
          <p:nvPr/>
        </p:nvSpPr>
        <p:spPr>
          <a:xfrm>
            <a:off x="731520" y="2477363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6" name="Picture 85" descr="s_sources.png"/>
          <p:cNvPicPr>
            <a:picLocks noChangeAspect="1"/>
          </p:cNvPicPr>
          <p:nvPr/>
        </p:nvPicPr>
        <p:blipFill>
          <a:blip r:embed="rId8"/>
          <a:stretch>
            <a:fillRect/>
          </a:stretch>
        </p:blipFill>
        <p:spPr>
          <a:xfrm>
            <a:off x="731520" y="25102819"/>
            <a:ext cx="10607040" cy="3931920"/>
          </a:xfrm>
          <a:prstGeom prst="rect">
            <a:avLst/>
          </a:prstGeom>
        </p:spPr>
      </p:pic>
      <p:sp>
        <p:nvSpPr>
          <p:cNvPr id="87" name="TextBox 86"/>
          <p:cNvSpPr txBox="1"/>
          <p:nvPr/>
        </p:nvSpPr>
        <p:spPr>
          <a:xfrm>
            <a:off x="731520" y="2914446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7.  The six audited harvested sources. The same probe reads 1.000 on human-labelled CottonWeedDet12, so a source at 0.184 is the data and not the instrument. Only the source at the top clears the bar, and it supplies 3,208 of the 13,527 audited images.</a:t>
            </a:r>
          </a:p>
        </p:txBody>
      </p:sp>
      <p:sp>
        <p:nvSpPr>
          <p:cNvPr id="88" name="TextBox 87"/>
          <p:cNvSpPr txBox="1"/>
          <p:nvPr/>
        </p:nvSpPr>
        <p:spPr>
          <a:xfrm>
            <a:off x="32552640" y="2421229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Back on our own rows</a:t>
            </a:r>
          </a:p>
        </p:txBody>
      </p:sp>
      <p:sp>
        <p:nvSpPr>
          <p:cNvPr id="89" name="Rectangle 88"/>
          <p:cNvSpPr/>
          <p:nvPr/>
        </p:nvSpPr>
        <p:spPr>
          <a:xfrm>
            <a:off x="32552640" y="2477363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p_field.png"/>
          <p:cNvPicPr>
            <a:picLocks noChangeAspect="1"/>
          </p:cNvPicPr>
          <p:nvPr/>
        </p:nvPicPr>
        <p:blipFill>
          <a:blip r:embed="rId9"/>
          <a:stretch>
            <a:fillRect/>
          </a:stretch>
        </p:blipFill>
        <p:spPr>
          <a:xfrm>
            <a:off x="32552640" y="25102819"/>
            <a:ext cx="10607040" cy="2468880"/>
          </a:xfrm>
          <a:prstGeom prst="rect">
            <a:avLst/>
          </a:prstGeom>
        </p:spPr>
      </p:pic>
      <p:sp>
        <p:nvSpPr>
          <p:cNvPr id="91" name="TextBox 90"/>
          <p:cNvSpPr txBox="1"/>
          <p:nvPr/>
        </p:nvSpPr>
        <p:spPr>
          <a:xfrm>
            <a:off x="32552640" y="2768142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8.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sp>
        <p:nvSpPr>
          <p:cNvPr id="92" name="Rectangle 91"/>
          <p:cNvSpPr/>
          <p:nvPr/>
        </p:nvSpPr>
        <p:spPr>
          <a:xfrm>
            <a:off x="731520" y="30421580"/>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31520" y="30677612"/>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Where this stands today. The collector and trainer are paused after a stop-loss on 2026-08-29, the supervisor is advisory, the laser has never fired at a weed under our control, and none of the 2,686 frames is labelled.</a:t>
            </a:r>
          </a:p>
        </p:txBody>
      </p:sp>
      <p:sp>
        <p:nvSpPr>
          <p:cNvPr id="94" name="TextBox 93"/>
          <p:cNvSpPr txBox="1"/>
          <p:nvPr/>
        </p:nvSpPr>
        <p:spPr>
          <a:xfrm>
            <a:off x="15026640" y="30677612"/>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What we ran. Thirty model runs in four families: five detectors trained on our own holdout, two vision models inside the loop, fourteen vision-language models zero-shot, and nine language models as reviewers. That is 27 distinct models, because OWLv2-large and Qwen2.5-7B each do two of those jobs. One is deployed.</a:t>
            </a:r>
          </a:p>
        </p:txBody>
      </p:sp>
      <p:sp>
        <p:nvSpPr>
          <p:cNvPr id="95" name="TextBox 94"/>
          <p:cNvSpPr txBox="1"/>
          <p:nvPr/>
        </p:nvSpPr>
        <p:spPr>
          <a:xfrm>
            <a:off x="29321759" y="30677612"/>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How the numbers were made. The 1,977-image holdout was also the validation set during training, so every mAP here is a run's best epoch, a maximum over 21 to 100 evaluations on the set it is reported on. Numbers we withdrew: 0.910 was a data leak found by a check we built after publishing it, 0.9033 is the best of four unseeded runs, and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