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10200" b="1">
                <a:solidFill>
                  <a:srgbClr val="FFFFFF"/>
                </a:solidFill>
                <a:latin typeface="Arial"/>
              </a:rPr>
              <a:t>How Much of This Pipeline Can the Agents Run by Themselves?</a:t>
            </a:r>
          </a:p>
        </p:txBody>
      </p:sp>
      <p:sp>
        <p:nvSpPr>
          <p:cNvPr id="5" name="TextBox 4"/>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6" name="TextBox 5"/>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C2CEDA"/>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We spent six months finding out, on our own robots and our own cluster. The answer is that collection and training run alone, and judging does not.</a:t>
            </a:r>
          </a:p>
        </p:txBody>
      </p:sp>
      <p:sp>
        <p:nvSpPr>
          <p:cNvPr id="8" name="TextBox 7"/>
          <p:cNvSpPr txBox="1"/>
          <p:nvPr/>
        </p:nvSpPr>
        <p:spPr>
          <a:xfrm>
            <a:off x="731520" y="5623560"/>
            <a:ext cx="424281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route we actually took</a:t>
            </a:r>
          </a:p>
        </p:txBody>
      </p:sp>
      <p:sp>
        <p:nvSpPr>
          <p:cNvPr id="9" name="Rectangle 8"/>
          <p:cNvSpPr/>
          <p:nvPr/>
        </p:nvSpPr>
        <p:spPr>
          <a:xfrm>
            <a:off x="731520" y="6190488"/>
            <a:ext cx="424281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t_journey.png"/>
          <p:cNvPicPr>
            <a:picLocks noChangeAspect="1"/>
          </p:cNvPicPr>
          <p:nvPr/>
        </p:nvPicPr>
        <p:blipFill>
          <a:blip r:embed="rId2"/>
          <a:stretch>
            <a:fillRect/>
          </a:stretch>
        </p:blipFill>
        <p:spPr>
          <a:xfrm>
            <a:off x="731520" y="6519672"/>
            <a:ext cx="42428160" cy="3017520"/>
          </a:xfrm>
          <a:prstGeom prst="rect">
            <a:avLst/>
          </a:prstGeom>
        </p:spPr>
      </p:pic>
      <p:sp>
        <p:nvSpPr>
          <p:cNvPr id="11" name="TextBox 10"/>
          <p:cNvSpPr txBox="1"/>
          <p:nvPr/>
        </p:nvSpPr>
        <p:spPr>
          <a:xfrm>
            <a:off x="731520" y="9646919"/>
            <a:ext cx="424281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Six months. Four of these eight turns are things that did not work, and two are numbers this project measured, published internally and then withdrew after checking them.</a:t>
            </a:r>
          </a:p>
        </p:txBody>
      </p:sp>
      <p:sp>
        <p:nvSpPr>
          <p:cNvPr id="12" name="TextBox 11"/>
          <p:cNvSpPr txBox="1"/>
          <p:nvPr/>
        </p:nvSpPr>
        <p:spPr>
          <a:xfrm>
            <a:off x="731520" y="10508487"/>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What we collect now</a:t>
            </a:r>
          </a:p>
        </p:txBody>
      </p:sp>
      <p:sp>
        <p:nvSpPr>
          <p:cNvPr id="13" name="Rectangle 12"/>
          <p:cNvSpPr/>
          <p:nvPr/>
        </p:nvSpPr>
        <p:spPr>
          <a:xfrm>
            <a:off x="731520" y="1107541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_robots.png"/>
          <p:cNvPicPr>
            <a:picLocks noChangeAspect="1"/>
          </p:cNvPicPr>
          <p:nvPr/>
        </p:nvPicPr>
        <p:blipFill>
          <a:blip r:embed="rId3"/>
          <a:stretch>
            <a:fillRect/>
          </a:stretch>
        </p:blipFill>
        <p:spPr>
          <a:xfrm>
            <a:off x="731520" y="11404600"/>
            <a:ext cx="10607040" cy="2377440"/>
          </a:xfrm>
          <a:prstGeom prst="rect">
            <a:avLst/>
          </a:prstGeom>
        </p:spPr>
      </p:pic>
      <p:sp>
        <p:nvSpPr>
          <p:cNvPr id="15" name="TextBox 14"/>
          <p:cNvSpPr txBox="1"/>
          <p:nvPr/>
        </p:nvSpPr>
        <p:spPr>
          <a:xfrm>
            <a:off x="731520" y="13891767"/>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2.  Frames as recorded, unenhanced. Robot 241 has sent 2,259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16" name="TextBox 15"/>
          <p:cNvSpPr txBox="1"/>
          <p:nvPr/>
        </p:nvSpPr>
        <p:spPr>
          <a:xfrm>
            <a:off x="731520" y="15161767"/>
            <a:ext cx="10607040" cy="365760"/>
          </a:xfrm>
          <a:prstGeom prst="rect">
            <a:avLst/>
          </a:prstGeom>
          <a:noFill/>
        </p:spPr>
        <p:txBody>
          <a:bodyPr wrap="square" lIns="0" rIns="0" tIns="0" bIns="0">
            <a:spAutoFit/>
          </a:bodyPr>
          <a:lstStyle/>
          <a:p>
            <a:pPr algn="l">
              <a:lnSpc>
                <a:spcPct val="122000"/>
              </a:lnSpc>
              <a:spcAft>
                <a:spcPts val="2400"/>
              </a:spcAft>
            </a:pPr>
            <a:r>
              <a:rPr sz="2000" b="0">
                <a:solidFill>
                  <a:srgbClr val="1E293B"/>
                </a:solidFill>
                <a:latin typeface="Arial"/>
              </a:rPr>
              <a:t>Two ground vehicles drive our own cotton plots. Robot 241 streams frames, position and attitude; the laser cart carries the weeder and two cameras. 2,686 frames in 26 drives, 91,955 telemetry rows across nine streams, 342 m of GPS track. None of it is labelled, and the cart writes no position at all.</a:t>
            </a:r>
          </a:p>
        </p:txBody>
      </p:sp>
      <p:pic>
        <p:nvPicPr>
          <p:cNvPr id="17" name="Picture 16" descr="h_drive.png"/>
          <p:cNvPicPr>
            <a:picLocks noChangeAspect="1"/>
          </p:cNvPicPr>
          <p:nvPr/>
        </p:nvPicPr>
        <p:blipFill>
          <a:blip r:embed="rId4"/>
          <a:stretch>
            <a:fillRect/>
          </a:stretch>
        </p:blipFill>
        <p:spPr>
          <a:xfrm>
            <a:off x="731520" y="16706088"/>
            <a:ext cx="10607040" cy="4023360"/>
          </a:xfrm>
          <a:prstGeom prst="rect">
            <a:avLst/>
          </a:prstGeom>
        </p:spPr>
      </p:pic>
      <p:sp>
        <p:nvSpPr>
          <p:cNvPr id="18" name="TextBox 17"/>
          <p:cNvSpPr txBox="1"/>
          <p:nvPr/>
        </p:nvSpPr>
        <p:spPr>
          <a:xfrm>
            <a:off x="731520" y="20839176"/>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Robot 241, 2026-08-29: one 213 s pass through a crop plot. (h) GPS track from the board fix. (i) IMU heading over the same pass.</a:t>
            </a:r>
          </a:p>
        </p:txBody>
      </p:sp>
      <p:sp>
        <p:nvSpPr>
          <p:cNvPr id="19" name="TextBox 18"/>
          <p:cNvSpPr txBox="1"/>
          <p:nvPr/>
        </p:nvSpPr>
        <p:spPr>
          <a:xfrm>
            <a:off x="11704320" y="10508487"/>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part that runs alone</a:t>
            </a:r>
          </a:p>
        </p:txBody>
      </p:sp>
      <p:sp>
        <p:nvSpPr>
          <p:cNvPr id="20" name="Rectangle 19"/>
          <p:cNvSpPr/>
          <p:nvPr/>
        </p:nvSpPr>
        <p:spPr>
          <a:xfrm>
            <a:off x="11704320" y="11075415"/>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n_system.png"/>
          <p:cNvPicPr>
            <a:picLocks noChangeAspect="1"/>
          </p:cNvPicPr>
          <p:nvPr/>
        </p:nvPicPr>
        <p:blipFill>
          <a:blip r:embed="rId5"/>
          <a:stretch>
            <a:fillRect/>
          </a:stretch>
        </p:blipFill>
        <p:spPr>
          <a:xfrm>
            <a:off x="11704320" y="11404600"/>
            <a:ext cx="20482560" cy="3383280"/>
          </a:xfrm>
          <a:prstGeom prst="rect">
            <a:avLst/>
          </a:prstGeom>
        </p:spPr>
      </p:pic>
      <p:sp>
        <p:nvSpPr>
          <p:cNvPr id="22" name="TextBox 21"/>
          <p:cNvSpPr txBox="1"/>
          <p:nvPr/>
        </p:nvSpPr>
        <p:spPr>
          <a:xfrm>
            <a:off x="11704320" y="1489760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The path from a camera in a crop row to a checkpoint on the cluster. Every stage is built and has run. Two are not running today: the collector and trainer are paused after a stop-loss on 2026-08-29, and the supervisor is advisory, so nothing it says is applied to the loop.</a:t>
            </a:r>
          </a:p>
        </p:txBody>
      </p:sp>
      <p:sp>
        <p:nvSpPr>
          <p:cNvPr id="23" name="TextBox 22"/>
          <p:cNvSpPr txBox="1"/>
          <p:nvPr/>
        </p:nvSpPr>
        <p:spPr>
          <a:xfrm>
            <a:off x="11704320" y="15688056"/>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Collection and training run without a person. A round searches public sources, filters what it finds against a DINOv2 gate, merges into a registry that excludes the holdout by content hash, trains on an H100 allocation and evaluates. Fifteen rounds went through that path and every one reported success.</a:t>
            </a:r>
          </a:p>
        </p:txBody>
      </p:sp>
      <p:sp>
        <p:nvSpPr>
          <p:cNvPr id="24" name="TextBox 23"/>
          <p:cNvSpPr txBox="1"/>
          <p:nvPr/>
        </p:nvSpPr>
        <p:spPr>
          <a:xfrm>
            <a:off x="11704320" y="16460216"/>
            <a:ext cx="2048256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What fifteen unattended rounds actually did</a:t>
            </a:r>
          </a:p>
        </p:txBody>
      </p:sp>
      <p:pic>
        <p:nvPicPr>
          <p:cNvPr id="25" name="Picture 24" descr="f_rounds.png"/>
          <p:cNvPicPr>
            <a:picLocks noChangeAspect="1"/>
          </p:cNvPicPr>
          <p:nvPr/>
        </p:nvPicPr>
        <p:blipFill>
          <a:blip r:embed="rId6"/>
          <a:stretch>
            <a:fillRect/>
          </a:stretch>
        </p:blipFill>
        <p:spPr>
          <a:xfrm>
            <a:off x="11704320" y="16880840"/>
            <a:ext cx="20482560" cy="4663440"/>
          </a:xfrm>
          <a:prstGeom prst="rect">
            <a:avLst/>
          </a:prstGeom>
        </p:spPr>
      </p:pic>
      <p:sp>
        <p:nvSpPr>
          <p:cNvPr id="26" name="TextBox 25"/>
          <p:cNvSpPr txBox="1"/>
          <p:nvPr/>
        </p:nvSpPr>
        <p:spPr>
          <a:xfrm>
            <a:off x="11704320" y="21654008"/>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5.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27" name="TextBox 26"/>
          <p:cNvSpPr txBox="1"/>
          <p:nvPr/>
        </p:nvSpPr>
        <p:spPr>
          <a:xfrm>
            <a:off x="11704320" y="22684232"/>
            <a:ext cx="20482560" cy="365760"/>
          </a:xfrm>
          <a:prstGeom prst="rect">
            <a:avLst/>
          </a:prstGeom>
          <a:noFill/>
        </p:spPr>
        <p:txBody>
          <a:bodyPr wrap="square" lIns="0" rIns="0" tIns="0" bIns="0">
            <a:spAutoFit/>
          </a:bodyPr>
          <a:lstStyle/>
          <a:p>
            <a:pPr algn="l">
              <a:lnSpc>
                <a:spcPct val="122000"/>
              </a:lnSpc>
              <a:spcAft>
                <a:spcPts val="1200"/>
              </a:spcAft>
            </a:pPr>
            <a:r>
              <a:rPr sz="2000" b="0">
                <a:solidFill>
                  <a:srgbClr val="1E293B"/>
                </a:solidFill>
                <a:latin typeface="Arial"/>
              </a:rPr>
              <a:t>Accuracy fell the whole time. The corpus stopped growing at round three and eight rounds collected nothing while reporting success, so what was left was the chain: each round warm-started from the last one's weights. A control on round 15's own data prices that at +0.0287, 5.1 times this recipe's own seed spread. Completing the truncated schedule does not recover it, which was the obvious fix and the wrong one.</a:t>
            </a:r>
          </a:p>
        </p:txBody>
      </p:sp>
      <p:sp>
        <p:nvSpPr>
          <p:cNvPr id="28" name="TextBox 27"/>
          <p:cNvSpPr txBox="1"/>
          <p:nvPr/>
        </p:nvSpPr>
        <p:spPr>
          <a:xfrm>
            <a:off x="32552640" y="10508487"/>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The part that does not</a:t>
            </a:r>
          </a:p>
        </p:txBody>
      </p:sp>
      <p:sp>
        <p:nvSpPr>
          <p:cNvPr id="29" name="Rectangle 28"/>
          <p:cNvSpPr/>
          <p:nvPr/>
        </p:nvSpPr>
        <p:spPr>
          <a:xfrm>
            <a:off x="32552640" y="1107541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552640" y="11404600"/>
            <a:ext cx="10607040" cy="365760"/>
          </a:xfrm>
          <a:prstGeom prst="rect">
            <a:avLst/>
          </a:prstGeom>
          <a:noFill/>
        </p:spPr>
        <p:txBody>
          <a:bodyPr wrap="square" lIns="0" rIns="0" tIns="0" bIns="0">
            <a:spAutoFit/>
          </a:bodyPr>
          <a:lstStyle/>
          <a:p>
            <a:pPr algn="l">
              <a:lnSpc>
                <a:spcPct val="122000"/>
              </a:lnSpc>
              <a:spcAft>
                <a:spcPts val="2400"/>
              </a:spcAft>
            </a:pPr>
            <a:r>
              <a:rPr sz="2000" b="0">
                <a:solidFill>
                  <a:srgbClr val="1E293B"/>
                </a:solidFill>
                <a:latin typeface="Arial"/>
              </a:rPr>
              <a:t>Judging does not run alone yet. We froze 162 real failures out of this project's own engineering record and scored every kind of supervision we had. The watchdog the loop was running returned no decision on any of the 149 dev cases.</a:t>
            </a:r>
          </a:p>
        </p:txBody>
      </p:sp>
      <p:sp>
        <p:nvSpPr>
          <p:cNvPr id="31" name="Rectangle 30"/>
          <p:cNvSpPr/>
          <p:nvPr/>
        </p:nvSpPr>
        <p:spPr>
          <a:xfrm>
            <a:off x="32552640" y="12639039"/>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552640" y="12757912"/>
            <a:ext cx="4879238"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reviewer</a:t>
            </a:r>
          </a:p>
        </p:txBody>
      </p:sp>
      <p:sp>
        <p:nvSpPr>
          <p:cNvPr id="33" name="TextBox 32"/>
          <p:cNvSpPr txBox="1"/>
          <p:nvPr/>
        </p:nvSpPr>
        <p:spPr>
          <a:xfrm>
            <a:off x="37431878" y="12757912"/>
            <a:ext cx="2863900"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recall</a:t>
            </a:r>
          </a:p>
        </p:txBody>
      </p:sp>
      <p:sp>
        <p:nvSpPr>
          <p:cNvPr id="34" name="TextBox 33"/>
          <p:cNvSpPr txBox="1"/>
          <p:nvPr/>
        </p:nvSpPr>
        <p:spPr>
          <a:xfrm>
            <a:off x="40295779" y="12757912"/>
            <a:ext cx="2863900"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grounded</a:t>
            </a:r>
          </a:p>
        </p:txBody>
      </p:sp>
      <p:sp>
        <p:nvSpPr>
          <p:cNvPr id="35" name="Rectangle 34"/>
          <p:cNvSpPr/>
          <p:nvPr/>
        </p:nvSpPr>
        <p:spPr>
          <a:xfrm>
            <a:off x="32552640" y="13123672"/>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552640" y="13233400"/>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scripted watchdog</a:t>
            </a:r>
          </a:p>
        </p:txBody>
      </p:sp>
      <p:sp>
        <p:nvSpPr>
          <p:cNvPr id="37" name="TextBox 36"/>
          <p:cNvSpPr txBox="1"/>
          <p:nvPr/>
        </p:nvSpPr>
        <p:spPr>
          <a:xfrm>
            <a:off x="37431878" y="13233400"/>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no decision</a:t>
            </a:r>
          </a:p>
        </p:txBody>
      </p:sp>
      <p:sp>
        <p:nvSpPr>
          <p:cNvPr id="38" name="TextBox 37"/>
          <p:cNvSpPr txBox="1"/>
          <p:nvPr/>
        </p:nvSpPr>
        <p:spPr>
          <a:xfrm>
            <a:off x="40295779" y="13233400"/>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a:t>
            </a:r>
          </a:p>
        </p:txBody>
      </p:sp>
      <p:sp>
        <p:nvSpPr>
          <p:cNvPr id="39" name="TextBox 38"/>
          <p:cNvSpPr txBox="1"/>
          <p:nvPr/>
        </p:nvSpPr>
        <p:spPr>
          <a:xfrm>
            <a:off x="32552640" y="13635735"/>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12 rules</a:t>
            </a:r>
          </a:p>
        </p:txBody>
      </p:sp>
      <p:sp>
        <p:nvSpPr>
          <p:cNvPr id="40" name="TextBox 39"/>
          <p:cNvSpPr txBox="1"/>
          <p:nvPr/>
        </p:nvSpPr>
        <p:spPr>
          <a:xfrm>
            <a:off x="37431878" y="13635735"/>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41" name="TextBox 40"/>
          <p:cNvSpPr txBox="1"/>
          <p:nvPr/>
        </p:nvSpPr>
        <p:spPr>
          <a:xfrm>
            <a:off x="40295779" y="13635735"/>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0.095</a:t>
            </a:r>
          </a:p>
        </p:txBody>
      </p:sp>
      <p:sp>
        <p:nvSpPr>
          <p:cNvPr id="42" name="TextBox 41"/>
          <p:cNvSpPr txBox="1"/>
          <p:nvPr/>
        </p:nvSpPr>
        <p:spPr>
          <a:xfrm>
            <a:off x="32552640" y="14038071"/>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Qwen2.5-7B</a:t>
            </a:r>
          </a:p>
        </p:txBody>
      </p:sp>
      <p:sp>
        <p:nvSpPr>
          <p:cNvPr id="43" name="TextBox 42"/>
          <p:cNvSpPr txBox="1"/>
          <p:nvPr/>
        </p:nvSpPr>
        <p:spPr>
          <a:xfrm>
            <a:off x="37431878" y="14038071"/>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0.823</a:t>
            </a:r>
          </a:p>
        </p:txBody>
      </p:sp>
      <p:sp>
        <p:nvSpPr>
          <p:cNvPr id="44" name="TextBox 43"/>
          <p:cNvSpPr txBox="1"/>
          <p:nvPr/>
        </p:nvSpPr>
        <p:spPr>
          <a:xfrm>
            <a:off x="40295779" y="14038071"/>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0.274</a:t>
            </a:r>
          </a:p>
        </p:txBody>
      </p:sp>
      <p:sp>
        <p:nvSpPr>
          <p:cNvPr id="45" name="TextBox 44"/>
          <p:cNvSpPr txBox="1"/>
          <p:nvPr/>
        </p:nvSpPr>
        <p:spPr>
          <a:xfrm>
            <a:off x="32552640" y="14440407"/>
            <a:ext cx="4879238"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Qwen3-14B</a:t>
            </a:r>
          </a:p>
        </p:txBody>
      </p:sp>
      <p:sp>
        <p:nvSpPr>
          <p:cNvPr id="46" name="TextBox 45"/>
          <p:cNvSpPr txBox="1"/>
          <p:nvPr/>
        </p:nvSpPr>
        <p:spPr>
          <a:xfrm>
            <a:off x="37431878" y="14440407"/>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0.675</a:t>
            </a:r>
          </a:p>
        </p:txBody>
      </p:sp>
      <p:sp>
        <p:nvSpPr>
          <p:cNvPr id="47" name="TextBox 46"/>
          <p:cNvSpPr txBox="1"/>
          <p:nvPr/>
        </p:nvSpPr>
        <p:spPr>
          <a:xfrm>
            <a:off x="40295779" y="14440407"/>
            <a:ext cx="2863900"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0.614</a:t>
            </a:r>
          </a:p>
        </p:txBody>
      </p:sp>
      <p:sp>
        <p:nvSpPr>
          <p:cNvPr id="48" name="TextBox 47"/>
          <p:cNvSpPr txBox="1"/>
          <p:nvPr/>
        </p:nvSpPr>
        <p:spPr>
          <a:xfrm>
            <a:off x="32552640" y="14842743"/>
            <a:ext cx="4879238"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Qwen3.8-27B</a:t>
            </a:r>
          </a:p>
        </p:txBody>
      </p:sp>
      <p:sp>
        <p:nvSpPr>
          <p:cNvPr id="49" name="TextBox 48"/>
          <p:cNvSpPr txBox="1"/>
          <p:nvPr/>
        </p:nvSpPr>
        <p:spPr>
          <a:xfrm>
            <a:off x="37431878" y="14842743"/>
            <a:ext cx="2863900"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0.702</a:t>
            </a:r>
          </a:p>
        </p:txBody>
      </p:sp>
      <p:sp>
        <p:nvSpPr>
          <p:cNvPr id="50" name="TextBox 49"/>
          <p:cNvSpPr txBox="1"/>
          <p:nvPr/>
        </p:nvSpPr>
        <p:spPr>
          <a:xfrm>
            <a:off x="40295779" y="14842743"/>
            <a:ext cx="2863900"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0.702</a:t>
            </a:r>
          </a:p>
        </p:txBody>
      </p:sp>
      <p:sp>
        <p:nvSpPr>
          <p:cNvPr id="51" name="Rectangle 50"/>
          <p:cNvSpPr/>
          <p:nvPr/>
        </p:nvSpPr>
        <p:spPr>
          <a:xfrm>
            <a:off x="32552640" y="15272512"/>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552640" y="15537687"/>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Recall does not order the reviewers by size. Evidence does. The 7 B has the highest recall on the table and two thirds of what it reports quotes a line that does not exist. That is the size class we had been running.</a:t>
            </a:r>
          </a:p>
        </p:txBody>
      </p:sp>
      <p:sp>
        <p:nvSpPr>
          <p:cNvPr id="53" name="TextBox 52"/>
          <p:cNvSpPr txBox="1"/>
          <p:nvPr/>
        </p:nvSpPr>
        <p:spPr>
          <a:xfrm>
            <a:off x="32552640" y="16488663"/>
            <a:ext cx="10607040" cy="365760"/>
          </a:xfrm>
          <a:prstGeom prst="rect">
            <a:avLst/>
          </a:prstGeom>
          <a:noFill/>
        </p:spPr>
        <p:txBody>
          <a:bodyPr wrap="square" lIns="0" rIns="0" tIns="0" bIns="0">
            <a:spAutoFit/>
          </a:bodyPr>
          <a:lstStyle/>
          <a:p>
            <a:pPr algn="l">
              <a:lnSpc>
                <a:spcPct val="100000"/>
              </a:lnSpc>
              <a:spcAft>
                <a:spcPts val="0"/>
              </a:spcAft>
            </a:pPr>
            <a:r>
              <a:rPr sz="2400" b="1">
                <a:solidFill>
                  <a:srgbClr val="1E293B"/>
                </a:solidFill>
                <a:latin typeface="Arial"/>
              </a:rPr>
              <a:t>Does more data help?</a:t>
            </a:r>
          </a:p>
        </p:txBody>
      </p:sp>
      <p:sp>
        <p:nvSpPr>
          <p:cNvPr id="54" name="Rectangle 53"/>
          <p:cNvSpPr/>
          <p:nvPr/>
        </p:nvSpPr>
        <p:spPr>
          <a:xfrm>
            <a:off x="32552640" y="16909288"/>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552640" y="17028159"/>
            <a:ext cx="4667097" cy="365760"/>
          </a:xfrm>
          <a:prstGeom prst="rect">
            <a:avLst/>
          </a:prstGeom>
          <a:noFill/>
        </p:spPr>
        <p:txBody>
          <a:bodyPr wrap="square" lIns="0" rIns="0" tIns="0" bIns="0">
            <a:spAutoFit/>
          </a:bodyPr>
          <a:lstStyle/>
          <a:p>
            <a:pPr algn="l">
              <a:lnSpc>
                <a:spcPct val="100000"/>
              </a:lnSpc>
              <a:spcAft>
                <a:spcPts val="0"/>
              </a:spcAft>
            </a:pPr>
            <a:r>
              <a:rPr sz="1550" b="1">
                <a:solidFill>
                  <a:srgbClr val="1E293B"/>
                </a:solidFill>
                <a:latin typeface="Arial"/>
              </a:rPr>
              <a:t>harvested added</a:t>
            </a:r>
          </a:p>
        </p:txBody>
      </p:sp>
      <p:sp>
        <p:nvSpPr>
          <p:cNvPr id="56" name="TextBox 55"/>
          <p:cNvSpPr txBox="1"/>
          <p:nvPr/>
        </p:nvSpPr>
        <p:spPr>
          <a:xfrm>
            <a:off x="37219737" y="17028159"/>
            <a:ext cx="424281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mAP50-95</a:t>
            </a:r>
          </a:p>
        </p:txBody>
      </p:sp>
      <p:sp>
        <p:nvSpPr>
          <p:cNvPr id="57" name="TextBox 56"/>
          <p:cNvSpPr txBox="1"/>
          <p:nvPr/>
        </p:nvSpPr>
        <p:spPr>
          <a:xfrm>
            <a:off x="41462553" y="17028159"/>
            <a:ext cx="1697126" cy="365760"/>
          </a:xfrm>
          <a:prstGeom prst="rect">
            <a:avLst/>
          </a:prstGeom>
          <a:noFill/>
        </p:spPr>
        <p:txBody>
          <a:bodyPr wrap="square" lIns="0" rIns="0" tIns="0" bIns="0">
            <a:spAutoFit/>
          </a:bodyPr>
          <a:lstStyle/>
          <a:p>
            <a:pPr algn="r">
              <a:lnSpc>
                <a:spcPct val="100000"/>
              </a:lnSpc>
              <a:spcAft>
                <a:spcPts val="0"/>
              </a:spcAft>
            </a:pPr>
            <a:r>
              <a:rPr sz="1550" b="1">
                <a:solidFill>
                  <a:srgbClr val="1E293B"/>
                </a:solidFill>
                <a:latin typeface="Arial"/>
              </a:rPr>
              <a:t>n</a:t>
            </a:r>
          </a:p>
        </p:txBody>
      </p:sp>
      <p:sp>
        <p:nvSpPr>
          <p:cNvPr id="58" name="Rectangle 57"/>
          <p:cNvSpPr/>
          <p:nvPr/>
        </p:nvSpPr>
        <p:spPr>
          <a:xfrm>
            <a:off x="32552640" y="17393919"/>
            <a:ext cx="10607040" cy="14630"/>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2552640" y="17503647"/>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none, the core</a:t>
            </a:r>
          </a:p>
        </p:txBody>
      </p:sp>
      <p:sp>
        <p:nvSpPr>
          <p:cNvPr id="60" name="TextBox 59"/>
          <p:cNvSpPr txBox="1"/>
          <p:nvPr/>
        </p:nvSpPr>
        <p:spPr>
          <a:xfrm>
            <a:off x="37219737" y="17503647"/>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0.8637 ± 0.0027</a:t>
            </a:r>
          </a:p>
        </p:txBody>
      </p:sp>
      <p:sp>
        <p:nvSpPr>
          <p:cNvPr id="61" name="TextBox 60"/>
          <p:cNvSpPr txBox="1"/>
          <p:nvPr/>
        </p:nvSpPr>
        <p:spPr>
          <a:xfrm>
            <a:off x="41462553" y="17503647"/>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62" name="TextBox 61"/>
          <p:cNvSpPr txBox="1"/>
          <p:nvPr/>
        </p:nvSpPr>
        <p:spPr>
          <a:xfrm>
            <a:off x="32552640" y="17905984"/>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+5,000</a:t>
            </a:r>
          </a:p>
        </p:txBody>
      </p:sp>
      <p:sp>
        <p:nvSpPr>
          <p:cNvPr id="63" name="TextBox 62"/>
          <p:cNvSpPr txBox="1"/>
          <p:nvPr/>
        </p:nvSpPr>
        <p:spPr>
          <a:xfrm>
            <a:off x="37219737" y="17905984"/>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0.8609 ± 0.0036</a:t>
            </a:r>
          </a:p>
        </p:txBody>
      </p:sp>
      <p:sp>
        <p:nvSpPr>
          <p:cNvPr id="64" name="TextBox 63"/>
          <p:cNvSpPr txBox="1"/>
          <p:nvPr/>
        </p:nvSpPr>
        <p:spPr>
          <a:xfrm>
            <a:off x="41462553" y="17905984"/>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65" name="TextBox 64"/>
          <p:cNvSpPr txBox="1"/>
          <p:nvPr/>
        </p:nvSpPr>
        <p:spPr>
          <a:xfrm>
            <a:off x="32552640" y="18308320"/>
            <a:ext cx="4667097" cy="365760"/>
          </a:xfrm>
          <a:prstGeom prst="rect">
            <a:avLst/>
          </a:prstGeom>
          <a:noFill/>
        </p:spPr>
        <p:txBody>
          <a:bodyPr wrap="square" lIns="0" rIns="0" tIns="0" bIns="0">
            <a:spAutoFit/>
          </a:bodyPr>
          <a:lstStyle/>
          <a:p>
            <a:pPr algn="l">
              <a:lnSpc>
                <a:spcPct val="100000"/>
              </a:lnSpc>
              <a:spcAft>
                <a:spcPts val="0"/>
              </a:spcAft>
            </a:pPr>
            <a:r>
              <a:rPr sz="1700" b="0">
                <a:solidFill>
                  <a:srgbClr val="1E293B"/>
                </a:solidFill>
                <a:latin typeface="Arial"/>
              </a:rPr>
              <a:t>+15,000</a:t>
            </a:r>
          </a:p>
        </p:txBody>
      </p:sp>
      <p:sp>
        <p:nvSpPr>
          <p:cNvPr id="66" name="TextBox 65"/>
          <p:cNvSpPr txBox="1"/>
          <p:nvPr/>
        </p:nvSpPr>
        <p:spPr>
          <a:xfrm>
            <a:off x="37219737" y="18308320"/>
            <a:ext cx="424281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0.8580 ± 0.0047</a:t>
            </a:r>
          </a:p>
        </p:txBody>
      </p:sp>
      <p:sp>
        <p:nvSpPr>
          <p:cNvPr id="67" name="TextBox 66"/>
          <p:cNvSpPr txBox="1"/>
          <p:nvPr/>
        </p:nvSpPr>
        <p:spPr>
          <a:xfrm>
            <a:off x="41462553" y="18308320"/>
            <a:ext cx="1697126" cy="365760"/>
          </a:xfrm>
          <a:prstGeom prst="rect">
            <a:avLst/>
          </a:prstGeom>
          <a:noFill/>
        </p:spPr>
        <p:txBody>
          <a:bodyPr wrap="square" lIns="0" rIns="0" tIns="0" bIns="0">
            <a:spAutoFit/>
          </a:bodyPr>
          <a:lstStyle/>
          <a:p>
            <a:pPr algn="r">
              <a:lnSpc>
                <a:spcPct val="100000"/>
              </a:lnSpc>
              <a:spcAft>
                <a:spcPts val="0"/>
              </a:spcAft>
            </a:pPr>
            <a:r>
              <a:rPr sz="1700" b="0">
                <a:solidFill>
                  <a:srgbClr val="1E293B"/>
                </a:solidFill>
                <a:latin typeface="Arial"/>
              </a:rPr>
              <a:t>3</a:t>
            </a:r>
          </a:p>
        </p:txBody>
      </p:sp>
      <p:sp>
        <p:nvSpPr>
          <p:cNvPr id="68" name="TextBox 67"/>
          <p:cNvSpPr txBox="1"/>
          <p:nvPr/>
        </p:nvSpPr>
        <p:spPr>
          <a:xfrm>
            <a:off x="32552640" y="18710656"/>
            <a:ext cx="4667097" cy="365760"/>
          </a:xfrm>
          <a:prstGeom prst="rect">
            <a:avLst/>
          </a:prstGeom>
          <a:noFill/>
        </p:spPr>
        <p:txBody>
          <a:bodyPr wrap="square" lIns="0" rIns="0" tIns="0" bIns="0">
            <a:spAutoFit/>
          </a:bodyPr>
          <a:lstStyle/>
          <a:p>
            <a:pPr algn="l">
              <a:lnSpc>
                <a:spcPct val="100000"/>
              </a:lnSpc>
              <a:spcAft>
                <a:spcPts val="0"/>
              </a:spcAft>
            </a:pPr>
            <a:r>
              <a:rPr sz="1700" b="1">
                <a:solidFill>
                  <a:srgbClr val="1C6FB5"/>
                </a:solidFill>
                <a:latin typeface="Arial"/>
              </a:rPr>
              <a:t>+40,000</a:t>
            </a:r>
          </a:p>
        </p:txBody>
      </p:sp>
      <p:sp>
        <p:nvSpPr>
          <p:cNvPr id="69" name="TextBox 68"/>
          <p:cNvSpPr txBox="1"/>
          <p:nvPr/>
        </p:nvSpPr>
        <p:spPr>
          <a:xfrm>
            <a:off x="37219737" y="18710656"/>
            <a:ext cx="424281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0.8448 ± 0.0018</a:t>
            </a:r>
          </a:p>
        </p:txBody>
      </p:sp>
      <p:sp>
        <p:nvSpPr>
          <p:cNvPr id="70" name="TextBox 69"/>
          <p:cNvSpPr txBox="1"/>
          <p:nvPr/>
        </p:nvSpPr>
        <p:spPr>
          <a:xfrm>
            <a:off x="41462553" y="18710656"/>
            <a:ext cx="1697126" cy="365760"/>
          </a:xfrm>
          <a:prstGeom prst="rect">
            <a:avLst/>
          </a:prstGeom>
          <a:noFill/>
        </p:spPr>
        <p:txBody>
          <a:bodyPr wrap="square" lIns="0" rIns="0" tIns="0" bIns="0">
            <a:spAutoFit/>
          </a:bodyPr>
          <a:lstStyle/>
          <a:p>
            <a:pPr algn="r">
              <a:lnSpc>
                <a:spcPct val="100000"/>
              </a:lnSpc>
              <a:spcAft>
                <a:spcPts val="0"/>
              </a:spcAft>
            </a:pPr>
            <a:r>
              <a:rPr sz="1700" b="1">
                <a:solidFill>
                  <a:srgbClr val="1C6FB5"/>
                </a:solidFill>
                <a:latin typeface="Arial"/>
              </a:rPr>
              <a:t>3</a:t>
            </a:r>
          </a:p>
        </p:txBody>
      </p:sp>
      <p:sp>
        <p:nvSpPr>
          <p:cNvPr id="71" name="Rectangle 70"/>
          <p:cNvSpPr/>
          <p:nvPr/>
        </p:nvSpPr>
        <p:spPr>
          <a:xfrm>
            <a:off x="32552640" y="19140424"/>
            <a:ext cx="10607040" cy="23774"/>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552640" y="19405600"/>
            <a:ext cx="1060704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Twelve times the data costs 0.0189, which is 8.2 times the seed spread, and the same eight checkpoints fall on a second weed dataset too. One of six audited web sources clears a 0.90 label-precision bar.</a:t>
            </a:r>
          </a:p>
        </p:txBody>
      </p:sp>
      <p:sp>
        <p:nvSpPr>
          <p:cNvPr id="73" name="TextBox 72"/>
          <p:cNvSpPr txBox="1"/>
          <p:nvPr/>
        </p:nvSpPr>
        <p:spPr>
          <a:xfrm>
            <a:off x="11704320" y="24223472"/>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Everything we trained, ran, or rejected</a:t>
            </a:r>
          </a:p>
        </p:txBody>
      </p:sp>
      <p:sp>
        <p:nvSpPr>
          <p:cNvPr id="74" name="Rectangle 73"/>
          <p:cNvSpPr/>
          <p:nvPr/>
        </p:nvSpPr>
        <p:spPr>
          <a:xfrm>
            <a:off x="11704320" y="2479040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5" name="Picture 74" descr="m_ledger.png"/>
          <p:cNvPicPr>
            <a:picLocks noChangeAspect="1"/>
          </p:cNvPicPr>
          <p:nvPr/>
        </p:nvPicPr>
        <p:blipFill>
          <a:blip r:embed="rId7"/>
          <a:stretch>
            <a:fillRect/>
          </a:stretch>
        </p:blipFill>
        <p:spPr>
          <a:xfrm>
            <a:off x="11704320" y="25119584"/>
            <a:ext cx="20482560" cy="3749040"/>
          </a:xfrm>
          <a:prstGeom prst="rect">
            <a:avLst/>
          </a:prstGeom>
        </p:spPr>
      </p:pic>
      <p:sp>
        <p:nvSpPr>
          <p:cNvPr id="76" name="TextBox 75"/>
          <p:cNvSpPr txBox="1"/>
          <p:nvPr/>
        </p:nvSpPr>
        <p:spPr>
          <a:xfrm>
            <a:off x="11704320" y="28978351"/>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6.  27 distinct models, in four families, on one holdout or one incident corpus. One of them is deployed. The zero-shot column is a single deterministic pass per model with no repeats; the reviewer column is the 149-case dev split, and two of its arms are still running.</a:t>
            </a:r>
          </a:p>
        </p:txBody>
      </p:sp>
      <p:sp>
        <p:nvSpPr>
          <p:cNvPr id="77" name="TextBox 76"/>
          <p:cNvSpPr txBox="1"/>
          <p:nvPr/>
        </p:nvSpPr>
        <p:spPr>
          <a:xfrm>
            <a:off x="731520" y="242234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Six audited web sources</a:t>
            </a:r>
          </a:p>
        </p:txBody>
      </p:sp>
      <p:sp>
        <p:nvSpPr>
          <p:cNvPr id="78" name="Rectangle 77"/>
          <p:cNvSpPr/>
          <p:nvPr/>
        </p:nvSpPr>
        <p:spPr>
          <a:xfrm>
            <a:off x="731520" y="2479040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9" name="Picture 78" descr="s_sources.png"/>
          <p:cNvPicPr>
            <a:picLocks noChangeAspect="1"/>
          </p:cNvPicPr>
          <p:nvPr/>
        </p:nvPicPr>
        <p:blipFill>
          <a:blip r:embed="rId8"/>
          <a:stretch>
            <a:fillRect/>
          </a:stretch>
        </p:blipFill>
        <p:spPr>
          <a:xfrm>
            <a:off x="731520" y="25119584"/>
            <a:ext cx="10607040" cy="3931920"/>
          </a:xfrm>
          <a:prstGeom prst="rect">
            <a:avLst/>
          </a:prstGeom>
        </p:spPr>
      </p:pic>
      <p:sp>
        <p:nvSpPr>
          <p:cNvPr id="80" name="TextBox 79"/>
          <p:cNvSpPr txBox="1"/>
          <p:nvPr/>
        </p:nvSpPr>
        <p:spPr>
          <a:xfrm>
            <a:off x="731520" y="29161232"/>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7.  The six audited harvested sources. The same probe reads 1.000 on human-labelled CottonWeedDet12, so a source at 0.184 is the data and not the instrument. Only the source at the top clears the bar, and it supplies 3,208 of the 13,527 audited images.</a:t>
            </a:r>
          </a:p>
        </p:txBody>
      </p:sp>
      <p:sp>
        <p:nvSpPr>
          <p:cNvPr id="81" name="TextBox 80"/>
          <p:cNvSpPr txBox="1"/>
          <p:nvPr/>
        </p:nvSpPr>
        <p:spPr>
          <a:xfrm>
            <a:off x="32552640" y="242234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Back on our own rows</a:t>
            </a:r>
          </a:p>
        </p:txBody>
      </p:sp>
      <p:sp>
        <p:nvSpPr>
          <p:cNvPr id="82" name="Rectangle 81"/>
          <p:cNvSpPr/>
          <p:nvPr/>
        </p:nvSpPr>
        <p:spPr>
          <a:xfrm>
            <a:off x="32552640" y="2479040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3" name="Picture 82" descr="p_field.png"/>
          <p:cNvPicPr>
            <a:picLocks noChangeAspect="1"/>
          </p:cNvPicPr>
          <p:nvPr/>
        </p:nvPicPr>
        <p:blipFill>
          <a:blip r:embed="rId9"/>
          <a:stretch>
            <a:fillRect/>
          </a:stretch>
        </p:blipFill>
        <p:spPr>
          <a:xfrm>
            <a:off x="32552640" y="25119584"/>
            <a:ext cx="10607040" cy="2468880"/>
          </a:xfrm>
          <a:prstGeom prst="rect">
            <a:avLst/>
          </a:prstGeom>
        </p:spPr>
      </p:pic>
      <p:sp>
        <p:nvSpPr>
          <p:cNvPr id="84" name="TextBox 83"/>
          <p:cNvSpPr txBox="1"/>
          <p:nvPr/>
        </p:nvSpPr>
        <p:spPr>
          <a:xfrm>
            <a:off x="32552640" y="27698192"/>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8.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sp>
        <p:nvSpPr>
          <p:cNvPr id="85" name="Rectangle 84"/>
          <p:cNvSpPr/>
          <p:nvPr/>
        </p:nvSpPr>
        <p:spPr>
          <a:xfrm>
            <a:off x="731520" y="30438344"/>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31520" y="30694376"/>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Where this stands today. The collector and trainer are paused after a stop-loss on 2026-08-29, the supervisor is advisory, the laser has never fired at a weed under our control, and none of the 2,686 frames is labelled.</a:t>
            </a:r>
          </a:p>
        </p:txBody>
      </p:sp>
      <p:sp>
        <p:nvSpPr>
          <p:cNvPr id="87" name="TextBox 86"/>
          <p:cNvSpPr txBox="1"/>
          <p:nvPr/>
        </p:nvSpPr>
        <p:spPr>
          <a:xfrm>
            <a:off x="15026640" y="30694376"/>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What we ran. 27 distinct models in four families: five detectors trained on our own holdout, two vision models inside the loop, fourteen vision-language models zero-shot, and nine language models as reviewers. One is deployed.</a:t>
            </a:r>
          </a:p>
        </p:txBody>
      </p:sp>
      <p:sp>
        <p:nvSpPr>
          <p:cNvPr id="88" name="TextBox 87"/>
          <p:cNvSpPr txBox="1"/>
          <p:nvPr/>
        </p:nvSpPr>
        <p:spPr>
          <a:xfrm>
            <a:off x="29321759" y="30694376"/>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check we built after publishing it. 0.9033 is the best of four unseeded runs.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