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7600" b="1">
                <a:solidFill>
                  <a:srgbClr val="1A1A1A"/>
                </a:solidFill>
                <a:latin typeface="Georgia"/>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1A1A1A"/>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A6A6A"/>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A1A1A"/>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702808"/>
            <a:ext cx="42428160" cy="23774"/>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2,686</a:t>
            </a:r>
          </a:p>
        </p:txBody>
      </p:sp>
      <p:sp>
        <p:nvSpPr>
          <p:cNvPr id="10" name="TextBox 9"/>
          <p:cNvSpPr txBox="1"/>
          <p:nvPr/>
        </p:nvSpPr>
        <p:spPr>
          <a:xfrm>
            <a:off x="731520"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camera frames</a:t>
            </a:r>
          </a:p>
        </p:txBody>
      </p:sp>
      <p:sp>
        <p:nvSpPr>
          <p:cNvPr id="11" name="TextBox 10"/>
          <p:cNvSpPr txBox="1"/>
          <p:nvPr/>
        </p:nvSpPr>
        <p:spPr>
          <a:xfrm>
            <a:off x="731520"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26 drives, 2 robots, 0 labelled</a:t>
            </a:r>
          </a:p>
        </p:txBody>
      </p:sp>
      <p:sp>
        <p:nvSpPr>
          <p:cNvPr id="12" name="TextBox 11"/>
          <p:cNvSpPr txBox="1"/>
          <p:nvPr/>
        </p:nvSpPr>
        <p:spPr>
          <a:xfrm>
            <a:off x="9317736"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91,955</a:t>
            </a:r>
          </a:p>
        </p:txBody>
      </p:sp>
      <p:sp>
        <p:nvSpPr>
          <p:cNvPr id="13" name="TextBox 12"/>
          <p:cNvSpPr txBox="1"/>
          <p:nvPr/>
        </p:nvSpPr>
        <p:spPr>
          <a:xfrm>
            <a:off x="9317736"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telemetry rows</a:t>
            </a:r>
          </a:p>
        </p:txBody>
      </p:sp>
      <p:sp>
        <p:nvSpPr>
          <p:cNvPr id="14" name="TextBox 13"/>
          <p:cNvSpPr txBox="1"/>
          <p:nvPr/>
        </p:nvSpPr>
        <p:spPr>
          <a:xfrm>
            <a:off x="9317736"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nine streams, counted line by line</a:t>
            </a:r>
          </a:p>
        </p:txBody>
      </p:sp>
      <p:sp>
        <p:nvSpPr>
          <p:cNvPr id="15" name="TextBox 14"/>
          <p:cNvSpPr txBox="1"/>
          <p:nvPr/>
        </p:nvSpPr>
        <p:spPr>
          <a:xfrm>
            <a:off x="17903952"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342 m</a:t>
            </a:r>
          </a:p>
        </p:txBody>
      </p:sp>
      <p:sp>
        <p:nvSpPr>
          <p:cNvPr id="16" name="TextBox 15"/>
          <p:cNvSpPr txBox="1"/>
          <p:nvPr/>
        </p:nvSpPr>
        <p:spPr>
          <a:xfrm>
            <a:off x="17903952"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of GPS track</a:t>
            </a:r>
          </a:p>
        </p:txBody>
      </p:sp>
      <p:sp>
        <p:nvSpPr>
          <p:cNvPr id="17" name="TextBox 16"/>
          <p:cNvSpPr txBox="1"/>
          <p:nvPr/>
        </p:nvSpPr>
        <p:spPr>
          <a:xfrm>
            <a:off x="17903952"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1,502 fixes over 18 drives</a:t>
            </a:r>
          </a:p>
        </p:txBody>
      </p:sp>
      <p:sp>
        <p:nvSpPr>
          <p:cNvPr id="18" name="TextBox 17"/>
          <p:cNvSpPr txBox="1"/>
          <p:nvPr/>
        </p:nvSpPr>
        <p:spPr>
          <a:xfrm>
            <a:off x="26490168"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27</a:t>
            </a:r>
          </a:p>
        </p:txBody>
      </p:sp>
      <p:sp>
        <p:nvSpPr>
          <p:cNvPr id="19" name="TextBox 18"/>
          <p:cNvSpPr txBox="1"/>
          <p:nvPr/>
        </p:nvSpPr>
        <p:spPr>
          <a:xfrm>
            <a:off x="26490168"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distinct models run</a:t>
            </a:r>
          </a:p>
        </p:txBody>
      </p:sp>
      <p:sp>
        <p:nvSpPr>
          <p:cNvPr id="20" name="TextBox 19"/>
          <p:cNvSpPr txBox="1"/>
          <p:nvPr/>
        </p:nvSpPr>
        <p:spPr>
          <a:xfrm>
            <a:off x="26490168"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four families, one deployed</a:t>
            </a:r>
          </a:p>
        </p:txBody>
      </p:sp>
      <p:sp>
        <p:nvSpPr>
          <p:cNvPr id="21" name="TextBox 20"/>
          <p:cNvSpPr txBox="1"/>
          <p:nvPr/>
        </p:nvSpPr>
        <p:spPr>
          <a:xfrm>
            <a:off x="35076384" y="5903975"/>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Georgia"/>
              </a:rPr>
              <a:t>0</a:t>
            </a:r>
          </a:p>
        </p:txBody>
      </p:sp>
      <p:sp>
        <p:nvSpPr>
          <p:cNvPr id="22" name="TextBox 21"/>
          <p:cNvSpPr txBox="1"/>
          <p:nvPr/>
        </p:nvSpPr>
        <p:spPr>
          <a:xfrm>
            <a:off x="35076384" y="6629399"/>
            <a:ext cx="8083296" cy="365760"/>
          </a:xfrm>
          <a:prstGeom prst="rect">
            <a:avLst/>
          </a:prstGeom>
          <a:noFill/>
        </p:spPr>
        <p:txBody>
          <a:bodyPr wrap="square" lIns="0" rIns="0" tIns="0" bIns="0">
            <a:spAutoFit/>
          </a:bodyPr>
          <a:lstStyle/>
          <a:p>
            <a:pPr algn="l">
              <a:lnSpc>
                <a:spcPct val="122000"/>
              </a:lnSpc>
              <a:spcAft>
                <a:spcPts val="200"/>
              </a:spcAft>
            </a:pPr>
            <a:r>
              <a:rPr sz="1900" b="0">
                <a:solidFill>
                  <a:srgbClr val="1A1A1A"/>
                </a:solidFill>
                <a:latin typeface="Arial"/>
              </a:rPr>
              <a:t>robot frames labelled</a:t>
            </a:r>
          </a:p>
        </p:txBody>
      </p:sp>
      <p:sp>
        <p:nvSpPr>
          <p:cNvPr id="23" name="TextBox 22"/>
          <p:cNvSpPr txBox="1"/>
          <p:nvPr/>
        </p:nvSpPr>
        <p:spPr>
          <a:xfrm>
            <a:off x="35076384" y="6949185"/>
            <a:ext cx="8083296" cy="365760"/>
          </a:xfrm>
          <a:prstGeom prst="rect">
            <a:avLst/>
          </a:prstGeom>
          <a:noFill/>
        </p:spPr>
        <p:txBody>
          <a:bodyPr wrap="square" lIns="0" rIns="0" tIns="0" bIns="0">
            <a:spAutoFit/>
          </a:bodyPr>
          <a:lstStyle/>
          <a:p>
            <a:pPr algn="l">
              <a:lnSpc>
                <a:spcPct val="122000"/>
              </a:lnSpc>
              <a:spcAft>
                <a:spcPts val="0"/>
              </a:spcAft>
            </a:pPr>
            <a:r>
              <a:rPr sz="1500" b="0">
                <a:solidFill>
                  <a:srgbClr val="6A6A6A"/>
                </a:solidFill>
                <a:latin typeface="Arial"/>
              </a:rPr>
              <a:t>the whole archive, so far</a:t>
            </a:r>
          </a:p>
        </p:txBody>
      </p:sp>
      <p:sp>
        <p:nvSpPr>
          <p:cNvPr id="24" name="Rectangle 23"/>
          <p:cNvSpPr/>
          <p:nvPr/>
        </p:nvSpPr>
        <p:spPr>
          <a:xfrm>
            <a:off x="731520" y="7291323"/>
            <a:ext cx="42428160" cy="23774"/>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One platform for every robot the lab owns</a:t>
            </a:r>
          </a:p>
        </p:txBody>
      </p:sp>
      <p:sp>
        <p:nvSpPr>
          <p:cNvPr id="26" name="Rectangle 25"/>
          <p:cNvSpPr/>
          <p:nvPr/>
        </p:nvSpPr>
        <p:spPr>
          <a:xfrm>
            <a:off x="731520" y="831341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603229"/>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1,389</a:t>
            </a:r>
          </a:p>
        </p:txBody>
      </p:sp>
      <p:sp>
        <p:nvSpPr>
          <p:cNvPr id="29" name="TextBox 28"/>
          <p:cNvSpPr txBox="1"/>
          <p:nvPr/>
        </p:nvSpPr>
        <p:spPr>
          <a:xfrm>
            <a:off x="731520" y="11406377"/>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joystick commands through the platform</a:t>
            </a:r>
          </a:p>
        </p:txBody>
      </p:sp>
      <p:sp>
        <p:nvSpPr>
          <p:cNvPr id="30" name="TextBox 29"/>
          <p:cNvSpPr txBox="1"/>
          <p:nvPr/>
        </p:nvSpPr>
        <p:spPr>
          <a:xfrm>
            <a:off x="731520" y="118612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Driving a robot from a browser</a:t>
            </a:r>
          </a:p>
        </p:txBody>
      </p:sp>
      <p:sp>
        <p:nvSpPr>
          <p:cNvPr id="31" name="Rectangle 30"/>
          <p:cNvSpPr/>
          <p:nvPr/>
        </p:nvSpPr>
        <p:spPr>
          <a:xfrm>
            <a:off x="731520" y="1238961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271879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3" name="TextBox 32"/>
          <p:cNvSpPr txBox="1"/>
          <p:nvPr/>
        </p:nvSpPr>
        <p:spPr>
          <a:xfrm>
            <a:off x="731520" y="1438503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Four frames, as recorded</a:t>
            </a:r>
          </a:p>
        </p:txBody>
      </p:sp>
      <p:sp>
        <p:nvSpPr>
          <p:cNvPr id="34" name="Rectangle 33"/>
          <p:cNvSpPr/>
          <p:nvPr/>
        </p:nvSpPr>
        <p:spPr>
          <a:xfrm>
            <a:off x="731520" y="1491335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_robots.png"/>
          <p:cNvPicPr>
            <a:picLocks noChangeAspect="1"/>
          </p:cNvPicPr>
          <p:nvPr/>
        </p:nvPicPr>
        <p:blipFill>
          <a:blip r:embed="rId2"/>
          <a:stretch>
            <a:fillRect/>
          </a:stretch>
        </p:blipFill>
        <p:spPr>
          <a:xfrm>
            <a:off x="731520" y="15242540"/>
            <a:ext cx="10607040" cy="2377440"/>
          </a:xfrm>
          <a:prstGeom prst="rect">
            <a:avLst/>
          </a:prstGeom>
        </p:spPr>
      </p:pic>
      <p:sp>
        <p:nvSpPr>
          <p:cNvPr id="36" name="TextBox 35"/>
          <p:cNvSpPr txBox="1"/>
          <p:nvPr/>
        </p:nvSpPr>
        <p:spPr>
          <a:xfrm>
            <a:off x="731520" y="17729708"/>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1.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37" name="TextBox 36"/>
          <p:cNvSpPr txBox="1"/>
          <p:nvPr/>
        </p:nvSpPr>
        <p:spPr>
          <a:xfrm>
            <a:off x="731520" y="1893976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Nothing here is enhanced and nothing is labelled. The rectangle in the cart's down camera is a fixed work-zone overlay: it sits at the same pixels on frames with no vegetation in them at all.</a:t>
            </a:r>
          </a:p>
        </p:txBody>
      </p:sp>
      <p:sp>
        <p:nvSpPr>
          <p:cNvPr id="38" name="TextBox 37"/>
          <p:cNvSpPr txBox="1"/>
          <p:nvPr/>
        </p:nvSpPr>
        <p:spPr>
          <a:xfrm>
            <a:off x="731520" y="2031161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Only one robot has the button</a:t>
            </a:r>
          </a:p>
        </p:txBody>
      </p:sp>
      <p:sp>
        <p:nvSpPr>
          <p:cNvPr id="39" name="Rectangle 38"/>
          <p:cNvSpPr/>
          <p:nvPr/>
        </p:nvSpPr>
        <p:spPr>
          <a:xfrm>
            <a:off x="731520" y="2083993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2116912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41" name="TextBox 40"/>
          <p:cNvSpPr txBox="1"/>
          <p:nvPr/>
        </p:nvSpPr>
        <p:spPr>
          <a:xfrm>
            <a:off x="731520" y="2283536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Which decisions a model makes</a:t>
            </a:r>
          </a:p>
        </p:txBody>
      </p:sp>
      <p:sp>
        <p:nvSpPr>
          <p:cNvPr id="42" name="Rectangle 41"/>
          <p:cNvSpPr/>
          <p:nvPr/>
        </p:nvSpPr>
        <p:spPr>
          <a:xfrm>
            <a:off x="731520" y="2336368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2369286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44" name="TextBox 43"/>
          <p:cNvSpPr txBox="1"/>
          <p:nvPr/>
        </p:nvSpPr>
        <p:spPr>
          <a:xfrm>
            <a:off x="731520" y="2535910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Adding the next robot</a:t>
            </a:r>
          </a:p>
        </p:txBody>
      </p:sp>
      <p:sp>
        <p:nvSpPr>
          <p:cNvPr id="45" name="Rectangle 44"/>
          <p:cNvSpPr/>
          <p:nvPr/>
        </p:nvSpPr>
        <p:spPr>
          <a:xfrm>
            <a:off x="731520" y="2588742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2621661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47" name="TextBox 46"/>
          <p:cNvSpPr txBox="1"/>
          <p:nvPr/>
        </p:nvSpPr>
        <p:spPr>
          <a:xfrm>
            <a:off x="731520" y="2788285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Code the agent writes runs fenced in</a:t>
            </a:r>
          </a:p>
        </p:txBody>
      </p:sp>
      <p:sp>
        <p:nvSpPr>
          <p:cNvPr id="48" name="Rectangle 47"/>
          <p:cNvSpPr/>
          <p:nvPr/>
        </p:nvSpPr>
        <p:spPr>
          <a:xfrm>
            <a:off x="731520" y="2841117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2874035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50" name="TextBox 49"/>
          <p:cNvSpPr txBox="1"/>
          <p:nvPr/>
        </p:nvSpPr>
        <p:spPr>
          <a:xfrm>
            <a:off x="11704320" y="7785099"/>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Robots on the platform today</a:t>
            </a:r>
          </a:p>
        </p:txBody>
      </p:sp>
      <p:sp>
        <p:nvSpPr>
          <p:cNvPr id="51" name="Rectangle 50"/>
          <p:cNvSpPr/>
          <p:nvPr/>
        </p:nvSpPr>
        <p:spPr>
          <a:xfrm>
            <a:off x="11704320" y="831341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704320" y="864260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53" name="TextBox 52"/>
          <p:cNvSpPr txBox="1"/>
          <p:nvPr/>
        </p:nvSpPr>
        <p:spPr>
          <a:xfrm>
            <a:off x="11704320" y="10308843"/>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14</a:t>
            </a:r>
          </a:p>
        </p:txBody>
      </p:sp>
      <p:sp>
        <p:nvSpPr>
          <p:cNvPr id="54" name="TextBox 53"/>
          <p:cNvSpPr txBox="1"/>
          <p:nvPr/>
        </p:nvSpPr>
        <p:spPr>
          <a:xfrm>
            <a:off x="11704320" y="11111991"/>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analysis tools the planner can choose from</a:t>
            </a:r>
          </a:p>
        </p:txBody>
      </p:sp>
      <p:sp>
        <p:nvSpPr>
          <p:cNvPr id="55" name="TextBox 54"/>
          <p:cNvSpPr txBox="1"/>
          <p:nvPr/>
        </p:nvSpPr>
        <p:spPr>
          <a:xfrm>
            <a:off x="11704320" y="1156690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Ask a dataset what it is good for</a:t>
            </a:r>
          </a:p>
        </p:txBody>
      </p:sp>
      <p:sp>
        <p:nvSpPr>
          <p:cNvPr id="56" name="Rectangle 55"/>
          <p:cNvSpPr/>
          <p:nvPr/>
        </p:nvSpPr>
        <p:spPr>
          <a:xfrm>
            <a:off x="11704320" y="1209522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704320" y="1242440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58" name="TextBox 57"/>
          <p:cNvSpPr txBox="1"/>
          <p:nvPr/>
        </p:nvSpPr>
        <p:spPr>
          <a:xfrm>
            <a:off x="11704320" y="1409065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On disk today</a:t>
            </a:r>
          </a:p>
        </p:txBody>
      </p:sp>
      <p:sp>
        <p:nvSpPr>
          <p:cNvPr id="59" name="Rectangle 58"/>
          <p:cNvSpPr/>
          <p:nvPr/>
        </p:nvSpPr>
        <p:spPr>
          <a:xfrm>
            <a:off x="11704320" y="1461896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704320" y="1494815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Two robots have put 2,686 camera frames and 91,955 telemetry rows across nine streams onto the platform, over 26 drives, with 342 m of GPS track from 1,502 fixes. None of the frames is labelled.</a:t>
            </a:r>
          </a:p>
        </p:txBody>
      </p:sp>
      <p:sp>
        <p:nvSpPr>
          <p:cNvPr id="61" name="TextBox 60"/>
          <p:cNvSpPr txBox="1"/>
          <p:nvPr/>
        </p:nvSpPr>
        <p:spPr>
          <a:xfrm>
            <a:off x="11704320" y="1632000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92</a:t>
            </a:r>
          </a:p>
        </p:txBody>
      </p:sp>
      <p:sp>
        <p:nvSpPr>
          <p:cNvPr id="62" name="TextBox 61"/>
          <p:cNvSpPr txBox="1"/>
          <p:nvPr/>
        </p:nvSpPr>
        <p:spPr>
          <a:xfrm>
            <a:off x="11704320" y="17123156"/>
            <a:ext cx="1060704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questions asked of a dataset so far</a:t>
            </a:r>
          </a:p>
        </p:txBody>
      </p:sp>
      <p:sp>
        <p:nvSpPr>
          <p:cNvPr id="63" name="TextBox 62"/>
          <p:cNvSpPr txBox="1"/>
          <p:nvPr/>
        </p:nvSpPr>
        <p:spPr>
          <a:xfrm>
            <a:off x="11704320" y="1757807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Asked something it had never seen</a:t>
            </a:r>
          </a:p>
        </p:txBody>
      </p:sp>
      <p:sp>
        <p:nvSpPr>
          <p:cNvPr id="64" name="Rectangle 63"/>
          <p:cNvSpPr/>
          <p:nvPr/>
        </p:nvSpPr>
        <p:spPr>
          <a:xfrm>
            <a:off x="11704320" y="1810639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704320" y="18435574"/>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66" name="TextBox 65"/>
          <p:cNvSpPr txBox="1"/>
          <p:nvPr/>
        </p:nvSpPr>
        <p:spPr>
          <a:xfrm>
            <a:off x="11704320" y="2010181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More web data, less accuracy</a:t>
            </a:r>
          </a:p>
        </p:txBody>
      </p:sp>
      <p:sp>
        <p:nvSpPr>
          <p:cNvPr id="67" name="Rectangle 66"/>
          <p:cNvSpPr/>
          <p:nvPr/>
        </p:nvSpPr>
        <p:spPr>
          <a:xfrm>
            <a:off x="11704320" y="2063013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704320" y="209593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69" name="TextBox 68"/>
          <p:cNvSpPr txBox="1"/>
          <p:nvPr/>
        </p:nvSpPr>
        <p:spPr>
          <a:xfrm>
            <a:off x="11704320" y="2262555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213 seconds in one crop plot</a:t>
            </a:r>
          </a:p>
        </p:txBody>
      </p:sp>
      <p:sp>
        <p:nvSpPr>
          <p:cNvPr id="70" name="Rectangle 69"/>
          <p:cNvSpPr/>
          <p:nvPr/>
        </p:nvSpPr>
        <p:spPr>
          <a:xfrm>
            <a:off x="11704320" y="2315387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h_drive.png"/>
          <p:cNvPicPr>
            <a:picLocks noChangeAspect="1"/>
          </p:cNvPicPr>
          <p:nvPr/>
        </p:nvPicPr>
        <p:blipFill>
          <a:blip r:embed="rId3"/>
          <a:stretch>
            <a:fillRect/>
          </a:stretch>
        </p:blipFill>
        <p:spPr>
          <a:xfrm>
            <a:off x="11704320" y="23483062"/>
            <a:ext cx="10607040" cy="4023360"/>
          </a:xfrm>
          <a:prstGeom prst="rect">
            <a:avLst/>
          </a:prstGeom>
        </p:spPr>
      </p:pic>
      <p:sp>
        <p:nvSpPr>
          <p:cNvPr id="72" name="TextBox 71"/>
          <p:cNvSpPr txBox="1"/>
          <p:nvPr/>
        </p:nvSpPr>
        <p:spPr>
          <a:xfrm>
            <a:off x="11704320" y="27616150"/>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2.  Robot 241, 2026-08-29: one 213 s pass through a crop plot. (h) GPS track from the board fix. (i) IMU heading over the same pass.</a:t>
            </a:r>
          </a:p>
        </p:txBody>
      </p:sp>
      <p:sp>
        <p:nvSpPr>
          <p:cNvPr id="73" name="TextBox 72"/>
          <p:cNvSpPr txBox="1"/>
          <p:nvPr/>
        </p:nvSpPr>
        <p:spPr>
          <a:xfrm>
            <a:off x="11704320" y="2837662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longest single pass the platform holds: 141 m of track from 211 fixes, with heading from the IMU over the same 213 seconds. The platform holds 18 passes that carry position.</a:t>
            </a:r>
          </a:p>
        </p:txBody>
      </p:sp>
      <p:sp>
        <p:nvSpPr>
          <p:cNvPr id="74" name="TextBox 73"/>
          <p:cNvSpPr txBox="1"/>
          <p:nvPr/>
        </p:nvSpPr>
        <p:spPr>
          <a:xfrm>
            <a:off x="22677120" y="778509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A drive becomes a dataset as it opens</a:t>
            </a:r>
          </a:p>
        </p:txBody>
      </p:sp>
      <p:sp>
        <p:nvSpPr>
          <p:cNvPr id="75" name="Rectangle 74"/>
          <p:cNvSpPr/>
          <p:nvPr/>
        </p:nvSpPr>
        <p:spPr>
          <a:xfrm>
            <a:off x="22677120" y="8313419"/>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2677120" y="864260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77" name="TextBox 76"/>
          <p:cNvSpPr txBox="1"/>
          <p:nvPr/>
        </p:nvSpPr>
        <p:spPr>
          <a:xfrm>
            <a:off x="22677120" y="972007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Left alone for fifteen rounds</a:t>
            </a:r>
          </a:p>
        </p:txBody>
      </p:sp>
      <p:sp>
        <p:nvSpPr>
          <p:cNvPr id="78" name="Rectangle 77"/>
          <p:cNvSpPr/>
          <p:nvPr/>
        </p:nvSpPr>
        <p:spPr>
          <a:xfrm>
            <a:off x="22677120" y="10248391"/>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f_rounds.png"/>
          <p:cNvPicPr>
            <a:picLocks noChangeAspect="1"/>
          </p:cNvPicPr>
          <p:nvPr/>
        </p:nvPicPr>
        <p:blipFill>
          <a:blip r:embed="rId4"/>
          <a:stretch>
            <a:fillRect/>
          </a:stretch>
        </p:blipFill>
        <p:spPr>
          <a:xfrm>
            <a:off x="22677120" y="10577575"/>
            <a:ext cx="20482560" cy="4663440"/>
          </a:xfrm>
          <a:prstGeom prst="rect">
            <a:avLst/>
          </a:prstGeom>
        </p:spPr>
      </p:pic>
      <p:sp>
        <p:nvSpPr>
          <p:cNvPr id="80" name="TextBox 79"/>
          <p:cNvSpPr txBox="1"/>
          <p:nvPr/>
        </p:nvSpPr>
        <p:spPr>
          <a:xfrm>
            <a:off x="22677120" y="15350743"/>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81" name="TextBox 80"/>
          <p:cNvSpPr txBox="1"/>
          <p:nvPr/>
        </p:nvSpPr>
        <p:spPr>
          <a:xfrm>
            <a:off x="22677120" y="16336009"/>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82" name="TextBox 81"/>
          <p:cNvSpPr txBox="1"/>
          <p:nvPr/>
        </p:nvSpPr>
        <p:spPr>
          <a:xfrm>
            <a:off x="22677120" y="17413477"/>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Georgia"/>
              </a:rPr>
              <a:t>27</a:t>
            </a:r>
          </a:p>
        </p:txBody>
      </p:sp>
      <p:sp>
        <p:nvSpPr>
          <p:cNvPr id="83" name="TextBox 82"/>
          <p:cNvSpPr txBox="1"/>
          <p:nvPr/>
        </p:nvSpPr>
        <p:spPr>
          <a:xfrm>
            <a:off x="22677120" y="18216625"/>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6A6A6A"/>
                </a:solidFill>
                <a:latin typeface="Arial"/>
              </a:rPr>
              <a:t>distinct models trained, run, or rejected</a:t>
            </a:r>
          </a:p>
        </p:txBody>
      </p:sp>
      <p:sp>
        <p:nvSpPr>
          <p:cNvPr id="84" name="TextBox 83"/>
          <p:cNvSpPr txBox="1"/>
          <p:nvPr/>
        </p:nvSpPr>
        <p:spPr>
          <a:xfrm>
            <a:off x="22677120" y="1867153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Georgia"/>
              </a:rPr>
              <a:t>Everything we trained, ran, or rejected</a:t>
            </a:r>
          </a:p>
        </p:txBody>
      </p:sp>
      <p:sp>
        <p:nvSpPr>
          <p:cNvPr id="85" name="Rectangle 84"/>
          <p:cNvSpPr/>
          <p:nvPr/>
        </p:nvSpPr>
        <p:spPr>
          <a:xfrm>
            <a:off x="22677120" y="19199859"/>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m_ledger.png"/>
          <p:cNvPicPr>
            <a:picLocks noChangeAspect="1"/>
          </p:cNvPicPr>
          <p:nvPr/>
        </p:nvPicPr>
        <p:blipFill>
          <a:blip r:embed="rId5"/>
          <a:stretch>
            <a:fillRect/>
          </a:stretch>
        </p:blipFill>
        <p:spPr>
          <a:xfrm>
            <a:off x="22677120" y="19529043"/>
            <a:ext cx="20482560" cy="3749040"/>
          </a:xfrm>
          <a:prstGeom prst="rect">
            <a:avLst/>
          </a:prstGeom>
        </p:spPr>
      </p:pic>
      <p:sp>
        <p:nvSpPr>
          <p:cNvPr id="87" name="TextBox 86"/>
          <p:cNvSpPr txBox="1"/>
          <p:nvPr/>
        </p:nvSpPr>
        <p:spPr>
          <a:xfrm>
            <a:off x="22677120" y="23387812"/>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4.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88" name="TextBox 87"/>
          <p:cNvSpPr txBox="1"/>
          <p:nvPr/>
        </p:nvSpPr>
        <p:spPr>
          <a:xfrm>
            <a:off x="22677120" y="24373078"/>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89" name="Rectangle 88"/>
          <p:cNvSpPr/>
          <p:nvPr/>
        </p:nvSpPr>
        <p:spPr>
          <a:xfrm>
            <a:off x="731520" y="30632400"/>
            <a:ext cx="42428160" cy="20116"/>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91" name="TextBox 90"/>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92" name="TextBox 91"/>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