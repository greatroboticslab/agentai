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7600" b="1">
                <a:solidFill>
                  <a:srgbClr val="1A1A1A"/>
                </a:solidFill>
                <a:latin typeface="Georgia"/>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1A1A1A"/>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A6A6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A1A1A"/>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702808"/>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2,686</a:t>
            </a:r>
          </a:p>
        </p:txBody>
      </p:sp>
      <p:sp>
        <p:nvSpPr>
          <p:cNvPr id="10" name="TextBox 9"/>
          <p:cNvSpPr txBox="1"/>
          <p:nvPr/>
        </p:nvSpPr>
        <p:spPr>
          <a:xfrm>
            <a:off x="731520"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camera frames</a:t>
            </a:r>
          </a:p>
        </p:txBody>
      </p:sp>
      <p:sp>
        <p:nvSpPr>
          <p:cNvPr id="11" name="TextBox 10"/>
          <p:cNvSpPr txBox="1"/>
          <p:nvPr/>
        </p:nvSpPr>
        <p:spPr>
          <a:xfrm>
            <a:off x="731520"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26 drives, 2 robots, 0 labelled</a:t>
            </a:r>
          </a:p>
        </p:txBody>
      </p:sp>
      <p:sp>
        <p:nvSpPr>
          <p:cNvPr id="12" name="TextBox 11"/>
          <p:cNvSpPr txBox="1"/>
          <p:nvPr/>
        </p:nvSpPr>
        <p:spPr>
          <a:xfrm>
            <a:off x="9317736"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91,955</a:t>
            </a:r>
          </a:p>
        </p:txBody>
      </p:sp>
      <p:sp>
        <p:nvSpPr>
          <p:cNvPr id="13" name="TextBox 12"/>
          <p:cNvSpPr txBox="1"/>
          <p:nvPr/>
        </p:nvSpPr>
        <p:spPr>
          <a:xfrm>
            <a:off x="9317736"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telemetry rows</a:t>
            </a:r>
          </a:p>
        </p:txBody>
      </p:sp>
      <p:sp>
        <p:nvSpPr>
          <p:cNvPr id="14" name="TextBox 13"/>
          <p:cNvSpPr txBox="1"/>
          <p:nvPr/>
        </p:nvSpPr>
        <p:spPr>
          <a:xfrm>
            <a:off x="9317736"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nine streams, counted line by line</a:t>
            </a:r>
          </a:p>
        </p:txBody>
      </p:sp>
      <p:sp>
        <p:nvSpPr>
          <p:cNvPr id="15" name="TextBox 14"/>
          <p:cNvSpPr txBox="1"/>
          <p:nvPr/>
        </p:nvSpPr>
        <p:spPr>
          <a:xfrm>
            <a:off x="17903952"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342 m</a:t>
            </a:r>
          </a:p>
        </p:txBody>
      </p:sp>
      <p:sp>
        <p:nvSpPr>
          <p:cNvPr id="16" name="TextBox 15"/>
          <p:cNvSpPr txBox="1"/>
          <p:nvPr/>
        </p:nvSpPr>
        <p:spPr>
          <a:xfrm>
            <a:off x="17903952"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of GPS track</a:t>
            </a:r>
          </a:p>
        </p:txBody>
      </p:sp>
      <p:sp>
        <p:nvSpPr>
          <p:cNvPr id="17" name="TextBox 16"/>
          <p:cNvSpPr txBox="1"/>
          <p:nvPr/>
        </p:nvSpPr>
        <p:spPr>
          <a:xfrm>
            <a:off x="17903952"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1,502 fixes over 18 drives</a:t>
            </a:r>
          </a:p>
        </p:txBody>
      </p:sp>
      <p:sp>
        <p:nvSpPr>
          <p:cNvPr id="18" name="TextBox 17"/>
          <p:cNvSpPr txBox="1"/>
          <p:nvPr/>
        </p:nvSpPr>
        <p:spPr>
          <a:xfrm>
            <a:off x="26490168"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27</a:t>
            </a:r>
          </a:p>
        </p:txBody>
      </p:sp>
      <p:sp>
        <p:nvSpPr>
          <p:cNvPr id="19" name="TextBox 18"/>
          <p:cNvSpPr txBox="1"/>
          <p:nvPr/>
        </p:nvSpPr>
        <p:spPr>
          <a:xfrm>
            <a:off x="26490168"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distinct models run</a:t>
            </a:r>
          </a:p>
        </p:txBody>
      </p:sp>
      <p:sp>
        <p:nvSpPr>
          <p:cNvPr id="20" name="TextBox 19"/>
          <p:cNvSpPr txBox="1"/>
          <p:nvPr/>
        </p:nvSpPr>
        <p:spPr>
          <a:xfrm>
            <a:off x="26490168"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four families, one deployed</a:t>
            </a:r>
          </a:p>
        </p:txBody>
      </p:sp>
      <p:sp>
        <p:nvSpPr>
          <p:cNvPr id="21" name="TextBox 20"/>
          <p:cNvSpPr txBox="1"/>
          <p:nvPr/>
        </p:nvSpPr>
        <p:spPr>
          <a:xfrm>
            <a:off x="35076384"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0</a:t>
            </a:r>
          </a:p>
        </p:txBody>
      </p:sp>
      <p:sp>
        <p:nvSpPr>
          <p:cNvPr id="22" name="TextBox 21"/>
          <p:cNvSpPr txBox="1"/>
          <p:nvPr/>
        </p:nvSpPr>
        <p:spPr>
          <a:xfrm>
            <a:off x="35076384"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robot frames labelled</a:t>
            </a:r>
          </a:p>
        </p:txBody>
      </p:sp>
      <p:sp>
        <p:nvSpPr>
          <p:cNvPr id="23" name="TextBox 22"/>
          <p:cNvSpPr txBox="1"/>
          <p:nvPr/>
        </p:nvSpPr>
        <p:spPr>
          <a:xfrm>
            <a:off x="35076384"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the whole archive, so far</a:t>
            </a:r>
          </a:p>
        </p:txBody>
      </p:sp>
      <p:sp>
        <p:nvSpPr>
          <p:cNvPr id="24" name="Rectangle 23"/>
          <p:cNvSpPr/>
          <p:nvPr/>
        </p:nvSpPr>
        <p:spPr>
          <a:xfrm>
            <a:off x="731520" y="7291323"/>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One platform for every robot the lab owns</a:t>
            </a:r>
          </a:p>
        </p:txBody>
      </p:sp>
      <p:sp>
        <p:nvSpPr>
          <p:cNvPr id="26" name="Rectangle 25"/>
          <p:cNvSpPr/>
          <p:nvPr/>
        </p:nvSpPr>
        <p:spPr>
          <a:xfrm>
            <a:off x="731520" y="831341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60322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Driving a robot from a browser</a:t>
            </a:r>
          </a:p>
        </p:txBody>
      </p:sp>
      <p:sp>
        <p:nvSpPr>
          <p:cNvPr id="29" name="Rectangle 28"/>
          <p:cNvSpPr/>
          <p:nvPr/>
        </p:nvSpPr>
        <p:spPr>
          <a:xfrm>
            <a:off x="731520" y="1113154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146073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1" name="TextBox 30"/>
          <p:cNvSpPr txBox="1"/>
          <p:nvPr/>
        </p:nvSpPr>
        <p:spPr>
          <a:xfrm>
            <a:off x="731520" y="1312697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Four frames, as recorded</a:t>
            </a:r>
          </a:p>
        </p:txBody>
      </p:sp>
      <p:sp>
        <p:nvSpPr>
          <p:cNvPr id="32" name="Rectangle 31"/>
          <p:cNvSpPr/>
          <p:nvPr/>
        </p:nvSpPr>
        <p:spPr>
          <a:xfrm>
            <a:off x="731520" y="1365529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_robots.png"/>
          <p:cNvPicPr>
            <a:picLocks noChangeAspect="1"/>
          </p:cNvPicPr>
          <p:nvPr/>
        </p:nvPicPr>
        <p:blipFill>
          <a:blip r:embed="rId2"/>
          <a:stretch>
            <a:fillRect/>
          </a:stretch>
        </p:blipFill>
        <p:spPr>
          <a:xfrm>
            <a:off x="731520" y="13984477"/>
            <a:ext cx="10607040" cy="2377440"/>
          </a:xfrm>
          <a:prstGeom prst="rect">
            <a:avLst/>
          </a:prstGeom>
        </p:spPr>
      </p:pic>
      <p:sp>
        <p:nvSpPr>
          <p:cNvPr id="34" name="TextBox 33"/>
          <p:cNvSpPr txBox="1"/>
          <p:nvPr/>
        </p:nvSpPr>
        <p:spPr>
          <a:xfrm>
            <a:off x="731520" y="16471645"/>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1.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35" name="TextBox 34"/>
          <p:cNvSpPr txBox="1"/>
          <p:nvPr/>
        </p:nvSpPr>
        <p:spPr>
          <a:xfrm>
            <a:off x="731520" y="1768170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Nothing here is enhanced and nothing is labelled. The rectangle in the cart's down camera is a fixed work-zone overlay: it sits at the same pixels on frames with no vegetation in them at all.</a:t>
            </a:r>
          </a:p>
        </p:txBody>
      </p:sp>
      <p:sp>
        <p:nvSpPr>
          <p:cNvPr id="36" name="TextBox 35"/>
          <p:cNvSpPr txBox="1"/>
          <p:nvPr/>
        </p:nvSpPr>
        <p:spPr>
          <a:xfrm>
            <a:off x="731520" y="1905355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Only one robot has the button</a:t>
            </a:r>
          </a:p>
        </p:txBody>
      </p:sp>
      <p:sp>
        <p:nvSpPr>
          <p:cNvPr id="37" name="Rectangle 36"/>
          <p:cNvSpPr/>
          <p:nvPr/>
        </p:nvSpPr>
        <p:spPr>
          <a:xfrm>
            <a:off x="731520" y="1958187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1991106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39" name="TextBox 38"/>
          <p:cNvSpPr txBox="1"/>
          <p:nvPr/>
        </p:nvSpPr>
        <p:spPr>
          <a:xfrm>
            <a:off x="731520" y="215773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Which decisions a model makes</a:t>
            </a:r>
          </a:p>
        </p:txBody>
      </p:sp>
      <p:sp>
        <p:nvSpPr>
          <p:cNvPr id="40" name="Rectangle 39"/>
          <p:cNvSpPr/>
          <p:nvPr/>
        </p:nvSpPr>
        <p:spPr>
          <a:xfrm>
            <a:off x="731520" y="2210562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24348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42" name="TextBox 41"/>
          <p:cNvSpPr txBox="1"/>
          <p:nvPr/>
        </p:nvSpPr>
        <p:spPr>
          <a:xfrm>
            <a:off x="731520" y="2410104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Adding the next robot</a:t>
            </a:r>
          </a:p>
        </p:txBody>
      </p:sp>
      <p:sp>
        <p:nvSpPr>
          <p:cNvPr id="43" name="Rectangle 42"/>
          <p:cNvSpPr/>
          <p:nvPr/>
        </p:nvSpPr>
        <p:spPr>
          <a:xfrm>
            <a:off x="731520" y="2462936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49585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45" name="TextBox 44"/>
          <p:cNvSpPr txBox="1"/>
          <p:nvPr/>
        </p:nvSpPr>
        <p:spPr>
          <a:xfrm>
            <a:off x="731520" y="2662478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Code the agent writes runs fenced in</a:t>
            </a:r>
          </a:p>
        </p:txBody>
      </p:sp>
      <p:sp>
        <p:nvSpPr>
          <p:cNvPr id="46" name="Rectangle 45"/>
          <p:cNvSpPr/>
          <p:nvPr/>
        </p:nvSpPr>
        <p:spPr>
          <a:xfrm>
            <a:off x="731520" y="2715310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2748229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48" name="TextBox 47"/>
          <p:cNvSpPr txBox="1"/>
          <p:nvPr/>
        </p:nvSpPr>
        <p:spPr>
          <a:xfrm>
            <a:off x="117043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Robots on the platform today</a:t>
            </a:r>
          </a:p>
        </p:txBody>
      </p:sp>
      <p:sp>
        <p:nvSpPr>
          <p:cNvPr id="49" name="Rectangle 48"/>
          <p:cNvSpPr/>
          <p:nvPr/>
        </p:nvSpPr>
        <p:spPr>
          <a:xfrm>
            <a:off x="11704320" y="831341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043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51" name="TextBox 50"/>
          <p:cNvSpPr txBox="1"/>
          <p:nvPr/>
        </p:nvSpPr>
        <p:spPr>
          <a:xfrm>
            <a:off x="11704320" y="1030884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Ask a dataset what it is good for</a:t>
            </a:r>
          </a:p>
        </p:txBody>
      </p:sp>
      <p:sp>
        <p:nvSpPr>
          <p:cNvPr id="52" name="Rectangle 51"/>
          <p:cNvSpPr/>
          <p:nvPr/>
        </p:nvSpPr>
        <p:spPr>
          <a:xfrm>
            <a:off x="11704320" y="1083716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04320" y="1116634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4" name="TextBox 53"/>
          <p:cNvSpPr txBox="1"/>
          <p:nvPr/>
        </p:nvSpPr>
        <p:spPr>
          <a:xfrm>
            <a:off x="11704320" y="1283258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 disk today</a:t>
            </a:r>
          </a:p>
        </p:txBody>
      </p:sp>
      <p:sp>
        <p:nvSpPr>
          <p:cNvPr id="55" name="Rectangle 54"/>
          <p:cNvSpPr/>
          <p:nvPr/>
        </p:nvSpPr>
        <p:spPr>
          <a:xfrm>
            <a:off x="11704320" y="1336090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704320" y="1369009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57" name="TextBox 56"/>
          <p:cNvSpPr txBox="1"/>
          <p:nvPr/>
        </p:nvSpPr>
        <p:spPr>
          <a:xfrm>
            <a:off x="11704320" y="1506194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Asked something it had never seen</a:t>
            </a:r>
          </a:p>
        </p:txBody>
      </p:sp>
      <p:sp>
        <p:nvSpPr>
          <p:cNvPr id="58" name="Rectangle 57"/>
          <p:cNvSpPr/>
          <p:nvPr/>
        </p:nvSpPr>
        <p:spPr>
          <a:xfrm>
            <a:off x="11704320" y="1559026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704320" y="1591944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60" name="TextBox 59"/>
          <p:cNvSpPr txBox="1"/>
          <p:nvPr/>
        </p:nvSpPr>
        <p:spPr>
          <a:xfrm>
            <a:off x="11704320" y="1758568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More web data, less accuracy</a:t>
            </a:r>
          </a:p>
        </p:txBody>
      </p:sp>
      <p:sp>
        <p:nvSpPr>
          <p:cNvPr id="61" name="Rectangle 60"/>
          <p:cNvSpPr/>
          <p:nvPr/>
        </p:nvSpPr>
        <p:spPr>
          <a:xfrm>
            <a:off x="11704320" y="1811400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704320" y="1844319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63" name="TextBox 62"/>
          <p:cNvSpPr txBox="1"/>
          <p:nvPr/>
        </p:nvSpPr>
        <p:spPr>
          <a:xfrm>
            <a:off x="11704320" y="2010943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213 seconds in one crop plot</a:t>
            </a:r>
          </a:p>
        </p:txBody>
      </p:sp>
      <p:sp>
        <p:nvSpPr>
          <p:cNvPr id="64" name="Rectangle 63"/>
          <p:cNvSpPr/>
          <p:nvPr/>
        </p:nvSpPr>
        <p:spPr>
          <a:xfrm>
            <a:off x="11704320" y="2063775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h_drive.png"/>
          <p:cNvPicPr>
            <a:picLocks noChangeAspect="1"/>
          </p:cNvPicPr>
          <p:nvPr/>
        </p:nvPicPr>
        <p:blipFill>
          <a:blip r:embed="rId3"/>
          <a:stretch>
            <a:fillRect/>
          </a:stretch>
        </p:blipFill>
        <p:spPr>
          <a:xfrm>
            <a:off x="11704320" y="20966938"/>
            <a:ext cx="10607040" cy="4023360"/>
          </a:xfrm>
          <a:prstGeom prst="rect">
            <a:avLst/>
          </a:prstGeom>
        </p:spPr>
      </p:pic>
      <p:sp>
        <p:nvSpPr>
          <p:cNvPr id="66" name="TextBox 65"/>
          <p:cNvSpPr txBox="1"/>
          <p:nvPr/>
        </p:nvSpPr>
        <p:spPr>
          <a:xfrm>
            <a:off x="11704320" y="25100026"/>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2.  Robot 241, 2026-08-29: one 213 s pass through a crop plot. (h) GPS track from the board fix. (i) IMU heading over the same pass.</a:t>
            </a:r>
          </a:p>
        </p:txBody>
      </p:sp>
      <p:sp>
        <p:nvSpPr>
          <p:cNvPr id="67" name="TextBox 66"/>
          <p:cNvSpPr txBox="1"/>
          <p:nvPr/>
        </p:nvSpPr>
        <p:spPr>
          <a:xfrm>
            <a:off x="11704320" y="2586050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longest single pass the platform holds: 141 m of track from 211 fixes, with heading from the IMU over the same 213 seconds. The platform holds 18 passes that carry position.</a:t>
            </a:r>
          </a:p>
        </p:txBody>
      </p:sp>
      <p:sp>
        <p:nvSpPr>
          <p:cNvPr id="68" name="TextBox 67"/>
          <p:cNvSpPr txBox="1"/>
          <p:nvPr/>
        </p:nvSpPr>
        <p:spPr>
          <a:xfrm>
            <a:off x="11704320" y="2723235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Reading the loop's own artifacts</a:t>
            </a:r>
          </a:p>
        </p:txBody>
      </p:sp>
      <p:sp>
        <p:nvSpPr>
          <p:cNvPr id="69" name="Rectangle 68"/>
          <p:cNvSpPr/>
          <p:nvPr/>
        </p:nvSpPr>
        <p:spPr>
          <a:xfrm>
            <a:off x="11704320" y="2776067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704320" y="2808986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71" name="TextBox 70"/>
          <p:cNvSpPr txBox="1"/>
          <p:nvPr/>
        </p:nvSpPr>
        <p:spPr>
          <a:xfrm>
            <a:off x="22677120" y="778509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 drive becomes a dataset as it opens</a:t>
            </a:r>
          </a:p>
        </p:txBody>
      </p:sp>
      <p:sp>
        <p:nvSpPr>
          <p:cNvPr id="72" name="Rectangle 71"/>
          <p:cNvSpPr/>
          <p:nvPr/>
        </p:nvSpPr>
        <p:spPr>
          <a:xfrm>
            <a:off x="22677120" y="8313419"/>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2677120" y="864260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74" name="TextBox 73"/>
          <p:cNvSpPr txBox="1"/>
          <p:nvPr/>
        </p:nvSpPr>
        <p:spPr>
          <a:xfrm>
            <a:off x="22677120" y="972007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Left alone for fifteen rounds</a:t>
            </a:r>
          </a:p>
        </p:txBody>
      </p:sp>
      <p:sp>
        <p:nvSpPr>
          <p:cNvPr id="75" name="Rectangle 74"/>
          <p:cNvSpPr/>
          <p:nvPr/>
        </p:nvSpPr>
        <p:spPr>
          <a:xfrm>
            <a:off x="22677120" y="10248391"/>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f_rounds.png"/>
          <p:cNvPicPr>
            <a:picLocks noChangeAspect="1"/>
          </p:cNvPicPr>
          <p:nvPr/>
        </p:nvPicPr>
        <p:blipFill>
          <a:blip r:embed="rId4"/>
          <a:stretch>
            <a:fillRect/>
          </a:stretch>
        </p:blipFill>
        <p:spPr>
          <a:xfrm>
            <a:off x="22677120" y="10577575"/>
            <a:ext cx="20482560" cy="4663440"/>
          </a:xfrm>
          <a:prstGeom prst="rect">
            <a:avLst/>
          </a:prstGeom>
        </p:spPr>
      </p:pic>
      <p:sp>
        <p:nvSpPr>
          <p:cNvPr id="77" name="TextBox 76"/>
          <p:cNvSpPr txBox="1"/>
          <p:nvPr/>
        </p:nvSpPr>
        <p:spPr>
          <a:xfrm>
            <a:off x="22677120" y="15350743"/>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78" name="TextBox 77"/>
          <p:cNvSpPr txBox="1"/>
          <p:nvPr/>
        </p:nvSpPr>
        <p:spPr>
          <a:xfrm>
            <a:off x="22677120" y="16336009"/>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79" name="TextBox 78"/>
          <p:cNvSpPr txBox="1"/>
          <p:nvPr/>
        </p:nvSpPr>
        <p:spPr>
          <a:xfrm>
            <a:off x="22677120" y="1741347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Everything we trained, ran, or rejected</a:t>
            </a:r>
          </a:p>
        </p:txBody>
      </p:sp>
      <p:sp>
        <p:nvSpPr>
          <p:cNvPr id="80" name="Rectangle 79"/>
          <p:cNvSpPr/>
          <p:nvPr/>
        </p:nvSpPr>
        <p:spPr>
          <a:xfrm>
            <a:off x="22677120" y="1794179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m_ledger.png"/>
          <p:cNvPicPr>
            <a:picLocks noChangeAspect="1"/>
          </p:cNvPicPr>
          <p:nvPr/>
        </p:nvPicPr>
        <p:blipFill>
          <a:blip r:embed="rId5"/>
          <a:stretch>
            <a:fillRect/>
          </a:stretch>
        </p:blipFill>
        <p:spPr>
          <a:xfrm>
            <a:off x="22677120" y="18270982"/>
            <a:ext cx="20482560" cy="3749040"/>
          </a:xfrm>
          <a:prstGeom prst="rect">
            <a:avLst/>
          </a:prstGeom>
        </p:spPr>
      </p:pic>
      <p:sp>
        <p:nvSpPr>
          <p:cNvPr id="82" name="TextBox 81"/>
          <p:cNvSpPr txBox="1"/>
          <p:nvPr/>
        </p:nvSpPr>
        <p:spPr>
          <a:xfrm>
            <a:off x="22677120" y="2212975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4.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83" name="TextBox 82"/>
          <p:cNvSpPr txBox="1"/>
          <p:nvPr/>
        </p:nvSpPr>
        <p:spPr>
          <a:xfrm>
            <a:off x="22677120" y="2311501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84" name="Rectangle 83"/>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6" name="TextBox 8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7" name="TextBox 8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