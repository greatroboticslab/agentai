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43891200" cy="329184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43891200" cy="32918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411480"/>
            <a:ext cx="384048" cy="3108960"/>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737360" y="384048"/>
            <a:ext cx="41422320" cy="365760"/>
          </a:xfrm>
          <a:prstGeom prst="rect">
            <a:avLst/>
          </a:prstGeom>
          <a:noFill/>
        </p:spPr>
        <p:txBody>
          <a:bodyPr wrap="square" lIns="0" rIns="0" tIns="0" bIns="0">
            <a:spAutoFit/>
          </a:bodyPr>
          <a:lstStyle/>
          <a:p>
            <a:pPr algn="l">
              <a:lnSpc>
                <a:spcPct val="95000"/>
              </a:lnSpc>
              <a:spcAft>
                <a:spcPts val="0"/>
              </a:spcAft>
            </a:pPr>
            <a:r>
              <a:rPr sz="10200" b="1">
                <a:solidFill>
                  <a:srgbClr val="1A1A1A"/>
                </a:solidFill>
                <a:latin typeface="Arial Narrow"/>
              </a:rPr>
              <a:t>agentAI: A Research-Data Platform for Physical and Embodied Agents</a:t>
            </a:r>
          </a:p>
        </p:txBody>
      </p:sp>
      <p:sp>
        <p:nvSpPr>
          <p:cNvPr id="5" name="TextBox 4"/>
          <p:cNvSpPr txBox="1"/>
          <p:nvPr/>
        </p:nvSpPr>
        <p:spPr>
          <a:xfrm>
            <a:off x="1737360" y="2121408"/>
            <a:ext cx="41422320" cy="365760"/>
          </a:xfrm>
          <a:prstGeom prst="rect">
            <a:avLst/>
          </a:prstGeom>
          <a:noFill/>
        </p:spPr>
        <p:txBody>
          <a:bodyPr wrap="square" lIns="0" rIns="0" tIns="0" bIns="0">
            <a:spAutoFit/>
          </a:bodyPr>
          <a:lstStyle/>
          <a:p>
            <a:pPr algn="l">
              <a:lnSpc>
                <a:spcPct val="100000"/>
              </a:lnSpc>
              <a:spcAft>
                <a:spcPts val="0"/>
              </a:spcAft>
            </a:pPr>
            <a:r>
              <a:rPr sz="4000" b="1">
                <a:solidFill>
                  <a:srgbClr val="1A1A1A"/>
                </a:solidFill>
                <a:latin typeface="Arial"/>
              </a:rPr>
              <a:t>Harry He   ·   Hongbo Zhang</a:t>
            </a:r>
          </a:p>
        </p:txBody>
      </p:sp>
      <p:sp>
        <p:nvSpPr>
          <p:cNvPr id="6" name="TextBox 5"/>
          <p:cNvSpPr txBox="1"/>
          <p:nvPr/>
        </p:nvSpPr>
        <p:spPr>
          <a:xfrm>
            <a:off x="1737360" y="2761488"/>
            <a:ext cx="41422320" cy="365760"/>
          </a:xfrm>
          <a:prstGeom prst="rect">
            <a:avLst/>
          </a:prstGeom>
          <a:noFill/>
        </p:spPr>
        <p:txBody>
          <a:bodyPr wrap="square" lIns="0" rIns="0" tIns="0" bIns="0">
            <a:spAutoFit/>
          </a:bodyPr>
          <a:lstStyle/>
          <a:p>
            <a:pPr algn="l">
              <a:lnSpc>
                <a:spcPct val="100000"/>
              </a:lnSpc>
              <a:spcAft>
                <a:spcPts val="0"/>
              </a:spcAft>
            </a:pPr>
            <a:r>
              <a:rPr sz="2400" b="0">
                <a:solidFill>
                  <a:srgbClr val="6A6A6A"/>
                </a:solidFill>
                <a:latin typeface="Arial"/>
              </a:rPr>
              <a:t>Department of Engineering Technology   ·   Middle Tennessee State University, Murfreesboro, TN, USA</a:t>
            </a:r>
          </a:p>
        </p:txBody>
      </p:sp>
      <p:sp>
        <p:nvSpPr>
          <p:cNvPr id="7" name="TextBox 6"/>
          <p:cNvSpPr txBox="1"/>
          <p:nvPr/>
        </p:nvSpPr>
        <p:spPr>
          <a:xfrm>
            <a:off x="731520" y="4315968"/>
            <a:ext cx="42428160" cy="365760"/>
          </a:xfrm>
          <a:prstGeom prst="rect">
            <a:avLst/>
          </a:prstGeom>
          <a:noFill/>
        </p:spPr>
        <p:txBody>
          <a:bodyPr wrap="square" lIns="0" rIns="0" tIns="0" bIns="0">
            <a:spAutoFit/>
          </a:bodyPr>
          <a:lstStyle/>
          <a:p>
            <a:pPr algn="l">
              <a:lnSpc>
                <a:spcPct val="116000"/>
              </a:lnSpc>
              <a:spcAft>
                <a:spcPts val="0"/>
              </a:spcAft>
            </a:pPr>
            <a:r>
              <a:rPr sz="3600" b="0">
                <a:solidFill>
                  <a:srgbClr val="1A1A1A"/>
                </a:solidFill>
                <a:latin typeface="Arial"/>
              </a:rPr>
              <a:t>Built at the MTSU Great Robotics Lab. Every robot the lab owns reports into one platform; agents on it harvest, filter, label and train; a third agent watches the other two. This is what runs today, what the robots have recorded, and what six months of running it taught us.</a:t>
            </a:r>
          </a:p>
        </p:txBody>
      </p:sp>
      <p:sp>
        <p:nvSpPr>
          <p:cNvPr id="8" name="Rectangle 7"/>
          <p:cNvSpPr/>
          <p:nvPr/>
        </p:nvSpPr>
        <p:spPr>
          <a:xfrm>
            <a:off x="731520" y="5879592"/>
            <a:ext cx="42428160" cy="23774"/>
          </a:xfrm>
          <a:prstGeom prst="rect">
            <a:avLst/>
          </a:prstGeom>
          <a:solidFill>
            <a:srgbClr val="D5D5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6080759"/>
            <a:ext cx="8083296" cy="365760"/>
          </a:xfrm>
          <a:prstGeom prst="rect">
            <a:avLst/>
          </a:prstGeom>
          <a:noFill/>
        </p:spPr>
        <p:txBody>
          <a:bodyPr wrap="square" lIns="0" rIns="0" tIns="0" bIns="0">
            <a:spAutoFit/>
          </a:bodyPr>
          <a:lstStyle/>
          <a:p>
            <a:pPr algn="l">
              <a:lnSpc>
                <a:spcPct val="95000"/>
              </a:lnSpc>
              <a:spcAft>
                <a:spcPts val="0"/>
              </a:spcAft>
            </a:pPr>
            <a:r>
              <a:rPr sz="5600" b="1">
                <a:solidFill>
                  <a:srgbClr val="1C6FB5"/>
                </a:solidFill>
                <a:latin typeface="Arial Narrow"/>
              </a:rPr>
              <a:t>2,686</a:t>
            </a:r>
          </a:p>
        </p:txBody>
      </p:sp>
      <p:sp>
        <p:nvSpPr>
          <p:cNvPr id="10" name="TextBox 9"/>
          <p:cNvSpPr txBox="1"/>
          <p:nvPr/>
        </p:nvSpPr>
        <p:spPr>
          <a:xfrm>
            <a:off x="731520" y="6806183"/>
            <a:ext cx="8083296" cy="365760"/>
          </a:xfrm>
          <a:prstGeom prst="rect">
            <a:avLst/>
          </a:prstGeom>
          <a:noFill/>
        </p:spPr>
        <p:txBody>
          <a:bodyPr wrap="square" lIns="0" rIns="0" tIns="0" bIns="0">
            <a:spAutoFit/>
          </a:bodyPr>
          <a:lstStyle/>
          <a:p>
            <a:pPr algn="l">
              <a:lnSpc>
                <a:spcPct val="122000"/>
              </a:lnSpc>
              <a:spcAft>
                <a:spcPts val="200"/>
              </a:spcAft>
            </a:pPr>
            <a:r>
              <a:rPr sz="2200" b="0">
                <a:solidFill>
                  <a:srgbClr val="1A1A1A"/>
                </a:solidFill>
                <a:latin typeface="Arial"/>
              </a:rPr>
              <a:t>camera frames</a:t>
            </a:r>
          </a:p>
        </p:txBody>
      </p:sp>
      <p:sp>
        <p:nvSpPr>
          <p:cNvPr id="11" name="TextBox 10"/>
          <p:cNvSpPr txBox="1"/>
          <p:nvPr/>
        </p:nvSpPr>
        <p:spPr>
          <a:xfrm>
            <a:off x="731520" y="7172451"/>
            <a:ext cx="8083296" cy="365760"/>
          </a:xfrm>
          <a:prstGeom prst="rect">
            <a:avLst/>
          </a:prstGeom>
          <a:noFill/>
        </p:spPr>
        <p:txBody>
          <a:bodyPr wrap="square" lIns="0" rIns="0" tIns="0" bIns="0">
            <a:spAutoFit/>
          </a:bodyPr>
          <a:lstStyle/>
          <a:p>
            <a:pPr algn="l">
              <a:lnSpc>
                <a:spcPct val="122000"/>
              </a:lnSpc>
              <a:spcAft>
                <a:spcPts val="0"/>
              </a:spcAft>
            </a:pPr>
            <a:r>
              <a:rPr sz="1700" b="0">
                <a:solidFill>
                  <a:srgbClr val="6A6A6A"/>
                </a:solidFill>
                <a:latin typeface="Arial"/>
              </a:rPr>
              <a:t>26 drives, 2 robots, 0 labelled</a:t>
            </a:r>
          </a:p>
        </p:txBody>
      </p:sp>
      <p:sp>
        <p:nvSpPr>
          <p:cNvPr id="12" name="TextBox 11"/>
          <p:cNvSpPr txBox="1"/>
          <p:nvPr/>
        </p:nvSpPr>
        <p:spPr>
          <a:xfrm>
            <a:off x="9317736" y="6080759"/>
            <a:ext cx="8083296" cy="365760"/>
          </a:xfrm>
          <a:prstGeom prst="rect">
            <a:avLst/>
          </a:prstGeom>
          <a:noFill/>
        </p:spPr>
        <p:txBody>
          <a:bodyPr wrap="square" lIns="0" rIns="0" tIns="0" bIns="0">
            <a:spAutoFit/>
          </a:bodyPr>
          <a:lstStyle/>
          <a:p>
            <a:pPr algn="l">
              <a:lnSpc>
                <a:spcPct val="95000"/>
              </a:lnSpc>
              <a:spcAft>
                <a:spcPts val="0"/>
              </a:spcAft>
            </a:pPr>
            <a:r>
              <a:rPr sz="5600" b="1">
                <a:solidFill>
                  <a:srgbClr val="1C6FB5"/>
                </a:solidFill>
                <a:latin typeface="Arial Narrow"/>
              </a:rPr>
              <a:t>91,955</a:t>
            </a:r>
          </a:p>
        </p:txBody>
      </p:sp>
      <p:sp>
        <p:nvSpPr>
          <p:cNvPr id="13" name="TextBox 12"/>
          <p:cNvSpPr txBox="1"/>
          <p:nvPr/>
        </p:nvSpPr>
        <p:spPr>
          <a:xfrm>
            <a:off x="9317736" y="6806183"/>
            <a:ext cx="8083296" cy="365760"/>
          </a:xfrm>
          <a:prstGeom prst="rect">
            <a:avLst/>
          </a:prstGeom>
          <a:noFill/>
        </p:spPr>
        <p:txBody>
          <a:bodyPr wrap="square" lIns="0" rIns="0" tIns="0" bIns="0">
            <a:spAutoFit/>
          </a:bodyPr>
          <a:lstStyle/>
          <a:p>
            <a:pPr algn="l">
              <a:lnSpc>
                <a:spcPct val="122000"/>
              </a:lnSpc>
              <a:spcAft>
                <a:spcPts val="200"/>
              </a:spcAft>
            </a:pPr>
            <a:r>
              <a:rPr sz="2200" b="0">
                <a:solidFill>
                  <a:srgbClr val="1A1A1A"/>
                </a:solidFill>
                <a:latin typeface="Arial"/>
              </a:rPr>
              <a:t>telemetry rows</a:t>
            </a:r>
          </a:p>
        </p:txBody>
      </p:sp>
      <p:sp>
        <p:nvSpPr>
          <p:cNvPr id="14" name="TextBox 13"/>
          <p:cNvSpPr txBox="1"/>
          <p:nvPr/>
        </p:nvSpPr>
        <p:spPr>
          <a:xfrm>
            <a:off x="9317736" y="7172451"/>
            <a:ext cx="8083296" cy="365760"/>
          </a:xfrm>
          <a:prstGeom prst="rect">
            <a:avLst/>
          </a:prstGeom>
          <a:noFill/>
        </p:spPr>
        <p:txBody>
          <a:bodyPr wrap="square" lIns="0" rIns="0" tIns="0" bIns="0">
            <a:spAutoFit/>
          </a:bodyPr>
          <a:lstStyle/>
          <a:p>
            <a:pPr algn="l">
              <a:lnSpc>
                <a:spcPct val="122000"/>
              </a:lnSpc>
              <a:spcAft>
                <a:spcPts val="0"/>
              </a:spcAft>
            </a:pPr>
            <a:r>
              <a:rPr sz="1700" b="0">
                <a:solidFill>
                  <a:srgbClr val="6A6A6A"/>
                </a:solidFill>
                <a:latin typeface="Arial"/>
              </a:rPr>
              <a:t>nine streams, counted line by line</a:t>
            </a:r>
          </a:p>
        </p:txBody>
      </p:sp>
      <p:sp>
        <p:nvSpPr>
          <p:cNvPr id="15" name="TextBox 14"/>
          <p:cNvSpPr txBox="1"/>
          <p:nvPr/>
        </p:nvSpPr>
        <p:spPr>
          <a:xfrm>
            <a:off x="17903952" y="6080759"/>
            <a:ext cx="8083296" cy="365760"/>
          </a:xfrm>
          <a:prstGeom prst="rect">
            <a:avLst/>
          </a:prstGeom>
          <a:noFill/>
        </p:spPr>
        <p:txBody>
          <a:bodyPr wrap="square" lIns="0" rIns="0" tIns="0" bIns="0">
            <a:spAutoFit/>
          </a:bodyPr>
          <a:lstStyle/>
          <a:p>
            <a:pPr algn="l">
              <a:lnSpc>
                <a:spcPct val="95000"/>
              </a:lnSpc>
              <a:spcAft>
                <a:spcPts val="0"/>
              </a:spcAft>
            </a:pPr>
            <a:r>
              <a:rPr sz="5600" b="1">
                <a:solidFill>
                  <a:srgbClr val="1C6FB5"/>
                </a:solidFill>
                <a:latin typeface="Arial Narrow"/>
              </a:rPr>
              <a:t>342 m</a:t>
            </a:r>
          </a:p>
        </p:txBody>
      </p:sp>
      <p:sp>
        <p:nvSpPr>
          <p:cNvPr id="16" name="TextBox 15"/>
          <p:cNvSpPr txBox="1"/>
          <p:nvPr/>
        </p:nvSpPr>
        <p:spPr>
          <a:xfrm>
            <a:off x="17903952" y="6806183"/>
            <a:ext cx="8083296" cy="365760"/>
          </a:xfrm>
          <a:prstGeom prst="rect">
            <a:avLst/>
          </a:prstGeom>
          <a:noFill/>
        </p:spPr>
        <p:txBody>
          <a:bodyPr wrap="square" lIns="0" rIns="0" tIns="0" bIns="0">
            <a:spAutoFit/>
          </a:bodyPr>
          <a:lstStyle/>
          <a:p>
            <a:pPr algn="l">
              <a:lnSpc>
                <a:spcPct val="122000"/>
              </a:lnSpc>
              <a:spcAft>
                <a:spcPts val="200"/>
              </a:spcAft>
            </a:pPr>
            <a:r>
              <a:rPr sz="2200" b="0">
                <a:solidFill>
                  <a:srgbClr val="1A1A1A"/>
                </a:solidFill>
                <a:latin typeface="Arial"/>
              </a:rPr>
              <a:t>of GPS track</a:t>
            </a:r>
          </a:p>
        </p:txBody>
      </p:sp>
      <p:sp>
        <p:nvSpPr>
          <p:cNvPr id="17" name="TextBox 16"/>
          <p:cNvSpPr txBox="1"/>
          <p:nvPr/>
        </p:nvSpPr>
        <p:spPr>
          <a:xfrm>
            <a:off x="17903952" y="7172451"/>
            <a:ext cx="8083296" cy="365760"/>
          </a:xfrm>
          <a:prstGeom prst="rect">
            <a:avLst/>
          </a:prstGeom>
          <a:noFill/>
        </p:spPr>
        <p:txBody>
          <a:bodyPr wrap="square" lIns="0" rIns="0" tIns="0" bIns="0">
            <a:spAutoFit/>
          </a:bodyPr>
          <a:lstStyle/>
          <a:p>
            <a:pPr algn="l">
              <a:lnSpc>
                <a:spcPct val="122000"/>
              </a:lnSpc>
              <a:spcAft>
                <a:spcPts val="0"/>
              </a:spcAft>
            </a:pPr>
            <a:r>
              <a:rPr sz="1700" b="0">
                <a:solidFill>
                  <a:srgbClr val="6A6A6A"/>
                </a:solidFill>
                <a:latin typeface="Arial"/>
              </a:rPr>
              <a:t>1,502 fixes over 18 drives</a:t>
            </a:r>
          </a:p>
        </p:txBody>
      </p:sp>
      <p:sp>
        <p:nvSpPr>
          <p:cNvPr id="18" name="TextBox 17"/>
          <p:cNvSpPr txBox="1"/>
          <p:nvPr/>
        </p:nvSpPr>
        <p:spPr>
          <a:xfrm>
            <a:off x="26490168" y="6080759"/>
            <a:ext cx="8083296" cy="365760"/>
          </a:xfrm>
          <a:prstGeom prst="rect">
            <a:avLst/>
          </a:prstGeom>
          <a:noFill/>
        </p:spPr>
        <p:txBody>
          <a:bodyPr wrap="square" lIns="0" rIns="0" tIns="0" bIns="0">
            <a:spAutoFit/>
          </a:bodyPr>
          <a:lstStyle/>
          <a:p>
            <a:pPr algn="l">
              <a:lnSpc>
                <a:spcPct val="95000"/>
              </a:lnSpc>
              <a:spcAft>
                <a:spcPts val="0"/>
              </a:spcAft>
            </a:pPr>
            <a:r>
              <a:rPr sz="5600" b="1">
                <a:solidFill>
                  <a:srgbClr val="1C6FB5"/>
                </a:solidFill>
                <a:latin typeface="Arial Narrow"/>
              </a:rPr>
              <a:t>27</a:t>
            </a:r>
          </a:p>
        </p:txBody>
      </p:sp>
      <p:sp>
        <p:nvSpPr>
          <p:cNvPr id="19" name="TextBox 18"/>
          <p:cNvSpPr txBox="1"/>
          <p:nvPr/>
        </p:nvSpPr>
        <p:spPr>
          <a:xfrm>
            <a:off x="26490168" y="6806183"/>
            <a:ext cx="8083296" cy="365760"/>
          </a:xfrm>
          <a:prstGeom prst="rect">
            <a:avLst/>
          </a:prstGeom>
          <a:noFill/>
        </p:spPr>
        <p:txBody>
          <a:bodyPr wrap="square" lIns="0" rIns="0" tIns="0" bIns="0">
            <a:spAutoFit/>
          </a:bodyPr>
          <a:lstStyle/>
          <a:p>
            <a:pPr algn="l">
              <a:lnSpc>
                <a:spcPct val="122000"/>
              </a:lnSpc>
              <a:spcAft>
                <a:spcPts val="200"/>
              </a:spcAft>
            </a:pPr>
            <a:r>
              <a:rPr sz="2200" b="0">
                <a:solidFill>
                  <a:srgbClr val="1A1A1A"/>
                </a:solidFill>
                <a:latin typeface="Arial"/>
              </a:rPr>
              <a:t>distinct models run</a:t>
            </a:r>
          </a:p>
        </p:txBody>
      </p:sp>
      <p:sp>
        <p:nvSpPr>
          <p:cNvPr id="20" name="TextBox 19"/>
          <p:cNvSpPr txBox="1"/>
          <p:nvPr/>
        </p:nvSpPr>
        <p:spPr>
          <a:xfrm>
            <a:off x="26490168" y="7172451"/>
            <a:ext cx="8083296" cy="365760"/>
          </a:xfrm>
          <a:prstGeom prst="rect">
            <a:avLst/>
          </a:prstGeom>
          <a:noFill/>
        </p:spPr>
        <p:txBody>
          <a:bodyPr wrap="square" lIns="0" rIns="0" tIns="0" bIns="0">
            <a:spAutoFit/>
          </a:bodyPr>
          <a:lstStyle/>
          <a:p>
            <a:pPr algn="l">
              <a:lnSpc>
                <a:spcPct val="122000"/>
              </a:lnSpc>
              <a:spcAft>
                <a:spcPts val="0"/>
              </a:spcAft>
            </a:pPr>
            <a:r>
              <a:rPr sz="1700" b="0">
                <a:solidFill>
                  <a:srgbClr val="6A6A6A"/>
                </a:solidFill>
                <a:latin typeface="Arial"/>
              </a:rPr>
              <a:t>four families, one deployed</a:t>
            </a:r>
          </a:p>
        </p:txBody>
      </p:sp>
      <p:sp>
        <p:nvSpPr>
          <p:cNvPr id="21" name="TextBox 20"/>
          <p:cNvSpPr txBox="1"/>
          <p:nvPr/>
        </p:nvSpPr>
        <p:spPr>
          <a:xfrm>
            <a:off x="35076384" y="6080759"/>
            <a:ext cx="8083296" cy="365760"/>
          </a:xfrm>
          <a:prstGeom prst="rect">
            <a:avLst/>
          </a:prstGeom>
          <a:noFill/>
        </p:spPr>
        <p:txBody>
          <a:bodyPr wrap="square" lIns="0" rIns="0" tIns="0" bIns="0">
            <a:spAutoFit/>
          </a:bodyPr>
          <a:lstStyle/>
          <a:p>
            <a:pPr algn="l">
              <a:lnSpc>
                <a:spcPct val="95000"/>
              </a:lnSpc>
              <a:spcAft>
                <a:spcPts val="0"/>
              </a:spcAft>
            </a:pPr>
            <a:r>
              <a:rPr sz="5600" b="1">
                <a:solidFill>
                  <a:srgbClr val="1C6FB5"/>
                </a:solidFill>
                <a:latin typeface="Arial Narrow"/>
              </a:rPr>
              <a:t>0</a:t>
            </a:r>
          </a:p>
        </p:txBody>
      </p:sp>
      <p:sp>
        <p:nvSpPr>
          <p:cNvPr id="22" name="TextBox 21"/>
          <p:cNvSpPr txBox="1"/>
          <p:nvPr/>
        </p:nvSpPr>
        <p:spPr>
          <a:xfrm>
            <a:off x="35076384" y="6806183"/>
            <a:ext cx="8083296" cy="365760"/>
          </a:xfrm>
          <a:prstGeom prst="rect">
            <a:avLst/>
          </a:prstGeom>
          <a:noFill/>
        </p:spPr>
        <p:txBody>
          <a:bodyPr wrap="square" lIns="0" rIns="0" tIns="0" bIns="0">
            <a:spAutoFit/>
          </a:bodyPr>
          <a:lstStyle/>
          <a:p>
            <a:pPr algn="l">
              <a:lnSpc>
                <a:spcPct val="122000"/>
              </a:lnSpc>
              <a:spcAft>
                <a:spcPts val="200"/>
              </a:spcAft>
            </a:pPr>
            <a:r>
              <a:rPr sz="2200" b="0">
                <a:solidFill>
                  <a:srgbClr val="1A1A1A"/>
                </a:solidFill>
                <a:latin typeface="Arial"/>
              </a:rPr>
              <a:t>robot frames labelled</a:t>
            </a:r>
          </a:p>
        </p:txBody>
      </p:sp>
      <p:sp>
        <p:nvSpPr>
          <p:cNvPr id="23" name="TextBox 22"/>
          <p:cNvSpPr txBox="1"/>
          <p:nvPr/>
        </p:nvSpPr>
        <p:spPr>
          <a:xfrm>
            <a:off x="35076384" y="7172451"/>
            <a:ext cx="8083296" cy="365760"/>
          </a:xfrm>
          <a:prstGeom prst="rect">
            <a:avLst/>
          </a:prstGeom>
          <a:noFill/>
        </p:spPr>
        <p:txBody>
          <a:bodyPr wrap="square" lIns="0" rIns="0" tIns="0" bIns="0">
            <a:spAutoFit/>
          </a:bodyPr>
          <a:lstStyle/>
          <a:p>
            <a:pPr algn="l">
              <a:lnSpc>
                <a:spcPct val="122000"/>
              </a:lnSpc>
              <a:spcAft>
                <a:spcPts val="0"/>
              </a:spcAft>
            </a:pPr>
            <a:r>
              <a:rPr sz="1700" b="0">
                <a:solidFill>
                  <a:srgbClr val="6A6A6A"/>
                </a:solidFill>
                <a:latin typeface="Arial"/>
              </a:rPr>
              <a:t>the whole archive, so far</a:t>
            </a:r>
          </a:p>
        </p:txBody>
      </p:sp>
      <p:sp>
        <p:nvSpPr>
          <p:cNvPr id="24" name="Rectangle 23"/>
          <p:cNvSpPr/>
          <p:nvPr/>
        </p:nvSpPr>
        <p:spPr>
          <a:xfrm>
            <a:off x="731520" y="7545577"/>
            <a:ext cx="42428160" cy="23774"/>
          </a:xfrm>
          <a:prstGeom prst="rect">
            <a:avLst/>
          </a:prstGeom>
          <a:solidFill>
            <a:srgbClr val="D5D5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1520" y="8039353"/>
            <a:ext cx="10607040" cy="365760"/>
          </a:xfrm>
          <a:prstGeom prst="rect">
            <a:avLst/>
          </a:prstGeom>
          <a:noFill/>
        </p:spPr>
        <p:txBody>
          <a:bodyPr wrap="square" lIns="0" rIns="0" tIns="0" bIns="0">
            <a:spAutoFit/>
          </a:bodyPr>
          <a:lstStyle/>
          <a:p>
            <a:pPr algn="l">
              <a:lnSpc>
                <a:spcPct val="95000"/>
              </a:lnSpc>
              <a:spcAft>
                <a:spcPts val="0"/>
              </a:spcAft>
            </a:pPr>
            <a:r>
              <a:rPr sz="3600" b="1">
                <a:solidFill>
                  <a:srgbClr val="1A1A1A"/>
                </a:solidFill>
                <a:latin typeface="Arial Narrow"/>
              </a:rPr>
              <a:t>One platform for every robot the lab owns</a:t>
            </a:r>
          </a:p>
        </p:txBody>
      </p:sp>
      <p:sp>
        <p:nvSpPr>
          <p:cNvPr id="26" name="Rectangle 25"/>
          <p:cNvSpPr/>
          <p:nvPr/>
        </p:nvSpPr>
        <p:spPr>
          <a:xfrm>
            <a:off x="731520" y="8633713"/>
            <a:ext cx="1060704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31520" y="8962897"/>
            <a:ext cx="10607040" cy="365760"/>
          </a:xfrm>
          <a:prstGeom prst="rect">
            <a:avLst/>
          </a:prstGeom>
          <a:noFill/>
        </p:spPr>
        <p:txBody>
          <a:bodyPr wrap="square" lIns="0" rIns="0" tIns="0" bIns="0">
            <a:spAutoFit/>
          </a:bodyPr>
          <a:lstStyle/>
          <a:p>
            <a:pPr algn="l">
              <a:lnSpc>
                <a:spcPct val="122000"/>
              </a:lnSpc>
              <a:spcAft>
                <a:spcPts val="1400"/>
              </a:spcAft>
            </a:pPr>
            <a:r>
              <a:rPr sz="2200" b="0">
                <a:solidFill>
                  <a:srgbClr val="1A1A1A"/>
                </a:solidFill>
                <a:latin typeface="Arial"/>
              </a:rPr>
              <a:t>agentAI is a research-data platform for physical and embodied agents, built at the MTSU Great Robotics Lab. A robot, a drone or a sensor rig is a project. A project owns its keys, its people and a locked dataset registry. Agents on the platform harvest, filter, label and train against that registry. Adding a robot is a configuration, not a migration.</a:t>
            </a:r>
          </a:p>
        </p:txBody>
      </p:sp>
      <p:sp>
        <p:nvSpPr>
          <p:cNvPr id="28" name="TextBox 27"/>
          <p:cNvSpPr txBox="1"/>
          <p:nvPr/>
        </p:nvSpPr>
        <p:spPr>
          <a:xfrm>
            <a:off x="731520" y="11411965"/>
            <a:ext cx="10607040" cy="365760"/>
          </a:xfrm>
          <a:prstGeom prst="rect">
            <a:avLst/>
          </a:prstGeom>
          <a:noFill/>
        </p:spPr>
        <p:txBody>
          <a:bodyPr wrap="square" lIns="0" rIns="0" tIns="0" bIns="0">
            <a:spAutoFit/>
          </a:bodyPr>
          <a:lstStyle/>
          <a:p>
            <a:pPr algn="l">
              <a:lnSpc>
                <a:spcPct val="95000"/>
              </a:lnSpc>
              <a:spcAft>
                <a:spcPts val="0"/>
              </a:spcAft>
            </a:pPr>
            <a:r>
              <a:rPr sz="6200" b="1">
                <a:solidFill>
                  <a:srgbClr val="1C6FB5"/>
                </a:solidFill>
                <a:latin typeface="Arial Narrow"/>
              </a:rPr>
              <a:t>14</a:t>
            </a:r>
          </a:p>
        </p:txBody>
      </p:sp>
      <p:sp>
        <p:nvSpPr>
          <p:cNvPr id="29" name="TextBox 28"/>
          <p:cNvSpPr txBox="1"/>
          <p:nvPr/>
        </p:nvSpPr>
        <p:spPr>
          <a:xfrm>
            <a:off x="731520" y="12215113"/>
            <a:ext cx="10607040" cy="365760"/>
          </a:xfrm>
          <a:prstGeom prst="rect">
            <a:avLst/>
          </a:prstGeom>
          <a:noFill/>
        </p:spPr>
        <p:txBody>
          <a:bodyPr wrap="square" lIns="0" rIns="0" tIns="0" bIns="0">
            <a:spAutoFit/>
          </a:bodyPr>
          <a:lstStyle/>
          <a:p>
            <a:pPr algn="l">
              <a:lnSpc>
                <a:spcPct val="122000"/>
              </a:lnSpc>
              <a:spcAft>
                <a:spcPts val="600"/>
              </a:spcAft>
            </a:pPr>
            <a:r>
              <a:rPr sz="1700" b="0">
                <a:solidFill>
                  <a:srgbClr val="6A6A6A"/>
                </a:solidFill>
                <a:latin typeface="Arial"/>
              </a:rPr>
              <a:t>analysis tools the planner can choose from</a:t>
            </a:r>
          </a:p>
        </p:txBody>
      </p:sp>
      <p:sp>
        <p:nvSpPr>
          <p:cNvPr id="30" name="TextBox 29"/>
          <p:cNvSpPr txBox="1"/>
          <p:nvPr/>
        </p:nvSpPr>
        <p:spPr>
          <a:xfrm>
            <a:off x="731520" y="12701015"/>
            <a:ext cx="10607040" cy="365760"/>
          </a:xfrm>
          <a:prstGeom prst="rect">
            <a:avLst/>
          </a:prstGeom>
          <a:noFill/>
        </p:spPr>
        <p:txBody>
          <a:bodyPr wrap="square" lIns="0" rIns="0" tIns="0" bIns="0">
            <a:spAutoFit/>
          </a:bodyPr>
          <a:lstStyle/>
          <a:p>
            <a:pPr algn="l">
              <a:lnSpc>
                <a:spcPct val="95000"/>
              </a:lnSpc>
              <a:spcAft>
                <a:spcPts val="0"/>
              </a:spcAft>
            </a:pPr>
            <a:r>
              <a:rPr sz="3600" b="1">
                <a:solidFill>
                  <a:srgbClr val="1A1A1A"/>
                </a:solidFill>
                <a:latin typeface="Arial Narrow"/>
              </a:rPr>
              <a:t>Ask a dataset what it is good for</a:t>
            </a:r>
          </a:p>
        </p:txBody>
      </p:sp>
      <p:sp>
        <p:nvSpPr>
          <p:cNvPr id="31" name="Rectangle 30"/>
          <p:cNvSpPr/>
          <p:nvPr/>
        </p:nvSpPr>
        <p:spPr>
          <a:xfrm>
            <a:off x="731520" y="13295376"/>
            <a:ext cx="1060704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31520" y="13624559"/>
            <a:ext cx="10607040" cy="365760"/>
          </a:xfrm>
          <a:prstGeom prst="rect">
            <a:avLst/>
          </a:prstGeom>
          <a:noFill/>
        </p:spPr>
        <p:txBody>
          <a:bodyPr wrap="square" lIns="0" rIns="0" tIns="0" bIns="0">
            <a:spAutoFit/>
          </a:bodyPr>
          <a:lstStyle/>
          <a:p>
            <a:pPr algn="l">
              <a:lnSpc>
                <a:spcPct val="122000"/>
              </a:lnSpc>
              <a:spcAft>
                <a:spcPts val="1400"/>
              </a:spcAft>
            </a:pPr>
            <a:r>
              <a:rPr sz="2200" b="0">
                <a:solidFill>
                  <a:srgbClr val="1A1A1A"/>
                </a:solidFill>
                <a:latin typeface="Arial"/>
              </a:rPr>
              <a:t>Every dataset page carries a chat box. A user types or speaks a plain question about that dataset. A planner reads the question and the dataset's real column profile, then picks from 14 fixed analysis tools or writes new code. The answer comes back with the chart and the code that produced it.</a:t>
            </a:r>
          </a:p>
        </p:txBody>
      </p:sp>
      <p:sp>
        <p:nvSpPr>
          <p:cNvPr id="33" name="TextBox 32"/>
          <p:cNvSpPr txBox="1"/>
          <p:nvPr/>
        </p:nvSpPr>
        <p:spPr>
          <a:xfrm>
            <a:off x="731520" y="15732760"/>
            <a:ext cx="10607040" cy="365760"/>
          </a:xfrm>
          <a:prstGeom prst="rect">
            <a:avLst/>
          </a:prstGeom>
          <a:noFill/>
        </p:spPr>
        <p:txBody>
          <a:bodyPr wrap="square" lIns="0" rIns="0" tIns="0" bIns="0">
            <a:spAutoFit/>
          </a:bodyPr>
          <a:lstStyle/>
          <a:p>
            <a:pPr algn="l">
              <a:lnSpc>
                <a:spcPct val="95000"/>
              </a:lnSpc>
              <a:spcAft>
                <a:spcPts val="0"/>
              </a:spcAft>
            </a:pPr>
            <a:r>
              <a:rPr sz="6200" b="1">
                <a:solidFill>
                  <a:srgbClr val="1C6FB5"/>
                </a:solidFill>
                <a:latin typeface="Arial Narrow"/>
              </a:rPr>
              <a:t>92</a:t>
            </a:r>
          </a:p>
        </p:txBody>
      </p:sp>
      <p:sp>
        <p:nvSpPr>
          <p:cNvPr id="34" name="TextBox 33"/>
          <p:cNvSpPr txBox="1"/>
          <p:nvPr/>
        </p:nvSpPr>
        <p:spPr>
          <a:xfrm>
            <a:off x="731520" y="16535908"/>
            <a:ext cx="10607040" cy="365760"/>
          </a:xfrm>
          <a:prstGeom prst="rect">
            <a:avLst/>
          </a:prstGeom>
          <a:noFill/>
        </p:spPr>
        <p:txBody>
          <a:bodyPr wrap="square" lIns="0" rIns="0" tIns="0" bIns="0">
            <a:spAutoFit/>
          </a:bodyPr>
          <a:lstStyle/>
          <a:p>
            <a:pPr algn="l">
              <a:lnSpc>
                <a:spcPct val="122000"/>
              </a:lnSpc>
              <a:spcAft>
                <a:spcPts val="600"/>
              </a:spcAft>
            </a:pPr>
            <a:r>
              <a:rPr sz="1700" b="0">
                <a:solidFill>
                  <a:srgbClr val="6A6A6A"/>
                </a:solidFill>
                <a:latin typeface="Arial"/>
              </a:rPr>
              <a:t>questions asked of a dataset so far</a:t>
            </a:r>
          </a:p>
        </p:txBody>
      </p:sp>
      <p:sp>
        <p:nvSpPr>
          <p:cNvPr id="35" name="TextBox 34"/>
          <p:cNvSpPr txBox="1"/>
          <p:nvPr/>
        </p:nvSpPr>
        <p:spPr>
          <a:xfrm>
            <a:off x="731520" y="17021810"/>
            <a:ext cx="10607040" cy="365760"/>
          </a:xfrm>
          <a:prstGeom prst="rect">
            <a:avLst/>
          </a:prstGeom>
          <a:noFill/>
        </p:spPr>
        <p:txBody>
          <a:bodyPr wrap="square" lIns="0" rIns="0" tIns="0" bIns="0">
            <a:spAutoFit/>
          </a:bodyPr>
          <a:lstStyle/>
          <a:p>
            <a:pPr algn="l">
              <a:lnSpc>
                <a:spcPct val="95000"/>
              </a:lnSpc>
              <a:spcAft>
                <a:spcPts val="0"/>
              </a:spcAft>
            </a:pPr>
            <a:r>
              <a:rPr sz="3600" b="1">
                <a:solidFill>
                  <a:srgbClr val="1A1A1A"/>
                </a:solidFill>
                <a:latin typeface="Arial Narrow"/>
              </a:rPr>
              <a:t>Asked something it had never seen</a:t>
            </a:r>
          </a:p>
        </p:txBody>
      </p:sp>
      <p:sp>
        <p:nvSpPr>
          <p:cNvPr id="36" name="Rectangle 35"/>
          <p:cNvSpPr/>
          <p:nvPr/>
        </p:nvSpPr>
        <p:spPr>
          <a:xfrm>
            <a:off x="731520" y="17616169"/>
            <a:ext cx="1060704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31520" y="17945353"/>
            <a:ext cx="10607040" cy="365760"/>
          </a:xfrm>
          <a:prstGeom prst="rect">
            <a:avLst/>
          </a:prstGeom>
          <a:noFill/>
        </p:spPr>
        <p:txBody>
          <a:bodyPr wrap="square" lIns="0" rIns="0" tIns="0" bIns="0">
            <a:spAutoFit/>
          </a:bodyPr>
          <a:lstStyle/>
          <a:p>
            <a:pPr algn="l">
              <a:lnSpc>
                <a:spcPct val="122000"/>
              </a:lnSpc>
              <a:spcAft>
                <a:spcPts val="1400"/>
              </a:spcAft>
            </a:pPr>
            <a:r>
              <a:rPr sz="2200" b="0">
                <a:solidFill>
                  <a:srgbClr val="1A1A1A"/>
                </a:solidFill>
                <a:latin typeface="Arial"/>
              </a:rPr>
              <a:t>Asked to plot a histogram of the heading change rate on the 241 field drive, the agent wrote the code and returned the plot on the first attempt. A fixed template cannot do that, because nothing in the platform knew that question would be asked. Across the platform, 9 datasets carry 92 turns of that conversation.</a:t>
            </a:r>
          </a:p>
        </p:txBody>
      </p:sp>
      <p:sp>
        <p:nvSpPr>
          <p:cNvPr id="38" name="TextBox 37"/>
          <p:cNvSpPr txBox="1"/>
          <p:nvPr/>
        </p:nvSpPr>
        <p:spPr>
          <a:xfrm>
            <a:off x="731520" y="20394422"/>
            <a:ext cx="10607040" cy="365760"/>
          </a:xfrm>
          <a:prstGeom prst="rect">
            <a:avLst/>
          </a:prstGeom>
          <a:noFill/>
        </p:spPr>
        <p:txBody>
          <a:bodyPr wrap="square" lIns="0" rIns="0" tIns="0" bIns="0">
            <a:spAutoFit/>
          </a:bodyPr>
          <a:lstStyle/>
          <a:p>
            <a:pPr algn="l">
              <a:lnSpc>
                <a:spcPct val="95000"/>
              </a:lnSpc>
              <a:spcAft>
                <a:spcPts val="0"/>
              </a:spcAft>
            </a:pPr>
            <a:r>
              <a:rPr sz="3600" b="1">
                <a:solidFill>
                  <a:srgbClr val="1A1A1A"/>
                </a:solidFill>
                <a:latin typeface="Arial Narrow"/>
              </a:rPr>
              <a:t>Adding the next robot</a:t>
            </a:r>
          </a:p>
        </p:txBody>
      </p:sp>
      <p:sp>
        <p:nvSpPr>
          <p:cNvPr id="39" name="Rectangle 38"/>
          <p:cNvSpPr/>
          <p:nvPr/>
        </p:nvSpPr>
        <p:spPr>
          <a:xfrm>
            <a:off x="731520" y="20988781"/>
            <a:ext cx="1060704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31520" y="21317965"/>
            <a:ext cx="10607040" cy="365760"/>
          </a:xfrm>
          <a:prstGeom prst="rect">
            <a:avLst/>
          </a:prstGeom>
          <a:noFill/>
        </p:spPr>
        <p:txBody>
          <a:bodyPr wrap="square" lIns="0" rIns="0" tIns="0" bIns="0">
            <a:spAutoFit/>
          </a:bodyPr>
          <a:lstStyle/>
          <a:p>
            <a:pPr algn="l">
              <a:lnSpc>
                <a:spcPct val="122000"/>
              </a:lnSpc>
              <a:spcAft>
                <a:spcPts val="1400"/>
              </a:spcAft>
            </a:pPr>
            <a:r>
              <a:rPr sz="2200" b="0">
                <a:solidFill>
                  <a:srgbClr val="1A1A1A"/>
                </a:solidFill>
                <a:latin typeface="Arial"/>
              </a:rPr>
              <a:t>A new robot needs a project, an API key and a session start. The ingest contract is the same for every vehicle: open a session, post sensor batches and frames while driving, stop. The platform does not care what the robot is. Empty projects for a mobile robot and a humanoid already sit on it, waiting for a first upload.</a:t>
            </a:r>
          </a:p>
        </p:txBody>
      </p:sp>
      <p:sp>
        <p:nvSpPr>
          <p:cNvPr id="41" name="TextBox 40"/>
          <p:cNvSpPr txBox="1"/>
          <p:nvPr/>
        </p:nvSpPr>
        <p:spPr>
          <a:xfrm>
            <a:off x="731520" y="23767033"/>
            <a:ext cx="10607040" cy="365760"/>
          </a:xfrm>
          <a:prstGeom prst="rect">
            <a:avLst/>
          </a:prstGeom>
          <a:noFill/>
        </p:spPr>
        <p:txBody>
          <a:bodyPr wrap="square" lIns="0" rIns="0" tIns="0" bIns="0">
            <a:spAutoFit/>
          </a:bodyPr>
          <a:lstStyle/>
          <a:p>
            <a:pPr algn="l">
              <a:lnSpc>
                <a:spcPct val="95000"/>
              </a:lnSpc>
              <a:spcAft>
                <a:spcPts val="0"/>
              </a:spcAft>
            </a:pPr>
            <a:r>
              <a:rPr sz="3600" b="1">
                <a:solidFill>
                  <a:srgbClr val="1A1A1A"/>
                </a:solidFill>
                <a:latin typeface="Arial Narrow"/>
              </a:rPr>
              <a:t>Reading the loop's own artifacts</a:t>
            </a:r>
          </a:p>
        </p:txBody>
      </p:sp>
      <p:sp>
        <p:nvSpPr>
          <p:cNvPr id="42" name="Rectangle 41"/>
          <p:cNvSpPr/>
          <p:nvPr/>
        </p:nvSpPr>
        <p:spPr>
          <a:xfrm>
            <a:off x="731520" y="24361393"/>
            <a:ext cx="1060704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31520" y="24690577"/>
            <a:ext cx="10607040" cy="365760"/>
          </a:xfrm>
          <a:prstGeom prst="rect">
            <a:avLst/>
          </a:prstGeom>
          <a:noFill/>
        </p:spPr>
        <p:txBody>
          <a:bodyPr wrap="square" lIns="0" rIns="0" tIns="0" bIns="0">
            <a:spAutoFit/>
          </a:bodyPr>
          <a:lstStyle/>
          <a:p>
            <a:pPr algn="l">
              <a:lnSpc>
                <a:spcPct val="122000"/>
              </a:lnSpc>
              <a:spcAft>
                <a:spcPts val="1400"/>
              </a:spcAft>
            </a:pPr>
            <a:r>
              <a:rPr sz="2200" b="0">
                <a:solidFill>
                  <a:srgbClr val="1A1A1A"/>
                </a:solidFill>
                <a:latin typeface="Arial"/>
              </a:rPr>
              <a:t>The corpus stopped growing at round three: the same 24 datasets and 48,752 unique images went in every time, and the apparent growth was one staging directory nobody cleared. Eight rounds collected nothing and reported success. Starting fresh instead of from the previous round's weights is worth +0.0287, 5.1 times this recipe's own seed spread.</a:t>
            </a:r>
          </a:p>
        </p:txBody>
      </p:sp>
      <p:sp>
        <p:nvSpPr>
          <p:cNvPr id="44" name="TextBox 43"/>
          <p:cNvSpPr txBox="1"/>
          <p:nvPr/>
        </p:nvSpPr>
        <p:spPr>
          <a:xfrm>
            <a:off x="11704320" y="8039353"/>
            <a:ext cx="9989820" cy="365760"/>
          </a:xfrm>
          <a:prstGeom prst="rect">
            <a:avLst/>
          </a:prstGeom>
          <a:noFill/>
        </p:spPr>
        <p:txBody>
          <a:bodyPr wrap="square" lIns="0" rIns="0" tIns="0" bIns="0">
            <a:spAutoFit/>
          </a:bodyPr>
          <a:lstStyle/>
          <a:p>
            <a:pPr algn="l">
              <a:lnSpc>
                <a:spcPct val="95000"/>
              </a:lnSpc>
              <a:spcAft>
                <a:spcPts val="0"/>
              </a:spcAft>
            </a:pPr>
            <a:r>
              <a:rPr sz="3600" b="1">
                <a:solidFill>
                  <a:srgbClr val="1A1A1A"/>
                </a:solidFill>
                <a:latin typeface="Arial Narrow"/>
              </a:rPr>
              <a:t>Robots on the platform today</a:t>
            </a:r>
          </a:p>
        </p:txBody>
      </p:sp>
      <p:sp>
        <p:nvSpPr>
          <p:cNvPr id="45" name="Rectangle 44"/>
          <p:cNvSpPr/>
          <p:nvPr/>
        </p:nvSpPr>
        <p:spPr>
          <a:xfrm>
            <a:off x="11704320" y="8633713"/>
            <a:ext cx="998982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1704320" y="8962897"/>
            <a:ext cx="9989820" cy="365760"/>
          </a:xfrm>
          <a:prstGeom prst="rect">
            <a:avLst/>
          </a:prstGeom>
          <a:noFill/>
        </p:spPr>
        <p:txBody>
          <a:bodyPr wrap="square" lIns="0" rIns="0" tIns="0" bIns="0">
            <a:spAutoFit/>
          </a:bodyPr>
          <a:lstStyle/>
          <a:p>
            <a:pPr algn="l">
              <a:lnSpc>
                <a:spcPct val="122000"/>
              </a:lnSpc>
              <a:spcAft>
                <a:spcPts val="1400"/>
              </a:spcAft>
            </a:pPr>
            <a:r>
              <a:rPr sz="2200" b="0">
                <a:solidFill>
                  <a:srgbClr val="1A1A1A"/>
                </a:solidFill>
                <a:latin typeface="Arial"/>
              </a:rPr>
              <a:t>Robot 241 is a tracked rover that drives crop rows and streams camera, GPS and two IMUs. The laser cart carries the weeder: a galvanometer laser, a down camera over the work zone and a forward camera. Ten projects sit on the platform and two of them have a robot reporting into them. Between those two vehicles, 2,686 frames in 26 drives.</a:t>
            </a:r>
          </a:p>
        </p:txBody>
      </p:sp>
      <p:sp>
        <p:nvSpPr>
          <p:cNvPr id="47" name="TextBox 46"/>
          <p:cNvSpPr txBox="1"/>
          <p:nvPr/>
        </p:nvSpPr>
        <p:spPr>
          <a:xfrm>
            <a:off x="11704320" y="11411965"/>
            <a:ext cx="9989820" cy="365760"/>
          </a:xfrm>
          <a:prstGeom prst="rect">
            <a:avLst/>
          </a:prstGeom>
          <a:noFill/>
        </p:spPr>
        <p:txBody>
          <a:bodyPr wrap="square" lIns="0" rIns="0" tIns="0" bIns="0">
            <a:spAutoFit/>
          </a:bodyPr>
          <a:lstStyle/>
          <a:p>
            <a:pPr algn="l">
              <a:lnSpc>
                <a:spcPct val="95000"/>
              </a:lnSpc>
              <a:spcAft>
                <a:spcPts val="0"/>
              </a:spcAft>
            </a:pPr>
            <a:r>
              <a:rPr sz="3600" b="1">
                <a:solidFill>
                  <a:srgbClr val="1A1A1A"/>
                </a:solidFill>
                <a:latin typeface="Arial Narrow"/>
              </a:rPr>
              <a:t>Four frames, as recorded</a:t>
            </a:r>
          </a:p>
        </p:txBody>
      </p:sp>
      <p:sp>
        <p:nvSpPr>
          <p:cNvPr id="48" name="Rectangle 47"/>
          <p:cNvSpPr/>
          <p:nvPr/>
        </p:nvSpPr>
        <p:spPr>
          <a:xfrm>
            <a:off x="11704320" y="12006325"/>
            <a:ext cx="998982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1704320" y="12335509"/>
            <a:ext cx="9989820" cy="365760"/>
          </a:xfrm>
          <a:prstGeom prst="rect">
            <a:avLst/>
          </a:prstGeom>
          <a:noFill/>
        </p:spPr>
        <p:txBody>
          <a:bodyPr wrap="square" lIns="0" rIns="0" tIns="0" bIns="0">
            <a:spAutoFit/>
          </a:bodyPr>
          <a:lstStyle/>
          <a:p>
            <a:pPr algn="l">
              <a:lnSpc>
                <a:spcPct val="122000"/>
              </a:lnSpc>
              <a:spcAft>
                <a:spcPts val="1400"/>
              </a:spcAft>
            </a:pPr>
            <a:r>
              <a:rPr sz="2200" b="0">
                <a:solidFill>
                  <a:srgbClr val="1A1A1A"/>
                </a:solidFill>
                <a:latin typeface="Arial"/>
              </a:rPr>
              <a:t>Nothing here is enhanced and nothing is labelled. The rectangle in the cart's down camera is a fixed work-zone overlay: it sits at the same pixels on frames with no vegetation in them at all.</a:t>
            </a:r>
          </a:p>
        </p:txBody>
      </p:sp>
      <p:sp>
        <p:nvSpPr>
          <p:cNvPr id="50" name="TextBox 49"/>
          <p:cNvSpPr txBox="1"/>
          <p:nvPr/>
        </p:nvSpPr>
        <p:spPr>
          <a:xfrm>
            <a:off x="11704320" y="14102841"/>
            <a:ext cx="9989820" cy="365760"/>
          </a:xfrm>
          <a:prstGeom prst="rect">
            <a:avLst/>
          </a:prstGeom>
          <a:noFill/>
        </p:spPr>
        <p:txBody>
          <a:bodyPr wrap="square" lIns="0" rIns="0" tIns="0" bIns="0">
            <a:spAutoFit/>
          </a:bodyPr>
          <a:lstStyle/>
          <a:p>
            <a:pPr algn="l">
              <a:lnSpc>
                <a:spcPct val="95000"/>
              </a:lnSpc>
              <a:spcAft>
                <a:spcPts val="0"/>
              </a:spcAft>
            </a:pPr>
            <a:r>
              <a:rPr sz="3600" b="1">
                <a:solidFill>
                  <a:srgbClr val="1A1A1A"/>
                </a:solidFill>
                <a:latin typeface="Arial Narrow"/>
              </a:rPr>
              <a:t>Which decisions a model makes</a:t>
            </a:r>
          </a:p>
        </p:txBody>
      </p:sp>
      <p:sp>
        <p:nvSpPr>
          <p:cNvPr id="51" name="Rectangle 50"/>
          <p:cNvSpPr/>
          <p:nvPr/>
        </p:nvSpPr>
        <p:spPr>
          <a:xfrm>
            <a:off x="11704320" y="14697201"/>
            <a:ext cx="998982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11704320" y="15026385"/>
            <a:ext cx="9989820" cy="365760"/>
          </a:xfrm>
          <a:prstGeom prst="rect">
            <a:avLst/>
          </a:prstGeom>
          <a:noFill/>
        </p:spPr>
        <p:txBody>
          <a:bodyPr wrap="square" lIns="0" rIns="0" tIns="0" bIns="0">
            <a:spAutoFit/>
          </a:bodyPr>
          <a:lstStyle/>
          <a:p>
            <a:pPr algn="l">
              <a:lnSpc>
                <a:spcPct val="122000"/>
              </a:lnSpc>
              <a:spcAft>
                <a:spcPts val="1400"/>
              </a:spcAft>
            </a:pPr>
            <a:r>
              <a:rPr sz="2200" b="0">
                <a:solidFill>
                  <a:srgbClr val="1A1A1A"/>
                </a:solidFill>
                <a:latin typeface="Arial"/>
              </a:rPr>
              <a:t>A language model decides what the collector goes after next, judges whether a candidate dataset is on topic, and reviews a finished step. Those run on the cluster, as batch jobs, on open weights. The lab box hosts only the small guide model, and a verdict produced there is marked in its own record as a draft that may not be reported.</a:t>
            </a:r>
          </a:p>
        </p:txBody>
      </p:sp>
      <p:sp>
        <p:nvSpPr>
          <p:cNvPr id="53" name="TextBox 52"/>
          <p:cNvSpPr txBox="1"/>
          <p:nvPr/>
        </p:nvSpPr>
        <p:spPr>
          <a:xfrm>
            <a:off x="11704320" y="17475453"/>
            <a:ext cx="9989820" cy="365760"/>
          </a:xfrm>
          <a:prstGeom prst="rect">
            <a:avLst/>
          </a:prstGeom>
          <a:noFill/>
        </p:spPr>
        <p:txBody>
          <a:bodyPr wrap="square" lIns="0" rIns="0" tIns="0" bIns="0">
            <a:spAutoFit/>
          </a:bodyPr>
          <a:lstStyle/>
          <a:p>
            <a:pPr algn="l">
              <a:lnSpc>
                <a:spcPct val="95000"/>
              </a:lnSpc>
              <a:spcAft>
                <a:spcPts val="0"/>
              </a:spcAft>
            </a:pPr>
            <a:r>
              <a:rPr sz="3600" b="1">
                <a:solidFill>
                  <a:srgbClr val="1A1A1A"/>
                </a:solidFill>
                <a:latin typeface="Arial Narrow"/>
              </a:rPr>
              <a:t>213 seconds in one crop plot</a:t>
            </a:r>
          </a:p>
        </p:txBody>
      </p:sp>
      <p:sp>
        <p:nvSpPr>
          <p:cNvPr id="54" name="Rectangle 53"/>
          <p:cNvSpPr/>
          <p:nvPr/>
        </p:nvSpPr>
        <p:spPr>
          <a:xfrm>
            <a:off x="11704320" y="18069813"/>
            <a:ext cx="998982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11704320" y="18398997"/>
            <a:ext cx="9989820" cy="365760"/>
          </a:xfrm>
          <a:prstGeom prst="rect">
            <a:avLst/>
          </a:prstGeom>
          <a:noFill/>
        </p:spPr>
        <p:txBody>
          <a:bodyPr wrap="square" lIns="0" rIns="0" tIns="0" bIns="0">
            <a:spAutoFit/>
          </a:bodyPr>
          <a:lstStyle/>
          <a:p>
            <a:pPr algn="l">
              <a:lnSpc>
                <a:spcPct val="122000"/>
              </a:lnSpc>
              <a:spcAft>
                <a:spcPts val="1400"/>
              </a:spcAft>
            </a:pPr>
            <a:r>
              <a:rPr sz="2200" b="0">
                <a:solidFill>
                  <a:srgbClr val="1A1A1A"/>
                </a:solidFill>
                <a:latin typeface="Arial"/>
              </a:rPr>
              <a:t>The longest single pass the platform holds: 141 m of track from 211 fixes, with heading from the IMU over the same 213 seconds. The platform holds 18 passes that carry position.</a:t>
            </a:r>
          </a:p>
        </p:txBody>
      </p:sp>
      <p:sp>
        <p:nvSpPr>
          <p:cNvPr id="56" name="TextBox 55"/>
          <p:cNvSpPr txBox="1"/>
          <p:nvPr/>
        </p:nvSpPr>
        <p:spPr>
          <a:xfrm>
            <a:off x="11704320" y="20166329"/>
            <a:ext cx="9989820" cy="365760"/>
          </a:xfrm>
          <a:prstGeom prst="rect">
            <a:avLst/>
          </a:prstGeom>
          <a:noFill/>
        </p:spPr>
        <p:txBody>
          <a:bodyPr wrap="square" lIns="0" rIns="0" tIns="0" bIns="0">
            <a:spAutoFit/>
          </a:bodyPr>
          <a:lstStyle/>
          <a:p>
            <a:pPr algn="l">
              <a:lnSpc>
                <a:spcPct val="95000"/>
              </a:lnSpc>
              <a:spcAft>
                <a:spcPts val="0"/>
              </a:spcAft>
            </a:pPr>
            <a:r>
              <a:rPr sz="3600" b="1">
                <a:solidFill>
                  <a:srgbClr val="1A1A1A"/>
                </a:solidFill>
                <a:latin typeface="Arial Narrow"/>
              </a:rPr>
              <a:t>Back on our own rows</a:t>
            </a:r>
          </a:p>
        </p:txBody>
      </p:sp>
      <p:sp>
        <p:nvSpPr>
          <p:cNvPr id="57" name="Rectangle 56"/>
          <p:cNvSpPr/>
          <p:nvPr/>
        </p:nvSpPr>
        <p:spPr>
          <a:xfrm>
            <a:off x="11704320" y="20760689"/>
            <a:ext cx="998982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11704320" y="21089873"/>
            <a:ext cx="9989820" cy="365760"/>
          </a:xfrm>
          <a:prstGeom prst="rect">
            <a:avLst/>
          </a:prstGeom>
          <a:noFill/>
        </p:spPr>
        <p:txBody>
          <a:bodyPr wrap="square" lIns="0" rIns="0" tIns="0" bIns="0">
            <a:spAutoFit/>
          </a:bodyPr>
          <a:lstStyle/>
          <a:p>
            <a:pPr algn="l">
              <a:lnSpc>
                <a:spcPct val="122000"/>
              </a:lnSpc>
              <a:spcAft>
                <a:spcPts val="1400"/>
              </a:spcAft>
            </a:pPr>
            <a:r>
              <a:rPr sz="2200" b="0">
                <a:solidFill>
                  <a:srgbClr val="1A1A1A"/>
                </a:solidFill>
                <a:latin typeface="Arial"/>
              </a:rPr>
              <a:t>The deployable checkpoint draws a box on 25 of the 2,686 frames our robots recorded, and 24 of those 25 boxes are the same class. These frames carry no labels, so that is a firing rate, not recall and not precision.</a:t>
            </a:r>
          </a:p>
        </p:txBody>
      </p:sp>
      <p:sp>
        <p:nvSpPr>
          <p:cNvPr id="59" name="TextBox 58"/>
          <p:cNvSpPr txBox="1"/>
          <p:nvPr/>
        </p:nvSpPr>
        <p:spPr>
          <a:xfrm>
            <a:off x="11704320" y="23198073"/>
            <a:ext cx="9989820" cy="365760"/>
          </a:xfrm>
          <a:prstGeom prst="rect">
            <a:avLst/>
          </a:prstGeom>
          <a:noFill/>
        </p:spPr>
        <p:txBody>
          <a:bodyPr wrap="square" lIns="0" rIns="0" tIns="0" bIns="0">
            <a:spAutoFit/>
          </a:bodyPr>
          <a:lstStyle/>
          <a:p>
            <a:pPr algn="l">
              <a:lnSpc>
                <a:spcPct val="95000"/>
              </a:lnSpc>
              <a:spcAft>
                <a:spcPts val="0"/>
              </a:spcAft>
            </a:pPr>
            <a:r>
              <a:rPr sz="6200" b="1">
                <a:solidFill>
                  <a:srgbClr val="1C6FB5"/>
                </a:solidFill>
                <a:latin typeface="Arial Narrow"/>
              </a:rPr>
              <a:t>162</a:t>
            </a:r>
          </a:p>
        </p:txBody>
      </p:sp>
      <p:sp>
        <p:nvSpPr>
          <p:cNvPr id="60" name="TextBox 59"/>
          <p:cNvSpPr txBox="1"/>
          <p:nvPr/>
        </p:nvSpPr>
        <p:spPr>
          <a:xfrm>
            <a:off x="11704320" y="24001221"/>
            <a:ext cx="9989820" cy="365760"/>
          </a:xfrm>
          <a:prstGeom prst="rect">
            <a:avLst/>
          </a:prstGeom>
          <a:noFill/>
        </p:spPr>
        <p:txBody>
          <a:bodyPr wrap="square" lIns="0" rIns="0" tIns="0" bIns="0">
            <a:spAutoFit/>
          </a:bodyPr>
          <a:lstStyle/>
          <a:p>
            <a:pPr algn="l">
              <a:lnSpc>
                <a:spcPct val="122000"/>
              </a:lnSpc>
              <a:spcAft>
                <a:spcPts val="600"/>
              </a:spcAft>
            </a:pPr>
            <a:r>
              <a:rPr sz="1700" b="0">
                <a:solidFill>
                  <a:srgbClr val="6A6A6A"/>
                </a:solidFill>
                <a:latin typeface="Arial"/>
              </a:rPr>
              <a:t>real failures frozen as a benchmark</a:t>
            </a:r>
          </a:p>
        </p:txBody>
      </p:sp>
      <p:sp>
        <p:nvSpPr>
          <p:cNvPr id="61" name="TextBox 60"/>
          <p:cNvSpPr txBox="1"/>
          <p:nvPr/>
        </p:nvSpPr>
        <p:spPr>
          <a:xfrm>
            <a:off x="11704320" y="24487123"/>
            <a:ext cx="9989820" cy="365760"/>
          </a:xfrm>
          <a:prstGeom prst="rect">
            <a:avLst/>
          </a:prstGeom>
          <a:noFill/>
        </p:spPr>
        <p:txBody>
          <a:bodyPr wrap="square" lIns="0" rIns="0" tIns="0" bIns="0">
            <a:spAutoFit/>
          </a:bodyPr>
          <a:lstStyle/>
          <a:p>
            <a:pPr algn="l">
              <a:lnSpc>
                <a:spcPct val="95000"/>
              </a:lnSpc>
              <a:spcAft>
                <a:spcPts val="0"/>
              </a:spcAft>
            </a:pPr>
            <a:r>
              <a:rPr sz="3600" b="1">
                <a:solidFill>
                  <a:srgbClr val="1A1A1A"/>
                </a:solidFill>
                <a:latin typeface="Arial Narrow"/>
              </a:rPr>
              <a:t>Who notices when it breaks</a:t>
            </a:r>
          </a:p>
        </p:txBody>
      </p:sp>
      <p:sp>
        <p:nvSpPr>
          <p:cNvPr id="62" name="Rectangle 61"/>
          <p:cNvSpPr/>
          <p:nvPr/>
        </p:nvSpPr>
        <p:spPr>
          <a:xfrm>
            <a:off x="11704320" y="25081483"/>
            <a:ext cx="998982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11704320" y="25410667"/>
            <a:ext cx="9989820" cy="365760"/>
          </a:xfrm>
          <a:prstGeom prst="rect">
            <a:avLst/>
          </a:prstGeom>
          <a:noFill/>
        </p:spPr>
        <p:txBody>
          <a:bodyPr wrap="square" lIns="0" rIns="0" tIns="0" bIns="0">
            <a:spAutoFit/>
          </a:bodyPr>
          <a:lstStyle/>
          <a:p>
            <a:pPr algn="l">
              <a:lnSpc>
                <a:spcPct val="122000"/>
              </a:lnSpc>
              <a:spcAft>
                <a:spcPts val="1400"/>
              </a:spcAft>
            </a:pPr>
            <a:r>
              <a:rPr sz="2200" b="0">
                <a:solidFill>
                  <a:srgbClr val="1A1A1A"/>
                </a:solidFill>
                <a:latin typeface="Arial"/>
              </a:rPr>
              <a:t>We froze 162 real failures out of this project's own engineering record and scored every kind of supervision against them. The watchdog the loop was running returned no decision on any of the 149 dev cases. A model reading the raw artifacts reaches 0.70 recall over 116 incidents.</a:t>
            </a:r>
          </a:p>
        </p:txBody>
      </p:sp>
      <p:sp>
        <p:nvSpPr>
          <p:cNvPr id="64" name="TextBox 63"/>
          <p:cNvSpPr txBox="1"/>
          <p:nvPr/>
        </p:nvSpPr>
        <p:spPr>
          <a:xfrm>
            <a:off x="22059900" y="8039353"/>
            <a:ext cx="9989820" cy="365760"/>
          </a:xfrm>
          <a:prstGeom prst="rect">
            <a:avLst/>
          </a:prstGeom>
          <a:noFill/>
        </p:spPr>
        <p:txBody>
          <a:bodyPr wrap="square" lIns="0" rIns="0" tIns="0" bIns="0">
            <a:spAutoFit/>
          </a:bodyPr>
          <a:lstStyle/>
          <a:p>
            <a:pPr algn="l">
              <a:lnSpc>
                <a:spcPct val="95000"/>
              </a:lnSpc>
              <a:spcAft>
                <a:spcPts val="0"/>
              </a:spcAft>
            </a:pPr>
            <a:r>
              <a:rPr sz="3600" b="1">
                <a:solidFill>
                  <a:srgbClr val="1A1A1A"/>
                </a:solidFill>
                <a:latin typeface="Arial Narrow"/>
              </a:rPr>
              <a:t>A drive becomes a dataset as it opens</a:t>
            </a:r>
          </a:p>
        </p:txBody>
      </p:sp>
      <p:sp>
        <p:nvSpPr>
          <p:cNvPr id="65" name="Rectangle 64"/>
          <p:cNvSpPr/>
          <p:nvPr/>
        </p:nvSpPr>
        <p:spPr>
          <a:xfrm>
            <a:off x="22059900" y="8633713"/>
            <a:ext cx="998982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22059900" y="8962897"/>
            <a:ext cx="9989820" cy="365760"/>
          </a:xfrm>
          <a:prstGeom prst="rect">
            <a:avLst/>
          </a:prstGeom>
          <a:noFill/>
        </p:spPr>
        <p:txBody>
          <a:bodyPr wrap="square" lIns="0" rIns="0" tIns="0" bIns="0">
            <a:spAutoFit/>
          </a:bodyPr>
          <a:lstStyle/>
          <a:p>
            <a:pPr algn="l">
              <a:lnSpc>
                <a:spcPct val="122000"/>
              </a:lnSpc>
              <a:spcAft>
                <a:spcPts val="1400"/>
              </a:spcAft>
            </a:pPr>
            <a:r>
              <a:rPr sz="2200" b="0">
                <a:solidFill>
                  <a:srgbClr val="1A1A1A"/>
                </a:solidFill>
                <a:latin typeface="Arial"/>
              </a:rPr>
              <a:t>A vehicle opens a session and the platform registers it as a governed dataset at that moment, not after the drive ends. Frames and sensor batches arrive over one API key. Robot 241 sends camera, GPS and two IMUs; the laser cart sends camera, laser state, vehicle telemetry and its own detections, and no position at all.</a:t>
            </a:r>
          </a:p>
        </p:txBody>
      </p:sp>
      <p:sp>
        <p:nvSpPr>
          <p:cNvPr id="67" name="TextBox 66"/>
          <p:cNvSpPr txBox="1"/>
          <p:nvPr/>
        </p:nvSpPr>
        <p:spPr>
          <a:xfrm>
            <a:off x="22059900" y="11411965"/>
            <a:ext cx="9989820" cy="365760"/>
          </a:xfrm>
          <a:prstGeom prst="rect">
            <a:avLst/>
          </a:prstGeom>
          <a:noFill/>
        </p:spPr>
        <p:txBody>
          <a:bodyPr wrap="square" lIns="0" rIns="0" tIns="0" bIns="0">
            <a:spAutoFit/>
          </a:bodyPr>
          <a:lstStyle/>
          <a:p>
            <a:pPr algn="l">
              <a:lnSpc>
                <a:spcPct val="95000"/>
              </a:lnSpc>
              <a:spcAft>
                <a:spcPts val="0"/>
              </a:spcAft>
            </a:pPr>
            <a:r>
              <a:rPr sz="3600" b="1">
                <a:solidFill>
                  <a:srgbClr val="1A1A1A"/>
                </a:solidFill>
                <a:latin typeface="Arial Narrow"/>
              </a:rPr>
              <a:t>On disk today</a:t>
            </a:r>
          </a:p>
        </p:txBody>
      </p:sp>
      <p:sp>
        <p:nvSpPr>
          <p:cNvPr id="68" name="Rectangle 67"/>
          <p:cNvSpPr/>
          <p:nvPr/>
        </p:nvSpPr>
        <p:spPr>
          <a:xfrm>
            <a:off x="22059900" y="12006325"/>
            <a:ext cx="998982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22059900" y="12335509"/>
            <a:ext cx="9989820" cy="365760"/>
          </a:xfrm>
          <a:prstGeom prst="rect">
            <a:avLst/>
          </a:prstGeom>
          <a:noFill/>
        </p:spPr>
        <p:txBody>
          <a:bodyPr wrap="square" lIns="0" rIns="0" tIns="0" bIns="0">
            <a:spAutoFit/>
          </a:bodyPr>
          <a:lstStyle/>
          <a:p>
            <a:pPr algn="l">
              <a:lnSpc>
                <a:spcPct val="122000"/>
              </a:lnSpc>
              <a:spcAft>
                <a:spcPts val="1400"/>
              </a:spcAft>
            </a:pPr>
            <a:r>
              <a:rPr sz="2200" b="0">
                <a:solidFill>
                  <a:srgbClr val="1A1A1A"/>
                </a:solidFill>
                <a:latin typeface="Arial"/>
              </a:rPr>
              <a:t>Two robots have put 2,686 camera frames and 91,955 telemetry rows across nine streams onto the platform, over 26 drives, with 342 m of GPS track from 1,502 fixes. None of the frames is labelled.</a:t>
            </a:r>
          </a:p>
        </p:txBody>
      </p:sp>
      <p:sp>
        <p:nvSpPr>
          <p:cNvPr id="70" name="TextBox 69"/>
          <p:cNvSpPr txBox="1"/>
          <p:nvPr/>
        </p:nvSpPr>
        <p:spPr>
          <a:xfrm>
            <a:off x="22059900" y="14102841"/>
            <a:ext cx="9989820" cy="365760"/>
          </a:xfrm>
          <a:prstGeom prst="rect">
            <a:avLst/>
          </a:prstGeom>
          <a:noFill/>
        </p:spPr>
        <p:txBody>
          <a:bodyPr wrap="square" lIns="0" rIns="0" tIns="0" bIns="0">
            <a:spAutoFit/>
          </a:bodyPr>
          <a:lstStyle/>
          <a:p>
            <a:pPr algn="l">
              <a:lnSpc>
                <a:spcPct val="95000"/>
              </a:lnSpc>
              <a:spcAft>
                <a:spcPts val="0"/>
              </a:spcAft>
            </a:pPr>
            <a:r>
              <a:rPr sz="3600" b="1">
                <a:solidFill>
                  <a:srgbClr val="1A1A1A"/>
                </a:solidFill>
                <a:latin typeface="Arial Narrow"/>
              </a:rPr>
              <a:t>More web data, less accuracy</a:t>
            </a:r>
          </a:p>
        </p:txBody>
      </p:sp>
      <p:sp>
        <p:nvSpPr>
          <p:cNvPr id="71" name="Rectangle 70"/>
          <p:cNvSpPr/>
          <p:nvPr/>
        </p:nvSpPr>
        <p:spPr>
          <a:xfrm>
            <a:off x="22059900" y="14697201"/>
            <a:ext cx="998982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22059900" y="15026385"/>
            <a:ext cx="9989820" cy="365760"/>
          </a:xfrm>
          <a:prstGeom prst="rect">
            <a:avLst/>
          </a:prstGeom>
          <a:noFill/>
        </p:spPr>
        <p:txBody>
          <a:bodyPr wrap="square" lIns="0" rIns="0" tIns="0" bIns="0">
            <a:spAutoFit/>
          </a:bodyPr>
          <a:lstStyle/>
          <a:p>
            <a:pPr algn="l">
              <a:lnSpc>
                <a:spcPct val="122000"/>
              </a:lnSpc>
              <a:spcAft>
                <a:spcPts val="1400"/>
              </a:spcAft>
            </a:pPr>
            <a:r>
              <a:rPr sz="2200" b="0">
                <a:solidFill>
                  <a:srgbClr val="1A1A1A"/>
                </a:solidFill>
                <a:latin typeface="Arial"/>
              </a:rPr>
              <a:t>Twelve times the training data costs 0.0189 on our own 1,977-image holdout, three seeds at every rung, which is 8.2 times the seed spread. The same eight checkpoints fall on a second weed dataset too. One of six audited web sources reaches a 0.90 label-precision bar.</a:t>
            </a:r>
          </a:p>
        </p:txBody>
      </p:sp>
      <p:sp>
        <p:nvSpPr>
          <p:cNvPr id="73" name="TextBox 72"/>
          <p:cNvSpPr txBox="1"/>
          <p:nvPr/>
        </p:nvSpPr>
        <p:spPr>
          <a:xfrm>
            <a:off x="22059900" y="17134585"/>
            <a:ext cx="9989820" cy="365760"/>
          </a:xfrm>
          <a:prstGeom prst="rect">
            <a:avLst/>
          </a:prstGeom>
          <a:noFill/>
        </p:spPr>
        <p:txBody>
          <a:bodyPr wrap="square" lIns="0" rIns="0" tIns="0" bIns="0">
            <a:spAutoFit/>
          </a:bodyPr>
          <a:lstStyle/>
          <a:p>
            <a:pPr algn="l">
              <a:lnSpc>
                <a:spcPct val="95000"/>
              </a:lnSpc>
              <a:spcAft>
                <a:spcPts val="0"/>
              </a:spcAft>
            </a:pPr>
            <a:r>
              <a:rPr sz="3600" b="1">
                <a:solidFill>
                  <a:srgbClr val="1A1A1A"/>
                </a:solidFill>
                <a:latin typeface="Arial Narrow"/>
              </a:rPr>
              <a:t>Talking back to a robot</a:t>
            </a:r>
          </a:p>
        </p:txBody>
      </p:sp>
      <p:sp>
        <p:nvSpPr>
          <p:cNvPr id="74" name="Rectangle 73"/>
          <p:cNvSpPr/>
          <p:nvPr/>
        </p:nvSpPr>
        <p:spPr>
          <a:xfrm>
            <a:off x="22059900" y="17728945"/>
            <a:ext cx="998982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22059900" y="18058129"/>
            <a:ext cx="9989820" cy="365760"/>
          </a:xfrm>
          <a:prstGeom prst="rect">
            <a:avLst/>
          </a:prstGeom>
          <a:noFill/>
        </p:spPr>
        <p:txBody>
          <a:bodyPr wrap="square" lIns="0" rIns="0" tIns="0" bIns="0">
            <a:spAutoFit/>
          </a:bodyPr>
          <a:lstStyle/>
          <a:p>
            <a:pPr algn="l">
              <a:lnSpc>
                <a:spcPct val="122000"/>
              </a:lnSpc>
              <a:spcAft>
                <a:spcPts val="1400"/>
              </a:spcAft>
            </a:pPr>
            <a:r>
              <a:rPr sz="2200" b="0">
                <a:solidFill>
                  <a:srgbClr val="1A1A1A"/>
                </a:solidFill>
                <a:latin typeface="Arial"/>
              </a:rPr>
              <a:t>Besides the drive relay, the platform sends a robot exactly one thing: advisory text. The rover polls for it and shows deterministic warnings about battery, current and temperature. That poll has returned 406 times. No platform code path sends an actuation command to any robot.</a:t>
            </a:r>
          </a:p>
        </p:txBody>
      </p:sp>
      <p:sp>
        <p:nvSpPr>
          <p:cNvPr id="76" name="TextBox 75"/>
          <p:cNvSpPr txBox="1"/>
          <p:nvPr/>
        </p:nvSpPr>
        <p:spPr>
          <a:xfrm>
            <a:off x="22059900" y="20166329"/>
            <a:ext cx="9989820" cy="365760"/>
          </a:xfrm>
          <a:prstGeom prst="rect">
            <a:avLst/>
          </a:prstGeom>
          <a:noFill/>
        </p:spPr>
        <p:txBody>
          <a:bodyPr wrap="square" lIns="0" rIns="0" tIns="0" bIns="0">
            <a:spAutoFit/>
          </a:bodyPr>
          <a:lstStyle/>
          <a:p>
            <a:pPr algn="l">
              <a:lnSpc>
                <a:spcPct val="95000"/>
              </a:lnSpc>
              <a:spcAft>
                <a:spcPts val="0"/>
              </a:spcAft>
            </a:pPr>
            <a:r>
              <a:rPr sz="6200" b="1">
                <a:solidFill>
                  <a:srgbClr val="1C6FB5"/>
                </a:solidFill>
                <a:latin typeface="Arial Narrow"/>
              </a:rPr>
              <a:t>26</a:t>
            </a:r>
          </a:p>
        </p:txBody>
      </p:sp>
      <p:sp>
        <p:nvSpPr>
          <p:cNvPr id="77" name="TextBox 76"/>
          <p:cNvSpPr txBox="1"/>
          <p:nvPr/>
        </p:nvSpPr>
        <p:spPr>
          <a:xfrm>
            <a:off x="22059900" y="20969477"/>
            <a:ext cx="9989820" cy="365760"/>
          </a:xfrm>
          <a:prstGeom prst="rect">
            <a:avLst/>
          </a:prstGeom>
          <a:noFill/>
        </p:spPr>
        <p:txBody>
          <a:bodyPr wrap="square" lIns="0" rIns="0" tIns="0" bIns="0">
            <a:spAutoFit/>
          </a:bodyPr>
          <a:lstStyle/>
          <a:p>
            <a:pPr algn="l">
              <a:lnSpc>
                <a:spcPct val="122000"/>
              </a:lnSpc>
              <a:spcAft>
                <a:spcPts val="600"/>
              </a:spcAft>
            </a:pPr>
            <a:r>
              <a:rPr sz="1700" b="0">
                <a:solidFill>
                  <a:srgbClr val="6A6A6A"/>
                </a:solidFill>
                <a:latin typeface="Arial"/>
              </a:rPr>
              <a:t>live drives diagnosed without being asked</a:t>
            </a:r>
          </a:p>
        </p:txBody>
      </p:sp>
      <p:sp>
        <p:nvSpPr>
          <p:cNvPr id="78" name="TextBox 77"/>
          <p:cNvSpPr txBox="1"/>
          <p:nvPr/>
        </p:nvSpPr>
        <p:spPr>
          <a:xfrm>
            <a:off x="22059900" y="21455379"/>
            <a:ext cx="9989820" cy="365760"/>
          </a:xfrm>
          <a:prstGeom prst="rect">
            <a:avLst/>
          </a:prstGeom>
          <a:noFill/>
        </p:spPr>
        <p:txBody>
          <a:bodyPr wrap="square" lIns="0" rIns="0" tIns="0" bIns="0">
            <a:spAutoFit/>
          </a:bodyPr>
          <a:lstStyle/>
          <a:p>
            <a:pPr algn="l">
              <a:lnSpc>
                <a:spcPct val="95000"/>
              </a:lnSpc>
              <a:spcAft>
                <a:spcPts val="0"/>
              </a:spcAft>
            </a:pPr>
            <a:r>
              <a:rPr sz="3600" b="1">
                <a:solidFill>
                  <a:srgbClr val="1A1A1A"/>
                </a:solidFill>
                <a:latin typeface="Arial Narrow"/>
              </a:rPr>
              <a:t>Every drive is diagnosed on arrival</a:t>
            </a:r>
          </a:p>
        </p:txBody>
      </p:sp>
      <p:sp>
        <p:nvSpPr>
          <p:cNvPr id="79" name="Rectangle 78"/>
          <p:cNvSpPr/>
          <p:nvPr/>
        </p:nvSpPr>
        <p:spPr>
          <a:xfrm>
            <a:off x="22059900" y="22049739"/>
            <a:ext cx="998982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22059900" y="22378923"/>
            <a:ext cx="9989820" cy="365760"/>
          </a:xfrm>
          <a:prstGeom prst="rect">
            <a:avLst/>
          </a:prstGeom>
          <a:noFill/>
        </p:spPr>
        <p:txBody>
          <a:bodyPr wrap="square" lIns="0" rIns="0" tIns="0" bIns="0">
            <a:spAutoFit/>
          </a:bodyPr>
          <a:lstStyle/>
          <a:p>
            <a:pPr algn="l">
              <a:lnSpc>
                <a:spcPct val="122000"/>
              </a:lnSpc>
              <a:spcAft>
                <a:spcPts val="1400"/>
              </a:spcAft>
            </a:pPr>
            <a:r>
              <a:rPr sz="2200" b="0">
                <a:solidFill>
                  <a:srgbClr val="1A1A1A"/>
                </a:solidFill>
                <a:latin typeface="Arial"/>
              </a:rPr>
              <a:t>The platform runs a fixed diagnosis over each finished session without being asked: route, noise, cross-sensor correlation, a timeline. It has done that for 26 live robot sessions and written 45 charts. A person reads the diagnosis before deciding whether the drive is worth anything.</a:t>
            </a:r>
          </a:p>
        </p:txBody>
      </p:sp>
      <p:sp>
        <p:nvSpPr>
          <p:cNvPr id="81" name="TextBox 80"/>
          <p:cNvSpPr txBox="1"/>
          <p:nvPr/>
        </p:nvSpPr>
        <p:spPr>
          <a:xfrm>
            <a:off x="22059900" y="24487123"/>
            <a:ext cx="9989820" cy="365760"/>
          </a:xfrm>
          <a:prstGeom prst="rect">
            <a:avLst/>
          </a:prstGeom>
          <a:noFill/>
        </p:spPr>
        <p:txBody>
          <a:bodyPr wrap="square" lIns="0" rIns="0" tIns="0" bIns="0">
            <a:spAutoFit/>
          </a:bodyPr>
          <a:lstStyle/>
          <a:p>
            <a:pPr algn="l">
              <a:lnSpc>
                <a:spcPct val="95000"/>
              </a:lnSpc>
              <a:spcAft>
                <a:spcPts val="0"/>
              </a:spcAft>
            </a:pPr>
            <a:r>
              <a:rPr sz="3600" b="1">
                <a:solidFill>
                  <a:srgbClr val="1A1A1A"/>
                </a:solidFill>
                <a:latin typeface="Arial Narrow"/>
              </a:rPr>
              <a:t>Auditing six web sources</a:t>
            </a:r>
          </a:p>
        </p:txBody>
      </p:sp>
      <p:sp>
        <p:nvSpPr>
          <p:cNvPr id="82" name="Rectangle 81"/>
          <p:cNvSpPr/>
          <p:nvPr/>
        </p:nvSpPr>
        <p:spPr>
          <a:xfrm>
            <a:off x="22059900" y="25081483"/>
            <a:ext cx="998982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22059900" y="25410667"/>
            <a:ext cx="9989820" cy="365760"/>
          </a:xfrm>
          <a:prstGeom prst="rect">
            <a:avLst/>
          </a:prstGeom>
          <a:noFill/>
        </p:spPr>
        <p:txBody>
          <a:bodyPr wrap="square" lIns="0" rIns="0" tIns="0" bIns="0">
            <a:spAutoFit/>
          </a:bodyPr>
          <a:lstStyle/>
          <a:p>
            <a:pPr algn="l">
              <a:lnSpc>
                <a:spcPct val="122000"/>
              </a:lnSpc>
              <a:spcAft>
                <a:spcPts val="1400"/>
              </a:spcAft>
            </a:pPr>
            <a:r>
              <a:rPr sz="2200" b="0">
                <a:solidFill>
                  <a:srgbClr val="1A1A1A"/>
                </a:solidFill>
                <a:latin typeface="Arial"/>
              </a:rPr>
              <a:t>The same probe reads 1.000 on human-labelled CottonWeedDet12, so a source at 0.184 is the data and not the instrument. Only the top source clears the bar, and it supplies 3,208 of the 13,527 audited images.</a:t>
            </a:r>
          </a:p>
        </p:txBody>
      </p:sp>
      <p:sp>
        <p:nvSpPr>
          <p:cNvPr id="84" name="TextBox 83"/>
          <p:cNvSpPr txBox="1"/>
          <p:nvPr/>
        </p:nvSpPr>
        <p:spPr>
          <a:xfrm>
            <a:off x="32552640" y="8039353"/>
            <a:ext cx="10607040" cy="365760"/>
          </a:xfrm>
          <a:prstGeom prst="rect">
            <a:avLst/>
          </a:prstGeom>
          <a:noFill/>
        </p:spPr>
        <p:txBody>
          <a:bodyPr wrap="square" lIns="0" rIns="0" tIns="0" bIns="0">
            <a:spAutoFit/>
          </a:bodyPr>
          <a:lstStyle/>
          <a:p>
            <a:pPr algn="l">
              <a:lnSpc>
                <a:spcPct val="95000"/>
              </a:lnSpc>
              <a:spcAft>
                <a:spcPts val="0"/>
              </a:spcAft>
            </a:pPr>
            <a:r>
              <a:rPr sz="6200" b="1">
                <a:solidFill>
                  <a:srgbClr val="1C6FB5"/>
                </a:solidFill>
                <a:latin typeface="Arial Narrow"/>
              </a:rPr>
              <a:t>1,389</a:t>
            </a:r>
          </a:p>
        </p:txBody>
      </p:sp>
      <p:sp>
        <p:nvSpPr>
          <p:cNvPr id="85" name="TextBox 84"/>
          <p:cNvSpPr txBox="1"/>
          <p:nvPr/>
        </p:nvSpPr>
        <p:spPr>
          <a:xfrm>
            <a:off x="32552640" y="8842502"/>
            <a:ext cx="10607040" cy="365760"/>
          </a:xfrm>
          <a:prstGeom prst="rect">
            <a:avLst/>
          </a:prstGeom>
          <a:noFill/>
        </p:spPr>
        <p:txBody>
          <a:bodyPr wrap="square" lIns="0" rIns="0" tIns="0" bIns="0">
            <a:spAutoFit/>
          </a:bodyPr>
          <a:lstStyle/>
          <a:p>
            <a:pPr algn="l">
              <a:lnSpc>
                <a:spcPct val="122000"/>
              </a:lnSpc>
              <a:spcAft>
                <a:spcPts val="600"/>
              </a:spcAft>
            </a:pPr>
            <a:r>
              <a:rPr sz="1700" b="0">
                <a:solidFill>
                  <a:srgbClr val="6A6A6A"/>
                </a:solidFill>
                <a:latin typeface="Arial"/>
              </a:rPr>
              <a:t>joystick commands through the platform</a:t>
            </a:r>
          </a:p>
        </p:txBody>
      </p:sp>
      <p:sp>
        <p:nvSpPr>
          <p:cNvPr id="86" name="TextBox 85"/>
          <p:cNvSpPr txBox="1"/>
          <p:nvPr/>
        </p:nvSpPr>
        <p:spPr>
          <a:xfrm>
            <a:off x="32552640" y="9328404"/>
            <a:ext cx="10607040" cy="365760"/>
          </a:xfrm>
          <a:prstGeom prst="rect">
            <a:avLst/>
          </a:prstGeom>
          <a:noFill/>
        </p:spPr>
        <p:txBody>
          <a:bodyPr wrap="square" lIns="0" rIns="0" tIns="0" bIns="0">
            <a:spAutoFit/>
          </a:bodyPr>
          <a:lstStyle/>
          <a:p>
            <a:pPr algn="l">
              <a:lnSpc>
                <a:spcPct val="95000"/>
              </a:lnSpc>
              <a:spcAft>
                <a:spcPts val="0"/>
              </a:spcAft>
            </a:pPr>
            <a:r>
              <a:rPr sz="3600" b="1">
                <a:solidFill>
                  <a:srgbClr val="1A1A1A"/>
                </a:solidFill>
                <a:latin typeface="Arial Narrow"/>
              </a:rPr>
              <a:t>Driving a robot from a browser</a:t>
            </a:r>
          </a:p>
        </p:txBody>
      </p:sp>
      <p:sp>
        <p:nvSpPr>
          <p:cNvPr id="87" name="Rectangle 86"/>
          <p:cNvSpPr/>
          <p:nvPr/>
        </p:nvSpPr>
        <p:spPr>
          <a:xfrm>
            <a:off x="32552640" y="9922764"/>
            <a:ext cx="1060704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32552640" y="10251948"/>
            <a:ext cx="10607040" cy="365760"/>
          </a:xfrm>
          <a:prstGeom prst="rect">
            <a:avLst/>
          </a:prstGeom>
          <a:noFill/>
        </p:spPr>
        <p:txBody>
          <a:bodyPr wrap="square" lIns="0" rIns="0" tIns="0" bIns="0">
            <a:spAutoFit/>
          </a:bodyPr>
          <a:lstStyle/>
          <a:p>
            <a:pPr algn="l">
              <a:lnSpc>
                <a:spcPct val="122000"/>
              </a:lnSpc>
              <a:spcAft>
                <a:spcPts val="1400"/>
              </a:spcAft>
            </a:pPr>
            <a:r>
              <a:rPr sz="2200" b="0">
                <a:solidFill>
                  <a:srgbClr val="1A1A1A"/>
                </a:solidFill>
                <a:latin typeface="Arial"/>
              </a:rPr>
              <a:t>A signed-in user opens the 241 project and clicks Drive. The platform reverse-proxies the robot's own console over the lab tailnet, so the rover is driven from a plain browser with no VPN client. 1,389 joystick commands have gone through that path. Two gates sit in front of it: the platform's Google login, then the robot's own password.</a:t>
            </a:r>
          </a:p>
        </p:txBody>
      </p:sp>
      <p:sp>
        <p:nvSpPr>
          <p:cNvPr id="89" name="TextBox 88"/>
          <p:cNvSpPr txBox="1"/>
          <p:nvPr/>
        </p:nvSpPr>
        <p:spPr>
          <a:xfrm>
            <a:off x="32552640" y="12701015"/>
            <a:ext cx="10607040" cy="365760"/>
          </a:xfrm>
          <a:prstGeom prst="rect">
            <a:avLst/>
          </a:prstGeom>
          <a:noFill/>
        </p:spPr>
        <p:txBody>
          <a:bodyPr wrap="square" lIns="0" rIns="0" tIns="0" bIns="0">
            <a:spAutoFit/>
          </a:bodyPr>
          <a:lstStyle/>
          <a:p>
            <a:pPr algn="l">
              <a:lnSpc>
                <a:spcPct val="95000"/>
              </a:lnSpc>
              <a:spcAft>
                <a:spcPts val="0"/>
              </a:spcAft>
            </a:pPr>
            <a:r>
              <a:rPr sz="3600" b="1">
                <a:solidFill>
                  <a:srgbClr val="1A1A1A"/>
                </a:solidFill>
                <a:latin typeface="Arial Narrow"/>
              </a:rPr>
              <a:t>Only one robot has the button</a:t>
            </a:r>
          </a:p>
        </p:txBody>
      </p:sp>
      <p:sp>
        <p:nvSpPr>
          <p:cNvPr id="90" name="Rectangle 89"/>
          <p:cNvSpPr/>
          <p:nvPr/>
        </p:nvSpPr>
        <p:spPr>
          <a:xfrm>
            <a:off x="32552640" y="13295376"/>
            <a:ext cx="1060704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32552640" y="13624559"/>
            <a:ext cx="10607040" cy="365760"/>
          </a:xfrm>
          <a:prstGeom prst="rect">
            <a:avLst/>
          </a:prstGeom>
          <a:noFill/>
        </p:spPr>
        <p:txBody>
          <a:bodyPr wrap="square" lIns="0" rIns="0" tIns="0" bIns="0">
            <a:spAutoFit/>
          </a:bodyPr>
          <a:lstStyle/>
          <a:p>
            <a:pPr algn="l">
              <a:lnSpc>
                <a:spcPct val="122000"/>
              </a:lnSpc>
              <a:spcAft>
                <a:spcPts val="1400"/>
              </a:spcAft>
            </a:pPr>
            <a:r>
              <a:rPr sz="2200" b="0">
                <a:solidFill>
                  <a:srgbClr val="1A1A1A"/>
                </a:solidFill>
                <a:latin typeface="Arial"/>
              </a:rPr>
              <a:t>The Drive button appears on the 241 project and not on the laser cart's, because the allow-list holds one target. The rover has been dark since 2026-08-28: the platform answers a drive request today with its own offline page. The cart has never been drivable from the platform.</a:t>
            </a:r>
          </a:p>
        </p:txBody>
      </p:sp>
      <p:sp>
        <p:nvSpPr>
          <p:cNvPr id="92" name="TextBox 91"/>
          <p:cNvSpPr txBox="1"/>
          <p:nvPr/>
        </p:nvSpPr>
        <p:spPr>
          <a:xfrm>
            <a:off x="32552640" y="15732760"/>
            <a:ext cx="10607040" cy="365760"/>
          </a:xfrm>
          <a:prstGeom prst="rect">
            <a:avLst/>
          </a:prstGeom>
          <a:noFill/>
        </p:spPr>
        <p:txBody>
          <a:bodyPr wrap="square" lIns="0" rIns="0" tIns="0" bIns="0">
            <a:spAutoFit/>
          </a:bodyPr>
          <a:lstStyle/>
          <a:p>
            <a:pPr algn="l">
              <a:lnSpc>
                <a:spcPct val="95000"/>
              </a:lnSpc>
              <a:spcAft>
                <a:spcPts val="0"/>
              </a:spcAft>
            </a:pPr>
            <a:r>
              <a:rPr sz="3600" b="1">
                <a:solidFill>
                  <a:srgbClr val="1A1A1A"/>
                </a:solidFill>
                <a:latin typeface="Arial Narrow"/>
              </a:rPr>
              <a:t>Any research field is a project</a:t>
            </a:r>
          </a:p>
        </p:txBody>
      </p:sp>
      <p:sp>
        <p:nvSpPr>
          <p:cNvPr id="93" name="Rectangle 92"/>
          <p:cNvSpPr/>
          <p:nvPr/>
        </p:nvSpPr>
        <p:spPr>
          <a:xfrm>
            <a:off x="32552640" y="16327119"/>
            <a:ext cx="1060704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32552640" y="16656303"/>
            <a:ext cx="10607040" cy="365760"/>
          </a:xfrm>
          <a:prstGeom prst="rect">
            <a:avLst/>
          </a:prstGeom>
          <a:noFill/>
        </p:spPr>
        <p:txBody>
          <a:bodyPr wrap="square" lIns="0" rIns="0" tIns="0" bIns="0">
            <a:spAutoFit/>
          </a:bodyPr>
          <a:lstStyle/>
          <a:p>
            <a:pPr algn="l">
              <a:lnSpc>
                <a:spcPct val="122000"/>
              </a:lnSpc>
              <a:spcAft>
                <a:spcPts val="1400"/>
              </a:spcAft>
            </a:pPr>
            <a:r>
              <a:rPr sz="2200" b="0">
                <a:solidFill>
                  <a:srgbClr val="1A1A1A"/>
                </a:solidFill>
                <a:latin typeface="Arial"/>
              </a:rPr>
              <a:t>A lab member opens a project for any data type and any field, uploads images, video or sensor logs, and gets an automatic diagnosis before choosing what to do next. Weed detection is one project on this platform. The 241 rover, the laser cart and a Unitree humanoid each have their own.</a:t>
            </a:r>
          </a:p>
        </p:txBody>
      </p:sp>
      <p:sp>
        <p:nvSpPr>
          <p:cNvPr id="95" name="TextBox 94"/>
          <p:cNvSpPr txBox="1"/>
          <p:nvPr/>
        </p:nvSpPr>
        <p:spPr>
          <a:xfrm>
            <a:off x="32552640" y="18764504"/>
            <a:ext cx="10607040" cy="365760"/>
          </a:xfrm>
          <a:prstGeom prst="rect">
            <a:avLst/>
          </a:prstGeom>
          <a:noFill/>
        </p:spPr>
        <p:txBody>
          <a:bodyPr wrap="square" lIns="0" rIns="0" tIns="0" bIns="0">
            <a:spAutoFit/>
          </a:bodyPr>
          <a:lstStyle/>
          <a:p>
            <a:pPr algn="l">
              <a:lnSpc>
                <a:spcPct val="95000"/>
              </a:lnSpc>
              <a:spcAft>
                <a:spcPts val="0"/>
              </a:spcAft>
            </a:pPr>
            <a:r>
              <a:rPr sz="3600" b="1">
                <a:solidFill>
                  <a:srgbClr val="1A1A1A"/>
                </a:solidFill>
                <a:latin typeface="Arial Narrow"/>
              </a:rPr>
              <a:t>Code the agent writes runs fenced in</a:t>
            </a:r>
          </a:p>
        </p:txBody>
      </p:sp>
      <p:sp>
        <p:nvSpPr>
          <p:cNvPr id="96" name="Rectangle 95"/>
          <p:cNvSpPr/>
          <p:nvPr/>
        </p:nvSpPr>
        <p:spPr>
          <a:xfrm>
            <a:off x="32552640" y="19358864"/>
            <a:ext cx="1060704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32552640" y="19688047"/>
            <a:ext cx="10607040" cy="365760"/>
          </a:xfrm>
          <a:prstGeom prst="rect">
            <a:avLst/>
          </a:prstGeom>
          <a:noFill/>
        </p:spPr>
        <p:txBody>
          <a:bodyPr wrap="square" lIns="0" rIns="0" tIns="0" bIns="0">
            <a:spAutoFit/>
          </a:bodyPr>
          <a:lstStyle/>
          <a:p>
            <a:pPr algn="l">
              <a:lnSpc>
                <a:spcPct val="122000"/>
              </a:lnSpc>
              <a:spcAft>
                <a:spcPts val="1400"/>
              </a:spcAft>
            </a:pPr>
            <a:r>
              <a:rPr sz="2200" b="0">
                <a:solidFill>
                  <a:srgbClr val="1A1A1A"/>
                </a:solidFill>
                <a:latin typeface="Arial"/>
              </a:rPr>
              <a:t>Generated code passes an import whitelist and an AST check before it runs, with no network and no file writes, 15 seconds of CPU, 1.5 GB of memory and a 25 second wall clock. A user can edit the agent's code or paste their own and re-run it in the same fence.</a:t>
            </a:r>
          </a:p>
        </p:txBody>
      </p:sp>
      <p:sp>
        <p:nvSpPr>
          <p:cNvPr id="98" name="TextBox 97"/>
          <p:cNvSpPr txBox="1"/>
          <p:nvPr/>
        </p:nvSpPr>
        <p:spPr>
          <a:xfrm>
            <a:off x="32552640" y="21796248"/>
            <a:ext cx="10607040" cy="365760"/>
          </a:xfrm>
          <a:prstGeom prst="rect">
            <a:avLst/>
          </a:prstGeom>
          <a:noFill/>
        </p:spPr>
        <p:txBody>
          <a:bodyPr wrap="square" lIns="0" rIns="0" tIns="0" bIns="0">
            <a:spAutoFit/>
          </a:bodyPr>
          <a:lstStyle/>
          <a:p>
            <a:pPr algn="l">
              <a:lnSpc>
                <a:spcPct val="95000"/>
              </a:lnSpc>
              <a:spcAft>
                <a:spcPts val="0"/>
              </a:spcAft>
            </a:pPr>
            <a:r>
              <a:rPr sz="6200" b="1">
                <a:solidFill>
                  <a:srgbClr val="1C6FB5"/>
                </a:solidFill>
                <a:latin typeface="Arial Narrow"/>
              </a:rPr>
              <a:t>0</a:t>
            </a:r>
          </a:p>
        </p:txBody>
      </p:sp>
      <p:sp>
        <p:nvSpPr>
          <p:cNvPr id="99" name="TextBox 98"/>
          <p:cNvSpPr txBox="1"/>
          <p:nvPr/>
        </p:nvSpPr>
        <p:spPr>
          <a:xfrm>
            <a:off x="32552640" y="22599396"/>
            <a:ext cx="10607040" cy="365760"/>
          </a:xfrm>
          <a:prstGeom prst="rect">
            <a:avLst/>
          </a:prstGeom>
          <a:noFill/>
        </p:spPr>
        <p:txBody>
          <a:bodyPr wrap="square" lIns="0" rIns="0" tIns="0" bIns="0">
            <a:spAutoFit/>
          </a:bodyPr>
          <a:lstStyle/>
          <a:p>
            <a:pPr algn="l">
              <a:lnSpc>
                <a:spcPct val="122000"/>
              </a:lnSpc>
              <a:spcAft>
                <a:spcPts val="600"/>
              </a:spcAft>
            </a:pPr>
            <a:r>
              <a:rPr sz="1700" b="0">
                <a:solidFill>
                  <a:srgbClr val="6A6A6A"/>
                </a:solidFill>
                <a:latin typeface="Arial"/>
              </a:rPr>
              <a:t>times the laser has been fired by the platform</a:t>
            </a:r>
          </a:p>
        </p:txBody>
      </p:sp>
      <p:sp>
        <p:nvSpPr>
          <p:cNvPr id="100" name="TextBox 99"/>
          <p:cNvSpPr txBox="1"/>
          <p:nvPr/>
        </p:nvSpPr>
        <p:spPr>
          <a:xfrm>
            <a:off x="32552640" y="23085298"/>
            <a:ext cx="10607040" cy="365760"/>
          </a:xfrm>
          <a:prstGeom prst="rect">
            <a:avLst/>
          </a:prstGeom>
          <a:noFill/>
        </p:spPr>
        <p:txBody>
          <a:bodyPr wrap="square" lIns="0" rIns="0" tIns="0" bIns="0">
            <a:spAutoFit/>
          </a:bodyPr>
          <a:lstStyle/>
          <a:p>
            <a:pPr algn="l">
              <a:lnSpc>
                <a:spcPct val="95000"/>
              </a:lnSpc>
              <a:spcAft>
                <a:spcPts val="0"/>
              </a:spcAft>
            </a:pPr>
            <a:r>
              <a:rPr sz="3600" b="1">
                <a:solidFill>
                  <a:srgbClr val="1A1A1A"/>
                </a:solidFill>
                <a:latin typeface="Arial Narrow"/>
              </a:rPr>
              <a:t>Laser on, never once at a target</a:t>
            </a:r>
          </a:p>
        </p:txBody>
      </p:sp>
      <p:sp>
        <p:nvSpPr>
          <p:cNvPr id="101" name="Rectangle 100"/>
          <p:cNvSpPr/>
          <p:nvPr/>
        </p:nvSpPr>
        <p:spPr>
          <a:xfrm>
            <a:off x="32552640" y="23679657"/>
            <a:ext cx="1060704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32552640" y="24008841"/>
            <a:ext cx="10607040" cy="365760"/>
          </a:xfrm>
          <a:prstGeom prst="rect">
            <a:avLst/>
          </a:prstGeom>
          <a:noFill/>
        </p:spPr>
        <p:txBody>
          <a:bodyPr wrap="square" lIns="0" rIns="0" tIns="0" bIns="0">
            <a:spAutoFit/>
          </a:bodyPr>
          <a:lstStyle/>
          <a:p>
            <a:pPr algn="l">
              <a:lnSpc>
                <a:spcPct val="122000"/>
              </a:lnSpc>
              <a:spcAft>
                <a:spcPts val="1400"/>
              </a:spcAft>
            </a:pPr>
            <a:r>
              <a:rPr sz="2200" b="0">
                <a:solidFill>
                  <a:srgbClr val="1A1A1A"/>
                </a:solidFill>
                <a:latin typeface="Arial"/>
              </a:rPr>
              <a:t>The cart's own operator switched the laser on during three of eight archived sessions. The platform recorded 3379 laser rows and 216 of them have the laser enabled. Every one of those 216 is in OBSERVATION phase, with no target. The laser has never been armed, aimed or fired by the platform.</a:t>
            </a:r>
          </a:p>
        </p:txBody>
      </p:sp>
      <p:sp>
        <p:nvSpPr>
          <p:cNvPr id="103" name="Rectangle 102"/>
          <p:cNvSpPr/>
          <p:nvPr/>
        </p:nvSpPr>
        <p:spPr>
          <a:xfrm>
            <a:off x="731520" y="30632400"/>
            <a:ext cx="42428160" cy="20116"/>
          </a:xfrm>
          <a:prstGeom prst="rect">
            <a:avLst/>
          </a:prstGeom>
          <a:solidFill>
            <a:srgbClr val="D5D5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TextBox 103"/>
          <p:cNvSpPr txBox="1"/>
          <p:nvPr/>
        </p:nvSpPr>
        <p:spPr>
          <a:xfrm>
            <a:off x="731520" y="30861000"/>
            <a:ext cx="13837920" cy="365760"/>
          </a:xfrm>
          <a:prstGeom prst="rect">
            <a:avLst/>
          </a:prstGeom>
          <a:noFill/>
        </p:spPr>
        <p:txBody>
          <a:bodyPr wrap="square" lIns="0" rIns="0" tIns="0" bIns="0">
            <a:spAutoFit/>
          </a:bodyPr>
          <a:lstStyle/>
          <a:p>
            <a:pPr algn="l">
              <a:lnSpc>
                <a:spcPct val="122000"/>
              </a:lnSpc>
              <a:spcAft>
                <a:spcPts val="1200"/>
              </a:spcAft>
            </a:pPr>
            <a:r>
              <a:rPr sz="1700" b="0">
                <a:solidFill>
                  <a:srgbClr val="6A6A6A"/>
                </a:solidFill>
                <a:latin typeface="Arial"/>
              </a:rPr>
              <a:t>Standing today. The collector and trainer are paused after a stop-loss on 2026-08-29. The rover has been off the tailnet since then and the platform answers a drive request with its offline page. The supervisor is advisory. None of the 2,686 frames is labelled.</a:t>
            </a:r>
          </a:p>
        </p:txBody>
      </p:sp>
      <p:sp>
        <p:nvSpPr>
          <p:cNvPr id="105" name="TextBox 104"/>
          <p:cNvSpPr txBox="1"/>
          <p:nvPr/>
        </p:nvSpPr>
        <p:spPr>
          <a:xfrm>
            <a:off x="15026640" y="30861000"/>
            <a:ext cx="13837920" cy="365760"/>
          </a:xfrm>
          <a:prstGeom prst="rect">
            <a:avLst/>
          </a:prstGeom>
          <a:noFill/>
        </p:spPr>
        <p:txBody>
          <a:bodyPr wrap="square" lIns="0" rIns="0" tIns="0" bIns="0">
            <a:spAutoFit/>
          </a:bodyPr>
          <a:lstStyle/>
          <a:p>
            <a:pPr algn="l">
              <a:lnSpc>
                <a:spcPct val="122000"/>
              </a:lnSpc>
              <a:spcAft>
                <a:spcPts val="1200"/>
              </a:spcAft>
            </a:pPr>
            <a:r>
              <a:rPr sz="1700" b="0">
                <a:solidFill>
                  <a:srgbClr val="6A6A6A"/>
                </a:solidFill>
                <a:latin typeface="Arial"/>
              </a:rPr>
              <a:t>How the numbers were made. Most in-domain numbers are mAP50-95 on the same 1,977 images under Ultralytics. RF-DETR is pycocotools and the zero-shot column is mAP50 on the 848-image split; neither is differenced against the rest. That holdout is also the validation set during training, so every mAP here is a run's best epoch.</a:t>
            </a:r>
          </a:p>
        </p:txBody>
      </p:sp>
      <p:sp>
        <p:nvSpPr>
          <p:cNvPr id="106" name="TextBox 105"/>
          <p:cNvSpPr txBox="1"/>
          <p:nvPr/>
        </p:nvSpPr>
        <p:spPr>
          <a:xfrm>
            <a:off x="29321759" y="30861000"/>
            <a:ext cx="13837920" cy="365760"/>
          </a:xfrm>
          <a:prstGeom prst="rect">
            <a:avLst/>
          </a:prstGeom>
          <a:noFill/>
        </p:spPr>
        <p:txBody>
          <a:bodyPr wrap="square" lIns="0" rIns="0" tIns="0" bIns="0">
            <a:spAutoFit/>
          </a:bodyPr>
          <a:lstStyle/>
          <a:p>
            <a:pPr algn="l">
              <a:lnSpc>
                <a:spcPct val="122000"/>
              </a:lnSpc>
              <a:spcAft>
                <a:spcPts val="1200"/>
              </a:spcAft>
            </a:pPr>
            <a:r>
              <a:rPr sz="1700" b="0">
                <a:solidFill>
                  <a:srgbClr val="6A6A6A"/>
                </a:solidFill>
                <a:latin typeface="Arial"/>
              </a:rPr>
              <a:t>Numbers we withdrew. 0.910 was a data leak, found by a content-level check we built after publishing it. 0.9033 is the best of four unseeded runs and only one of the four crossed 0.90. An earlier reading of the ladder as a flat curve is retracted.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Middle Tennessee State University, Murfreesboro, TN, USA</dc:title>
  <dc:subject/>
  <dc:creator>Harry He</dc:creator>
  <cp:keywords/>
  <dc:description>generated using python-pptx</dc:description>
  <cp:lastModifiedBy>Harry He</cp:lastModifiedBy>
  <cp:revision>1</cp:revision>
  <dcterms:created xsi:type="dcterms:W3CDTF">2013-01-27T09:14:16Z</dcterms:created>
  <dcterms:modified xsi:type="dcterms:W3CDTF">2013-01-27T09:15:58Z</dcterms:modified>
  <cp:category/>
</cp:coreProperties>
</file>