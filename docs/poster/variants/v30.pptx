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10200" b="1">
                <a:solidFill>
                  <a:srgbClr val="1A1A1A"/>
                </a:solidFill>
                <a:latin typeface="Arial Narrow"/>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1A1A1A"/>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A6A6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A1A1A"/>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79592"/>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2,686</a:t>
            </a:r>
          </a:p>
        </p:txBody>
      </p:sp>
      <p:sp>
        <p:nvSpPr>
          <p:cNvPr id="10" name="TextBox 9"/>
          <p:cNvSpPr txBox="1"/>
          <p:nvPr/>
        </p:nvSpPr>
        <p:spPr>
          <a:xfrm>
            <a:off x="731520"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A1A1A"/>
                </a:solidFill>
                <a:latin typeface="Arial"/>
              </a:rPr>
              <a:t>camera frames</a:t>
            </a:r>
          </a:p>
        </p:txBody>
      </p:sp>
      <p:sp>
        <p:nvSpPr>
          <p:cNvPr id="11" name="TextBox 10"/>
          <p:cNvSpPr txBox="1"/>
          <p:nvPr/>
        </p:nvSpPr>
        <p:spPr>
          <a:xfrm>
            <a:off x="731520"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A6A6A"/>
                </a:solidFill>
                <a:latin typeface="Arial"/>
              </a:rPr>
              <a:t>26 drives, 2 robots, 0 labelled</a:t>
            </a:r>
          </a:p>
        </p:txBody>
      </p:sp>
      <p:sp>
        <p:nvSpPr>
          <p:cNvPr id="12" name="TextBox 11"/>
          <p:cNvSpPr txBox="1"/>
          <p:nvPr/>
        </p:nvSpPr>
        <p:spPr>
          <a:xfrm>
            <a:off x="9317736"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91,955</a:t>
            </a:r>
          </a:p>
        </p:txBody>
      </p:sp>
      <p:sp>
        <p:nvSpPr>
          <p:cNvPr id="13" name="TextBox 12"/>
          <p:cNvSpPr txBox="1"/>
          <p:nvPr/>
        </p:nvSpPr>
        <p:spPr>
          <a:xfrm>
            <a:off x="9317736"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A1A1A"/>
                </a:solidFill>
                <a:latin typeface="Arial"/>
              </a:rPr>
              <a:t>telemetry rows</a:t>
            </a:r>
          </a:p>
        </p:txBody>
      </p:sp>
      <p:sp>
        <p:nvSpPr>
          <p:cNvPr id="14" name="TextBox 13"/>
          <p:cNvSpPr txBox="1"/>
          <p:nvPr/>
        </p:nvSpPr>
        <p:spPr>
          <a:xfrm>
            <a:off x="9317736"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A6A6A"/>
                </a:solidFill>
                <a:latin typeface="Arial"/>
              </a:rPr>
              <a:t>nine streams, counted line by line</a:t>
            </a:r>
          </a:p>
        </p:txBody>
      </p:sp>
      <p:sp>
        <p:nvSpPr>
          <p:cNvPr id="15" name="TextBox 14"/>
          <p:cNvSpPr txBox="1"/>
          <p:nvPr/>
        </p:nvSpPr>
        <p:spPr>
          <a:xfrm>
            <a:off x="17903952"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342 m</a:t>
            </a:r>
          </a:p>
        </p:txBody>
      </p:sp>
      <p:sp>
        <p:nvSpPr>
          <p:cNvPr id="16" name="TextBox 15"/>
          <p:cNvSpPr txBox="1"/>
          <p:nvPr/>
        </p:nvSpPr>
        <p:spPr>
          <a:xfrm>
            <a:off x="17903952"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A1A1A"/>
                </a:solidFill>
                <a:latin typeface="Arial"/>
              </a:rPr>
              <a:t>of GPS track</a:t>
            </a:r>
          </a:p>
        </p:txBody>
      </p:sp>
      <p:sp>
        <p:nvSpPr>
          <p:cNvPr id="17" name="TextBox 16"/>
          <p:cNvSpPr txBox="1"/>
          <p:nvPr/>
        </p:nvSpPr>
        <p:spPr>
          <a:xfrm>
            <a:off x="17903952"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A6A6A"/>
                </a:solidFill>
                <a:latin typeface="Arial"/>
              </a:rPr>
              <a:t>1,502 fixes over 18 drives</a:t>
            </a:r>
          </a:p>
        </p:txBody>
      </p:sp>
      <p:sp>
        <p:nvSpPr>
          <p:cNvPr id="18" name="TextBox 17"/>
          <p:cNvSpPr txBox="1"/>
          <p:nvPr/>
        </p:nvSpPr>
        <p:spPr>
          <a:xfrm>
            <a:off x="26490168"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27</a:t>
            </a:r>
          </a:p>
        </p:txBody>
      </p:sp>
      <p:sp>
        <p:nvSpPr>
          <p:cNvPr id="19" name="TextBox 18"/>
          <p:cNvSpPr txBox="1"/>
          <p:nvPr/>
        </p:nvSpPr>
        <p:spPr>
          <a:xfrm>
            <a:off x="26490168"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A1A1A"/>
                </a:solidFill>
                <a:latin typeface="Arial"/>
              </a:rPr>
              <a:t>distinct models run</a:t>
            </a:r>
          </a:p>
        </p:txBody>
      </p:sp>
      <p:sp>
        <p:nvSpPr>
          <p:cNvPr id="20" name="TextBox 19"/>
          <p:cNvSpPr txBox="1"/>
          <p:nvPr/>
        </p:nvSpPr>
        <p:spPr>
          <a:xfrm>
            <a:off x="26490168"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A6A6A"/>
                </a:solidFill>
                <a:latin typeface="Arial"/>
              </a:rPr>
              <a:t>four families, one deployed</a:t>
            </a:r>
          </a:p>
        </p:txBody>
      </p:sp>
      <p:sp>
        <p:nvSpPr>
          <p:cNvPr id="21" name="TextBox 20"/>
          <p:cNvSpPr txBox="1"/>
          <p:nvPr/>
        </p:nvSpPr>
        <p:spPr>
          <a:xfrm>
            <a:off x="35076384" y="6080759"/>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C6FB5"/>
                </a:solidFill>
                <a:latin typeface="Arial Narrow"/>
              </a:rPr>
              <a:t>0</a:t>
            </a:r>
          </a:p>
        </p:txBody>
      </p:sp>
      <p:sp>
        <p:nvSpPr>
          <p:cNvPr id="22" name="TextBox 21"/>
          <p:cNvSpPr txBox="1"/>
          <p:nvPr/>
        </p:nvSpPr>
        <p:spPr>
          <a:xfrm>
            <a:off x="35076384" y="6806183"/>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A1A1A"/>
                </a:solidFill>
                <a:latin typeface="Arial"/>
              </a:rPr>
              <a:t>robot frames labelled</a:t>
            </a:r>
          </a:p>
        </p:txBody>
      </p:sp>
      <p:sp>
        <p:nvSpPr>
          <p:cNvPr id="23" name="TextBox 22"/>
          <p:cNvSpPr txBox="1"/>
          <p:nvPr/>
        </p:nvSpPr>
        <p:spPr>
          <a:xfrm>
            <a:off x="35076384" y="7172451"/>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6A6A6A"/>
                </a:solidFill>
                <a:latin typeface="Arial"/>
              </a:rPr>
              <a:t>the whole archive, so far</a:t>
            </a:r>
          </a:p>
        </p:txBody>
      </p:sp>
      <p:sp>
        <p:nvSpPr>
          <p:cNvPr id="24" name="Rectangle 23"/>
          <p:cNvSpPr/>
          <p:nvPr/>
        </p:nvSpPr>
        <p:spPr>
          <a:xfrm>
            <a:off x="731520" y="7545577"/>
            <a:ext cx="42428160" cy="23774"/>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803935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One platform for every robot the lab owns</a:t>
            </a:r>
          </a:p>
        </p:txBody>
      </p:sp>
      <p:sp>
        <p:nvSpPr>
          <p:cNvPr id="26" name="Rectangle 25"/>
          <p:cNvSpPr/>
          <p:nvPr/>
        </p:nvSpPr>
        <p:spPr>
          <a:xfrm>
            <a:off x="731520" y="863371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9628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1411965"/>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Ask a dataset what it is good for</a:t>
            </a:r>
          </a:p>
        </p:txBody>
      </p:sp>
      <p:sp>
        <p:nvSpPr>
          <p:cNvPr id="29" name="Rectangle 28"/>
          <p:cNvSpPr/>
          <p:nvPr/>
        </p:nvSpPr>
        <p:spPr>
          <a:xfrm>
            <a:off x="731520" y="1200632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233550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1" name="TextBox 30"/>
          <p:cNvSpPr txBox="1"/>
          <p:nvPr/>
        </p:nvSpPr>
        <p:spPr>
          <a:xfrm>
            <a:off x="731520" y="14443709"/>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Asked something it had never seen</a:t>
            </a:r>
          </a:p>
        </p:txBody>
      </p:sp>
      <p:sp>
        <p:nvSpPr>
          <p:cNvPr id="32" name="Rectangle 31"/>
          <p:cNvSpPr/>
          <p:nvPr/>
        </p:nvSpPr>
        <p:spPr>
          <a:xfrm>
            <a:off x="731520" y="1503806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1536725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4" name="TextBox 33"/>
          <p:cNvSpPr txBox="1"/>
          <p:nvPr/>
        </p:nvSpPr>
        <p:spPr>
          <a:xfrm>
            <a:off x="731520" y="17816321"/>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Adding the next robot</a:t>
            </a:r>
          </a:p>
        </p:txBody>
      </p:sp>
      <p:sp>
        <p:nvSpPr>
          <p:cNvPr id="35" name="Rectangle 34"/>
          <p:cNvSpPr/>
          <p:nvPr/>
        </p:nvSpPr>
        <p:spPr>
          <a:xfrm>
            <a:off x="731520" y="18410681"/>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873986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37" name="TextBox 36"/>
          <p:cNvSpPr txBox="1"/>
          <p:nvPr/>
        </p:nvSpPr>
        <p:spPr>
          <a:xfrm>
            <a:off x="731520" y="2118893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Reading the loop's own artifacts</a:t>
            </a:r>
          </a:p>
        </p:txBody>
      </p:sp>
      <p:sp>
        <p:nvSpPr>
          <p:cNvPr id="38" name="Rectangle 37"/>
          <p:cNvSpPr/>
          <p:nvPr/>
        </p:nvSpPr>
        <p:spPr>
          <a:xfrm>
            <a:off x="731520" y="2178329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2211247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40" name="TextBox 39"/>
          <p:cNvSpPr txBox="1"/>
          <p:nvPr/>
        </p:nvSpPr>
        <p:spPr>
          <a:xfrm>
            <a:off x="731520" y="24561545"/>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Not yet pointed at the drives</a:t>
            </a:r>
          </a:p>
        </p:txBody>
      </p:sp>
      <p:sp>
        <p:nvSpPr>
          <p:cNvPr id="41" name="Rectangle 40"/>
          <p:cNvSpPr/>
          <p:nvPr/>
        </p:nvSpPr>
        <p:spPr>
          <a:xfrm>
            <a:off x="731520" y="2515590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2548508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43" name="TextBox 42"/>
          <p:cNvSpPr txBox="1"/>
          <p:nvPr/>
        </p:nvSpPr>
        <p:spPr>
          <a:xfrm>
            <a:off x="11704320" y="803935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Robots on the platform today</a:t>
            </a:r>
          </a:p>
        </p:txBody>
      </p:sp>
      <p:sp>
        <p:nvSpPr>
          <p:cNvPr id="44" name="Rectangle 43"/>
          <p:cNvSpPr/>
          <p:nvPr/>
        </p:nvSpPr>
        <p:spPr>
          <a:xfrm>
            <a:off x="11704320" y="863371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04320" y="896289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6" name="TextBox 45"/>
          <p:cNvSpPr txBox="1"/>
          <p:nvPr/>
        </p:nvSpPr>
        <p:spPr>
          <a:xfrm>
            <a:off x="11704320" y="1141196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Four frames, as recorded</a:t>
            </a:r>
          </a:p>
        </p:txBody>
      </p:sp>
      <p:sp>
        <p:nvSpPr>
          <p:cNvPr id="47" name="Rectangle 46"/>
          <p:cNvSpPr/>
          <p:nvPr/>
        </p:nvSpPr>
        <p:spPr>
          <a:xfrm>
            <a:off x="11704320" y="1200632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704320" y="1233550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Nothing here is enhanced and nothing is labelled. The rectangle in the cart's down camera is a fixed work-zone overlay: it sits at the same pixels on frames with no vegetation in them at all.</a:t>
            </a:r>
          </a:p>
        </p:txBody>
      </p:sp>
      <p:sp>
        <p:nvSpPr>
          <p:cNvPr id="49" name="TextBox 48"/>
          <p:cNvSpPr txBox="1"/>
          <p:nvPr/>
        </p:nvSpPr>
        <p:spPr>
          <a:xfrm>
            <a:off x="11704320" y="1410284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Which decisions a model makes</a:t>
            </a:r>
          </a:p>
        </p:txBody>
      </p:sp>
      <p:sp>
        <p:nvSpPr>
          <p:cNvPr id="50" name="Rectangle 49"/>
          <p:cNvSpPr/>
          <p:nvPr/>
        </p:nvSpPr>
        <p:spPr>
          <a:xfrm>
            <a:off x="11704320" y="1469720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04320" y="1502638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2" name="TextBox 51"/>
          <p:cNvSpPr txBox="1"/>
          <p:nvPr/>
        </p:nvSpPr>
        <p:spPr>
          <a:xfrm>
            <a:off x="11704320" y="1747545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213 seconds in one crop plot</a:t>
            </a:r>
          </a:p>
        </p:txBody>
      </p:sp>
      <p:sp>
        <p:nvSpPr>
          <p:cNvPr id="53" name="Rectangle 52"/>
          <p:cNvSpPr/>
          <p:nvPr/>
        </p:nvSpPr>
        <p:spPr>
          <a:xfrm>
            <a:off x="11704320" y="1806981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0" y="1839899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longest single pass the platform holds: 141 m of track from 211 fixes, with heading from the IMU over the same 213 seconds. The platform holds 18 passes that carry position.</a:t>
            </a:r>
          </a:p>
        </p:txBody>
      </p:sp>
      <p:sp>
        <p:nvSpPr>
          <p:cNvPr id="55" name="TextBox 54"/>
          <p:cNvSpPr txBox="1"/>
          <p:nvPr/>
        </p:nvSpPr>
        <p:spPr>
          <a:xfrm>
            <a:off x="11704320" y="20166329"/>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Back on our own rows</a:t>
            </a:r>
          </a:p>
        </p:txBody>
      </p:sp>
      <p:sp>
        <p:nvSpPr>
          <p:cNvPr id="56" name="Rectangle 55"/>
          <p:cNvSpPr/>
          <p:nvPr/>
        </p:nvSpPr>
        <p:spPr>
          <a:xfrm>
            <a:off x="11704320" y="2076068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04320" y="21089873"/>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58" name="TextBox 57"/>
          <p:cNvSpPr txBox="1"/>
          <p:nvPr/>
        </p:nvSpPr>
        <p:spPr>
          <a:xfrm>
            <a:off x="11704320" y="2319807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Who notices when it breaks</a:t>
            </a:r>
          </a:p>
        </p:txBody>
      </p:sp>
      <p:sp>
        <p:nvSpPr>
          <p:cNvPr id="59" name="Rectangle 58"/>
          <p:cNvSpPr/>
          <p:nvPr/>
        </p:nvSpPr>
        <p:spPr>
          <a:xfrm>
            <a:off x="11704320" y="2379243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704320" y="2412161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61" name="TextBox 60"/>
          <p:cNvSpPr txBox="1"/>
          <p:nvPr/>
        </p:nvSpPr>
        <p:spPr>
          <a:xfrm>
            <a:off x="22059900" y="803935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 drive becomes a dataset as it opens</a:t>
            </a:r>
          </a:p>
        </p:txBody>
      </p:sp>
      <p:sp>
        <p:nvSpPr>
          <p:cNvPr id="62" name="Rectangle 61"/>
          <p:cNvSpPr/>
          <p:nvPr/>
        </p:nvSpPr>
        <p:spPr>
          <a:xfrm>
            <a:off x="22059900" y="863371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059900" y="896289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4" name="TextBox 63"/>
          <p:cNvSpPr txBox="1"/>
          <p:nvPr/>
        </p:nvSpPr>
        <p:spPr>
          <a:xfrm>
            <a:off x="22059900" y="1141196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On disk today</a:t>
            </a:r>
          </a:p>
        </p:txBody>
      </p:sp>
      <p:sp>
        <p:nvSpPr>
          <p:cNvPr id="65" name="Rectangle 64"/>
          <p:cNvSpPr/>
          <p:nvPr/>
        </p:nvSpPr>
        <p:spPr>
          <a:xfrm>
            <a:off x="22059900" y="1200632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059900" y="1233550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67" name="TextBox 66"/>
          <p:cNvSpPr txBox="1"/>
          <p:nvPr/>
        </p:nvSpPr>
        <p:spPr>
          <a:xfrm>
            <a:off x="22059900" y="1410284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More web data, less accuracy</a:t>
            </a:r>
          </a:p>
        </p:txBody>
      </p:sp>
      <p:sp>
        <p:nvSpPr>
          <p:cNvPr id="68" name="Rectangle 67"/>
          <p:cNvSpPr/>
          <p:nvPr/>
        </p:nvSpPr>
        <p:spPr>
          <a:xfrm>
            <a:off x="22059900" y="1469720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059900" y="1502638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70" name="TextBox 69"/>
          <p:cNvSpPr txBox="1"/>
          <p:nvPr/>
        </p:nvSpPr>
        <p:spPr>
          <a:xfrm>
            <a:off x="22059900" y="1713458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Talking back to a robot</a:t>
            </a:r>
          </a:p>
        </p:txBody>
      </p:sp>
      <p:sp>
        <p:nvSpPr>
          <p:cNvPr id="71" name="Rectangle 70"/>
          <p:cNvSpPr/>
          <p:nvPr/>
        </p:nvSpPr>
        <p:spPr>
          <a:xfrm>
            <a:off x="22059900" y="1772894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059900" y="1805812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73" name="TextBox 72"/>
          <p:cNvSpPr txBox="1"/>
          <p:nvPr/>
        </p:nvSpPr>
        <p:spPr>
          <a:xfrm>
            <a:off x="22059900" y="20166329"/>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Every drive is diagnosed on arrival</a:t>
            </a:r>
          </a:p>
        </p:txBody>
      </p:sp>
      <p:sp>
        <p:nvSpPr>
          <p:cNvPr id="74" name="Rectangle 73"/>
          <p:cNvSpPr/>
          <p:nvPr/>
        </p:nvSpPr>
        <p:spPr>
          <a:xfrm>
            <a:off x="22059900" y="20760689"/>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059900" y="21089873"/>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76" name="TextBox 75"/>
          <p:cNvSpPr txBox="1"/>
          <p:nvPr/>
        </p:nvSpPr>
        <p:spPr>
          <a:xfrm>
            <a:off x="22059900" y="2319807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Auditing six web sources</a:t>
            </a:r>
          </a:p>
        </p:txBody>
      </p:sp>
      <p:sp>
        <p:nvSpPr>
          <p:cNvPr id="77" name="Rectangle 76"/>
          <p:cNvSpPr/>
          <p:nvPr/>
        </p:nvSpPr>
        <p:spPr>
          <a:xfrm>
            <a:off x="22059900" y="2379243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2059900" y="2412161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same probe reads 1.000 on human-labelled CottonWeedDet12, so a source at 0.184 is the data and not the instrument. Only the top source clears the bar, and it supplies 3,208 of the 13,527 audited images.</a:t>
            </a:r>
          </a:p>
        </p:txBody>
      </p:sp>
      <p:sp>
        <p:nvSpPr>
          <p:cNvPr id="79" name="TextBox 78"/>
          <p:cNvSpPr txBox="1"/>
          <p:nvPr/>
        </p:nvSpPr>
        <p:spPr>
          <a:xfrm>
            <a:off x="32552640" y="803935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Driving a robot from a browser</a:t>
            </a:r>
          </a:p>
        </p:txBody>
      </p:sp>
      <p:sp>
        <p:nvSpPr>
          <p:cNvPr id="80" name="Rectangle 79"/>
          <p:cNvSpPr/>
          <p:nvPr/>
        </p:nvSpPr>
        <p:spPr>
          <a:xfrm>
            <a:off x="32552640" y="863371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2552640" y="89628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82" name="TextBox 81"/>
          <p:cNvSpPr txBox="1"/>
          <p:nvPr/>
        </p:nvSpPr>
        <p:spPr>
          <a:xfrm>
            <a:off x="32552640" y="11411965"/>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Only one robot has the button</a:t>
            </a:r>
          </a:p>
        </p:txBody>
      </p:sp>
      <p:sp>
        <p:nvSpPr>
          <p:cNvPr id="83" name="Rectangle 82"/>
          <p:cNvSpPr/>
          <p:nvPr/>
        </p:nvSpPr>
        <p:spPr>
          <a:xfrm>
            <a:off x="32552640" y="1200632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552640" y="1233550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85" name="TextBox 84"/>
          <p:cNvSpPr txBox="1"/>
          <p:nvPr/>
        </p:nvSpPr>
        <p:spPr>
          <a:xfrm>
            <a:off x="32552640" y="14443709"/>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Any research field is a project</a:t>
            </a:r>
          </a:p>
        </p:txBody>
      </p:sp>
      <p:sp>
        <p:nvSpPr>
          <p:cNvPr id="86" name="Rectangle 85"/>
          <p:cNvSpPr/>
          <p:nvPr/>
        </p:nvSpPr>
        <p:spPr>
          <a:xfrm>
            <a:off x="32552640" y="15038069"/>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2552640" y="1536725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8" name="TextBox 87"/>
          <p:cNvSpPr txBox="1"/>
          <p:nvPr/>
        </p:nvSpPr>
        <p:spPr>
          <a:xfrm>
            <a:off x="32552640" y="17475453"/>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Code the agent writes runs fenced in</a:t>
            </a:r>
          </a:p>
        </p:txBody>
      </p:sp>
      <p:sp>
        <p:nvSpPr>
          <p:cNvPr id="89" name="Rectangle 88"/>
          <p:cNvSpPr/>
          <p:nvPr/>
        </p:nvSpPr>
        <p:spPr>
          <a:xfrm>
            <a:off x="32552640" y="1806981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552640" y="1839899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91" name="TextBox 90"/>
          <p:cNvSpPr txBox="1"/>
          <p:nvPr/>
        </p:nvSpPr>
        <p:spPr>
          <a:xfrm>
            <a:off x="32552640" y="20507197"/>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Arial Narrow"/>
              </a:rPr>
              <a:t>Laser on, never once at a target</a:t>
            </a:r>
          </a:p>
        </p:txBody>
      </p:sp>
      <p:sp>
        <p:nvSpPr>
          <p:cNvPr id="92" name="Rectangle 91"/>
          <p:cNvSpPr/>
          <p:nvPr/>
        </p:nvSpPr>
        <p:spPr>
          <a:xfrm>
            <a:off x="32552640" y="2110155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2552640" y="2143074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94" name="Rectangle 93"/>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96" name="TextBox 9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7" name="TextBox 9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