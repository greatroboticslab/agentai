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8000" b="1">
                <a:solidFill>
                  <a:srgbClr val="1C2A22"/>
                </a:solidFill>
                <a:latin typeface="Georgia"/>
              </a:rPr>
              <a:t>agentAI: A Research-Data Platform for Physical and Embodied Agents</a:t>
            </a:r>
          </a:p>
        </p:txBody>
      </p:sp>
      <p:sp>
        <p:nvSpPr>
          <p:cNvPr id="4" name="Rectangle 3"/>
          <p:cNvSpPr/>
          <p:nvPr/>
        </p:nvSpPr>
        <p:spPr>
          <a:xfrm>
            <a:off x="731520" y="2103120"/>
            <a:ext cx="41574720" cy="146304"/>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C2A22"/>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C6B62"/>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1C2A22"/>
                </a:solidFill>
                <a:latin typeface="Georgia"/>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879592"/>
            <a:ext cx="42428160" cy="4023360"/>
          </a:xfrm>
          <a:prstGeom prst="rect">
            <a:avLst/>
          </a:prstGeom>
        </p:spPr>
      </p:pic>
      <p:sp>
        <p:nvSpPr>
          <p:cNvPr id="9" name="TextBox 8"/>
          <p:cNvSpPr txBox="1"/>
          <p:nvPr/>
        </p:nvSpPr>
        <p:spPr>
          <a:xfrm>
            <a:off x="731520" y="10012680"/>
            <a:ext cx="42428160" cy="365760"/>
          </a:xfrm>
          <a:prstGeom prst="rect">
            <a:avLst/>
          </a:prstGeom>
          <a:noFill/>
        </p:spPr>
        <p:txBody>
          <a:bodyPr wrap="square" lIns="0" rIns="0" tIns="0" bIns="0">
            <a:spAutoFit/>
          </a:bodyPr>
          <a:lstStyle/>
          <a:p>
            <a:pPr algn="l">
              <a:lnSpc>
                <a:spcPct val="118000"/>
              </a:lnSpc>
              <a:spcAft>
                <a:spcPts val="0"/>
              </a:spcAft>
            </a:pPr>
            <a:r>
              <a:rPr sz="1700" b="0">
                <a:solidFill>
                  <a:srgbClr val="5C6B62"/>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761217"/>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2,686</a:t>
            </a:r>
          </a:p>
        </p:txBody>
      </p:sp>
      <p:sp>
        <p:nvSpPr>
          <p:cNvPr id="12" name="TextBox 11"/>
          <p:cNvSpPr txBox="1"/>
          <p:nvPr/>
        </p:nvSpPr>
        <p:spPr>
          <a:xfrm>
            <a:off x="731520"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camera frames</a:t>
            </a:r>
          </a:p>
        </p:txBody>
      </p:sp>
      <p:sp>
        <p:nvSpPr>
          <p:cNvPr id="13" name="TextBox 12"/>
          <p:cNvSpPr txBox="1"/>
          <p:nvPr/>
        </p:nvSpPr>
        <p:spPr>
          <a:xfrm>
            <a:off x="731520"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26 drives, 2 robots, 0 labelled</a:t>
            </a:r>
          </a:p>
        </p:txBody>
      </p:sp>
      <p:sp>
        <p:nvSpPr>
          <p:cNvPr id="14" name="TextBox 13"/>
          <p:cNvSpPr txBox="1"/>
          <p:nvPr/>
        </p:nvSpPr>
        <p:spPr>
          <a:xfrm>
            <a:off x="9317736"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91,955</a:t>
            </a:r>
          </a:p>
        </p:txBody>
      </p:sp>
      <p:sp>
        <p:nvSpPr>
          <p:cNvPr id="15" name="TextBox 14"/>
          <p:cNvSpPr txBox="1"/>
          <p:nvPr/>
        </p:nvSpPr>
        <p:spPr>
          <a:xfrm>
            <a:off x="9317736"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telemetry rows</a:t>
            </a:r>
          </a:p>
        </p:txBody>
      </p:sp>
      <p:sp>
        <p:nvSpPr>
          <p:cNvPr id="16" name="TextBox 15"/>
          <p:cNvSpPr txBox="1"/>
          <p:nvPr/>
        </p:nvSpPr>
        <p:spPr>
          <a:xfrm>
            <a:off x="9317736"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nine streams, counted line by line</a:t>
            </a:r>
          </a:p>
        </p:txBody>
      </p:sp>
      <p:sp>
        <p:nvSpPr>
          <p:cNvPr id="17" name="TextBox 16"/>
          <p:cNvSpPr txBox="1"/>
          <p:nvPr/>
        </p:nvSpPr>
        <p:spPr>
          <a:xfrm>
            <a:off x="17903952"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342 m</a:t>
            </a:r>
          </a:p>
        </p:txBody>
      </p:sp>
      <p:sp>
        <p:nvSpPr>
          <p:cNvPr id="18" name="TextBox 17"/>
          <p:cNvSpPr txBox="1"/>
          <p:nvPr/>
        </p:nvSpPr>
        <p:spPr>
          <a:xfrm>
            <a:off x="17903952"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of GPS track</a:t>
            </a:r>
          </a:p>
        </p:txBody>
      </p:sp>
      <p:sp>
        <p:nvSpPr>
          <p:cNvPr id="19" name="TextBox 18"/>
          <p:cNvSpPr txBox="1"/>
          <p:nvPr/>
        </p:nvSpPr>
        <p:spPr>
          <a:xfrm>
            <a:off x="17903952"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1,502 fixes over 18 drives</a:t>
            </a:r>
          </a:p>
        </p:txBody>
      </p:sp>
      <p:sp>
        <p:nvSpPr>
          <p:cNvPr id="20" name="TextBox 19"/>
          <p:cNvSpPr txBox="1"/>
          <p:nvPr/>
        </p:nvSpPr>
        <p:spPr>
          <a:xfrm>
            <a:off x="26490168"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27</a:t>
            </a:r>
          </a:p>
        </p:txBody>
      </p:sp>
      <p:sp>
        <p:nvSpPr>
          <p:cNvPr id="21" name="TextBox 20"/>
          <p:cNvSpPr txBox="1"/>
          <p:nvPr/>
        </p:nvSpPr>
        <p:spPr>
          <a:xfrm>
            <a:off x="26490168"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distinct models run</a:t>
            </a:r>
          </a:p>
        </p:txBody>
      </p:sp>
      <p:sp>
        <p:nvSpPr>
          <p:cNvPr id="22" name="TextBox 21"/>
          <p:cNvSpPr txBox="1"/>
          <p:nvPr/>
        </p:nvSpPr>
        <p:spPr>
          <a:xfrm>
            <a:off x="26490168"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four families, one deployed</a:t>
            </a:r>
          </a:p>
        </p:txBody>
      </p:sp>
      <p:sp>
        <p:nvSpPr>
          <p:cNvPr id="23" name="TextBox 22"/>
          <p:cNvSpPr txBox="1"/>
          <p:nvPr/>
        </p:nvSpPr>
        <p:spPr>
          <a:xfrm>
            <a:off x="35076384" y="10962386"/>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1B7A55"/>
                </a:solidFill>
                <a:latin typeface="Georgia"/>
              </a:rPr>
              <a:t>0</a:t>
            </a:r>
          </a:p>
        </p:txBody>
      </p:sp>
      <p:sp>
        <p:nvSpPr>
          <p:cNvPr id="24" name="TextBox 23"/>
          <p:cNvSpPr txBox="1"/>
          <p:nvPr/>
        </p:nvSpPr>
        <p:spPr>
          <a:xfrm>
            <a:off x="35076384" y="11687809"/>
            <a:ext cx="8083296" cy="365760"/>
          </a:xfrm>
          <a:prstGeom prst="rect">
            <a:avLst/>
          </a:prstGeom>
          <a:noFill/>
        </p:spPr>
        <p:txBody>
          <a:bodyPr wrap="square" lIns="0" rIns="0" tIns="0" bIns="0">
            <a:spAutoFit/>
          </a:bodyPr>
          <a:lstStyle/>
          <a:p>
            <a:pPr algn="l">
              <a:lnSpc>
                <a:spcPct val="122000"/>
              </a:lnSpc>
              <a:spcAft>
                <a:spcPts val="200"/>
              </a:spcAft>
            </a:pPr>
            <a:r>
              <a:rPr sz="2200" b="0">
                <a:solidFill>
                  <a:srgbClr val="1C2A22"/>
                </a:solidFill>
                <a:latin typeface="Arial"/>
              </a:rPr>
              <a:t>robot frames labelled</a:t>
            </a:r>
          </a:p>
        </p:txBody>
      </p:sp>
      <p:sp>
        <p:nvSpPr>
          <p:cNvPr id="25" name="TextBox 24"/>
          <p:cNvSpPr txBox="1"/>
          <p:nvPr/>
        </p:nvSpPr>
        <p:spPr>
          <a:xfrm>
            <a:off x="35076384" y="12054078"/>
            <a:ext cx="8083296" cy="365760"/>
          </a:xfrm>
          <a:prstGeom prst="rect">
            <a:avLst/>
          </a:prstGeom>
          <a:noFill/>
        </p:spPr>
        <p:txBody>
          <a:bodyPr wrap="square" lIns="0" rIns="0" tIns="0" bIns="0">
            <a:spAutoFit/>
          </a:bodyPr>
          <a:lstStyle/>
          <a:p>
            <a:pPr algn="l">
              <a:lnSpc>
                <a:spcPct val="122000"/>
              </a:lnSpc>
              <a:spcAft>
                <a:spcPts val="0"/>
              </a:spcAft>
            </a:pPr>
            <a:r>
              <a:rPr sz="1700" b="0">
                <a:solidFill>
                  <a:srgbClr val="5C6B62"/>
                </a:solidFill>
                <a:latin typeface="Arial"/>
              </a:rPr>
              <a:t>the whole archive, so far</a:t>
            </a:r>
          </a:p>
        </p:txBody>
      </p:sp>
      <p:sp>
        <p:nvSpPr>
          <p:cNvPr id="26" name="Rectangle 25"/>
          <p:cNvSpPr/>
          <p:nvPr/>
        </p:nvSpPr>
        <p:spPr>
          <a:xfrm>
            <a:off x="731520" y="12427203"/>
            <a:ext cx="42428160" cy="23774"/>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One platform for every robot the lab owns</a:t>
            </a:r>
          </a:p>
        </p:txBody>
      </p:sp>
      <p:sp>
        <p:nvSpPr>
          <p:cNvPr id="28" name="Rectangle 27"/>
          <p:cNvSpPr/>
          <p:nvPr/>
        </p:nvSpPr>
        <p:spPr>
          <a:xfrm>
            <a:off x="731520" y="13515340"/>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629359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Georgia"/>
              </a:rPr>
              <a:t>1,389</a:t>
            </a:r>
          </a:p>
        </p:txBody>
      </p:sp>
      <p:sp>
        <p:nvSpPr>
          <p:cNvPr id="31" name="TextBox 30"/>
          <p:cNvSpPr txBox="1"/>
          <p:nvPr/>
        </p:nvSpPr>
        <p:spPr>
          <a:xfrm>
            <a:off x="731520" y="17096740"/>
            <a:ext cx="1060704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joystick commands through the platform</a:t>
            </a:r>
          </a:p>
        </p:txBody>
      </p:sp>
      <p:sp>
        <p:nvSpPr>
          <p:cNvPr id="32" name="TextBox 31"/>
          <p:cNvSpPr txBox="1"/>
          <p:nvPr/>
        </p:nvSpPr>
        <p:spPr>
          <a:xfrm>
            <a:off x="731520" y="1758264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Driving a robot from a browser</a:t>
            </a:r>
          </a:p>
        </p:txBody>
      </p:sp>
      <p:sp>
        <p:nvSpPr>
          <p:cNvPr id="33" name="Rectangle 32"/>
          <p:cNvSpPr/>
          <p:nvPr/>
        </p:nvSpPr>
        <p:spPr>
          <a:xfrm>
            <a:off x="731520" y="18177001"/>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1850618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5" name="TextBox 34"/>
          <p:cNvSpPr txBox="1"/>
          <p:nvPr/>
        </p:nvSpPr>
        <p:spPr>
          <a:xfrm>
            <a:off x="731520" y="2095525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Four frames, as recorded</a:t>
            </a:r>
          </a:p>
        </p:txBody>
      </p:sp>
      <p:sp>
        <p:nvSpPr>
          <p:cNvPr id="36" name="Rectangle 35"/>
          <p:cNvSpPr/>
          <p:nvPr/>
        </p:nvSpPr>
        <p:spPr>
          <a:xfrm>
            <a:off x="731520" y="21549613"/>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_robots.png"/>
          <p:cNvPicPr>
            <a:picLocks noChangeAspect="1"/>
          </p:cNvPicPr>
          <p:nvPr/>
        </p:nvPicPr>
        <p:blipFill>
          <a:blip r:embed="rId3"/>
          <a:stretch>
            <a:fillRect/>
          </a:stretch>
        </p:blipFill>
        <p:spPr>
          <a:xfrm>
            <a:off x="731520" y="21878797"/>
            <a:ext cx="10607040" cy="2377440"/>
          </a:xfrm>
          <a:prstGeom prst="rect">
            <a:avLst/>
          </a:prstGeom>
        </p:spPr>
      </p:pic>
      <p:sp>
        <p:nvSpPr>
          <p:cNvPr id="38" name="TextBox 37"/>
          <p:cNvSpPr txBox="1"/>
          <p:nvPr/>
        </p:nvSpPr>
        <p:spPr>
          <a:xfrm>
            <a:off x="731520" y="24365966"/>
            <a:ext cx="10607040" cy="365760"/>
          </a:xfrm>
          <a:prstGeom prst="rect">
            <a:avLst/>
          </a:prstGeom>
          <a:noFill/>
        </p:spPr>
        <p:txBody>
          <a:bodyPr wrap="square" lIns="0" rIns="0" tIns="0" bIns="0">
            <a:spAutoFit/>
          </a:bodyPr>
          <a:lstStyle/>
          <a:p>
            <a:pPr algn="l">
              <a:lnSpc>
                <a:spcPct val="118000"/>
              </a:lnSpc>
              <a:spcAft>
                <a:spcPts val="0"/>
              </a:spcAft>
            </a:pPr>
            <a:r>
              <a:rPr sz="1700" b="0">
                <a:solidFill>
                  <a:srgbClr val="5C6B62"/>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39" name="TextBox 38"/>
          <p:cNvSpPr txBox="1"/>
          <p:nvPr/>
        </p:nvSpPr>
        <p:spPr>
          <a:xfrm>
            <a:off x="731520" y="2569591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Nothing here is enhanced and nothing is labelled. The rectangle in the cart's down camera is a fixed work-zone overlay: it sits at the same pixels on frames with no vegetation in them at all.</a:t>
            </a:r>
          </a:p>
        </p:txBody>
      </p:sp>
      <p:sp>
        <p:nvSpPr>
          <p:cNvPr id="40" name="TextBox 39"/>
          <p:cNvSpPr txBox="1"/>
          <p:nvPr/>
        </p:nvSpPr>
        <p:spPr>
          <a:xfrm>
            <a:off x="11704320" y="1292098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Robots on the platform today</a:t>
            </a:r>
          </a:p>
        </p:txBody>
      </p:sp>
      <p:sp>
        <p:nvSpPr>
          <p:cNvPr id="41" name="Rectangle 40"/>
          <p:cNvSpPr/>
          <p:nvPr/>
        </p:nvSpPr>
        <p:spPr>
          <a:xfrm>
            <a:off x="11704320" y="13515340"/>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04320" y="1384452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43" name="TextBox 42"/>
          <p:cNvSpPr txBox="1"/>
          <p:nvPr/>
        </p:nvSpPr>
        <p:spPr>
          <a:xfrm>
            <a:off x="11704320" y="1629359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Georgia"/>
              </a:rPr>
              <a:t>14</a:t>
            </a:r>
          </a:p>
        </p:txBody>
      </p:sp>
      <p:sp>
        <p:nvSpPr>
          <p:cNvPr id="44" name="TextBox 43"/>
          <p:cNvSpPr txBox="1"/>
          <p:nvPr/>
        </p:nvSpPr>
        <p:spPr>
          <a:xfrm>
            <a:off x="11704320" y="17096740"/>
            <a:ext cx="1060704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analysis tools the planner can choose from</a:t>
            </a:r>
          </a:p>
        </p:txBody>
      </p:sp>
      <p:sp>
        <p:nvSpPr>
          <p:cNvPr id="45" name="TextBox 44"/>
          <p:cNvSpPr txBox="1"/>
          <p:nvPr/>
        </p:nvSpPr>
        <p:spPr>
          <a:xfrm>
            <a:off x="11704320" y="1758264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Ask a dataset what it is good for</a:t>
            </a:r>
          </a:p>
        </p:txBody>
      </p:sp>
      <p:sp>
        <p:nvSpPr>
          <p:cNvPr id="46" name="Rectangle 45"/>
          <p:cNvSpPr/>
          <p:nvPr/>
        </p:nvSpPr>
        <p:spPr>
          <a:xfrm>
            <a:off x="11704320" y="18177001"/>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704320" y="1850618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8" name="TextBox 47"/>
          <p:cNvSpPr txBox="1"/>
          <p:nvPr/>
        </p:nvSpPr>
        <p:spPr>
          <a:xfrm>
            <a:off x="11704320" y="2061438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On disk today</a:t>
            </a:r>
          </a:p>
        </p:txBody>
      </p:sp>
      <p:sp>
        <p:nvSpPr>
          <p:cNvPr id="49" name="Rectangle 48"/>
          <p:cNvSpPr/>
          <p:nvPr/>
        </p:nvSpPr>
        <p:spPr>
          <a:xfrm>
            <a:off x="11704320" y="21208745"/>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704320" y="21537929"/>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Two robots have put 2,686 camera frames and 91,955 telemetry rows across nine streams onto the platform, over 26 drives, with 342 m of GPS track from 1,502 fixes. None of the frames is labelled.</a:t>
            </a:r>
          </a:p>
        </p:txBody>
      </p:sp>
      <p:sp>
        <p:nvSpPr>
          <p:cNvPr id="51" name="TextBox 50"/>
          <p:cNvSpPr txBox="1"/>
          <p:nvPr/>
        </p:nvSpPr>
        <p:spPr>
          <a:xfrm>
            <a:off x="11704320" y="23305262"/>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B7A55"/>
                </a:solidFill>
                <a:latin typeface="Georgia"/>
              </a:rPr>
              <a:t>92</a:t>
            </a:r>
          </a:p>
        </p:txBody>
      </p:sp>
      <p:sp>
        <p:nvSpPr>
          <p:cNvPr id="52" name="TextBox 51"/>
          <p:cNvSpPr txBox="1"/>
          <p:nvPr/>
        </p:nvSpPr>
        <p:spPr>
          <a:xfrm>
            <a:off x="11704320" y="24108410"/>
            <a:ext cx="10607040" cy="365760"/>
          </a:xfrm>
          <a:prstGeom prst="rect">
            <a:avLst/>
          </a:prstGeom>
          <a:noFill/>
        </p:spPr>
        <p:txBody>
          <a:bodyPr wrap="square" lIns="0" rIns="0" tIns="0" bIns="0">
            <a:spAutoFit/>
          </a:bodyPr>
          <a:lstStyle/>
          <a:p>
            <a:pPr algn="l">
              <a:lnSpc>
                <a:spcPct val="122000"/>
              </a:lnSpc>
              <a:spcAft>
                <a:spcPts val="600"/>
              </a:spcAft>
            </a:pPr>
            <a:r>
              <a:rPr sz="1700" b="0">
                <a:solidFill>
                  <a:srgbClr val="5C6B62"/>
                </a:solidFill>
                <a:latin typeface="Arial"/>
              </a:rPr>
              <a:t>questions asked of a dataset so far</a:t>
            </a:r>
          </a:p>
        </p:txBody>
      </p:sp>
      <p:sp>
        <p:nvSpPr>
          <p:cNvPr id="53" name="TextBox 52"/>
          <p:cNvSpPr txBox="1"/>
          <p:nvPr/>
        </p:nvSpPr>
        <p:spPr>
          <a:xfrm>
            <a:off x="11704320" y="2459431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Asked something it had never seen</a:t>
            </a:r>
          </a:p>
        </p:txBody>
      </p:sp>
      <p:sp>
        <p:nvSpPr>
          <p:cNvPr id="54" name="Rectangle 53"/>
          <p:cNvSpPr/>
          <p:nvPr/>
        </p:nvSpPr>
        <p:spPr>
          <a:xfrm>
            <a:off x="11704320" y="25188671"/>
            <a:ext cx="1060704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04320" y="2551785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6" name="TextBox 55"/>
          <p:cNvSpPr txBox="1"/>
          <p:nvPr/>
        </p:nvSpPr>
        <p:spPr>
          <a:xfrm>
            <a:off x="22677120" y="12920980"/>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A drive becomes a dataset as it opens</a:t>
            </a:r>
          </a:p>
        </p:txBody>
      </p:sp>
      <p:sp>
        <p:nvSpPr>
          <p:cNvPr id="57" name="Rectangle 56"/>
          <p:cNvSpPr/>
          <p:nvPr/>
        </p:nvSpPr>
        <p:spPr>
          <a:xfrm>
            <a:off x="22677120" y="13515340"/>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677120" y="13844523"/>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59" name="TextBox 58"/>
          <p:cNvSpPr txBox="1"/>
          <p:nvPr/>
        </p:nvSpPr>
        <p:spPr>
          <a:xfrm>
            <a:off x="22677120" y="1561185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1F3D2B"/>
                </a:solidFill>
                <a:latin typeface="Georgia"/>
              </a:rPr>
              <a:t>Left alone for fifteen rounds</a:t>
            </a:r>
          </a:p>
        </p:txBody>
      </p:sp>
      <p:sp>
        <p:nvSpPr>
          <p:cNvPr id="60" name="Rectangle 59"/>
          <p:cNvSpPr/>
          <p:nvPr/>
        </p:nvSpPr>
        <p:spPr>
          <a:xfrm>
            <a:off x="22677120" y="16206216"/>
            <a:ext cx="20482560" cy="27432"/>
          </a:xfrm>
          <a:prstGeom prst="rect">
            <a:avLst/>
          </a:prstGeom>
          <a:solidFill>
            <a:srgbClr val="1B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f_rounds.png"/>
          <p:cNvPicPr>
            <a:picLocks noChangeAspect="1"/>
          </p:cNvPicPr>
          <p:nvPr/>
        </p:nvPicPr>
        <p:blipFill>
          <a:blip r:embed="rId4"/>
          <a:stretch>
            <a:fillRect/>
          </a:stretch>
        </p:blipFill>
        <p:spPr>
          <a:xfrm>
            <a:off x="22677120" y="16535399"/>
            <a:ext cx="20482560" cy="4663440"/>
          </a:xfrm>
          <a:prstGeom prst="rect">
            <a:avLst/>
          </a:prstGeom>
        </p:spPr>
      </p:pic>
      <p:sp>
        <p:nvSpPr>
          <p:cNvPr id="62" name="TextBox 61"/>
          <p:cNvSpPr txBox="1"/>
          <p:nvPr/>
        </p:nvSpPr>
        <p:spPr>
          <a:xfrm>
            <a:off x="22677120" y="21308567"/>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5C6B62"/>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63" name="TextBox 62"/>
          <p:cNvSpPr txBox="1"/>
          <p:nvPr/>
        </p:nvSpPr>
        <p:spPr>
          <a:xfrm>
            <a:off x="22677120" y="22383749"/>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1C2A22"/>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4" name="Rectangle 63"/>
          <p:cNvSpPr/>
          <p:nvPr/>
        </p:nvSpPr>
        <p:spPr>
          <a:xfrm>
            <a:off x="731520" y="30632400"/>
            <a:ext cx="42428160" cy="20116"/>
          </a:xfrm>
          <a:prstGeom prst="rect">
            <a:avLst/>
          </a:prstGeom>
          <a:solidFill>
            <a:srgbClr val="CBD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6" name="TextBox 6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7" name="TextBox 6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5C6B62"/>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