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43891200" cy="329184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43891200" cy="32918400"/>
          </a:xfrm>
          <a:prstGeom prst="rect">
            <a:avLst/>
          </a:prstGeom>
          <a:solidFill>
            <a:srgbClr val="FFFD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3891200" cy="3931920"/>
          </a:xfrm>
          <a:prstGeom prst="rect">
            <a:avLst/>
          </a:prstGeom>
          <a:solidFill>
            <a:srgbClr val="F1EBD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3931920"/>
            <a:ext cx="43891200" cy="45720"/>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384048"/>
            <a:ext cx="42428160" cy="365760"/>
          </a:xfrm>
          <a:prstGeom prst="rect">
            <a:avLst/>
          </a:prstGeom>
          <a:noFill/>
        </p:spPr>
        <p:txBody>
          <a:bodyPr wrap="square" lIns="0" rIns="0" tIns="0" bIns="0">
            <a:spAutoFit/>
          </a:bodyPr>
          <a:lstStyle/>
          <a:p>
            <a:pPr algn="l">
              <a:lnSpc>
                <a:spcPct val="95000"/>
              </a:lnSpc>
              <a:spcAft>
                <a:spcPts val="0"/>
              </a:spcAft>
            </a:pPr>
            <a:r>
              <a:rPr sz="9000" b="1">
                <a:solidFill>
                  <a:srgbClr val="2B2A26"/>
                </a:solidFill>
                <a:latin typeface="Times New Roman"/>
              </a:rPr>
              <a:t>agentAI: A Research-Data Platform for Physical and Embodied Agents</a:t>
            </a:r>
          </a:p>
        </p:txBody>
      </p:sp>
      <p:sp>
        <p:nvSpPr>
          <p:cNvPr id="6" name="TextBox 5"/>
          <p:cNvSpPr txBox="1"/>
          <p:nvPr/>
        </p:nvSpPr>
        <p:spPr>
          <a:xfrm>
            <a:off x="731520" y="2121408"/>
            <a:ext cx="42428160" cy="365760"/>
          </a:xfrm>
          <a:prstGeom prst="rect">
            <a:avLst/>
          </a:prstGeom>
          <a:noFill/>
        </p:spPr>
        <p:txBody>
          <a:bodyPr wrap="square" lIns="0" rIns="0" tIns="0" bIns="0">
            <a:spAutoFit/>
          </a:bodyPr>
          <a:lstStyle/>
          <a:p>
            <a:pPr algn="l">
              <a:lnSpc>
                <a:spcPct val="100000"/>
              </a:lnSpc>
              <a:spcAft>
                <a:spcPts val="0"/>
              </a:spcAft>
            </a:pPr>
            <a:r>
              <a:rPr sz="4000" b="1">
                <a:solidFill>
                  <a:srgbClr val="2B2A26"/>
                </a:solidFill>
                <a:latin typeface="Arial"/>
              </a:rPr>
              <a:t>Harry He   ·   Hongbo Zhang</a:t>
            </a:r>
          </a:p>
        </p:txBody>
      </p:sp>
      <p:sp>
        <p:nvSpPr>
          <p:cNvPr id="7" name="TextBox 6"/>
          <p:cNvSpPr txBox="1"/>
          <p:nvPr/>
        </p:nvSpPr>
        <p:spPr>
          <a:xfrm>
            <a:off x="731520" y="2761488"/>
            <a:ext cx="42428160" cy="365760"/>
          </a:xfrm>
          <a:prstGeom prst="rect">
            <a:avLst/>
          </a:prstGeom>
          <a:noFill/>
        </p:spPr>
        <p:txBody>
          <a:bodyPr wrap="square" lIns="0" rIns="0" tIns="0" bIns="0">
            <a:spAutoFit/>
          </a:bodyPr>
          <a:lstStyle/>
          <a:p>
            <a:pPr algn="l">
              <a:lnSpc>
                <a:spcPct val="100000"/>
              </a:lnSpc>
              <a:spcAft>
                <a:spcPts val="0"/>
              </a:spcAft>
            </a:pPr>
            <a:r>
              <a:rPr sz="2400" b="0">
                <a:solidFill>
                  <a:srgbClr val="D8D0BF"/>
                </a:solidFill>
                <a:latin typeface="Arial"/>
              </a:rPr>
              <a:t>Department of Engineering Technology   ·   Middle Tennessee State University, Murfreesboro, TN, USA</a:t>
            </a:r>
          </a:p>
        </p:txBody>
      </p:sp>
      <p:sp>
        <p:nvSpPr>
          <p:cNvPr id="8" name="TextBox 7"/>
          <p:cNvSpPr txBox="1"/>
          <p:nvPr/>
        </p:nvSpPr>
        <p:spPr>
          <a:xfrm>
            <a:off x="731520" y="4315968"/>
            <a:ext cx="42428160" cy="365760"/>
          </a:xfrm>
          <a:prstGeom prst="rect">
            <a:avLst/>
          </a:prstGeom>
          <a:noFill/>
        </p:spPr>
        <p:txBody>
          <a:bodyPr wrap="square" lIns="0" rIns="0" tIns="0" bIns="0">
            <a:spAutoFit/>
          </a:bodyPr>
          <a:lstStyle/>
          <a:p>
            <a:pPr algn="l">
              <a:lnSpc>
                <a:spcPct val="116000"/>
              </a:lnSpc>
              <a:spcAft>
                <a:spcPts val="0"/>
              </a:spcAft>
            </a:pPr>
            <a:r>
              <a:rPr sz="3400" b="0">
                <a:solidFill>
                  <a:srgbClr val="2B2A26"/>
                </a:solidFill>
                <a:latin typeface="Times New Roman"/>
              </a:rPr>
              <a:t>Built at the MTSU Great Robotics Lab. Every robot the lab owns reports into one platform; agents on it harvest, filter, label and train; a third agent watches the other two. This is what runs today, what the robots have recorded, and what six months of running it taught us.</a:t>
            </a:r>
          </a:p>
        </p:txBody>
      </p:sp>
      <p:sp>
        <p:nvSpPr>
          <p:cNvPr id="9" name="Rectangle 8"/>
          <p:cNvSpPr/>
          <p:nvPr/>
        </p:nvSpPr>
        <p:spPr>
          <a:xfrm>
            <a:off x="731520" y="5820663"/>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Times New Roman"/>
              </a:rPr>
              <a:t>2,686</a:t>
            </a:r>
          </a:p>
        </p:txBody>
      </p:sp>
      <p:sp>
        <p:nvSpPr>
          <p:cNvPr id="11" name="TextBox 10"/>
          <p:cNvSpPr txBox="1"/>
          <p:nvPr/>
        </p:nvSpPr>
        <p:spPr>
          <a:xfrm>
            <a:off x="731520"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camera frames</a:t>
            </a:r>
          </a:p>
        </p:txBody>
      </p:sp>
      <p:sp>
        <p:nvSpPr>
          <p:cNvPr id="12" name="TextBox 11"/>
          <p:cNvSpPr txBox="1"/>
          <p:nvPr/>
        </p:nvSpPr>
        <p:spPr>
          <a:xfrm>
            <a:off x="731520"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26 drives, 2 robots, 0 labelled</a:t>
            </a:r>
          </a:p>
        </p:txBody>
      </p:sp>
      <p:sp>
        <p:nvSpPr>
          <p:cNvPr id="13" name="TextBox 12"/>
          <p:cNvSpPr txBox="1"/>
          <p:nvPr/>
        </p:nvSpPr>
        <p:spPr>
          <a:xfrm>
            <a:off x="9317736"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Times New Roman"/>
              </a:rPr>
              <a:t>91,955</a:t>
            </a:r>
          </a:p>
        </p:txBody>
      </p:sp>
      <p:sp>
        <p:nvSpPr>
          <p:cNvPr id="14" name="TextBox 13"/>
          <p:cNvSpPr txBox="1"/>
          <p:nvPr/>
        </p:nvSpPr>
        <p:spPr>
          <a:xfrm>
            <a:off x="9317736"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telemetry rows</a:t>
            </a:r>
          </a:p>
        </p:txBody>
      </p:sp>
      <p:sp>
        <p:nvSpPr>
          <p:cNvPr id="15" name="TextBox 14"/>
          <p:cNvSpPr txBox="1"/>
          <p:nvPr/>
        </p:nvSpPr>
        <p:spPr>
          <a:xfrm>
            <a:off x="9317736"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nine streams, counted line by line</a:t>
            </a:r>
          </a:p>
        </p:txBody>
      </p:sp>
      <p:sp>
        <p:nvSpPr>
          <p:cNvPr id="16" name="TextBox 15"/>
          <p:cNvSpPr txBox="1"/>
          <p:nvPr/>
        </p:nvSpPr>
        <p:spPr>
          <a:xfrm>
            <a:off x="17903952"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Times New Roman"/>
              </a:rPr>
              <a:t>342 m</a:t>
            </a:r>
          </a:p>
        </p:txBody>
      </p:sp>
      <p:sp>
        <p:nvSpPr>
          <p:cNvPr id="17" name="TextBox 16"/>
          <p:cNvSpPr txBox="1"/>
          <p:nvPr/>
        </p:nvSpPr>
        <p:spPr>
          <a:xfrm>
            <a:off x="17903952"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of GPS track</a:t>
            </a:r>
          </a:p>
        </p:txBody>
      </p:sp>
      <p:sp>
        <p:nvSpPr>
          <p:cNvPr id="18" name="TextBox 17"/>
          <p:cNvSpPr txBox="1"/>
          <p:nvPr/>
        </p:nvSpPr>
        <p:spPr>
          <a:xfrm>
            <a:off x="17903952"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1,502 fixes over 18 drives</a:t>
            </a:r>
          </a:p>
        </p:txBody>
      </p:sp>
      <p:sp>
        <p:nvSpPr>
          <p:cNvPr id="19" name="TextBox 18"/>
          <p:cNvSpPr txBox="1"/>
          <p:nvPr/>
        </p:nvSpPr>
        <p:spPr>
          <a:xfrm>
            <a:off x="26490168"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Times New Roman"/>
              </a:rPr>
              <a:t>27</a:t>
            </a:r>
          </a:p>
        </p:txBody>
      </p:sp>
      <p:sp>
        <p:nvSpPr>
          <p:cNvPr id="20" name="TextBox 19"/>
          <p:cNvSpPr txBox="1"/>
          <p:nvPr/>
        </p:nvSpPr>
        <p:spPr>
          <a:xfrm>
            <a:off x="26490168"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distinct models run</a:t>
            </a:r>
          </a:p>
        </p:txBody>
      </p:sp>
      <p:sp>
        <p:nvSpPr>
          <p:cNvPr id="21" name="TextBox 20"/>
          <p:cNvSpPr txBox="1"/>
          <p:nvPr/>
        </p:nvSpPr>
        <p:spPr>
          <a:xfrm>
            <a:off x="26490168"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four families, one deployed</a:t>
            </a:r>
          </a:p>
        </p:txBody>
      </p:sp>
      <p:sp>
        <p:nvSpPr>
          <p:cNvPr id="22" name="TextBox 21"/>
          <p:cNvSpPr txBox="1"/>
          <p:nvPr/>
        </p:nvSpPr>
        <p:spPr>
          <a:xfrm>
            <a:off x="35076384" y="6021831"/>
            <a:ext cx="8083296" cy="365760"/>
          </a:xfrm>
          <a:prstGeom prst="rect">
            <a:avLst/>
          </a:prstGeom>
          <a:noFill/>
        </p:spPr>
        <p:txBody>
          <a:bodyPr wrap="square" lIns="0" rIns="0" tIns="0" bIns="0">
            <a:spAutoFit/>
          </a:bodyPr>
          <a:lstStyle/>
          <a:p>
            <a:pPr algn="l">
              <a:lnSpc>
                <a:spcPct val="95000"/>
              </a:lnSpc>
              <a:spcAft>
                <a:spcPts val="0"/>
              </a:spcAft>
            </a:pPr>
            <a:r>
              <a:rPr sz="5600" b="1">
                <a:solidFill>
                  <a:srgbClr val="8A4B1E"/>
                </a:solidFill>
                <a:latin typeface="Times New Roman"/>
              </a:rPr>
              <a:t>0</a:t>
            </a:r>
          </a:p>
        </p:txBody>
      </p:sp>
      <p:sp>
        <p:nvSpPr>
          <p:cNvPr id="23" name="TextBox 22"/>
          <p:cNvSpPr txBox="1"/>
          <p:nvPr/>
        </p:nvSpPr>
        <p:spPr>
          <a:xfrm>
            <a:off x="35076384" y="6747255"/>
            <a:ext cx="8083296" cy="365760"/>
          </a:xfrm>
          <a:prstGeom prst="rect">
            <a:avLst/>
          </a:prstGeom>
          <a:noFill/>
        </p:spPr>
        <p:txBody>
          <a:bodyPr wrap="square" lIns="0" rIns="0" tIns="0" bIns="0">
            <a:spAutoFit/>
          </a:bodyPr>
          <a:lstStyle/>
          <a:p>
            <a:pPr algn="l">
              <a:lnSpc>
                <a:spcPct val="122000"/>
              </a:lnSpc>
              <a:spcAft>
                <a:spcPts val="200"/>
              </a:spcAft>
            </a:pPr>
            <a:r>
              <a:rPr sz="2000" b="0">
                <a:solidFill>
                  <a:srgbClr val="2B2A26"/>
                </a:solidFill>
                <a:latin typeface="Arial"/>
              </a:rPr>
              <a:t>robot frames labelled</a:t>
            </a:r>
          </a:p>
        </p:txBody>
      </p:sp>
      <p:sp>
        <p:nvSpPr>
          <p:cNvPr id="24" name="TextBox 23"/>
          <p:cNvSpPr txBox="1"/>
          <p:nvPr/>
        </p:nvSpPr>
        <p:spPr>
          <a:xfrm>
            <a:off x="35076384" y="7082535"/>
            <a:ext cx="8083296" cy="365760"/>
          </a:xfrm>
          <a:prstGeom prst="rect">
            <a:avLst/>
          </a:prstGeom>
          <a:noFill/>
        </p:spPr>
        <p:txBody>
          <a:bodyPr wrap="square" lIns="0" rIns="0" tIns="0" bIns="0">
            <a:spAutoFit/>
          </a:bodyPr>
          <a:lstStyle/>
          <a:p>
            <a:pPr algn="l">
              <a:lnSpc>
                <a:spcPct val="122000"/>
              </a:lnSpc>
              <a:spcAft>
                <a:spcPts val="0"/>
              </a:spcAft>
            </a:pPr>
            <a:r>
              <a:rPr sz="1600" b="0">
                <a:solidFill>
                  <a:srgbClr val="6E6759"/>
                </a:solidFill>
                <a:latin typeface="Arial"/>
              </a:rPr>
              <a:t>the whole archive, so far</a:t>
            </a:r>
          </a:p>
        </p:txBody>
      </p:sp>
      <p:sp>
        <p:nvSpPr>
          <p:cNvPr id="25" name="Rectangle 24"/>
          <p:cNvSpPr/>
          <p:nvPr/>
        </p:nvSpPr>
        <p:spPr>
          <a:xfrm>
            <a:off x="731520" y="7440167"/>
            <a:ext cx="42428160" cy="23774"/>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7933943"/>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One platform for every robot the lab owns</a:t>
            </a:r>
          </a:p>
        </p:txBody>
      </p:sp>
      <p:sp>
        <p:nvSpPr>
          <p:cNvPr id="27" name="Rectangle 26"/>
          <p:cNvSpPr/>
          <p:nvPr/>
        </p:nvSpPr>
        <p:spPr>
          <a:xfrm>
            <a:off x="731520" y="8495284"/>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1520" y="882446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agentAI is a research-data platform for physical and embodied agents, built at the MTSU Great Robotics Lab. A robot, a drone or a sensor rig is a project. A project owns its keys, its people and a locked dataset registry. Agents on the platform harvest, filter, label and train against that registry. Adding a robot is a configuration, not a migration.</a:t>
            </a:r>
          </a:p>
        </p:txBody>
      </p:sp>
      <p:sp>
        <p:nvSpPr>
          <p:cNvPr id="29" name="TextBox 28"/>
          <p:cNvSpPr txBox="1"/>
          <p:nvPr/>
        </p:nvSpPr>
        <p:spPr>
          <a:xfrm>
            <a:off x="731520" y="10315955"/>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Driving a robot from a browser</a:t>
            </a:r>
          </a:p>
        </p:txBody>
      </p:sp>
      <p:sp>
        <p:nvSpPr>
          <p:cNvPr id="30" name="Rectangle 29"/>
          <p:cNvSpPr/>
          <p:nvPr/>
        </p:nvSpPr>
        <p:spPr>
          <a:xfrm>
            <a:off x="731520" y="10877295"/>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11206479"/>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signed-in user opens the 241 project and clicks Drive. The platform reverse-proxies the robot's own console over the lab tailnet, so the rover is driven from a plain browser with no VPN client. 1,389 joystick commands have gone through that path. Two gates sit in front of it: the platform's Google login, then the robot's own password.</a:t>
            </a:r>
          </a:p>
        </p:txBody>
      </p:sp>
      <p:sp>
        <p:nvSpPr>
          <p:cNvPr id="32" name="TextBox 31"/>
          <p:cNvSpPr txBox="1"/>
          <p:nvPr/>
        </p:nvSpPr>
        <p:spPr>
          <a:xfrm>
            <a:off x="731520" y="12697967"/>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Left alone for fifteen rounds</a:t>
            </a:r>
          </a:p>
        </p:txBody>
      </p:sp>
      <p:sp>
        <p:nvSpPr>
          <p:cNvPr id="33" name="Rectangle 32"/>
          <p:cNvSpPr/>
          <p:nvPr/>
        </p:nvSpPr>
        <p:spPr>
          <a:xfrm>
            <a:off x="731520" y="13259307"/>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Picture 33" descr="f_rounds.png"/>
          <p:cNvPicPr>
            <a:picLocks noChangeAspect="1"/>
          </p:cNvPicPr>
          <p:nvPr/>
        </p:nvPicPr>
        <p:blipFill>
          <a:blip r:embed="rId2"/>
          <a:stretch>
            <a:fillRect/>
          </a:stretch>
        </p:blipFill>
        <p:spPr>
          <a:xfrm>
            <a:off x="731520" y="13588491"/>
            <a:ext cx="20482560" cy="4663440"/>
          </a:xfrm>
          <a:prstGeom prst="rect">
            <a:avLst/>
          </a:prstGeom>
        </p:spPr>
      </p:pic>
      <p:sp>
        <p:nvSpPr>
          <p:cNvPr id="35" name="TextBox 34"/>
          <p:cNvSpPr txBox="1"/>
          <p:nvPr/>
        </p:nvSpPr>
        <p:spPr>
          <a:xfrm>
            <a:off x="731520" y="18361659"/>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6E6759"/>
                </a:solidFill>
                <a:latin typeface="Arial"/>
              </a:rPr>
              <a:t>Figure 1.  (f) Fifteen unattended rounds on a fixed holdout. (g) Round 15's exact dataset, three ways. The first two marks differ only in the starting weights, so their gap is the warm-start chain; the third is the recipe the campaign ran, whose wall-clock cap truncates the cosine, with its three seeds drawn behind it. Sigma throughout is that recipe's own seed spread, 0.0040 over three seeds, propagated to the difference being quoted. Completing the schedule is not the fix -- the second mark sits below the third.</a:t>
            </a:r>
          </a:p>
        </p:txBody>
      </p:sp>
      <p:sp>
        <p:nvSpPr>
          <p:cNvPr id="36" name="TextBox 35"/>
          <p:cNvSpPr txBox="1"/>
          <p:nvPr/>
        </p:nvSpPr>
        <p:spPr>
          <a:xfrm>
            <a:off x="731520" y="19391883"/>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Two cluster jobs, one collecting and one training, ran fifteen rounds against the locked registry with nobody in the room. Each round searched public sources, filtered what it found, merged, trained and evaluated. Every round reported success. Accuracy fell for fifteen rounds. This part is built and is switched off today.</a:t>
            </a:r>
          </a:p>
        </p:txBody>
      </p:sp>
      <p:sp>
        <p:nvSpPr>
          <p:cNvPr id="37" name="TextBox 36"/>
          <p:cNvSpPr txBox="1"/>
          <p:nvPr/>
        </p:nvSpPr>
        <p:spPr>
          <a:xfrm>
            <a:off x="731520" y="20883371"/>
            <a:ext cx="2048256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Everything we trained, ran, or rejected</a:t>
            </a:r>
          </a:p>
        </p:txBody>
      </p:sp>
      <p:sp>
        <p:nvSpPr>
          <p:cNvPr id="38" name="Rectangle 37"/>
          <p:cNvSpPr/>
          <p:nvPr/>
        </p:nvSpPr>
        <p:spPr>
          <a:xfrm>
            <a:off x="731520" y="21444711"/>
            <a:ext cx="2048256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m_ledger.png"/>
          <p:cNvPicPr>
            <a:picLocks noChangeAspect="1"/>
          </p:cNvPicPr>
          <p:nvPr/>
        </p:nvPicPr>
        <p:blipFill>
          <a:blip r:embed="rId3"/>
          <a:stretch>
            <a:fillRect/>
          </a:stretch>
        </p:blipFill>
        <p:spPr>
          <a:xfrm>
            <a:off x="731520" y="21773895"/>
            <a:ext cx="20482560" cy="3749040"/>
          </a:xfrm>
          <a:prstGeom prst="rect">
            <a:avLst/>
          </a:prstGeom>
        </p:spPr>
      </p:pic>
      <p:sp>
        <p:nvSpPr>
          <p:cNvPr id="40" name="TextBox 39"/>
          <p:cNvSpPr txBox="1"/>
          <p:nvPr/>
        </p:nvSpPr>
        <p:spPr>
          <a:xfrm>
            <a:off x="731520" y="25632663"/>
            <a:ext cx="20482560" cy="365760"/>
          </a:xfrm>
          <a:prstGeom prst="rect">
            <a:avLst/>
          </a:prstGeom>
          <a:noFill/>
        </p:spPr>
        <p:txBody>
          <a:bodyPr wrap="square" lIns="0" rIns="0" tIns="0" bIns="0">
            <a:spAutoFit/>
          </a:bodyPr>
          <a:lstStyle/>
          <a:p>
            <a:pPr algn="l">
              <a:lnSpc>
                <a:spcPct val="118000"/>
              </a:lnSpc>
              <a:spcAft>
                <a:spcPts val="0"/>
              </a:spcAft>
            </a:pPr>
            <a:r>
              <a:rPr sz="1600" b="0">
                <a:solidFill>
                  <a:srgbClr val="6E6759"/>
                </a:solidFill>
                <a:latin typeface="Arial"/>
              </a:rPr>
              <a:t>Figure 2.  30 rows in four families, which is 27 distinct models: OWLv2-large and Qwen2.5-7B each appear twice because each does two jobs here. One model is deployed. The zero-shot column is a single deterministic pass per model with no repeats, scored as mAP50 on the 848-image split; the reviewer column is the 149-case dev split, and two of its arms are still running. RF-DETR's score is on a third scale and is never differenced against the rows above it: the one measured offset between two of our evaluators, 0.0239, is larger than the gap on display.</a:t>
            </a:r>
          </a:p>
        </p:txBody>
      </p:sp>
      <p:sp>
        <p:nvSpPr>
          <p:cNvPr id="41" name="TextBox 40"/>
          <p:cNvSpPr txBox="1"/>
          <p:nvPr/>
        </p:nvSpPr>
        <p:spPr>
          <a:xfrm>
            <a:off x="731520" y="26662887"/>
            <a:ext cx="2048256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Thirty rows in four families, which is 27 distinct models. Five detectors trained on our own holdout, two vision models inside the loop, fourteen vision-language models zero-shot, and nine language models as reviewers. One is deployed.</a:t>
            </a:r>
          </a:p>
        </p:txBody>
      </p:sp>
      <p:sp>
        <p:nvSpPr>
          <p:cNvPr id="42" name="TextBox 41"/>
          <p:cNvSpPr txBox="1"/>
          <p:nvPr/>
        </p:nvSpPr>
        <p:spPr>
          <a:xfrm>
            <a:off x="2157984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Robots on the platform today</a:t>
            </a:r>
          </a:p>
        </p:txBody>
      </p:sp>
      <p:sp>
        <p:nvSpPr>
          <p:cNvPr id="43" name="Rectangle 42"/>
          <p:cNvSpPr/>
          <p:nvPr/>
        </p:nvSpPr>
        <p:spPr>
          <a:xfrm>
            <a:off x="21579840" y="849528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157984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Robot 241 is a tracked rover that drives crop rows and streams camera, GPS and two IMUs. The laser cart carries the weeder: a galvanometer laser, a down camera over the work zone and a forward camera. A Unitree humanoid has a project and has uploaded nothing yet. Between them the two ground vehicles have recorded 2,686 frames in 26 drives.</a:t>
            </a:r>
          </a:p>
        </p:txBody>
      </p:sp>
      <p:sp>
        <p:nvSpPr>
          <p:cNvPr id="45" name="TextBox 44"/>
          <p:cNvSpPr txBox="1"/>
          <p:nvPr/>
        </p:nvSpPr>
        <p:spPr>
          <a:xfrm>
            <a:off x="21579840" y="109357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Ask a dataset what it is good for</a:t>
            </a:r>
          </a:p>
        </p:txBody>
      </p:sp>
      <p:sp>
        <p:nvSpPr>
          <p:cNvPr id="46" name="Rectangle 45"/>
          <p:cNvSpPr/>
          <p:nvPr/>
        </p:nvSpPr>
        <p:spPr>
          <a:xfrm>
            <a:off x="21579840" y="11497056"/>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21579840" y="1182623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Every dataset page carries a chat box. A user types or speaks a plain question about that dataset. A planner reads the question and the dataset's real column profile, then picks from 14 fixed analysis tools or writes new code. The answer comes back with the chart and the code that produced it.</a:t>
            </a:r>
          </a:p>
        </p:txBody>
      </p:sp>
      <p:sp>
        <p:nvSpPr>
          <p:cNvPr id="48" name="TextBox 47"/>
          <p:cNvSpPr txBox="1"/>
          <p:nvPr/>
        </p:nvSpPr>
        <p:spPr>
          <a:xfrm>
            <a:off x="21579840" y="13627607"/>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On disk today</a:t>
            </a:r>
          </a:p>
        </p:txBody>
      </p:sp>
      <p:sp>
        <p:nvSpPr>
          <p:cNvPr id="49" name="Rectangle 48"/>
          <p:cNvSpPr/>
          <p:nvPr/>
        </p:nvSpPr>
        <p:spPr>
          <a:xfrm>
            <a:off x="21579840" y="14188947"/>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1579840" y="14518131"/>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Two robots have put 2,686 camera frames and 91,955 telemetry rows across nine streams onto the platform, over 26 drives, with 342 m of GPS track from 1,502 fixes. None of the frames is labelled.</a:t>
            </a:r>
          </a:p>
        </p:txBody>
      </p:sp>
      <p:sp>
        <p:nvSpPr>
          <p:cNvPr id="51" name="TextBox 50"/>
          <p:cNvSpPr txBox="1"/>
          <p:nvPr/>
        </p:nvSpPr>
        <p:spPr>
          <a:xfrm>
            <a:off x="21579840" y="1600962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Asked something it had never seen</a:t>
            </a:r>
          </a:p>
        </p:txBody>
      </p:sp>
      <p:sp>
        <p:nvSpPr>
          <p:cNvPr id="52" name="Rectangle 51"/>
          <p:cNvSpPr/>
          <p:nvPr/>
        </p:nvSpPr>
        <p:spPr>
          <a:xfrm>
            <a:off x="21579840" y="16570959"/>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1579840" y="16900143"/>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Asked to plot a histogram of the heading change rate on the 241 field drive, the agent wrote the code and returned the plot on the first attempt. A fixed template cannot do that, because nothing in the platform knew that question would be asked. Across the platform, 9 datasets carry 92 turns of that conversation.</a:t>
            </a:r>
          </a:p>
        </p:txBody>
      </p:sp>
      <p:sp>
        <p:nvSpPr>
          <p:cNvPr id="54" name="TextBox 53"/>
          <p:cNvSpPr txBox="1"/>
          <p:nvPr/>
        </p:nvSpPr>
        <p:spPr>
          <a:xfrm>
            <a:off x="21579840" y="1870151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More web data, less accuracy</a:t>
            </a:r>
          </a:p>
        </p:txBody>
      </p:sp>
      <p:sp>
        <p:nvSpPr>
          <p:cNvPr id="55" name="Rectangle 54"/>
          <p:cNvSpPr/>
          <p:nvPr/>
        </p:nvSpPr>
        <p:spPr>
          <a:xfrm>
            <a:off x="21579840" y="1926285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1579840" y="1959203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Twelve times the training data costs 0.0189 on our own 1,977-image holdout, three seeds at every rung, which is 8.2 times the seed spread. The same eight checkpoints fall on a second weed dataset too. One of six audited web sources reaches a 0.90 label-precision bar.</a:t>
            </a:r>
          </a:p>
        </p:txBody>
      </p:sp>
      <p:sp>
        <p:nvSpPr>
          <p:cNvPr id="57" name="TextBox 56"/>
          <p:cNvSpPr txBox="1"/>
          <p:nvPr/>
        </p:nvSpPr>
        <p:spPr>
          <a:xfrm>
            <a:off x="21579840" y="21393404"/>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213 seconds in one crop plot</a:t>
            </a:r>
          </a:p>
        </p:txBody>
      </p:sp>
      <p:sp>
        <p:nvSpPr>
          <p:cNvPr id="58" name="Rectangle 57"/>
          <p:cNvSpPr/>
          <p:nvPr/>
        </p:nvSpPr>
        <p:spPr>
          <a:xfrm>
            <a:off x="21579840" y="2195474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9" name="Picture 58" descr="h_drive.png"/>
          <p:cNvPicPr>
            <a:picLocks noChangeAspect="1"/>
          </p:cNvPicPr>
          <p:nvPr/>
        </p:nvPicPr>
        <p:blipFill>
          <a:blip r:embed="rId4"/>
          <a:stretch>
            <a:fillRect/>
          </a:stretch>
        </p:blipFill>
        <p:spPr>
          <a:xfrm>
            <a:off x="21579840" y="22283928"/>
            <a:ext cx="10607040" cy="4023360"/>
          </a:xfrm>
          <a:prstGeom prst="rect">
            <a:avLst/>
          </a:prstGeom>
        </p:spPr>
      </p:pic>
      <p:sp>
        <p:nvSpPr>
          <p:cNvPr id="60" name="TextBox 59"/>
          <p:cNvSpPr txBox="1"/>
          <p:nvPr/>
        </p:nvSpPr>
        <p:spPr>
          <a:xfrm>
            <a:off x="21579840" y="26417016"/>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6E6759"/>
                </a:solidFill>
                <a:latin typeface="Arial"/>
              </a:rPr>
              <a:t>Figure 3.  Robot 241, 2026-08-29: one 213 s pass through a crop plot. (h) GPS track from the board fix. (i) IMU heading over the same pass.</a:t>
            </a:r>
          </a:p>
        </p:txBody>
      </p:sp>
      <p:sp>
        <p:nvSpPr>
          <p:cNvPr id="61" name="TextBox 60"/>
          <p:cNvSpPr txBox="1"/>
          <p:nvPr/>
        </p:nvSpPr>
        <p:spPr>
          <a:xfrm>
            <a:off x="21579840" y="2720746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longest single pass the platform holds: 141 m of track from 211 fixes, with heading from the IMU over the same 213 seconds. The platform holds 18 passes that carry position.</a:t>
            </a:r>
          </a:p>
        </p:txBody>
      </p:sp>
      <p:sp>
        <p:nvSpPr>
          <p:cNvPr id="62" name="TextBox 61"/>
          <p:cNvSpPr txBox="1"/>
          <p:nvPr/>
        </p:nvSpPr>
        <p:spPr>
          <a:xfrm>
            <a:off x="32552640" y="7933943"/>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A drive becomes a dataset as it opens</a:t>
            </a:r>
          </a:p>
        </p:txBody>
      </p:sp>
      <p:sp>
        <p:nvSpPr>
          <p:cNvPr id="63" name="Rectangle 62"/>
          <p:cNvSpPr/>
          <p:nvPr/>
        </p:nvSpPr>
        <p:spPr>
          <a:xfrm>
            <a:off x="32552640" y="8495284"/>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32552640" y="882446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vehicle opens a session and the platform registers it as a governed dataset at that moment, not after the drive ends. Frames and sensor batches arrive over one API key. Robot 241 sends camera, GPS and two IMUs; the laser cart sends camera, laser state, vehicle telemetry and its own detections, and no position at all.</a:t>
            </a:r>
          </a:p>
        </p:txBody>
      </p:sp>
      <p:sp>
        <p:nvSpPr>
          <p:cNvPr id="65" name="TextBox 64"/>
          <p:cNvSpPr txBox="1"/>
          <p:nvPr/>
        </p:nvSpPr>
        <p:spPr>
          <a:xfrm>
            <a:off x="32552640" y="10625835"/>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Four frames, as recorded</a:t>
            </a:r>
          </a:p>
        </p:txBody>
      </p:sp>
      <p:sp>
        <p:nvSpPr>
          <p:cNvPr id="66" name="Rectangle 65"/>
          <p:cNvSpPr/>
          <p:nvPr/>
        </p:nvSpPr>
        <p:spPr>
          <a:xfrm>
            <a:off x="32552640" y="11187175"/>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cture 66" descr="l_robots.png"/>
          <p:cNvPicPr>
            <a:picLocks noChangeAspect="1"/>
          </p:cNvPicPr>
          <p:nvPr/>
        </p:nvPicPr>
        <p:blipFill>
          <a:blip r:embed="rId5"/>
          <a:stretch>
            <a:fillRect/>
          </a:stretch>
        </p:blipFill>
        <p:spPr>
          <a:xfrm>
            <a:off x="32552640" y="11516359"/>
            <a:ext cx="10607040" cy="2377440"/>
          </a:xfrm>
          <a:prstGeom prst="rect">
            <a:avLst/>
          </a:prstGeom>
        </p:spPr>
      </p:pic>
      <p:sp>
        <p:nvSpPr>
          <p:cNvPr id="68" name="TextBox 67"/>
          <p:cNvSpPr txBox="1"/>
          <p:nvPr/>
        </p:nvSpPr>
        <p:spPr>
          <a:xfrm>
            <a:off x="32552640" y="14003527"/>
            <a:ext cx="10607040" cy="365760"/>
          </a:xfrm>
          <a:prstGeom prst="rect">
            <a:avLst/>
          </a:prstGeom>
          <a:noFill/>
        </p:spPr>
        <p:txBody>
          <a:bodyPr wrap="square" lIns="0" rIns="0" tIns="0" bIns="0">
            <a:spAutoFit/>
          </a:bodyPr>
          <a:lstStyle/>
          <a:p>
            <a:pPr algn="l">
              <a:lnSpc>
                <a:spcPct val="118000"/>
              </a:lnSpc>
              <a:spcAft>
                <a:spcPts val="0"/>
              </a:spcAft>
            </a:pPr>
            <a:r>
              <a:rPr sz="1600" b="0">
                <a:solidFill>
                  <a:srgbClr val="6E6759"/>
                </a:solidFill>
                <a:latin typeface="Arial"/>
              </a:rPr>
              <a:t>Figure 4.  Frames as recorded, unenhanced. Robot 241 has sent 2,238 frames at 640 x 360 and 1 Hz, the laser cart 427, and 75 of the cart's were taken in a field. None of the 2,686 is labelled. The rectangle in the down camera is the cart's fixed work-zone overlay. It is drawn on every frame, including the ones with no vegetation in them.</a:t>
            </a:r>
          </a:p>
        </p:txBody>
      </p:sp>
      <p:sp>
        <p:nvSpPr>
          <p:cNvPr id="69" name="TextBox 68"/>
          <p:cNvSpPr txBox="1"/>
          <p:nvPr/>
        </p:nvSpPr>
        <p:spPr>
          <a:xfrm>
            <a:off x="32552640" y="15273527"/>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Nothing here is enhanced and nothing is labelled. The rectangle in the cart's down camera is a fixed work-zone overlay: it sits at the same pixels on frames with no vegetation in them at all.</a:t>
            </a:r>
          </a:p>
        </p:txBody>
      </p:sp>
      <p:sp>
        <p:nvSpPr>
          <p:cNvPr id="70" name="TextBox 69"/>
          <p:cNvSpPr txBox="1"/>
          <p:nvPr/>
        </p:nvSpPr>
        <p:spPr>
          <a:xfrm>
            <a:off x="32552640" y="16765016"/>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Only one robot has the button</a:t>
            </a:r>
          </a:p>
        </p:txBody>
      </p:sp>
      <p:sp>
        <p:nvSpPr>
          <p:cNvPr id="71" name="Rectangle 70"/>
          <p:cNvSpPr/>
          <p:nvPr/>
        </p:nvSpPr>
        <p:spPr>
          <a:xfrm>
            <a:off x="32552640" y="17326355"/>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32552640" y="17655539"/>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The Drive button appears on the 241 project and not on the laser cart's, because the allow-list holds one target. The rover has been dark since 2026-08-28: the platform answers a drive request today with its own offline page. The cart has never been drivable from the platform.</a:t>
            </a:r>
          </a:p>
        </p:txBody>
      </p:sp>
      <p:sp>
        <p:nvSpPr>
          <p:cNvPr id="73" name="TextBox 72"/>
          <p:cNvSpPr txBox="1"/>
          <p:nvPr/>
        </p:nvSpPr>
        <p:spPr>
          <a:xfrm>
            <a:off x="32552640" y="19456908"/>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Which decisions a model makes</a:t>
            </a:r>
          </a:p>
        </p:txBody>
      </p:sp>
      <p:sp>
        <p:nvSpPr>
          <p:cNvPr id="74" name="Rectangle 73"/>
          <p:cNvSpPr/>
          <p:nvPr/>
        </p:nvSpPr>
        <p:spPr>
          <a:xfrm>
            <a:off x="32552640" y="20018248"/>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32552640" y="20347432"/>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language model decides what the collector goes after next, judges whether a candidate dataset is on topic, and reviews a finished step. Those run on the cluster, as batch jobs, on open weights. The lab box hosts only the small guide model, and a verdict produced there is marked in its own record as a draft that may not be reported.</a:t>
            </a:r>
          </a:p>
        </p:txBody>
      </p:sp>
      <p:sp>
        <p:nvSpPr>
          <p:cNvPr id="76" name="TextBox 75"/>
          <p:cNvSpPr txBox="1"/>
          <p:nvPr/>
        </p:nvSpPr>
        <p:spPr>
          <a:xfrm>
            <a:off x="32552640" y="22458680"/>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Any research field is a project</a:t>
            </a:r>
          </a:p>
        </p:txBody>
      </p:sp>
      <p:sp>
        <p:nvSpPr>
          <p:cNvPr id="77" name="Rectangle 76"/>
          <p:cNvSpPr/>
          <p:nvPr/>
        </p:nvSpPr>
        <p:spPr>
          <a:xfrm>
            <a:off x="32552640" y="23020020"/>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32552640" y="23349204"/>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A lab member opens a project for any data type and any field, uploads images, video or sensor logs, and gets an automatic diagnosis before choosing what to do next. Weed detection is one project on this platform. The 241 rover, the laser cart and a Unitree humanoid each have their own.</a:t>
            </a:r>
          </a:p>
        </p:txBody>
      </p:sp>
      <p:sp>
        <p:nvSpPr>
          <p:cNvPr id="79" name="TextBox 78"/>
          <p:cNvSpPr txBox="1"/>
          <p:nvPr/>
        </p:nvSpPr>
        <p:spPr>
          <a:xfrm>
            <a:off x="32552640" y="25150572"/>
            <a:ext cx="10607040" cy="365760"/>
          </a:xfrm>
          <a:prstGeom prst="rect">
            <a:avLst/>
          </a:prstGeom>
          <a:noFill/>
        </p:spPr>
        <p:txBody>
          <a:bodyPr wrap="square" lIns="0" rIns="0" tIns="0" bIns="0">
            <a:spAutoFit/>
          </a:bodyPr>
          <a:lstStyle/>
          <a:p>
            <a:pPr algn="l">
              <a:lnSpc>
                <a:spcPct val="95000"/>
              </a:lnSpc>
              <a:spcAft>
                <a:spcPts val="0"/>
              </a:spcAft>
            </a:pPr>
            <a:r>
              <a:rPr sz="3400" b="1">
                <a:solidFill>
                  <a:srgbClr val="2B2A26"/>
                </a:solidFill>
                <a:latin typeface="Times New Roman"/>
              </a:rPr>
              <a:t>Talking back to a robot</a:t>
            </a:r>
          </a:p>
        </p:txBody>
      </p:sp>
      <p:sp>
        <p:nvSpPr>
          <p:cNvPr id="80" name="Rectangle 79"/>
          <p:cNvSpPr/>
          <p:nvPr/>
        </p:nvSpPr>
        <p:spPr>
          <a:xfrm>
            <a:off x="32552640" y="25711912"/>
            <a:ext cx="10607040" cy="27432"/>
          </a:xfrm>
          <a:prstGeom prst="rect">
            <a:avLst/>
          </a:prstGeom>
          <a:solidFill>
            <a:srgbClr val="8A4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2552640" y="26041096"/>
            <a:ext cx="10607040" cy="365760"/>
          </a:xfrm>
          <a:prstGeom prst="rect">
            <a:avLst/>
          </a:prstGeom>
          <a:noFill/>
        </p:spPr>
        <p:txBody>
          <a:bodyPr wrap="square" lIns="0" rIns="0" tIns="0" bIns="0">
            <a:spAutoFit/>
          </a:bodyPr>
          <a:lstStyle/>
          <a:p>
            <a:pPr algn="l">
              <a:lnSpc>
                <a:spcPct val="122000"/>
              </a:lnSpc>
              <a:spcAft>
                <a:spcPts val="1400"/>
              </a:spcAft>
            </a:pPr>
            <a:r>
              <a:rPr sz="2000" b="0">
                <a:solidFill>
                  <a:srgbClr val="2B2A26"/>
                </a:solidFill>
                <a:latin typeface="Arial"/>
              </a:rPr>
              <a:t>Besides the drive relay, the platform sends a robot exactly one thing: advisory text. The rover polls for it and shows deterministic warnings about battery, current and temperature. That poll has returned 406 times. No platform code path sends an actuation command to any robot.</a:t>
            </a:r>
          </a:p>
        </p:txBody>
      </p:sp>
      <p:sp>
        <p:nvSpPr>
          <p:cNvPr id="82" name="Rectangle 81"/>
          <p:cNvSpPr/>
          <p:nvPr/>
        </p:nvSpPr>
        <p:spPr>
          <a:xfrm>
            <a:off x="731520" y="30632400"/>
            <a:ext cx="42428160" cy="20116"/>
          </a:xfrm>
          <a:prstGeom prst="rect">
            <a:avLst/>
          </a:prstGeom>
          <a:solidFill>
            <a:srgbClr val="D8D0B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73152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Standing today. The collector and trainer are paused after a stop-loss on 2026-08-29. The rover has been off the tailnet since then and the platform answers a drive request with its offline page. The supervisor is advisory. None of the 2,686 frames is labelled.</a:t>
            </a:r>
          </a:p>
        </p:txBody>
      </p:sp>
      <p:sp>
        <p:nvSpPr>
          <p:cNvPr id="84" name="TextBox 83"/>
          <p:cNvSpPr txBox="1"/>
          <p:nvPr/>
        </p:nvSpPr>
        <p:spPr>
          <a:xfrm>
            <a:off x="15026640"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How the numbers were made. Most in-domain numbers are mAP50-95 on the same 1,977 images under Ultralytics. RF-DETR is pycocotools and the zero-shot column is mAP50 on the 848-image split; neither is differenced against the rest. That holdout is also the validation set during training, so every mAP here is a run's best epoch.</a:t>
            </a:r>
          </a:p>
        </p:txBody>
      </p:sp>
      <p:sp>
        <p:nvSpPr>
          <p:cNvPr id="85" name="TextBox 84"/>
          <p:cNvSpPr txBox="1"/>
          <p:nvPr/>
        </p:nvSpPr>
        <p:spPr>
          <a:xfrm>
            <a:off x="29321759" y="30861000"/>
            <a:ext cx="13837920" cy="365760"/>
          </a:xfrm>
          <a:prstGeom prst="rect">
            <a:avLst/>
          </a:prstGeom>
          <a:noFill/>
        </p:spPr>
        <p:txBody>
          <a:bodyPr wrap="square" lIns="0" rIns="0" tIns="0" bIns="0">
            <a:spAutoFit/>
          </a:bodyPr>
          <a:lstStyle/>
          <a:p>
            <a:pPr algn="l">
              <a:lnSpc>
                <a:spcPct val="122000"/>
              </a:lnSpc>
              <a:spcAft>
                <a:spcPts val="1200"/>
              </a:spcAft>
            </a:pPr>
            <a:r>
              <a:rPr sz="1600" b="0">
                <a:solidFill>
                  <a:srgbClr val="6E6759"/>
                </a:solidFill>
                <a:latin typeface="Arial"/>
              </a:rPr>
              <a:t>Numbers we withdrew. 0.910 was a data leak, found by a content-level check we built after publishing it. 0.9033 is the best of four unseeded runs and only one of the four crossed 0.90. An earlier reading of the ladder as a flat curve is retracted.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Middle Tennessee State University, Murfreesboro, TN, USA</dc:title>
  <dc:subject/>
  <dc:creator>Harry He</dc:creator>
  <cp:keywords/>
  <dc:description>generated using python-pptx</dc:description>
  <cp:lastModifiedBy>Harry He</cp:lastModifiedBy>
  <cp:revision>1</cp:revision>
  <dcterms:created xsi:type="dcterms:W3CDTF">2013-01-27T09:14:16Z</dcterms:created>
  <dcterms:modified xsi:type="dcterms:W3CDTF">2013-01-27T09:15:58Z</dcterms:modified>
  <cp:category/>
</cp:coreProperties>
</file>