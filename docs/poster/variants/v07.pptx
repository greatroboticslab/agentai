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F1EB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2B2A26"/>
                </a:solidFill>
                <a:latin typeface="Times New Roman"/>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2B2A26"/>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D8D0BF"/>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2B2A26"/>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9" name="Rectangle 8"/>
          <p:cNvSpPr/>
          <p:nvPr/>
        </p:nvSpPr>
        <p:spPr>
          <a:xfrm>
            <a:off x="731520" y="5820663"/>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Times New Roman"/>
              </a:rPr>
              <a:t>2,686</a:t>
            </a:r>
          </a:p>
        </p:txBody>
      </p:sp>
      <p:sp>
        <p:nvSpPr>
          <p:cNvPr id="11" name="TextBox 10"/>
          <p:cNvSpPr txBox="1"/>
          <p:nvPr/>
        </p:nvSpPr>
        <p:spPr>
          <a:xfrm>
            <a:off x="731520"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camera frames</a:t>
            </a:r>
          </a:p>
        </p:txBody>
      </p:sp>
      <p:sp>
        <p:nvSpPr>
          <p:cNvPr id="12" name="TextBox 11"/>
          <p:cNvSpPr txBox="1"/>
          <p:nvPr/>
        </p:nvSpPr>
        <p:spPr>
          <a:xfrm>
            <a:off x="731520"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26 drives, 2 robots, 0 labelled</a:t>
            </a:r>
          </a:p>
        </p:txBody>
      </p:sp>
      <p:sp>
        <p:nvSpPr>
          <p:cNvPr id="13" name="TextBox 12"/>
          <p:cNvSpPr txBox="1"/>
          <p:nvPr/>
        </p:nvSpPr>
        <p:spPr>
          <a:xfrm>
            <a:off x="9317736"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Times New Roman"/>
              </a:rPr>
              <a:t>91,955</a:t>
            </a:r>
          </a:p>
        </p:txBody>
      </p:sp>
      <p:sp>
        <p:nvSpPr>
          <p:cNvPr id="14" name="TextBox 13"/>
          <p:cNvSpPr txBox="1"/>
          <p:nvPr/>
        </p:nvSpPr>
        <p:spPr>
          <a:xfrm>
            <a:off x="9317736"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telemetry rows</a:t>
            </a:r>
          </a:p>
        </p:txBody>
      </p:sp>
      <p:sp>
        <p:nvSpPr>
          <p:cNvPr id="15" name="TextBox 14"/>
          <p:cNvSpPr txBox="1"/>
          <p:nvPr/>
        </p:nvSpPr>
        <p:spPr>
          <a:xfrm>
            <a:off x="9317736"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nine streams, counted line by line</a:t>
            </a:r>
          </a:p>
        </p:txBody>
      </p:sp>
      <p:sp>
        <p:nvSpPr>
          <p:cNvPr id="16" name="TextBox 15"/>
          <p:cNvSpPr txBox="1"/>
          <p:nvPr/>
        </p:nvSpPr>
        <p:spPr>
          <a:xfrm>
            <a:off x="17903952"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Times New Roman"/>
              </a:rPr>
              <a:t>342 m</a:t>
            </a:r>
          </a:p>
        </p:txBody>
      </p:sp>
      <p:sp>
        <p:nvSpPr>
          <p:cNvPr id="17" name="TextBox 16"/>
          <p:cNvSpPr txBox="1"/>
          <p:nvPr/>
        </p:nvSpPr>
        <p:spPr>
          <a:xfrm>
            <a:off x="17903952"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of GPS track</a:t>
            </a:r>
          </a:p>
        </p:txBody>
      </p:sp>
      <p:sp>
        <p:nvSpPr>
          <p:cNvPr id="18" name="TextBox 17"/>
          <p:cNvSpPr txBox="1"/>
          <p:nvPr/>
        </p:nvSpPr>
        <p:spPr>
          <a:xfrm>
            <a:off x="17903952"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1,502 fixes over 18 drives</a:t>
            </a:r>
          </a:p>
        </p:txBody>
      </p:sp>
      <p:sp>
        <p:nvSpPr>
          <p:cNvPr id="19" name="TextBox 18"/>
          <p:cNvSpPr txBox="1"/>
          <p:nvPr/>
        </p:nvSpPr>
        <p:spPr>
          <a:xfrm>
            <a:off x="26490168"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Times New Roman"/>
              </a:rPr>
              <a:t>27</a:t>
            </a:r>
          </a:p>
        </p:txBody>
      </p:sp>
      <p:sp>
        <p:nvSpPr>
          <p:cNvPr id="20" name="TextBox 19"/>
          <p:cNvSpPr txBox="1"/>
          <p:nvPr/>
        </p:nvSpPr>
        <p:spPr>
          <a:xfrm>
            <a:off x="26490168"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distinct models run</a:t>
            </a:r>
          </a:p>
        </p:txBody>
      </p:sp>
      <p:sp>
        <p:nvSpPr>
          <p:cNvPr id="21" name="TextBox 20"/>
          <p:cNvSpPr txBox="1"/>
          <p:nvPr/>
        </p:nvSpPr>
        <p:spPr>
          <a:xfrm>
            <a:off x="26490168"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four families, one deployed</a:t>
            </a:r>
          </a:p>
        </p:txBody>
      </p:sp>
      <p:sp>
        <p:nvSpPr>
          <p:cNvPr id="22" name="TextBox 21"/>
          <p:cNvSpPr txBox="1"/>
          <p:nvPr/>
        </p:nvSpPr>
        <p:spPr>
          <a:xfrm>
            <a:off x="35076384"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Times New Roman"/>
              </a:rPr>
              <a:t>0</a:t>
            </a:r>
          </a:p>
        </p:txBody>
      </p:sp>
      <p:sp>
        <p:nvSpPr>
          <p:cNvPr id="23" name="TextBox 22"/>
          <p:cNvSpPr txBox="1"/>
          <p:nvPr/>
        </p:nvSpPr>
        <p:spPr>
          <a:xfrm>
            <a:off x="35076384"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robot frames labelled</a:t>
            </a:r>
          </a:p>
        </p:txBody>
      </p:sp>
      <p:sp>
        <p:nvSpPr>
          <p:cNvPr id="24" name="TextBox 23"/>
          <p:cNvSpPr txBox="1"/>
          <p:nvPr/>
        </p:nvSpPr>
        <p:spPr>
          <a:xfrm>
            <a:off x="35076384"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the whole archive, so far</a:t>
            </a:r>
          </a:p>
        </p:txBody>
      </p:sp>
      <p:sp>
        <p:nvSpPr>
          <p:cNvPr id="25" name="Rectangle 24"/>
          <p:cNvSpPr/>
          <p:nvPr/>
        </p:nvSpPr>
        <p:spPr>
          <a:xfrm>
            <a:off x="731520" y="7440167"/>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793394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One platform for every robot the lab owns</a:t>
            </a:r>
          </a:p>
        </p:txBody>
      </p:sp>
      <p:sp>
        <p:nvSpPr>
          <p:cNvPr id="27" name="Rectangle 26"/>
          <p:cNvSpPr/>
          <p:nvPr/>
        </p:nvSpPr>
        <p:spPr>
          <a:xfrm>
            <a:off x="731520" y="8495284"/>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2446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9" name="TextBox 28"/>
          <p:cNvSpPr txBox="1"/>
          <p:nvPr/>
        </p:nvSpPr>
        <p:spPr>
          <a:xfrm>
            <a:off x="731520" y="10315955"/>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Times New Roman"/>
              </a:rPr>
              <a:t>1,389</a:t>
            </a:r>
          </a:p>
        </p:txBody>
      </p:sp>
      <p:sp>
        <p:nvSpPr>
          <p:cNvPr id="30" name="TextBox 29"/>
          <p:cNvSpPr txBox="1"/>
          <p:nvPr/>
        </p:nvSpPr>
        <p:spPr>
          <a:xfrm>
            <a:off x="731520" y="11119103"/>
            <a:ext cx="2048256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joystick commands through the platform</a:t>
            </a:r>
          </a:p>
        </p:txBody>
      </p:sp>
      <p:sp>
        <p:nvSpPr>
          <p:cNvPr id="31" name="TextBox 30"/>
          <p:cNvSpPr txBox="1"/>
          <p:nvPr/>
        </p:nvSpPr>
        <p:spPr>
          <a:xfrm>
            <a:off x="731520" y="11589511"/>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Driving a robot from a browser</a:t>
            </a:r>
          </a:p>
        </p:txBody>
      </p:sp>
      <p:sp>
        <p:nvSpPr>
          <p:cNvPr id="32" name="Rectangle 31"/>
          <p:cNvSpPr/>
          <p:nvPr/>
        </p:nvSpPr>
        <p:spPr>
          <a:xfrm>
            <a:off x="731520" y="12150851"/>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12480035"/>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4" name="TextBox 33"/>
          <p:cNvSpPr txBox="1"/>
          <p:nvPr/>
        </p:nvSpPr>
        <p:spPr>
          <a:xfrm>
            <a:off x="731520" y="1397152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Left alone for fifteen rounds</a:t>
            </a:r>
          </a:p>
        </p:txBody>
      </p:sp>
      <p:sp>
        <p:nvSpPr>
          <p:cNvPr id="35" name="Rectangle 34"/>
          <p:cNvSpPr/>
          <p:nvPr/>
        </p:nvSpPr>
        <p:spPr>
          <a:xfrm>
            <a:off x="731520" y="14532863"/>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f_rounds.png"/>
          <p:cNvPicPr>
            <a:picLocks noChangeAspect="1"/>
          </p:cNvPicPr>
          <p:nvPr/>
        </p:nvPicPr>
        <p:blipFill>
          <a:blip r:embed="rId2"/>
          <a:stretch>
            <a:fillRect/>
          </a:stretch>
        </p:blipFill>
        <p:spPr>
          <a:xfrm>
            <a:off x="731520" y="14862047"/>
            <a:ext cx="20482560" cy="4663440"/>
          </a:xfrm>
          <a:prstGeom prst="rect">
            <a:avLst/>
          </a:prstGeom>
        </p:spPr>
      </p:pic>
      <p:sp>
        <p:nvSpPr>
          <p:cNvPr id="37" name="TextBox 36"/>
          <p:cNvSpPr txBox="1"/>
          <p:nvPr/>
        </p:nvSpPr>
        <p:spPr>
          <a:xfrm>
            <a:off x="731520" y="19635216"/>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6E6759"/>
                </a:solidFill>
                <a:latin typeface="Arial"/>
              </a:rPr>
              <a:t>Figure 1.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38" name="TextBox 37"/>
          <p:cNvSpPr txBox="1"/>
          <p:nvPr/>
        </p:nvSpPr>
        <p:spPr>
          <a:xfrm>
            <a:off x="731520" y="20665439"/>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39" name="TextBox 38"/>
          <p:cNvSpPr txBox="1"/>
          <p:nvPr/>
        </p:nvSpPr>
        <p:spPr>
          <a:xfrm>
            <a:off x="2157984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Robots on the platform today</a:t>
            </a:r>
          </a:p>
        </p:txBody>
      </p:sp>
      <p:sp>
        <p:nvSpPr>
          <p:cNvPr id="40" name="Rectangle 39"/>
          <p:cNvSpPr/>
          <p:nvPr/>
        </p:nvSpPr>
        <p:spPr>
          <a:xfrm>
            <a:off x="21579840" y="849528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157984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2" name="TextBox 41"/>
          <p:cNvSpPr txBox="1"/>
          <p:nvPr/>
        </p:nvSpPr>
        <p:spPr>
          <a:xfrm>
            <a:off x="21579840" y="1093571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Times New Roman"/>
              </a:rPr>
              <a:t>14</a:t>
            </a:r>
          </a:p>
        </p:txBody>
      </p:sp>
      <p:sp>
        <p:nvSpPr>
          <p:cNvPr id="43" name="TextBox 42"/>
          <p:cNvSpPr txBox="1"/>
          <p:nvPr/>
        </p:nvSpPr>
        <p:spPr>
          <a:xfrm>
            <a:off x="21579840" y="1173886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analysis tools the planner can choose from</a:t>
            </a:r>
          </a:p>
        </p:txBody>
      </p:sp>
      <p:sp>
        <p:nvSpPr>
          <p:cNvPr id="44" name="TextBox 43"/>
          <p:cNvSpPr txBox="1"/>
          <p:nvPr/>
        </p:nvSpPr>
        <p:spPr>
          <a:xfrm>
            <a:off x="21579840" y="122092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Ask a dataset what it is good for</a:t>
            </a:r>
          </a:p>
        </p:txBody>
      </p:sp>
      <p:sp>
        <p:nvSpPr>
          <p:cNvPr id="45" name="Rectangle 44"/>
          <p:cNvSpPr/>
          <p:nvPr/>
        </p:nvSpPr>
        <p:spPr>
          <a:xfrm>
            <a:off x="21579840" y="1277061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579840" y="130997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7" name="TextBox 46"/>
          <p:cNvSpPr txBox="1"/>
          <p:nvPr/>
        </p:nvSpPr>
        <p:spPr>
          <a:xfrm>
            <a:off x="21579840" y="1490116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On disk today</a:t>
            </a:r>
          </a:p>
        </p:txBody>
      </p:sp>
      <p:sp>
        <p:nvSpPr>
          <p:cNvPr id="48" name="Rectangle 47"/>
          <p:cNvSpPr/>
          <p:nvPr/>
        </p:nvSpPr>
        <p:spPr>
          <a:xfrm>
            <a:off x="21579840" y="1546250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579840" y="1579168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Two robots have put 2,686 camera frames and 91,955 telemetry rows across nine streams onto the platform, over 26 drives, with 342 m of GPS track from 1,502 fixes. None of the frames is labelled.</a:t>
            </a:r>
          </a:p>
        </p:txBody>
      </p:sp>
      <p:sp>
        <p:nvSpPr>
          <p:cNvPr id="50" name="TextBox 49"/>
          <p:cNvSpPr txBox="1"/>
          <p:nvPr/>
        </p:nvSpPr>
        <p:spPr>
          <a:xfrm>
            <a:off x="21579840" y="1728317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Times New Roman"/>
              </a:rPr>
              <a:t>92</a:t>
            </a:r>
          </a:p>
        </p:txBody>
      </p:sp>
      <p:sp>
        <p:nvSpPr>
          <p:cNvPr id="51" name="TextBox 50"/>
          <p:cNvSpPr txBox="1"/>
          <p:nvPr/>
        </p:nvSpPr>
        <p:spPr>
          <a:xfrm>
            <a:off x="21579840" y="1808632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questions asked of a dataset so far</a:t>
            </a:r>
          </a:p>
        </p:txBody>
      </p:sp>
      <p:sp>
        <p:nvSpPr>
          <p:cNvPr id="52" name="TextBox 51"/>
          <p:cNvSpPr txBox="1"/>
          <p:nvPr/>
        </p:nvSpPr>
        <p:spPr>
          <a:xfrm>
            <a:off x="21579840" y="1855673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Asked something it had never seen</a:t>
            </a:r>
          </a:p>
        </p:txBody>
      </p:sp>
      <p:sp>
        <p:nvSpPr>
          <p:cNvPr id="53" name="Rectangle 52"/>
          <p:cNvSpPr/>
          <p:nvPr/>
        </p:nvSpPr>
        <p:spPr>
          <a:xfrm>
            <a:off x="21579840" y="1911807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1579840" y="1944725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5" name="TextBox 54"/>
          <p:cNvSpPr txBox="1"/>
          <p:nvPr/>
        </p:nvSpPr>
        <p:spPr>
          <a:xfrm>
            <a:off x="21579840" y="2124862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More web data, less accuracy</a:t>
            </a:r>
          </a:p>
        </p:txBody>
      </p:sp>
      <p:sp>
        <p:nvSpPr>
          <p:cNvPr id="56" name="Rectangle 55"/>
          <p:cNvSpPr/>
          <p:nvPr/>
        </p:nvSpPr>
        <p:spPr>
          <a:xfrm>
            <a:off x="21579840" y="2180996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579840" y="2213914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58" name="TextBox 57"/>
          <p:cNvSpPr txBox="1"/>
          <p:nvPr/>
        </p:nvSpPr>
        <p:spPr>
          <a:xfrm>
            <a:off x="3255264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A drive becomes a dataset as it opens</a:t>
            </a:r>
          </a:p>
        </p:txBody>
      </p:sp>
      <p:sp>
        <p:nvSpPr>
          <p:cNvPr id="59" name="Rectangle 58"/>
          <p:cNvSpPr/>
          <p:nvPr/>
        </p:nvSpPr>
        <p:spPr>
          <a:xfrm>
            <a:off x="32552640" y="849528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255264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1" name="TextBox 60"/>
          <p:cNvSpPr txBox="1"/>
          <p:nvPr/>
        </p:nvSpPr>
        <p:spPr>
          <a:xfrm>
            <a:off x="32552640" y="1062583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Four frames, as recorded</a:t>
            </a:r>
          </a:p>
        </p:txBody>
      </p:sp>
      <p:sp>
        <p:nvSpPr>
          <p:cNvPr id="62" name="Rectangle 61"/>
          <p:cNvSpPr/>
          <p:nvPr/>
        </p:nvSpPr>
        <p:spPr>
          <a:xfrm>
            <a:off x="32552640" y="11187175"/>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l_robots.png"/>
          <p:cNvPicPr>
            <a:picLocks noChangeAspect="1"/>
          </p:cNvPicPr>
          <p:nvPr/>
        </p:nvPicPr>
        <p:blipFill>
          <a:blip r:embed="rId3"/>
          <a:stretch>
            <a:fillRect/>
          </a:stretch>
        </p:blipFill>
        <p:spPr>
          <a:xfrm>
            <a:off x="32552640" y="11516359"/>
            <a:ext cx="10607040" cy="2377440"/>
          </a:xfrm>
          <a:prstGeom prst="rect">
            <a:avLst/>
          </a:prstGeom>
        </p:spPr>
      </p:pic>
      <p:sp>
        <p:nvSpPr>
          <p:cNvPr id="64" name="TextBox 63"/>
          <p:cNvSpPr txBox="1"/>
          <p:nvPr/>
        </p:nvSpPr>
        <p:spPr>
          <a:xfrm>
            <a:off x="32552640" y="14003527"/>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6E6759"/>
                </a:solidFill>
                <a:latin typeface="Arial"/>
              </a:rPr>
              <a:t>Figure 2.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5" name="TextBox 64"/>
          <p:cNvSpPr txBox="1"/>
          <p:nvPr/>
        </p:nvSpPr>
        <p:spPr>
          <a:xfrm>
            <a:off x="32552640" y="152735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Nothing here is enhanced and nothing is labelled. The rectangle in the cart's down camera is a fixed work-zone overlay: it sits at the same pixels on frames with no vegetation in them at all.</a:t>
            </a:r>
          </a:p>
        </p:txBody>
      </p:sp>
      <p:sp>
        <p:nvSpPr>
          <p:cNvPr id="66" name="TextBox 65"/>
          <p:cNvSpPr txBox="1"/>
          <p:nvPr/>
        </p:nvSpPr>
        <p:spPr>
          <a:xfrm>
            <a:off x="32552640" y="1676501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Only one robot has the button</a:t>
            </a:r>
          </a:p>
        </p:txBody>
      </p:sp>
      <p:sp>
        <p:nvSpPr>
          <p:cNvPr id="67" name="Rectangle 66"/>
          <p:cNvSpPr/>
          <p:nvPr/>
        </p:nvSpPr>
        <p:spPr>
          <a:xfrm>
            <a:off x="32552640" y="17326355"/>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552640" y="17655539"/>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69" name="TextBox 68"/>
          <p:cNvSpPr txBox="1"/>
          <p:nvPr/>
        </p:nvSpPr>
        <p:spPr>
          <a:xfrm>
            <a:off x="32552640" y="1945690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Which decisions a model makes</a:t>
            </a:r>
          </a:p>
        </p:txBody>
      </p:sp>
      <p:sp>
        <p:nvSpPr>
          <p:cNvPr id="70" name="Rectangle 69"/>
          <p:cNvSpPr/>
          <p:nvPr/>
        </p:nvSpPr>
        <p:spPr>
          <a:xfrm>
            <a:off x="32552640" y="20018248"/>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2552640" y="2034743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72" name="TextBox 71"/>
          <p:cNvSpPr txBox="1"/>
          <p:nvPr/>
        </p:nvSpPr>
        <p:spPr>
          <a:xfrm>
            <a:off x="32552640" y="2245868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Any research field is a project</a:t>
            </a:r>
          </a:p>
        </p:txBody>
      </p:sp>
      <p:sp>
        <p:nvSpPr>
          <p:cNvPr id="73" name="Rectangle 72"/>
          <p:cNvSpPr/>
          <p:nvPr/>
        </p:nvSpPr>
        <p:spPr>
          <a:xfrm>
            <a:off x="32552640" y="2302002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2552640" y="2334920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75" name="TextBox 74"/>
          <p:cNvSpPr txBox="1"/>
          <p:nvPr/>
        </p:nvSpPr>
        <p:spPr>
          <a:xfrm>
            <a:off x="32552640" y="251505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Times New Roman"/>
              </a:rPr>
              <a:t>Talking back to a robot</a:t>
            </a:r>
          </a:p>
        </p:txBody>
      </p:sp>
      <p:sp>
        <p:nvSpPr>
          <p:cNvPr id="76" name="Rectangle 75"/>
          <p:cNvSpPr/>
          <p:nvPr/>
        </p:nvSpPr>
        <p:spPr>
          <a:xfrm>
            <a:off x="32552640" y="2571191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2552640" y="260410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78" name="Rectangle 77"/>
          <p:cNvSpPr/>
          <p:nvPr/>
        </p:nvSpPr>
        <p:spPr>
          <a:xfrm>
            <a:off x="731520" y="30632400"/>
            <a:ext cx="42428160" cy="20116"/>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80" name="TextBox 79"/>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81" name="TextBox 80"/>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