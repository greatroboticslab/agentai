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10200" b="1">
                <a:solidFill>
                  <a:srgbClr val="1A1A1A"/>
                </a:solidFill>
                <a:latin typeface="Arial Narrow"/>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1A1A1A"/>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6A6A6A"/>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A1A1A"/>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n_system.png"/>
          <p:cNvPicPr>
            <a:picLocks noChangeAspect="1"/>
          </p:cNvPicPr>
          <p:nvPr/>
        </p:nvPicPr>
        <p:blipFill>
          <a:blip r:embed="rId2"/>
          <a:stretch>
            <a:fillRect/>
          </a:stretch>
        </p:blipFill>
        <p:spPr>
          <a:xfrm>
            <a:off x="731520" y="5879592"/>
            <a:ext cx="20482560" cy="3383280"/>
          </a:xfrm>
          <a:prstGeom prst="rect">
            <a:avLst/>
          </a:prstGeom>
        </p:spPr>
      </p:pic>
      <p:sp>
        <p:nvSpPr>
          <p:cNvPr id="9" name="TextBox 8"/>
          <p:cNvSpPr txBox="1"/>
          <p:nvPr/>
        </p:nvSpPr>
        <p:spPr>
          <a:xfrm>
            <a:off x="731520" y="9372599"/>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A6A6A"/>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0" name="TextBox 9"/>
          <p:cNvSpPr txBox="1"/>
          <p:nvPr/>
        </p:nvSpPr>
        <p:spPr>
          <a:xfrm>
            <a:off x="731520" y="10776965"/>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One platform for every robot the lab owns</a:t>
            </a:r>
          </a:p>
        </p:txBody>
      </p:sp>
      <p:sp>
        <p:nvSpPr>
          <p:cNvPr id="11" name="Rectangle 10"/>
          <p:cNvSpPr/>
          <p:nvPr/>
        </p:nvSpPr>
        <p:spPr>
          <a:xfrm>
            <a:off x="731520" y="11371325"/>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1700509"/>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3" name="TextBox 12"/>
          <p:cNvSpPr txBox="1"/>
          <p:nvPr/>
        </p:nvSpPr>
        <p:spPr>
          <a:xfrm>
            <a:off x="731520" y="13467841"/>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 drive becomes a dataset as it opens</a:t>
            </a:r>
          </a:p>
        </p:txBody>
      </p:sp>
      <p:sp>
        <p:nvSpPr>
          <p:cNvPr id="14" name="Rectangle 13"/>
          <p:cNvSpPr/>
          <p:nvPr/>
        </p:nvSpPr>
        <p:spPr>
          <a:xfrm>
            <a:off x="731520" y="14062201"/>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39138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16" name="TextBox 15"/>
          <p:cNvSpPr txBox="1"/>
          <p:nvPr/>
        </p:nvSpPr>
        <p:spPr>
          <a:xfrm>
            <a:off x="731520" y="16158717"/>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14</a:t>
            </a:r>
          </a:p>
        </p:txBody>
      </p:sp>
      <p:sp>
        <p:nvSpPr>
          <p:cNvPr id="17" name="TextBox 16"/>
          <p:cNvSpPr txBox="1"/>
          <p:nvPr/>
        </p:nvSpPr>
        <p:spPr>
          <a:xfrm>
            <a:off x="731520" y="16961865"/>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analysis tools the planner can choose from</a:t>
            </a:r>
          </a:p>
        </p:txBody>
      </p:sp>
      <p:sp>
        <p:nvSpPr>
          <p:cNvPr id="18" name="TextBox 17"/>
          <p:cNvSpPr txBox="1"/>
          <p:nvPr/>
        </p:nvSpPr>
        <p:spPr>
          <a:xfrm>
            <a:off x="731520" y="17447767"/>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Ask a dataset what it is good for</a:t>
            </a:r>
          </a:p>
        </p:txBody>
      </p:sp>
      <p:sp>
        <p:nvSpPr>
          <p:cNvPr id="19" name="Rectangle 18"/>
          <p:cNvSpPr/>
          <p:nvPr/>
        </p:nvSpPr>
        <p:spPr>
          <a:xfrm>
            <a:off x="731520" y="18042127"/>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18371311"/>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21" name="TextBox 20"/>
          <p:cNvSpPr txBox="1"/>
          <p:nvPr/>
        </p:nvSpPr>
        <p:spPr>
          <a:xfrm>
            <a:off x="731520" y="20138643"/>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27</a:t>
            </a:r>
          </a:p>
        </p:txBody>
      </p:sp>
      <p:sp>
        <p:nvSpPr>
          <p:cNvPr id="22" name="TextBox 21"/>
          <p:cNvSpPr txBox="1"/>
          <p:nvPr/>
        </p:nvSpPr>
        <p:spPr>
          <a:xfrm>
            <a:off x="731520" y="20941791"/>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distinct models trained, run, or rejected</a:t>
            </a:r>
          </a:p>
        </p:txBody>
      </p:sp>
      <p:sp>
        <p:nvSpPr>
          <p:cNvPr id="23" name="TextBox 22"/>
          <p:cNvSpPr txBox="1"/>
          <p:nvPr/>
        </p:nvSpPr>
        <p:spPr>
          <a:xfrm>
            <a:off x="731520" y="21427693"/>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Everything we trained, ran, or rejected</a:t>
            </a:r>
          </a:p>
        </p:txBody>
      </p:sp>
      <p:sp>
        <p:nvSpPr>
          <p:cNvPr id="24" name="Rectangle 23"/>
          <p:cNvSpPr/>
          <p:nvPr/>
        </p:nvSpPr>
        <p:spPr>
          <a:xfrm>
            <a:off x="731520" y="22022053"/>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m_ledger.png"/>
          <p:cNvPicPr>
            <a:picLocks noChangeAspect="1"/>
          </p:cNvPicPr>
          <p:nvPr/>
        </p:nvPicPr>
        <p:blipFill>
          <a:blip r:embed="rId3"/>
          <a:stretch>
            <a:fillRect/>
          </a:stretch>
        </p:blipFill>
        <p:spPr>
          <a:xfrm>
            <a:off x="731520" y="22351237"/>
            <a:ext cx="20482560" cy="3749040"/>
          </a:xfrm>
          <a:prstGeom prst="rect">
            <a:avLst/>
          </a:prstGeom>
        </p:spPr>
      </p:pic>
      <p:sp>
        <p:nvSpPr>
          <p:cNvPr id="26" name="TextBox 25"/>
          <p:cNvSpPr txBox="1"/>
          <p:nvPr/>
        </p:nvSpPr>
        <p:spPr>
          <a:xfrm>
            <a:off x="731520" y="26210005"/>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A6A6A"/>
                </a:solidFill>
                <a:latin typeface="Arial"/>
              </a:rPr>
              <a:t>Figure 3.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27" name="TextBox 26"/>
          <p:cNvSpPr txBox="1"/>
          <p:nvPr/>
        </p:nvSpPr>
        <p:spPr>
          <a:xfrm>
            <a:off x="731520" y="27285187"/>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28" name="TextBox 27"/>
          <p:cNvSpPr txBox="1"/>
          <p:nvPr/>
        </p:nvSpPr>
        <p:spPr>
          <a:xfrm>
            <a:off x="22677120" y="10776965"/>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Robots on the platform today</a:t>
            </a:r>
          </a:p>
        </p:txBody>
      </p:sp>
      <p:sp>
        <p:nvSpPr>
          <p:cNvPr id="29" name="Rectangle 28"/>
          <p:cNvSpPr/>
          <p:nvPr/>
        </p:nvSpPr>
        <p:spPr>
          <a:xfrm>
            <a:off x="22677120" y="11371325"/>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677120" y="11700509"/>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1" name="TextBox 30"/>
          <p:cNvSpPr txBox="1"/>
          <p:nvPr/>
        </p:nvSpPr>
        <p:spPr>
          <a:xfrm>
            <a:off x="22677120" y="13467841"/>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1,389</a:t>
            </a:r>
          </a:p>
        </p:txBody>
      </p:sp>
      <p:sp>
        <p:nvSpPr>
          <p:cNvPr id="32" name="TextBox 31"/>
          <p:cNvSpPr txBox="1"/>
          <p:nvPr/>
        </p:nvSpPr>
        <p:spPr>
          <a:xfrm>
            <a:off x="22677120" y="14270989"/>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joystick commands through the platform</a:t>
            </a:r>
          </a:p>
        </p:txBody>
      </p:sp>
      <p:sp>
        <p:nvSpPr>
          <p:cNvPr id="33" name="TextBox 32"/>
          <p:cNvSpPr txBox="1"/>
          <p:nvPr/>
        </p:nvSpPr>
        <p:spPr>
          <a:xfrm>
            <a:off x="22677120" y="14756891"/>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Driving a robot from a browser</a:t>
            </a:r>
          </a:p>
        </p:txBody>
      </p:sp>
      <p:sp>
        <p:nvSpPr>
          <p:cNvPr id="34" name="Rectangle 33"/>
          <p:cNvSpPr/>
          <p:nvPr/>
        </p:nvSpPr>
        <p:spPr>
          <a:xfrm>
            <a:off x="22677120" y="15351251"/>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677120" y="1568043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6" name="TextBox 35"/>
          <p:cNvSpPr txBox="1"/>
          <p:nvPr/>
        </p:nvSpPr>
        <p:spPr>
          <a:xfrm>
            <a:off x="22677120" y="17447767"/>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Left alone for fifteen rounds</a:t>
            </a:r>
          </a:p>
        </p:txBody>
      </p:sp>
      <p:sp>
        <p:nvSpPr>
          <p:cNvPr id="37" name="Rectangle 36"/>
          <p:cNvSpPr/>
          <p:nvPr/>
        </p:nvSpPr>
        <p:spPr>
          <a:xfrm>
            <a:off x="22677120" y="18042127"/>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f_rounds.png"/>
          <p:cNvPicPr>
            <a:picLocks noChangeAspect="1"/>
          </p:cNvPicPr>
          <p:nvPr/>
        </p:nvPicPr>
        <p:blipFill>
          <a:blip r:embed="rId4"/>
          <a:stretch>
            <a:fillRect/>
          </a:stretch>
        </p:blipFill>
        <p:spPr>
          <a:xfrm>
            <a:off x="22677120" y="18371311"/>
            <a:ext cx="20482560" cy="4663440"/>
          </a:xfrm>
          <a:prstGeom prst="rect">
            <a:avLst/>
          </a:prstGeom>
        </p:spPr>
      </p:pic>
      <p:sp>
        <p:nvSpPr>
          <p:cNvPr id="39" name="TextBox 38"/>
          <p:cNvSpPr txBox="1"/>
          <p:nvPr/>
        </p:nvSpPr>
        <p:spPr>
          <a:xfrm>
            <a:off x="22677120" y="23144479"/>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A6A6A"/>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0" name="TextBox 39"/>
          <p:cNvSpPr txBox="1"/>
          <p:nvPr/>
        </p:nvSpPr>
        <p:spPr>
          <a:xfrm>
            <a:off x="22677120" y="24219661"/>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1" name="Rectangle 40"/>
          <p:cNvSpPr/>
          <p:nvPr/>
        </p:nvSpPr>
        <p:spPr>
          <a:xfrm>
            <a:off x="731520" y="30632400"/>
            <a:ext cx="42428160" cy="20116"/>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43" name="TextBox 42"/>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44" name="TextBox 43"/>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