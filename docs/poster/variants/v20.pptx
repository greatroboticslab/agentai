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384048" cy="3108960"/>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737360" y="384048"/>
            <a:ext cx="41422320" cy="365760"/>
          </a:xfrm>
          <a:prstGeom prst="rect">
            <a:avLst/>
          </a:prstGeom>
          <a:noFill/>
        </p:spPr>
        <p:txBody>
          <a:bodyPr wrap="square" lIns="0" rIns="0" tIns="0" bIns="0">
            <a:spAutoFit/>
          </a:bodyPr>
          <a:lstStyle/>
          <a:p>
            <a:pPr algn="l">
              <a:lnSpc>
                <a:spcPct val="95000"/>
              </a:lnSpc>
              <a:spcAft>
                <a:spcPts val="0"/>
              </a:spcAft>
            </a:pPr>
            <a:r>
              <a:rPr sz="10200" b="1">
                <a:solidFill>
                  <a:srgbClr val="1A1A1A"/>
                </a:solidFill>
                <a:latin typeface="Arial Narrow"/>
              </a:rPr>
              <a:t>agentAI: A Research-Data Platform for Physical and Embodied Agents</a:t>
            </a:r>
          </a:p>
        </p:txBody>
      </p:sp>
      <p:sp>
        <p:nvSpPr>
          <p:cNvPr id="5" name="TextBox 4"/>
          <p:cNvSpPr txBox="1"/>
          <p:nvPr/>
        </p:nvSpPr>
        <p:spPr>
          <a:xfrm>
            <a:off x="1737360" y="2121408"/>
            <a:ext cx="41422320" cy="365760"/>
          </a:xfrm>
          <a:prstGeom prst="rect">
            <a:avLst/>
          </a:prstGeom>
          <a:noFill/>
        </p:spPr>
        <p:txBody>
          <a:bodyPr wrap="square" lIns="0" rIns="0" tIns="0" bIns="0">
            <a:spAutoFit/>
          </a:bodyPr>
          <a:lstStyle/>
          <a:p>
            <a:pPr algn="l">
              <a:lnSpc>
                <a:spcPct val="100000"/>
              </a:lnSpc>
              <a:spcAft>
                <a:spcPts val="0"/>
              </a:spcAft>
            </a:pPr>
            <a:r>
              <a:rPr sz="4000" b="1">
                <a:solidFill>
                  <a:srgbClr val="1A1A1A"/>
                </a:solidFill>
                <a:latin typeface="Arial"/>
              </a:rPr>
              <a:t>Harry He   ·   Hongbo Zhang</a:t>
            </a:r>
          </a:p>
        </p:txBody>
      </p:sp>
      <p:sp>
        <p:nvSpPr>
          <p:cNvPr id="6" name="TextBox 5"/>
          <p:cNvSpPr txBox="1"/>
          <p:nvPr/>
        </p:nvSpPr>
        <p:spPr>
          <a:xfrm>
            <a:off x="1737360" y="2761488"/>
            <a:ext cx="41422320" cy="365760"/>
          </a:xfrm>
          <a:prstGeom prst="rect">
            <a:avLst/>
          </a:prstGeom>
          <a:noFill/>
        </p:spPr>
        <p:txBody>
          <a:bodyPr wrap="square" lIns="0" rIns="0" tIns="0" bIns="0">
            <a:spAutoFit/>
          </a:bodyPr>
          <a:lstStyle/>
          <a:p>
            <a:pPr algn="l">
              <a:lnSpc>
                <a:spcPct val="100000"/>
              </a:lnSpc>
              <a:spcAft>
                <a:spcPts val="0"/>
              </a:spcAft>
            </a:pPr>
            <a:r>
              <a:rPr sz="2400" b="0">
                <a:solidFill>
                  <a:srgbClr val="6A6A6A"/>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600" b="0">
                <a:solidFill>
                  <a:srgbClr val="1A1A1A"/>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pic>
        <p:nvPicPr>
          <p:cNvPr id="8" name="Picture 7" descr="n_system.png"/>
          <p:cNvPicPr>
            <a:picLocks noChangeAspect="1"/>
          </p:cNvPicPr>
          <p:nvPr/>
        </p:nvPicPr>
        <p:blipFill>
          <a:blip r:embed="rId2"/>
          <a:stretch>
            <a:fillRect/>
          </a:stretch>
        </p:blipFill>
        <p:spPr>
          <a:xfrm>
            <a:off x="731520" y="5879592"/>
            <a:ext cx="20482560" cy="3383280"/>
          </a:xfrm>
          <a:prstGeom prst="rect">
            <a:avLst/>
          </a:prstGeom>
        </p:spPr>
      </p:pic>
      <p:sp>
        <p:nvSpPr>
          <p:cNvPr id="9" name="TextBox 8"/>
          <p:cNvSpPr txBox="1"/>
          <p:nvPr/>
        </p:nvSpPr>
        <p:spPr>
          <a:xfrm>
            <a:off x="731520" y="9372599"/>
            <a:ext cx="20482560" cy="365760"/>
          </a:xfrm>
          <a:prstGeom prst="rect">
            <a:avLst/>
          </a:prstGeom>
          <a:noFill/>
        </p:spPr>
        <p:txBody>
          <a:bodyPr wrap="square" lIns="0" rIns="0" tIns="0" bIns="0">
            <a:spAutoFit/>
          </a:bodyPr>
          <a:lstStyle/>
          <a:p>
            <a:pPr algn="l">
              <a:lnSpc>
                <a:spcPct val="118000"/>
              </a:lnSpc>
              <a:spcAft>
                <a:spcPts val="0"/>
              </a:spcAft>
            </a:pPr>
            <a:r>
              <a:rPr sz="1700" b="0">
                <a:solidFill>
                  <a:srgbClr val="6A6A6A"/>
                </a:solidFill>
                <a:latin typeface="Arial"/>
              </a:rPr>
              <a:t>Figure 1.  The path as built, from a camera in a crop row to a checkpoint on the cluster. Every stage has run. Three qualifications ride on it. The collector and trainer are paused after a stop-loss on 2026-08-29. The supervisor is advisory and nothing it says is applied. And the last link is not closed: no robot frame has entered training, because none of them is labelled yet.</a:t>
            </a:r>
          </a:p>
        </p:txBody>
      </p:sp>
      <p:sp>
        <p:nvSpPr>
          <p:cNvPr id="10" name="TextBox 9"/>
          <p:cNvSpPr txBox="1"/>
          <p:nvPr/>
        </p:nvSpPr>
        <p:spPr>
          <a:xfrm>
            <a:off x="731520" y="10776965"/>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One platform for every robot the lab owns</a:t>
            </a:r>
          </a:p>
        </p:txBody>
      </p:sp>
      <p:sp>
        <p:nvSpPr>
          <p:cNvPr id="11" name="Rectangle 10"/>
          <p:cNvSpPr/>
          <p:nvPr/>
        </p:nvSpPr>
        <p:spPr>
          <a:xfrm>
            <a:off x="731520" y="11371325"/>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1700509"/>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13" name="TextBox 12"/>
          <p:cNvSpPr txBox="1"/>
          <p:nvPr/>
        </p:nvSpPr>
        <p:spPr>
          <a:xfrm>
            <a:off x="731520" y="13467841"/>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A drive becomes a dataset as it opens</a:t>
            </a:r>
          </a:p>
        </p:txBody>
      </p:sp>
      <p:sp>
        <p:nvSpPr>
          <p:cNvPr id="14" name="Rectangle 13"/>
          <p:cNvSpPr/>
          <p:nvPr/>
        </p:nvSpPr>
        <p:spPr>
          <a:xfrm>
            <a:off x="731520" y="14062201"/>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391385"/>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16" name="TextBox 15"/>
          <p:cNvSpPr txBox="1"/>
          <p:nvPr/>
        </p:nvSpPr>
        <p:spPr>
          <a:xfrm>
            <a:off x="731520" y="16158717"/>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Ask a dataset what it is good for</a:t>
            </a:r>
          </a:p>
        </p:txBody>
      </p:sp>
      <p:sp>
        <p:nvSpPr>
          <p:cNvPr id="17" name="Rectangle 16"/>
          <p:cNvSpPr/>
          <p:nvPr/>
        </p:nvSpPr>
        <p:spPr>
          <a:xfrm>
            <a:off x="731520" y="16753077"/>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17082261"/>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19" name="TextBox 18"/>
          <p:cNvSpPr txBox="1"/>
          <p:nvPr/>
        </p:nvSpPr>
        <p:spPr>
          <a:xfrm>
            <a:off x="731520" y="18849593"/>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Everything we trained, ran, or rejected</a:t>
            </a:r>
          </a:p>
        </p:txBody>
      </p:sp>
      <p:sp>
        <p:nvSpPr>
          <p:cNvPr id="20" name="Rectangle 19"/>
          <p:cNvSpPr/>
          <p:nvPr/>
        </p:nvSpPr>
        <p:spPr>
          <a:xfrm>
            <a:off x="731520" y="19443953"/>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m_ledger.png"/>
          <p:cNvPicPr>
            <a:picLocks noChangeAspect="1"/>
          </p:cNvPicPr>
          <p:nvPr/>
        </p:nvPicPr>
        <p:blipFill>
          <a:blip r:embed="rId3"/>
          <a:stretch>
            <a:fillRect/>
          </a:stretch>
        </p:blipFill>
        <p:spPr>
          <a:xfrm>
            <a:off x="731520" y="19773137"/>
            <a:ext cx="20482560" cy="3749040"/>
          </a:xfrm>
          <a:prstGeom prst="rect">
            <a:avLst/>
          </a:prstGeom>
        </p:spPr>
      </p:pic>
      <p:sp>
        <p:nvSpPr>
          <p:cNvPr id="22" name="TextBox 21"/>
          <p:cNvSpPr txBox="1"/>
          <p:nvPr/>
        </p:nvSpPr>
        <p:spPr>
          <a:xfrm>
            <a:off x="731520" y="23631905"/>
            <a:ext cx="20482560" cy="365760"/>
          </a:xfrm>
          <a:prstGeom prst="rect">
            <a:avLst/>
          </a:prstGeom>
          <a:noFill/>
        </p:spPr>
        <p:txBody>
          <a:bodyPr wrap="square" lIns="0" rIns="0" tIns="0" bIns="0">
            <a:spAutoFit/>
          </a:bodyPr>
          <a:lstStyle/>
          <a:p>
            <a:pPr algn="l">
              <a:lnSpc>
                <a:spcPct val="118000"/>
              </a:lnSpc>
              <a:spcAft>
                <a:spcPts val="0"/>
              </a:spcAft>
            </a:pPr>
            <a:r>
              <a:rPr sz="1700" b="0">
                <a:solidFill>
                  <a:srgbClr val="6A6A6A"/>
                </a:solidFill>
                <a:latin typeface="Arial"/>
              </a:rPr>
              <a:t>Figure 3.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23" name="TextBox 22"/>
          <p:cNvSpPr txBox="1"/>
          <p:nvPr/>
        </p:nvSpPr>
        <p:spPr>
          <a:xfrm>
            <a:off x="731520" y="24707087"/>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24" name="TextBox 23"/>
          <p:cNvSpPr txBox="1"/>
          <p:nvPr/>
        </p:nvSpPr>
        <p:spPr>
          <a:xfrm>
            <a:off x="731520" y="26133552"/>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On disk today</a:t>
            </a:r>
          </a:p>
        </p:txBody>
      </p:sp>
      <p:sp>
        <p:nvSpPr>
          <p:cNvPr id="25" name="Rectangle 24"/>
          <p:cNvSpPr/>
          <p:nvPr/>
        </p:nvSpPr>
        <p:spPr>
          <a:xfrm>
            <a:off x="731520" y="26727911"/>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27057095"/>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Two robots have put 2,686 camera frames and 91,955 telemetry rows across nine streams onto the platform, over 26 drives, with 342 m of GPS track from 1,502 fixes. None of the frames is labelled.</a:t>
            </a:r>
          </a:p>
        </p:txBody>
      </p:sp>
      <p:sp>
        <p:nvSpPr>
          <p:cNvPr id="27" name="TextBox 26"/>
          <p:cNvSpPr txBox="1"/>
          <p:nvPr/>
        </p:nvSpPr>
        <p:spPr>
          <a:xfrm>
            <a:off x="22677120" y="10776965"/>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Robots on the platform today</a:t>
            </a:r>
          </a:p>
        </p:txBody>
      </p:sp>
      <p:sp>
        <p:nvSpPr>
          <p:cNvPr id="28" name="Rectangle 27"/>
          <p:cNvSpPr/>
          <p:nvPr/>
        </p:nvSpPr>
        <p:spPr>
          <a:xfrm>
            <a:off x="22677120" y="11371325"/>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677120" y="11700509"/>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30" name="TextBox 29"/>
          <p:cNvSpPr txBox="1"/>
          <p:nvPr/>
        </p:nvSpPr>
        <p:spPr>
          <a:xfrm>
            <a:off x="22677120" y="13467841"/>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Driving a robot from a browser</a:t>
            </a:r>
          </a:p>
        </p:txBody>
      </p:sp>
      <p:sp>
        <p:nvSpPr>
          <p:cNvPr id="31" name="Rectangle 30"/>
          <p:cNvSpPr/>
          <p:nvPr/>
        </p:nvSpPr>
        <p:spPr>
          <a:xfrm>
            <a:off x="22677120" y="14062201"/>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677120" y="14391385"/>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3" name="TextBox 32"/>
          <p:cNvSpPr txBox="1"/>
          <p:nvPr/>
        </p:nvSpPr>
        <p:spPr>
          <a:xfrm>
            <a:off x="22677120" y="16158717"/>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Left alone for fifteen rounds</a:t>
            </a:r>
          </a:p>
        </p:txBody>
      </p:sp>
      <p:sp>
        <p:nvSpPr>
          <p:cNvPr id="34" name="Rectangle 33"/>
          <p:cNvSpPr/>
          <p:nvPr/>
        </p:nvSpPr>
        <p:spPr>
          <a:xfrm>
            <a:off x="22677120" y="16753077"/>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f_rounds.png"/>
          <p:cNvPicPr>
            <a:picLocks noChangeAspect="1"/>
          </p:cNvPicPr>
          <p:nvPr/>
        </p:nvPicPr>
        <p:blipFill>
          <a:blip r:embed="rId4"/>
          <a:stretch>
            <a:fillRect/>
          </a:stretch>
        </p:blipFill>
        <p:spPr>
          <a:xfrm>
            <a:off x="22677120" y="17082261"/>
            <a:ext cx="20482560" cy="4663440"/>
          </a:xfrm>
          <a:prstGeom prst="rect">
            <a:avLst/>
          </a:prstGeom>
        </p:spPr>
      </p:pic>
      <p:sp>
        <p:nvSpPr>
          <p:cNvPr id="36" name="TextBox 35"/>
          <p:cNvSpPr txBox="1"/>
          <p:nvPr/>
        </p:nvSpPr>
        <p:spPr>
          <a:xfrm>
            <a:off x="22677120" y="21855429"/>
            <a:ext cx="20482560" cy="365760"/>
          </a:xfrm>
          <a:prstGeom prst="rect">
            <a:avLst/>
          </a:prstGeom>
          <a:noFill/>
        </p:spPr>
        <p:txBody>
          <a:bodyPr wrap="square" lIns="0" rIns="0" tIns="0" bIns="0">
            <a:spAutoFit/>
          </a:bodyPr>
          <a:lstStyle/>
          <a:p>
            <a:pPr algn="l">
              <a:lnSpc>
                <a:spcPct val="118000"/>
              </a:lnSpc>
              <a:spcAft>
                <a:spcPts val="0"/>
              </a:spcAft>
            </a:pPr>
            <a:r>
              <a:rPr sz="1700" b="0">
                <a:solidFill>
                  <a:srgbClr val="6A6A6A"/>
                </a:solidFill>
                <a:latin typeface="Arial"/>
              </a:rPr>
              <a:t>Figure 4.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37" name="TextBox 36"/>
          <p:cNvSpPr txBox="1"/>
          <p:nvPr/>
        </p:nvSpPr>
        <p:spPr>
          <a:xfrm>
            <a:off x="22677120" y="22930611"/>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38" name="Rectangle 37"/>
          <p:cNvSpPr/>
          <p:nvPr/>
        </p:nvSpPr>
        <p:spPr>
          <a:xfrm>
            <a:off x="731520" y="30632400"/>
            <a:ext cx="42428160" cy="20116"/>
          </a:xfrm>
          <a:prstGeom prst="rect">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A6A6A"/>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40" name="TextBox 39"/>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A6A6A"/>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41" name="TextBox 40"/>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A6A6A"/>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