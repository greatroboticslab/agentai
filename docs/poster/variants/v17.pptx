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F4F1E8"/>
                </a:solidFill>
                <a:latin typeface="Georgia"/>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4F1E8"/>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CBD3CC"/>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C2A22"/>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9" name="TextBox 8"/>
          <p:cNvSpPr txBox="1"/>
          <p:nvPr/>
        </p:nvSpPr>
        <p:spPr>
          <a:xfrm>
            <a:off x="731520" y="62087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One platform for every robot the lab owns</a:t>
            </a:r>
          </a:p>
        </p:txBody>
      </p:sp>
      <p:sp>
        <p:nvSpPr>
          <p:cNvPr id="10" name="Rectangle 9"/>
          <p:cNvSpPr/>
          <p:nvPr/>
        </p:nvSpPr>
        <p:spPr>
          <a:xfrm>
            <a:off x="731520" y="6803136"/>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71323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2" name="TextBox 11"/>
          <p:cNvSpPr txBox="1"/>
          <p:nvPr/>
        </p:nvSpPr>
        <p:spPr>
          <a:xfrm>
            <a:off x="731520" y="958138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Ask a dataset what it is good for</a:t>
            </a:r>
          </a:p>
        </p:txBody>
      </p:sp>
      <p:sp>
        <p:nvSpPr>
          <p:cNvPr id="13" name="Rectangle 12"/>
          <p:cNvSpPr/>
          <p:nvPr/>
        </p:nvSpPr>
        <p:spPr>
          <a:xfrm>
            <a:off x="731520" y="10175748"/>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0504932"/>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15" name="TextBox 14"/>
          <p:cNvSpPr txBox="1"/>
          <p:nvPr/>
        </p:nvSpPr>
        <p:spPr>
          <a:xfrm>
            <a:off x="731520" y="1261313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Asked something it had never seen</a:t>
            </a:r>
          </a:p>
        </p:txBody>
      </p:sp>
      <p:sp>
        <p:nvSpPr>
          <p:cNvPr id="16" name="Rectangle 15"/>
          <p:cNvSpPr/>
          <p:nvPr/>
        </p:nvSpPr>
        <p:spPr>
          <a:xfrm>
            <a:off x="731520" y="13207492"/>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3536676"/>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18" name="TextBox 17"/>
          <p:cNvSpPr txBox="1"/>
          <p:nvPr/>
        </p:nvSpPr>
        <p:spPr>
          <a:xfrm>
            <a:off x="731520" y="1598574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Adding the next robot</a:t>
            </a:r>
          </a:p>
        </p:txBody>
      </p:sp>
      <p:sp>
        <p:nvSpPr>
          <p:cNvPr id="19" name="Rectangle 18"/>
          <p:cNvSpPr/>
          <p:nvPr/>
        </p:nvSpPr>
        <p:spPr>
          <a:xfrm>
            <a:off x="731520" y="16580104"/>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16909288"/>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21" name="TextBox 20"/>
          <p:cNvSpPr txBox="1"/>
          <p:nvPr/>
        </p:nvSpPr>
        <p:spPr>
          <a:xfrm>
            <a:off x="731520" y="1935835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Reading the loop's own artifacts</a:t>
            </a:r>
          </a:p>
        </p:txBody>
      </p:sp>
      <p:sp>
        <p:nvSpPr>
          <p:cNvPr id="22" name="Rectangle 21"/>
          <p:cNvSpPr/>
          <p:nvPr/>
        </p:nvSpPr>
        <p:spPr>
          <a:xfrm>
            <a:off x="731520" y="19952716"/>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028190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24" name="TextBox 23"/>
          <p:cNvSpPr txBox="1"/>
          <p:nvPr/>
        </p:nvSpPr>
        <p:spPr>
          <a:xfrm>
            <a:off x="731520" y="2273096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Not yet pointed at the drives</a:t>
            </a:r>
          </a:p>
        </p:txBody>
      </p:sp>
      <p:sp>
        <p:nvSpPr>
          <p:cNvPr id="25" name="Rectangle 24"/>
          <p:cNvSpPr/>
          <p:nvPr/>
        </p:nvSpPr>
        <p:spPr>
          <a:xfrm>
            <a:off x="731520" y="23325327"/>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3654511"/>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conversational agent has answered 92 questions, and none of them was about a live robot drive. Every one of the 26 live sessions got the fixed diagnosis; not one got a question. Pointing the agent at the drives is the next thing to do and it costs nothing but asking. This part is built and is switched off today.</a:t>
            </a:r>
          </a:p>
        </p:txBody>
      </p:sp>
      <p:sp>
        <p:nvSpPr>
          <p:cNvPr id="27" name="TextBox 26"/>
          <p:cNvSpPr txBox="1"/>
          <p:nvPr/>
        </p:nvSpPr>
        <p:spPr>
          <a:xfrm>
            <a:off x="11704320" y="6208776"/>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Robots on the platform today</a:t>
            </a:r>
          </a:p>
        </p:txBody>
      </p:sp>
      <p:sp>
        <p:nvSpPr>
          <p:cNvPr id="28" name="Rectangle 27"/>
          <p:cNvSpPr/>
          <p:nvPr/>
        </p:nvSpPr>
        <p:spPr>
          <a:xfrm>
            <a:off x="11704320" y="6803136"/>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704320" y="7132320"/>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0" name="TextBox 29"/>
          <p:cNvSpPr txBox="1"/>
          <p:nvPr/>
        </p:nvSpPr>
        <p:spPr>
          <a:xfrm>
            <a:off x="11704320" y="9581388"/>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Four frames, as recorded</a:t>
            </a:r>
          </a:p>
        </p:txBody>
      </p:sp>
      <p:sp>
        <p:nvSpPr>
          <p:cNvPr id="31" name="Rectangle 30"/>
          <p:cNvSpPr/>
          <p:nvPr/>
        </p:nvSpPr>
        <p:spPr>
          <a:xfrm>
            <a:off x="11704320" y="10175748"/>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04320" y="10504932"/>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Nothing here is enhanced and nothing is labelled. The rectangle in the cart's down camera is a fixed work-zone overlay: it sits at the same pixels on frames with no vegetation in them at all.</a:t>
            </a:r>
          </a:p>
        </p:txBody>
      </p:sp>
      <p:sp>
        <p:nvSpPr>
          <p:cNvPr id="33" name="TextBox 32"/>
          <p:cNvSpPr txBox="1"/>
          <p:nvPr/>
        </p:nvSpPr>
        <p:spPr>
          <a:xfrm>
            <a:off x="11704320" y="1227226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Which decisions a model makes</a:t>
            </a:r>
          </a:p>
        </p:txBody>
      </p:sp>
      <p:sp>
        <p:nvSpPr>
          <p:cNvPr id="34" name="Rectangle 33"/>
          <p:cNvSpPr/>
          <p:nvPr/>
        </p:nvSpPr>
        <p:spPr>
          <a:xfrm>
            <a:off x="11704320" y="12866623"/>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704320" y="1319580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36" name="TextBox 35"/>
          <p:cNvSpPr txBox="1"/>
          <p:nvPr/>
        </p:nvSpPr>
        <p:spPr>
          <a:xfrm>
            <a:off x="11704320" y="1564487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213 seconds in one crop plot</a:t>
            </a:r>
          </a:p>
        </p:txBody>
      </p:sp>
      <p:sp>
        <p:nvSpPr>
          <p:cNvPr id="37" name="Rectangle 36"/>
          <p:cNvSpPr/>
          <p:nvPr/>
        </p:nvSpPr>
        <p:spPr>
          <a:xfrm>
            <a:off x="11704320" y="16239235"/>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704320" y="1656841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longest single pass the platform holds: 141 m of track from 211 fixes, with heading from the IMU over the same 213 seconds. The platform holds 18 passes that carry position.</a:t>
            </a:r>
          </a:p>
        </p:txBody>
      </p:sp>
      <p:sp>
        <p:nvSpPr>
          <p:cNvPr id="39" name="TextBox 38"/>
          <p:cNvSpPr txBox="1"/>
          <p:nvPr/>
        </p:nvSpPr>
        <p:spPr>
          <a:xfrm>
            <a:off x="11704320" y="18335751"/>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Back on our own rows</a:t>
            </a:r>
          </a:p>
        </p:txBody>
      </p:sp>
      <p:sp>
        <p:nvSpPr>
          <p:cNvPr id="40" name="Rectangle 39"/>
          <p:cNvSpPr/>
          <p:nvPr/>
        </p:nvSpPr>
        <p:spPr>
          <a:xfrm>
            <a:off x="11704320" y="18930111"/>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04320" y="19259295"/>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deployable checkpoint draws a box on 25 of the 2,686 frames our robots recorded, and 24 of those 25 boxes are the same class. These frames carry no labels, so that is a firing rate, not recall and not precision.</a:t>
            </a:r>
          </a:p>
        </p:txBody>
      </p:sp>
      <p:sp>
        <p:nvSpPr>
          <p:cNvPr id="42" name="TextBox 41"/>
          <p:cNvSpPr txBox="1"/>
          <p:nvPr/>
        </p:nvSpPr>
        <p:spPr>
          <a:xfrm>
            <a:off x="11704320" y="2136749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Who notices when it breaks</a:t>
            </a:r>
          </a:p>
        </p:txBody>
      </p:sp>
      <p:sp>
        <p:nvSpPr>
          <p:cNvPr id="43" name="Rectangle 42"/>
          <p:cNvSpPr/>
          <p:nvPr/>
        </p:nvSpPr>
        <p:spPr>
          <a:xfrm>
            <a:off x="11704320" y="21961855"/>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04320" y="2229103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We froze 162 real failures out of this project's own engineering record and scored every kind of supervision against them. The watchdog the loop was running returned no decision on any of the 149 dev cases. A model reading the raw artifacts reaches 0.70 recall over 116 incidents.</a:t>
            </a:r>
          </a:p>
        </p:txBody>
      </p:sp>
      <p:sp>
        <p:nvSpPr>
          <p:cNvPr id="45" name="TextBox 44"/>
          <p:cNvSpPr txBox="1"/>
          <p:nvPr/>
        </p:nvSpPr>
        <p:spPr>
          <a:xfrm>
            <a:off x="22059900" y="6208776"/>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 drive becomes a dataset as it opens</a:t>
            </a:r>
          </a:p>
        </p:txBody>
      </p:sp>
      <p:sp>
        <p:nvSpPr>
          <p:cNvPr id="46" name="Rectangle 45"/>
          <p:cNvSpPr/>
          <p:nvPr/>
        </p:nvSpPr>
        <p:spPr>
          <a:xfrm>
            <a:off x="22059900" y="6803136"/>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059900" y="7132320"/>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48" name="TextBox 47"/>
          <p:cNvSpPr txBox="1"/>
          <p:nvPr/>
        </p:nvSpPr>
        <p:spPr>
          <a:xfrm>
            <a:off x="22059900" y="9581388"/>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On disk today</a:t>
            </a:r>
          </a:p>
        </p:txBody>
      </p:sp>
      <p:sp>
        <p:nvSpPr>
          <p:cNvPr id="49" name="Rectangle 48"/>
          <p:cNvSpPr/>
          <p:nvPr/>
        </p:nvSpPr>
        <p:spPr>
          <a:xfrm>
            <a:off x="22059900" y="10175748"/>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059900" y="10504932"/>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Two robots have put 2,686 camera frames and 91,955 telemetry rows across nine streams onto the platform, over 26 drives, with 342 m of GPS track from 1,502 fixes. None of the frames is labelled.</a:t>
            </a:r>
          </a:p>
        </p:txBody>
      </p:sp>
      <p:sp>
        <p:nvSpPr>
          <p:cNvPr id="51" name="TextBox 50"/>
          <p:cNvSpPr txBox="1"/>
          <p:nvPr/>
        </p:nvSpPr>
        <p:spPr>
          <a:xfrm>
            <a:off x="22059900" y="1227226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More web data, less accuracy</a:t>
            </a:r>
          </a:p>
        </p:txBody>
      </p:sp>
      <p:sp>
        <p:nvSpPr>
          <p:cNvPr id="52" name="Rectangle 51"/>
          <p:cNvSpPr/>
          <p:nvPr/>
        </p:nvSpPr>
        <p:spPr>
          <a:xfrm>
            <a:off x="22059900" y="12866623"/>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059900" y="1319580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4" name="TextBox 53"/>
          <p:cNvSpPr txBox="1"/>
          <p:nvPr/>
        </p:nvSpPr>
        <p:spPr>
          <a:xfrm>
            <a:off x="22059900" y="15304007"/>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Talking back to a robot</a:t>
            </a:r>
          </a:p>
        </p:txBody>
      </p:sp>
      <p:sp>
        <p:nvSpPr>
          <p:cNvPr id="55" name="Rectangle 54"/>
          <p:cNvSpPr/>
          <p:nvPr/>
        </p:nvSpPr>
        <p:spPr>
          <a:xfrm>
            <a:off x="22059900" y="15898367"/>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059900" y="16227551"/>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57" name="TextBox 56"/>
          <p:cNvSpPr txBox="1"/>
          <p:nvPr/>
        </p:nvSpPr>
        <p:spPr>
          <a:xfrm>
            <a:off x="22059900" y="18335751"/>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Every drive is diagnosed on arrival</a:t>
            </a:r>
          </a:p>
        </p:txBody>
      </p:sp>
      <p:sp>
        <p:nvSpPr>
          <p:cNvPr id="58" name="Rectangle 57"/>
          <p:cNvSpPr/>
          <p:nvPr/>
        </p:nvSpPr>
        <p:spPr>
          <a:xfrm>
            <a:off x="22059900" y="18930111"/>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059900" y="19259295"/>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60" name="TextBox 59"/>
          <p:cNvSpPr txBox="1"/>
          <p:nvPr/>
        </p:nvSpPr>
        <p:spPr>
          <a:xfrm>
            <a:off x="22059900" y="2136749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Auditing six web sources</a:t>
            </a:r>
          </a:p>
        </p:txBody>
      </p:sp>
      <p:sp>
        <p:nvSpPr>
          <p:cNvPr id="61" name="Rectangle 60"/>
          <p:cNvSpPr/>
          <p:nvPr/>
        </p:nvSpPr>
        <p:spPr>
          <a:xfrm>
            <a:off x="22059900" y="21961855"/>
            <a:ext cx="998982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059900" y="2229103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same probe reads 1.000 on human-labelled CottonWeedDet12, so a source at 0.184 is the data and not the instrument. Only the top source clears the bar, and it supplies 3,208 of the 13,527 audited images.</a:t>
            </a:r>
          </a:p>
        </p:txBody>
      </p:sp>
      <p:sp>
        <p:nvSpPr>
          <p:cNvPr id="63" name="TextBox 62"/>
          <p:cNvSpPr txBox="1"/>
          <p:nvPr/>
        </p:nvSpPr>
        <p:spPr>
          <a:xfrm>
            <a:off x="32552640" y="62087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Driving a robot from a browser</a:t>
            </a:r>
          </a:p>
        </p:txBody>
      </p:sp>
      <p:sp>
        <p:nvSpPr>
          <p:cNvPr id="64" name="Rectangle 63"/>
          <p:cNvSpPr/>
          <p:nvPr/>
        </p:nvSpPr>
        <p:spPr>
          <a:xfrm>
            <a:off x="32552640" y="6803136"/>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552640" y="71323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66" name="TextBox 65"/>
          <p:cNvSpPr txBox="1"/>
          <p:nvPr/>
        </p:nvSpPr>
        <p:spPr>
          <a:xfrm>
            <a:off x="32552640" y="958138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Only one robot has the button</a:t>
            </a:r>
          </a:p>
        </p:txBody>
      </p:sp>
      <p:sp>
        <p:nvSpPr>
          <p:cNvPr id="67" name="Rectangle 66"/>
          <p:cNvSpPr/>
          <p:nvPr/>
        </p:nvSpPr>
        <p:spPr>
          <a:xfrm>
            <a:off x="32552640" y="10175748"/>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552640" y="10504932"/>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9" name="TextBox 68"/>
          <p:cNvSpPr txBox="1"/>
          <p:nvPr/>
        </p:nvSpPr>
        <p:spPr>
          <a:xfrm>
            <a:off x="32552640" y="1261313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Any research field is a project</a:t>
            </a:r>
          </a:p>
        </p:txBody>
      </p:sp>
      <p:sp>
        <p:nvSpPr>
          <p:cNvPr id="70" name="Rectangle 69"/>
          <p:cNvSpPr/>
          <p:nvPr/>
        </p:nvSpPr>
        <p:spPr>
          <a:xfrm>
            <a:off x="32552640" y="13207492"/>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552640" y="13536676"/>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2" name="TextBox 71"/>
          <p:cNvSpPr txBox="1"/>
          <p:nvPr/>
        </p:nvSpPr>
        <p:spPr>
          <a:xfrm>
            <a:off x="32552640" y="156448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Code the agent writes runs fenced in</a:t>
            </a:r>
          </a:p>
        </p:txBody>
      </p:sp>
      <p:sp>
        <p:nvSpPr>
          <p:cNvPr id="73" name="Rectangle 72"/>
          <p:cNvSpPr/>
          <p:nvPr/>
        </p:nvSpPr>
        <p:spPr>
          <a:xfrm>
            <a:off x="32552640" y="16239236"/>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552640" y="165684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75" name="TextBox 74"/>
          <p:cNvSpPr txBox="1"/>
          <p:nvPr/>
        </p:nvSpPr>
        <p:spPr>
          <a:xfrm>
            <a:off x="32552640" y="1867662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Laser on, never once at a target</a:t>
            </a:r>
          </a:p>
        </p:txBody>
      </p:sp>
      <p:sp>
        <p:nvSpPr>
          <p:cNvPr id="76" name="Rectangle 75"/>
          <p:cNvSpPr/>
          <p:nvPr/>
        </p:nvSpPr>
        <p:spPr>
          <a:xfrm>
            <a:off x="32552640" y="19270980"/>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2552640" y="19600164"/>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The cart's own operator switched the laser on during three of eight archived sessions. The platform recorded 3379 laser rows and 216 of them have the laser enabled. Every one of those 216 is in OBSERVATION phase, with no target. The laser has never been armed, aimed or fired by the platform.</a:t>
            </a:r>
          </a:p>
        </p:txBody>
      </p:sp>
      <p:sp>
        <p:nvSpPr>
          <p:cNvPr id="78" name="Rectangle 77"/>
          <p:cNvSpPr/>
          <p:nvPr/>
        </p:nvSpPr>
        <p:spPr>
          <a:xfrm>
            <a:off x="731520" y="30632400"/>
            <a:ext cx="42428160" cy="20116"/>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0" name="TextBox 79"/>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1" name="TextBox 80"/>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