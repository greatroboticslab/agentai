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1E293B"/>
                </a:solidFill>
                <a:latin typeface="Arial"/>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E293B"/>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56575"/>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E29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TextBox 7"/>
          <p:cNvSpPr txBox="1"/>
          <p:nvPr/>
        </p:nvSpPr>
        <p:spPr>
          <a:xfrm>
            <a:off x="731520" y="60319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One platform for every robot the lab owns</a:t>
            </a:r>
          </a:p>
        </p:txBody>
      </p:sp>
      <p:sp>
        <p:nvSpPr>
          <p:cNvPr id="9" name="Rectangle 8"/>
          <p:cNvSpPr/>
          <p:nvPr/>
        </p:nvSpPr>
        <p:spPr>
          <a:xfrm>
            <a:off x="731520" y="65603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88949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1" name="TextBox 10"/>
          <p:cNvSpPr txBox="1"/>
          <p:nvPr/>
        </p:nvSpPr>
        <p:spPr>
          <a:xfrm>
            <a:off x="731520" y="885012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Driving a robot from a browser</a:t>
            </a:r>
          </a:p>
        </p:txBody>
      </p:sp>
      <p:sp>
        <p:nvSpPr>
          <p:cNvPr id="12" name="Rectangle 11"/>
          <p:cNvSpPr/>
          <p:nvPr/>
        </p:nvSpPr>
        <p:spPr>
          <a:xfrm>
            <a:off x="731520" y="937844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970762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4" name="TextBox 13"/>
          <p:cNvSpPr txBox="1"/>
          <p:nvPr/>
        </p:nvSpPr>
        <p:spPr>
          <a:xfrm>
            <a:off x="731520" y="1137386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Four frames, as recorded</a:t>
            </a:r>
          </a:p>
        </p:txBody>
      </p:sp>
      <p:sp>
        <p:nvSpPr>
          <p:cNvPr id="15" name="Rectangle 14"/>
          <p:cNvSpPr/>
          <p:nvPr/>
        </p:nvSpPr>
        <p:spPr>
          <a:xfrm>
            <a:off x="731520" y="1190218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_robots.png"/>
          <p:cNvPicPr>
            <a:picLocks noChangeAspect="1"/>
          </p:cNvPicPr>
          <p:nvPr/>
        </p:nvPicPr>
        <p:blipFill>
          <a:blip r:embed="rId2"/>
          <a:stretch>
            <a:fillRect/>
          </a:stretch>
        </p:blipFill>
        <p:spPr>
          <a:xfrm>
            <a:off x="731520" y="12231370"/>
            <a:ext cx="10607040" cy="2377440"/>
          </a:xfrm>
          <a:prstGeom prst="rect">
            <a:avLst/>
          </a:prstGeom>
        </p:spPr>
      </p:pic>
      <p:sp>
        <p:nvSpPr>
          <p:cNvPr id="17" name="TextBox 16"/>
          <p:cNvSpPr txBox="1"/>
          <p:nvPr/>
        </p:nvSpPr>
        <p:spPr>
          <a:xfrm>
            <a:off x="731520" y="14718538"/>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556575"/>
                </a:solidFill>
                <a:latin typeface="Arial"/>
              </a:rPr>
              <a:t>Figure 1.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18" name="TextBox 17"/>
          <p:cNvSpPr txBox="1"/>
          <p:nvPr/>
        </p:nvSpPr>
        <p:spPr>
          <a:xfrm>
            <a:off x="731520" y="1592859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Nothing here is enhanced and nothing is labelled. The rectangle in the cart's down camera is a fixed work-zone overlay: it sits at the same pixels on frames with no vegetation in them at all.</a:t>
            </a:r>
          </a:p>
        </p:txBody>
      </p:sp>
      <p:sp>
        <p:nvSpPr>
          <p:cNvPr id="19" name="TextBox 18"/>
          <p:cNvSpPr txBox="1"/>
          <p:nvPr/>
        </p:nvSpPr>
        <p:spPr>
          <a:xfrm>
            <a:off x="731520" y="1730044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Only one robot has the button</a:t>
            </a:r>
          </a:p>
        </p:txBody>
      </p:sp>
      <p:sp>
        <p:nvSpPr>
          <p:cNvPr id="20" name="Rectangle 19"/>
          <p:cNvSpPr/>
          <p:nvPr/>
        </p:nvSpPr>
        <p:spPr>
          <a:xfrm>
            <a:off x="731520" y="1782876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1815795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22" name="TextBox 21"/>
          <p:cNvSpPr txBox="1"/>
          <p:nvPr/>
        </p:nvSpPr>
        <p:spPr>
          <a:xfrm>
            <a:off x="731520" y="198241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Which decisions a model makes</a:t>
            </a:r>
          </a:p>
        </p:txBody>
      </p:sp>
      <p:sp>
        <p:nvSpPr>
          <p:cNvPr id="23" name="Rectangle 22"/>
          <p:cNvSpPr/>
          <p:nvPr/>
        </p:nvSpPr>
        <p:spPr>
          <a:xfrm>
            <a:off x="731520" y="203525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068169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25" name="TextBox 24"/>
          <p:cNvSpPr txBox="1"/>
          <p:nvPr/>
        </p:nvSpPr>
        <p:spPr>
          <a:xfrm>
            <a:off x="731520" y="2234793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Adding the next robot</a:t>
            </a:r>
          </a:p>
        </p:txBody>
      </p:sp>
      <p:sp>
        <p:nvSpPr>
          <p:cNvPr id="26" name="Rectangle 25"/>
          <p:cNvSpPr/>
          <p:nvPr/>
        </p:nvSpPr>
        <p:spPr>
          <a:xfrm>
            <a:off x="731520" y="2287625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320544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28" name="TextBox 27"/>
          <p:cNvSpPr txBox="1"/>
          <p:nvPr/>
        </p:nvSpPr>
        <p:spPr>
          <a:xfrm>
            <a:off x="731520" y="2487168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Code the agent writes runs fenced in</a:t>
            </a:r>
          </a:p>
        </p:txBody>
      </p:sp>
      <p:sp>
        <p:nvSpPr>
          <p:cNvPr id="29" name="Rectangle 28"/>
          <p:cNvSpPr/>
          <p:nvPr/>
        </p:nvSpPr>
        <p:spPr>
          <a:xfrm>
            <a:off x="731520" y="2540000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572918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31" name="TextBox 30"/>
          <p:cNvSpPr txBox="1"/>
          <p:nvPr/>
        </p:nvSpPr>
        <p:spPr>
          <a:xfrm>
            <a:off x="11704320" y="60319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Robots on the platform today</a:t>
            </a:r>
          </a:p>
        </p:txBody>
      </p:sp>
      <p:sp>
        <p:nvSpPr>
          <p:cNvPr id="32" name="Rectangle 31"/>
          <p:cNvSpPr/>
          <p:nvPr/>
        </p:nvSpPr>
        <p:spPr>
          <a:xfrm>
            <a:off x="11704320" y="65603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704320" y="688949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34" name="TextBox 33"/>
          <p:cNvSpPr txBox="1"/>
          <p:nvPr/>
        </p:nvSpPr>
        <p:spPr>
          <a:xfrm>
            <a:off x="11704320" y="855573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Ask a dataset what it is good for</a:t>
            </a:r>
          </a:p>
        </p:txBody>
      </p:sp>
      <p:sp>
        <p:nvSpPr>
          <p:cNvPr id="35" name="Rectangle 34"/>
          <p:cNvSpPr/>
          <p:nvPr/>
        </p:nvSpPr>
        <p:spPr>
          <a:xfrm>
            <a:off x="11704320" y="908405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0" y="941323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7" name="TextBox 36"/>
          <p:cNvSpPr txBox="1"/>
          <p:nvPr/>
        </p:nvSpPr>
        <p:spPr>
          <a:xfrm>
            <a:off x="11704320" y="1107947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On disk today</a:t>
            </a:r>
          </a:p>
        </p:txBody>
      </p:sp>
      <p:sp>
        <p:nvSpPr>
          <p:cNvPr id="38" name="Rectangle 37"/>
          <p:cNvSpPr/>
          <p:nvPr/>
        </p:nvSpPr>
        <p:spPr>
          <a:xfrm>
            <a:off x="11704320" y="1160779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704320" y="1193698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Two robots have put 2,686 camera frames and 91,955 telemetry rows across nine streams onto the platform, over 26 drives, with 342 m of GPS track from 1,502 fixes. None of the frames is labelled.</a:t>
            </a:r>
          </a:p>
        </p:txBody>
      </p:sp>
      <p:sp>
        <p:nvSpPr>
          <p:cNvPr id="40" name="TextBox 39"/>
          <p:cNvSpPr txBox="1"/>
          <p:nvPr/>
        </p:nvSpPr>
        <p:spPr>
          <a:xfrm>
            <a:off x="11704320" y="13308837"/>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Asked something it had never seen</a:t>
            </a:r>
          </a:p>
        </p:txBody>
      </p:sp>
      <p:sp>
        <p:nvSpPr>
          <p:cNvPr id="41" name="Rectangle 40"/>
          <p:cNvSpPr/>
          <p:nvPr/>
        </p:nvSpPr>
        <p:spPr>
          <a:xfrm>
            <a:off x="11704320" y="1383715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04320" y="14166341"/>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43" name="TextBox 42"/>
          <p:cNvSpPr txBox="1"/>
          <p:nvPr/>
        </p:nvSpPr>
        <p:spPr>
          <a:xfrm>
            <a:off x="11704320" y="15832581"/>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More web data, less accuracy</a:t>
            </a:r>
          </a:p>
        </p:txBody>
      </p:sp>
      <p:sp>
        <p:nvSpPr>
          <p:cNvPr id="44" name="Rectangle 43"/>
          <p:cNvSpPr/>
          <p:nvPr/>
        </p:nvSpPr>
        <p:spPr>
          <a:xfrm>
            <a:off x="11704320" y="1636090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04320" y="1669008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46" name="TextBox 45"/>
          <p:cNvSpPr txBox="1"/>
          <p:nvPr/>
        </p:nvSpPr>
        <p:spPr>
          <a:xfrm>
            <a:off x="11704320" y="1835632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213 seconds in one crop plot</a:t>
            </a:r>
          </a:p>
        </p:txBody>
      </p:sp>
      <p:sp>
        <p:nvSpPr>
          <p:cNvPr id="47" name="Rectangle 46"/>
          <p:cNvSpPr/>
          <p:nvPr/>
        </p:nvSpPr>
        <p:spPr>
          <a:xfrm>
            <a:off x="11704320" y="1888464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h_drive.png"/>
          <p:cNvPicPr>
            <a:picLocks noChangeAspect="1"/>
          </p:cNvPicPr>
          <p:nvPr/>
        </p:nvPicPr>
        <p:blipFill>
          <a:blip r:embed="rId3"/>
          <a:stretch>
            <a:fillRect/>
          </a:stretch>
        </p:blipFill>
        <p:spPr>
          <a:xfrm>
            <a:off x="11704320" y="19213829"/>
            <a:ext cx="10607040" cy="4023360"/>
          </a:xfrm>
          <a:prstGeom prst="rect">
            <a:avLst/>
          </a:prstGeom>
        </p:spPr>
      </p:pic>
      <p:sp>
        <p:nvSpPr>
          <p:cNvPr id="49" name="TextBox 48"/>
          <p:cNvSpPr txBox="1"/>
          <p:nvPr/>
        </p:nvSpPr>
        <p:spPr>
          <a:xfrm>
            <a:off x="11704320" y="23346917"/>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556575"/>
                </a:solidFill>
                <a:latin typeface="Arial"/>
              </a:rPr>
              <a:t>Figure 2.  Robot 241, 2026-08-29: one 213 s pass through a crop plot. (h) GPS track from the board fix. (i) IMU heading over the same pass.</a:t>
            </a:r>
          </a:p>
        </p:txBody>
      </p:sp>
      <p:sp>
        <p:nvSpPr>
          <p:cNvPr id="50" name="TextBox 49"/>
          <p:cNvSpPr txBox="1"/>
          <p:nvPr/>
        </p:nvSpPr>
        <p:spPr>
          <a:xfrm>
            <a:off x="11704320" y="2410739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The longest single pass the platform holds: 141 m of track from 211 fixes, with heading from the IMU over the same 213 seconds. The platform holds 18 passes that carry position.</a:t>
            </a:r>
          </a:p>
        </p:txBody>
      </p:sp>
      <p:sp>
        <p:nvSpPr>
          <p:cNvPr id="51" name="TextBox 50"/>
          <p:cNvSpPr txBox="1"/>
          <p:nvPr/>
        </p:nvSpPr>
        <p:spPr>
          <a:xfrm>
            <a:off x="11704320" y="25479247"/>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Reading the loop's own artifacts</a:t>
            </a:r>
          </a:p>
        </p:txBody>
      </p:sp>
      <p:sp>
        <p:nvSpPr>
          <p:cNvPr id="52" name="Rectangle 51"/>
          <p:cNvSpPr/>
          <p:nvPr/>
        </p:nvSpPr>
        <p:spPr>
          <a:xfrm>
            <a:off x="11704320" y="2600756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04320" y="26336751"/>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54" name="TextBox 53"/>
          <p:cNvSpPr txBox="1"/>
          <p:nvPr/>
        </p:nvSpPr>
        <p:spPr>
          <a:xfrm>
            <a:off x="22677120" y="603199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A drive becomes a dataset as it opens</a:t>
            </a:r>
          </a:p>
        </p:txBody>
      </p:sp>
      <p:sp>
        <p:nvSpPr>
          <p:cNvPr id="55" name="Rectangle 54"/>
          <p:cNvSpPr/>
          <p:nvPr/>
        </p:nvSpPr>
        <p:spPr>
          <a:xfrm>
            <a:off x="22677120" y="656031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2677120" y="688949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7" name="TextBox 56"/>
          <p:cNvSpPr txBox="1"/>
          <p:nvPr/>
        </p:nvSpPr>
        <p:spPr>
          <a:xfrm>
            <a:off x="22677120" y="796696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Left alone for fifteen rounds</a:t>
            </a:r>
          </a:p>
        </p:txBody>
      </p:sp>
      <p:sp>
        <p:nvSpPr>
          <p:cNvPr id="58" name="Rectangle 57"/>
          <p:cNvSpPr/>
          <p:nvPr/>
        </p:nvSpPr>
        <p:spPr>
          <a:xfrm>
            <a:off x="22677120" y="8495284"/>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f_rounds.png"/>
          <p:cNvPicPr>
            <a:picLocks noChangeAspect="1"/>
          </p:cNvPicPr>
          <p:nvPr/>
        </p:nvPicPr>
        <p:blipFill>
          <a:blip r:embed="rId4"/>
          <a:stretch>
            <a:fillRect/>
          </a:stretch>
        </p:blipFill>
        <p:spPr>
          <a:xfrm>
            <a:off x="22677120" y="8824467"/>
            <a:ext cx="20482560" cy="4663440"/>
          </a:xfrm>
          <a:prstGeom prst="rect">
            <a:avLst/>
          </a:prstGeom>
        </p:spPr>
      </p:pic>
      <p:sp>
        <p:nvSpPr>
          <p:cNvPr id="60" name="TextBox 59"/>
          <p:cNvSpPr txBox="1"/>
          <p:nvPr/>
        </p:nvSpPr>
        <p:spPr>
          <a:xfrm>
            <a:off x="22677120" y="13597635"/>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56575"/>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61" name="TextBox 60"/>
          <p:cNvSpPr txBox="1"/>
          <p:nvPr/>
        </p:nvSpPr>
        <p:spPr>
          <a:xfrm>
            <a:off x="22677120" y="14582901"/>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62" name="TextBox 61"/>
          <p:cNvSpPr txBox="1"/>
          <p:nvPr/>
        </p:nvSpPr>
        <p:spPr>
          <a:xfrm>
            <a:off x="22677120" y="1566036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Everything we trained, ran, or rejected</a:t>
            </a:r>
          </a:p>
        </p:txBody>
      </p:sp>
      <p:sp>
        <p:nvSpPr>
          <p:cNvPr id="63" name="Rectangle 62"/>
          <p:cNvSpPr/>
          <p:nvPr/>
        </p:nvSpPr>
        <p:spPr>
          <a:xfrm>
            <a:off x="22677120" y="1618869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m_ledger.png"/>
          <p:cNvPicPr>
            <a:picLocks noChangeAspect="1"/>
          </p:cNvPicPr>
          <p:nvPr/>
        </p:nvPicPr>
        <p:blipFill>
          <a:blip r:embed="rId5"/>
          <a:stretch>
            <a:fillRect/>
          </a:stretch>
        </p:blipFill>
        <p:spPr>
          <a:xfrm>
            <a:off x="22677120" y="16517873"/>
            <a:ext cx="20482560" cy="3749040"/>
          </a:xfrm>
          <a:prstGeom prst="rect">
            <a:avLst/>
          </a:prstGeom>
        </p:spPr>
      </p:pic>
      <p:sp>
        <p:nvSpPr>
          <p:cNvPr id="65" name="TextBox 64"/>
          <p:cNvSpPr txBox="1"/>
          <p:nvPr/>
        </p:nvSpPr>
        <p:spPr>
          <a:xfrm>
            <a:off x="22677120" y="20376642"/>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56575"/>
                </a:solidFill>
                <a:latin typeface="Arial"/>
              </a:rPr>
              <a:t>Figure 4.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66" name="TextBox 65"/>
          <p:cNvSpPr txBox="1"/>
          <p:nvPr/>
        </p:nvSpPr>
        <p:spPr>
          <a:xfrm>
            <a:off x="22677120" y="21361908"/>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67" name="TextBox 66"/>
          <p:cNvSpPr txBox="1"/>
          <p:nvPr/>
        </p:nvSpPr>
        <p:spPr>
          <a:xfrm>
            <a:off x="22677120" y="2243937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4314E"/>
                </a:solidFill>
                <a:latin typeface="Arial"/>
              </a:rPr>
              <a:t>Inside the platform</a:t>
            </a:r>
          </a:p>
        </p:txBody>
      </p:sp>
      <p:sp>
        <p:nvSpPr>
          <p:cNvPr id="68" name="Rectangle 67"/>
          <p:cNvSpPr/>
          <p:nvPr/>
        </p:nvSpPr>
        <p:spPr>
          <a:xfrm>
            <a:off x="22677120" y="2296769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n_system.png"/>
          <p:cNvPicPr>
            <a:picLocks noChangeAspect="1"/>
          </p:cNvPicPr>
          <p:nvPr/>
        </p:nvPicPr>
        <p:blipFill>
          <a:blip r:embed="rId6"/>
          <a:stretch>
            <a:fillRect/>
          </a:stretch>
        </p:blipFill>
        <p:spPr>
          <a:xfrm>
            <a:off x="22677120" y="23296880"/>
            <a:ext cx="20482560" cy="3383280"/>
          </a:xfrm>
          <a:prstGeom prst="rect">
            <a:avLst/>
          </a:prstGeom>
        </p:spPr>
      </p:pic>
      <p:sp>
        <p:nvSpPr>
          <p:cNvPr id="70" name="TextBox 69"/>
          <p:cNvSpPr txBox="1"/>
          <p:nvPr/>
        </p:nvSpPr>
        <p:spPr>
          <a:xfrm>
            <a:off x="22677120" y="26789888"/>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56575"/>
                </a:solidFill>
                <a:latin typeface="Arial"/>
              </a:rPr>
              <a:t>Figure 5.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71" name="TextBox 70"/>
          <p:cNvSpPr txBox="1"/>
          <p:nvPr/>
        </p:nvSpPr>
        <p:spPr>
          <a:xfrm>
            <a:off x="22677120" y="2755036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E293B"/>
                </a:solidFill>
                <a:latin typeface="Arial"/>
              </a:rPr>
              <a:t>Every stage from a camera in a crop row to a checkpoint on the cluster has run. The dashboard and registry run on a lab server; GPU jobs queue on PSC Bridges-2. The collector and trainer are paused after a stop-loss on 2026-08-29. The supervisor is advisory and nothing it says is applied.</a:t>
            </a:r>
          </a:p>
        </p:txBody>
      </p:sp>
      <p:sp>
        <p:nvSpPr>
          <p:cNvPr id="72" name="Rectangle 71"/>
          <p:cNvSpPr/>
          <p:nvPr/>
        </p:nvSpPr>
        <p:spPr>
          <a:xfrm>
            <a:off x="731520" y="3063240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56575"/>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4" name="TextBox 73"/>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56575"/>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5" name="TextBox 74"/>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