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9200" b="1">
                <a:solidFill>
                  <a:srgbClr val="1E293B"/>
                </a:solidFill>
                <a:latin typeface="Arial"/>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E293B"/>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56575"/>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1E293B"/>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TextBox 7"/>
          <p:cNvSpPr txBox="1"/>
          <p:nvPr/>
        </p:nvSpPr>
        <p:spPr>
          <a:xfrm>
            <a:off x="731520" y="603199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One platform for every robot the lab owns</a:t>
            </a:r>
          </a:p>
        </p:txBody>
      </p:sp>
      <p:sp>
        <p:nvSpPr>
          <p:cNvPr id="9" name="Rectangle 8"/>
          <p:cNvSpPr/>
          <p:nvPr/>
        </p:nvSpPr>
        <p:spPr>
          <a:xfrm>
            <a:off x="731520" y="656031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88949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1" name="TextBox 10"/>
          <p:cNvSpPr txBox="1"/>
          <p:nvPr/>
        </p:nvSpPr>
        <p:spPr>
          <a:xfrm>
            <a:off x="731520" y="8850122"/>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1,389</a:t>
            </a:r>
          </a:p>
        </p:txBody>
      </p:sp>
      <p:sp>
        <p:nvSpPr>
          <p:cNvPr id="12" name="TextBox 11"/>
          <p:cNvSpPr txBox="1"/>
          <p:nvPr/>
        </p:nvSpPr>
        <p:spPr>
          <a:xfrm>
            <a:off x="731520" y="9653270"/>
            <a:ext cx="10607040" cy="365760"/>
          </a:xfrm>
          <a:prstGeom prst="rect">
            <a:avLst/>
          </a:prstGeom>
          <a:noFill/>
        </p:spPr>
        <p:txBody>
          <a:bodyPr wrap="square" lIns="0" rIns="0" tIns="0" bIns="0">
            <a:spAutoFit/>
          </a:bodyPr>
          <a:lstStyle/>
          <a:p>
            <a:pPr algn="l">
              <a:lnSpc>
                <a:spcPct val="122000"/>
              </a:lnSpc>
              <a:spcAft>
                <a:spcPts val="600"/>
              </a:spcAft>
            </a:pPr>
            <a:r>
              <a:rPr sz="1500" b="0">
                <a:solidFill>
                  <a:srgbClr val="556575"/>
                </a:solidFill>
                <a:latin typeface="Arial"/>
              </a:rPr>
              <a:t>joystick commands through the platform</a:t>
            </a:r>
          </a:p>
        </p:txBody>
      </p:sp>
      <p:sp>
        <p:nvSpPr>
          <p:cNvPr id="13" name="TextBox 12"/>
          <p:cNvSpPr txBox="1"/>
          <p:nvPr/>
        </p:nvSpPr>
        <p:spPr>
          <a:xfrm>
            <a:off x="731520" y="1010818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Driving a robot from a browser</a:t>
            </a:r>
          </a:p>
        </p:txBody>
      </p:sp>
      <p:sp>
        <p:nvSpPr>
          <p:cNvPr id="14" name="Rectangle 13"/>
          <p:cNvSpPr/>
          <p:nvPr/>
        </p:nvSpPr>
        <p:spPr>
          <a:xfrm>
            <a:off x="731520" y="1063650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096568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16" name="TextBox 15"/>
          <p:cNvSpPr txBox="1"/>
          <p:nvPr/>
        </p:nvSpPr>
        <p:spPr>
          <a:xfrm>
            <a:off x="731520" y="1263192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Four frames, as recorded</a:t>
            </a:r>
          </a:p>
        </p:txBody>
      </p:sp>
      <p:sp>
        <p:nvSpPr>
          <p:cNvPr id="17" name="Rectangle 16"/>
          <p:cNvSpPr/>
          <p:nvPr/>
        </p:nvSpPr>
        <p:spPr>
          <a:xfrm>
            <a:off x="731520" y="1316024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_robots.png"/>
          <p:cNvPicPr>
            <a:picLocks noChangeAspect="1"/>
          </p:cNvPicPr>
          <p:nvPr/>
        </p:nvPicPr>
        <p:blipFill>
          <a:blip r:embed="rId2"/>
          <a:stretch>
            <a:fillRect/>
          </a:stretch>
        </p:blipFill>
        <p:spPr>
          <a:xfrm>
            <a:off x="731520" y="13489431"/>
            <a:ext cx="10607040" cy="2377440"/>
          </a:xfrm>
          <a:prstGeom prst="rect">
            <a:avLst/>
          </a:prstGeom>
        </p:spPr>
      </p:pic>
      <p:sp>
        <p:nvSpPr>
          <p:cNvPr id="19" name="TextBox 18"/>
          <p:cNvSpPr txBox="1"/>
          <p:nvPr/>
        </p:nvSpPr>
        <p:spPr>
          <a:xfrm>
            <a:off x="731520" y="15976600"/>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556575"/>
                </a:solidFill>
                <a:latin typeface="Arial"/>
              </a:rPr>
              <a:t>Figure 1.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20" name="TextBox 19"/>
          <p:cNvSpPr txBox="1"/>
          <p:nvPr/>
        </p:nvSpPr>
        <p:spPr>
          <a:xfrm>
            <a:off x="731520" y="1718665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Nothing here is enhanced and nothing is labelled. The rectangle in the cart's down camera is a fixed work-zone overlay: it sits at the same pixels on frames with no vegetation in them at all.</a:t>
            </a:r>
          </a:p>
        </p:txBody>
      </p:sp>
      <p:sp>
        <p:nvSpPr>
          <p:cNvPr id="21" name="TextBox 20"/>
          <p:cNvSpPr txBox="1"/>
          <p:nvPr/>
        </p:nvSpPr>
        <p:spPr>
          <a:xfrm>
            <a:off x="731520" y="1855851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Only one robot has the button</a:t>
            </a:r>
          </a:p>
        </p:txBody>
      </p:sp>
      <p:sp>
        <p:nvSpPr>
          <p:cNvPr id="22" name="Rectangle 21"/>
          <p:cNvSpPr/>
          <p:nvPr/>
        </p:nvSpPr>
        <p:spPr>
          <a:xfrm>
            <a:off x="731520" y="1908683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1941601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24" name="TextBox 23"/>
          <p:cNvSpPr txBox="1"/>
          <p:nvPr/>
        </p:nvSpPr>
        <p:spPr>
          <a:xfrm>
            <a:off x="731520" y="2108225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Which decisions a model makes</a:t>
            </a:r>
          </a:p>
        </p:txBody>
      </p:sp>
      <p:sp>
        <p:nvSpPr>
          <p:cNvPr id="25" name="Rectangle 24"/>
          <p:cNvSpPr/>
          <p:nvPr/>
        </p:nvSpPr>
        <p:spPr>
          <a:xfrm>
            <a:off x="731520" y="2161057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193975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27" name="TextBox 26"/>
          <p:cNvSpPr txBox="1"/>
          <p:nvPr/>
        </p:nvSpPr>
        <p:spPr>
          <a:xfrm>
            <a:off x="731520" y="2360599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Adding the next robot</a:t>
            </a:r>
          </a:p>
        </p:txBody>
      </p:sp>
      <p:sp>
        <p:nvSpPr>
          <p:cNvPr id="28" name="Rectangle 27"/>
          <p:cNvSpPr/>
          <p:nvPr/>
        </p:nvSpPr>
        <p:spPr>
          <a:xfrm>
            <a:off x="731520" y="2413431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2446350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A new robot needs a project, an API key and a session start. The ingest contract is the same for every vehicle: open a session, post sensor batches and frames while driving, stop. The platform does not care what the robot is. Empty projects for a mobile robot and a humanoid already sit on it, waiting for a first upload.</a:t>
            </a:r>
          </a:p>
        </p:txBody>
      </p:sp>
      <p:sp>
        <p:nvSpPr>
          <p:cNvPr id="30" name="TextBox 29"/>
          <p:cNvSpPr txBox="1"/>
          <p:nvPr/>
        </p:nvSpPr>
        <p:spPr>
          <a:xfrm>
            <a:off x="731520" y="2612974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Code the agent writes runs fenced in</a:t>
            </a:r>
          </a:p>
        </p:txBody>
      </p:sp>
      <p:sp>
        <p:nvSpPr>
          <p:cNvPr id="31" name="Rectangle 30"/>
          <p:cNvSpPr/>
          <p:nvPr/>
        </p:nvSpPr>
        <p:spPr>
          <a:xfrm>
            <a:off x="731520" y="2665806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2698724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33" name="TextBox 32"/>
          <p:cNvSpPr txBox="1"/>
          <p:nvPr/>
        </p:nvSpPr>
        <p:spPr>
          <a:xfrm>
            <a:off x="11704320" y="603199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Robots on the platform today</a:t>
            </a:r>
          </a:p>
        </p:txBody>
      </p:sp>
      <p:sp>
        <p:nvSpPr>
          <p:cNvPr id="34" name="Rectangle 33"/>
          <p:cNvSpPr/>
          <p:nvPr/>
        </p:nvSpPr>
        <p:spPr>
          <a:xfrm>
            <a:off x="11704320" y="656031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704320" y="688949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36" name="TextBox 35"/>
          <p:cNvSpPr txBox="1"/>
          <p:nvPr/>
        </p:nvSpPr>
        <p:spPr>
          <a:xfrm>
            <a:off x="11704320" y="8555735"/>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14</a:t>
            </a:r>
          </a:p>
        </p:txBody>
      </p:sp>
      <p:sp>
        <p:nvSpPr>
          <p:cNvPr id="37" name="TextBox 36"/>
          <p:cNvSpPr txBox="1"/>
          <p:nvPr/>
        </p:nvSpPr>
        <p:spPr>
          <a:xfrm>
            <a:off x="11704320" y="9358884"/>
            <a:ext cx="10607040" cy="365760"/>
          </a:xfrm>
          <a:prstGeom prst="rect">
            <a:avLst/>
          </a:prstGeom>
          <a:noFill/>
        </p:spPr>
        <p:txBody>
          <a:bodyPr wrap="square" lIns="0" rIns="0" tIns="0" bIns="0">
            <a:spAutoFit/>
          </a:bodyPr>
          <a:lstStyle/>
          <a:p>
            <a:pPr algn="l">
              <a:lnSpc>
                <a:spcPct val="122000"/>
              </a:lnSpc>
              <a:spcAft>
                <a:spcPts val="600"/>
              </a:spcAft>
            </a:pPr>
            <a:r>
              <a:rPr sz="1500" b="0">
                <a:solidFill>
                  <a:srgbClr val="556575"/>
                </a:solidFill>
                <a:latin typeface="Arial"/>
              </a:rPr>
              <a:t>analysis tools the planner can choose from</a:t>
            </a:r>
          </a:p>
        </p:txBody>
      </p:sp>
      <p:sp>
        <p:nvSpPr>
          <p:cNvPr id="38" name="TextBox 37"/>
          <p:cNvSpPr txBox="1"/>
          <p:nvPr/>
        </p:nvSpPr>
        <p:spPr>
          <a:xfrm>
            <a:off x="11704320" y="981379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Ask a dataset what it is good for</a:t>
            </a:r>
          </a:p>
        </p:txBody>
      </p:sp>
      <p:sp>
        <p:nvSpPr>
          <p:cNvPr id="39" name="Rectangle 38"/>
          <p:cNvSpPr/>
          <p:nvPr/>
        </p:nvSpPr>
        <p:spPr>
          <a:xfrm>
            <a:off x="11704320" y="1034211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704320" y="1067130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1" name="TextBox 40"/>
          <p:cNvSpPr txBox="1"/>
          <p:nvPr/>
        </p:nvSpPr>
        <p:spPr>
          <a:xfrm>
            <a:off x="11704320" y="1233754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On disk today</a:t>
            </a:r>
          </a:p>
        </p:txBody>
      </p:sp>
      <p:sp>
        <p:nvSpPr>
          <p:cNvPr id="42" name="Rectangle 41"/>
          <p:cNvSpPr/>
          <p:nvPr/>
        </p:nvSpPr>
        <p:spPr>
          <a:xfrm>
            <a:off x="11704320" y="1286586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704320" y="13195045"/>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Two robots have put 2,686 camera frames and 91,955 telemetry rows across nine streams onto the platform, over 26 drives, with 342 m of GPS track from 1,502 fixes. None of the frames is labelled.</a:t>
            </a:r>
          </a:p>
        </p:txBody>
      </p:sp>
      <p:sp>
        <p:nvSpPr>
          <p:cNvPr id="44" name="TextBox 43"/>
          <p:cNvSpPr txBox="1"/>
          <p:nvPr/>
        </p:nvSpPr>
        <p:spPr>
          <a:xfrm>
            <a:off x="11704320" y="14566899"/>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92</a:t>
            </a:r>
          </a:p>
        </p:txBody>
      </p:sp>
      <p:sp>
        <p:nvSpPr>
          <p:cNvPr id="45" name="TextBox 44"/>
          <p:cNvSpPr txBox="1"/>
          <p:nvPr/>
        </p:nvSpPr>
        <p:spPr>
          <a:xfrm>
            <a:off x="11704320" y="15370047"/>
            <a:ext cx="10607040" cy="365760"/>
          </a:xfrm>
          <a:prstGeom prst="rect">
            <a:avLst/>
          </a:prstGeom>
          <a:noFill/>
        </p:spPr>
        <p:txBody>
          <a:bodyPr wrap="square" lIns="0" rIns="0" tIns="0" bIns="0">
            <a:spAutoFit/>
          </a:bodyPr>
          <a:lstStyle/>
          <a:p>
            <a:pPr algn="l">
              <a:lnSpc>
                <a:spcPct val="122000"/>
              </a:lnSpc>
              <a:spcAft>
                <a:spcPts val="600"/>
              </a:spcAft>
            </a:pPr>
            <a:r>
              <a:rPr sz="1500" b="0">
                <a:solidFill>
                  <a:srgbClr val="556575"/>
                </a:solidFill>
                <a:latin typeface="Arial"/>
              </a:rPr>
              <a:t>questions asked of a dataset so far</a:t>
            </a:r>
          </a:p>
        </p:txBody>
      </p:sp>
      <p:sp>
        <p:nvSpPr>
          <p:cNvPr id="46" name="TextBox 45"/>
          <p:cNvSpPr txBox="1"/>
          <p:nvPr/>
        </p:nvSpPr>
        <p:spPr>
          <a:xfrm>
            <a:off x="11704320" y="15824961"/>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Asked something it had never seen</a:t>
            </a:r>
          </a:p>
        </p:txBody>
      </p:sp>
      <p:sp>
        <p:nvSpPr>
          <p:cNvPr id="47" name="Rectangle 46"/>
          <p:cNvSpPr/>
          <p:nvPr/>
        </p:nvSpPr>
        <p:spPr>
          <a:xfrm>
            <a:off x="11704320" y="16353281"/>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704320" y="16682465"/>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49" name="TextBox 48"/>
          <p:cNvSpPr txBox="1"/>
          <p:nvPr/>
        </p:nvSpPr>
        <p:spPr>
          <a:xfrm>
            <a:off x="11704320" y="1834870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More web data, less accuracy</a:t>
            </a:r>
          </a:p>
        </p:txBody>
      </p:sp>
      <p:sp>
        <p:nvSpPr>
          <p:cNvPr id="50" name="Rectangle 49"/>
          <p:cNvSpPr/>
          <p:nvPr/>
        </p:nvSpPr>
        <p:spPr>
          <a:xfrm>
            <a:off x="11704320" y="1887702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704320" y="1920621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2" name="TextBox 51"/>
          <p:cNvSpPr txBox="1"/>
          <p:nvPr/>
        </p:nvSpPr>
        <p:spPr>
          <a:xfrm>
            <a:off x="11704320" y="2087245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213 seconds in one crop plot</a:t>
            </a:r>
          </a:p>
        </p:txBody>
      </p:sp>
      <p:sp>
        <p:nvSpPr>
          <p:cNvPr id="53" name="Rectangle 52"/>
          <p:cNvSpPr/>
          <p:nvPr/>
        </p:nvSpPr>
        <p:spPr>
          <a:xfrm>
            <a:off x="11704320" y="2140077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h_drive.png"/>
          <p:cNvPicPr>
            <a:picLocks noChangeAspect="1"/>
          </p:cNvPicPr>
          <p:nvPr/>
        </p:nvPicPr>
        <p:blipFill>
          <a:blip r:embed="rId3"/>
          <a:stretch>
            <a:fillRect/>
          </a:stretch>
        </p:blipFill>
        <p:spPr>
          <a:xfrm>
            <a:off x="11704320" y="21729954"/>
            <a:ext cx="10607040" cy="4023360"/>
          </a:xfrm>
          <a:prstGeom prst="rect">
            <a:avLst/>
          </a:prstGeom>
        </p:spPr>
      </p:pic>
      <p:sp>
        <p:nvSpPr>
          <p:cNvPr id="55" name="TextBox 54"/>
          <p:cNvSpPr txBox="1"/>
          <p:nvPr/>
        </p:nvSpPr>
        <p:spPr>
          <a:xfrm>
            <a:off x="11704320" y="25863042"/>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556575"/>
                </a:solidFill>
                <a:latin typeface="Arial"/>
              </a:rPr>
              <a:t>Figure 2.  Robot 241, 2026-08-29: one 213 s pass through a crop plot. (h) GPS track from the board fix. (i) IMU heading over the same pass.</a:t>
            </a:r>
          </a:p>
        </p:txBody>
      </p:sp>
      <p:sp>
        <p:nvSpPr>
          <p:cNvPr id="56" name="TextBox 55"/>
          <p:cNvSpPr txBox="1"/>
          <p:nvPr/>
        </p:nvSpPr>
        <p:spPr>
          <a:xfrm>
            <a:off x="11704320" y="2662351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The longest single pass the platform holds: 141 m of track from 211 fixes, with heading from the IMU over the same 213 seconds. The platform holds 18 passes that carry position.</a:t>
            </a:r>
          </a:p>
        </p:txBody>
      </p:sp>
      <p:sp>
        <p:nvSpPr>
          <p:cNvPr id="57" name="TextBox 56"/>
          <p:cNvSpPr txBox="1"/>
          <p:nvPr/>
        </p:nvSpPr>
        <p:spPr>
          <a:xfrm>
            <a:off x="22677120" y="603199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A drive becomes a dataset as it opens</a:t>
            </a:r>
          </a:p>
        </p:txBody>
      </p:sp>
      <p:sp>
        <p:nvSpPr>
          <p:cNvPr id="58" name="Rectangle 57"/>
          <p:cNvSpPr/>
          <p:nvPr/>
        </p:nvSpPr>
        <p:spPr>
          <a:xfrm>
            <a:off x="22677120" y="656031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677120" y="688949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0" name="TextBox 59"/>
          <p:cNvSpPr txBox="1"/>
          <p:nvPr/>
        </p:nvSpPr>
        <p:spPr>
          <a:xfrm>
            <a:off x="22677120" y="796696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Left alone for fifteen rounds</a:t>
            </a:r>
          </a:p>
        </p:txBody>
      </p:sp>
      <p:sp>
        <p:nvSpPr>
          <p:cNvPr id="61" name="Rectangle 60"/>
          <p:cNvSpPr/>
          <p:nvPr/>
        </p:nvSpPr>
        <p:spPr>
          <a:xfrm>
            <a:off x="22677120" y="8495284"/>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f_rounds.png"/>
          <p:cNvPicPr>
            <a:picLocks noChangeAspect="1"/>
          </p:cNvPicPr>
          <p:nvPr/>
        </p:nvPicPr>
        <p:blipFill>
          <a:blip r:embed="rId4"/>
          <a:stretch>
            <a:fillRect/>
          </a:stretch>
        </p:blipFill>
        <p:spPr>
          <a:xfrm>
            <a:off x="22677120" y="8824467"/>
            <a:ext cx="20482560" cy="4663440"/>
          </a:xfrm>
          <a:prstGeom prst="rect">
            <a:avLst/>
          </a:prstGeom>
        </p:spPr>
      </p:pic>
      <p:sp>
        <p:nvSpPr>
          <p:cNvPr id="63" name="TextBox 62"/>
          <p:cNvSpPr txBox="1"/>
          <p:nvPr/>
        </p:nvSpPr>
        <p:spPr>
          <a:xfrm>
            <a:off x="22677120" y="13597635"/>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56575"/>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64" name="TextBox 63"/>
          <p:cNvSpPr txBox="1"/>
          <p:nvPr/>
        </p:nvSpPr>
        <p:spPr>
          <a:xfrm>
            <a:off x="22677120" y="14582901"/>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65" name="TextBox 64"/>
          <p:cNvSpPr txBox="1"/>
          <p:nvPr/>
        </p:nvSpPr>
        <p:spPr>
          <a:xfrm>
            <a:off x="22677120" y="15660369"/>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27</a:t>
            </a:r>
          </a:p>
        </p:txBody>
      </p:sp>
      <p:sp>
        <p:nvSpPr>
          <p:cNvPr id="66" name="TextBox 65"/>
          <p:cNvSpPr txBox="1"/>
          <p:nvPr/>
        </p:nvSpPr>
        <p:spPr>
          <a:xfrm>
            <a:off x="22677120" y="16463517"/>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556575"/>
                </a:solidFill>
                <a:latin typeface="Arial"/>
              </a:rPr>
              <a:t>distinct models trained, run, or rejected</a:t>
            </a:r>
          </a:p>
        </p:txBody>
      </p:sp>
      <p:sp>
        <p:nvSpPr>
          <p:cNvPr id="67" name="TextBox 66"/>
          <p:cNvSpPr txBox="1"/>
          <p:nvPr/>
        </p:nvSpPr>
        <p:spPr>
          <a:xfrm>
            <a:off x="22677120" y="16918431"/>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Everything we trained, ran, or rejected</a:t>
            </a:r>
          </a:p>
        </p:txBody>
      </p:sp>
      <p:sp>
        <p:nvSpPr>
          <p:cNvPr id="68" name="Rectangle 67"/>
          <p:cNvSpPr/>
          <p:nvPr/>
        </p:nvSpPr>
        <p:spPr>
          <a:xfrm>
            <a:off x="22677120" y="1744675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m_ledger.png"/>
          <p:cNvPicPr>
            <a:picLocks noChangeAspect="1"/>
          </p:cNvPicPr>
          <p:nvPr/>
        </p:nvPicPr>
        <p:blipFill>
          <a:blip r:embed="rId5"/>
          <a:stretch>
            <a:fillRect/>
          </a:stretch>
        </p:blipFill>
        <p:spPr>
          <a:xfrm>
            <a:off x="22677120" y="17775935"/>
            <a:ext cx="20482560" cy="3749040"/>
          </a:xfrm>
          <a:prstGeom prst="rect">
            <a:avLst/>
          </a:prstGeom>
        </p:spPr>
      </p:pic>
      <p:sp>
        <p:nvSpPr>
          <p:cNvPr id="70" name="TextBox 69"/>
          <p:cNvSpPr txBox="1"/>
          <p:nvPr/>
        </p:nvSpPr>
        <p:spPr>
          <a:xfrm>
            <a:off x="22677120" y="21634704"/>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56575"/>
                </a:solidFill>
                <a:latin typeface="Arial"/>
              </a:rPr>
              <a:t>Figure 4.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71" name="TextBox 70"/>
          <p:cNvSpPr txBox="1"/>
          <p:nvPr/>
        </p:nvSpPr>
        <p:spPr>
          <a:xfrm>
            <a:off x="22677120" y="22619970"/>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72" name="TextBox 71"/>
          <p:cNvSpPr txBox="1"/>
          <p:nvPr/>
        </p:nvSpPr>
        <p:spPr>
          <a:xfrm>
            <a:off x="22677120" y="23697438"/>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4314E"/>
                </a:solidFill>
                <a:latin typeface="Arial"/>
              </a:rPr>
              <a:t>Inside the platform</a:t>
            </a:r>
          </a:p>
        </p:txBody>
      </p:sp>
      <p:sp>
        <p:nvSpPr>
          <p:cNvPr id="73" name="Rectangle 72"/>
          <p:cNvSpPr/>
          <p:nvPr/>
        </p:nvSpPr>
        <p:spPr>
          <a:xfrm>
            <a:off x="22677120" y="24225758"/>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n_system.png"/>
          <p:cNvPicPr>
            <a:picLocks noChangeAspect="1"/>
          </p:cNvPicPr>
          <p:nvPr/>
        </p:nvPicPr>
        <p:blipFill>
          <a:blip r:embed="rId6"/>
          <a:stretch>
            <a:fillRect/>
          </a:stretch>
        </p:blipFill>
        <p:spPr>
          <a:xfrm>
            <a:off x="22677120" y="24554942"/>
            <a:ext cx="20482560" cy="3383280"/>
          </a:xfrm>
          <a:prstGeom prst="rect">
            <a:avLst/>
          </a:prstGeom>
        </p:spPr>
      </p:pic>
      <p:sp>
        <p:nvSpPr>
          <p:cNvPr id="75" name="TextBox 74"/>
          <p:cNvSpPr txBox="1"/>
          <p:nvPr/>
        </p:nvSpPr>
        <p:spPr>
          <a:xfrm>
            <a:off x="22677120" y="28047950"/>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56575"/>
                </a:solidFill>
                <a:latin typeface="Arial"/>
              </a:rPr>
              <a:t>Figure 5.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76" name="TextBox 75"/>
          <p:cNvSpPr txBox="1"/>
          <p:nvPr/>
        </p:nvSpPr>
        <p:spPr>
          <a:xfrm>
            <a:off x="22677120" y="2880842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E293B"/>
                </a:solidFill>
                <a:latin typeface="Arial"/>
              </a:rPr>
              <a:t>Every stage from a camera in a crop row to a checkpoint on the cluster has run. The dashboard and registry run on a lab server; GPU jobs queue on PSC Bridges-2. The collector and trainer are paused after a stop-loss on 2026-08-29. The supervisor is advisory and nothing it says is applied.</a:t>
            </a:r>
          </a:p>
        </p:txBody>
      </p:sp>
      <p:sp>
        <p:nvSpPr>
          <p:cNvPr id="77" name="Rectangle 76"/>
          <p:cNvSpPr/>
          <p:nvPr/>
        </p:nvSpPr>
        <p:spPr>
          <a:xfrm>
            <a:off x="731520" y="30632400"/>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56575"/>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79" name="TextBox 78"/>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56575"/>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0" name="TextBox 79"/>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56575"/>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