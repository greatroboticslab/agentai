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42428160" cy="365760"/>
          </a:xfrm>
          <a:prstGeom prst="rect">
            <a:avLst/>
          </a:prstGeom>
          <a:noFill/>
        </p:spPr>
        <p:txBody>
          <a:bodyPr wrap="square" lIns="0" rIns="0" tIns="0" bIns="0">
            <a:spAutoFit/>
          </a:bodyPr>
          <a:lstStyle/>
          <a:p>
            <a:pPr algn="l">
              <a:lnSpc>
                <a:spcPct val="95000"/>
              </a:lnSpc>
              <a:spcAft>
                <a:spcPts val="0"/>
              </a:spcAft>
            </a:pPr>
            <a:r>
              <a:rPr sz="9000" b="1">
                <a:solidFill>
                  <a:srgbClr val="1E293B"/>
                </a:solidFill>
                <a:latin typeface="Times New Roman"/>
              </a:rPr>
              <a:t>agentAI: A Research-Data Platform for Physical and Embodied Agents</a:t>
            </a:r>
          </a:p>
        </p:txBody>
      </p:sp>
      <p:sp>
        <p:nvSpPr>
          <p:cNvPr id="4" name="Rectangle 3"/>
          <p:cNvSpPr/>
          <p:nvPr/>
        </p:nvSpPr>
        <p:spPr>
          <a:xfrm>
            <a:off x="731520" y="2103120"/>
            <a:ext cx="42245280" cy="146304"/>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468880"/>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1E293B"/>
                </a:solidFill>
                <a:latin typeface="Arial"/>
              </a:rPr>
              <a:t>Harry He   ·   Hongbo Zhang</a:t>
            </a:r>
          </a:p>
        </p:txBody>
      </p:sp>
      <p:sp>
        <p:nvSpPr>
          <p:cNvPr id="6" name="TextBox 5"/>
          <p:cNvSpPr txBox="1"/>
          <p:nvPr/>
        </p:nvSpPr>
        <p:spPr>
          <a:xfrm>
            <a:off x="731520" y="3108960"/>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556575"/>
                </a:solidFill>
                <a:latin typeface="Arial"/>
              </a:rPr>
              <a:t>Department of Engineering Technology   ·   Middle Tennessee State University, Murfreesboro, TN, USA</a:t>
            </a: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400" b="0">
                <a:solidFill>
                  <a:srgbClr val="1E293B"/>
                </a:solidFill>
                <a:latin typeface="Times New Roman"/>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sp>
        <p:nvSpPr>
          <p:cNvPr id="8" name="TextBox 7"/>
          <p:cNvSpPr txBox="1"/>
          <p:nvPr/>
        </p:nvSpPr>
        <p:spPr>
          <a:xfrm>
            <a:off x="731520" y="6149848"/>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Times New Roman"/>
              </a:rPr>
              <a:t>One platform for every robot the lab owns</a:t>
            </a:r>
          </a:p>
        </p:txBody>
      </p:sp>
      <p:sp>
        <p:nvSpPr>
          <p:cNvPr id="9" name="Rectangle 8"/>
          <p:cNvSpPr/>
          <p:nvPr/>
        </p:nvSpPr>
        <p:spPr>
          <a:xfrm>
            <a:off x="731520" y="6711188"/>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7040372"/>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11" name="TextBox 10"/>
          <p:cNvSpPr txBox="1"/>
          <p:nvPr/>
        </p:nvSpPr>
        <p:spPr>
          <a:xfrm>
            <a:off x="731520" y="9151620"/>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Times New Roman"/>
              </a:rPr>
              <a:t>Ask a dataset what it is good for</a:t>
            </a:r>
          </a:p>
        </p:txBody>
      </p:sp>
      <p:sp>
        <p:nvSpPr>
          <p:cNvPr id="12" name="Rectangle 11"/>
          <p:cNvSpPr/>
          <p:nvPr/>
        </p:nvSpPr>
        <p:spPr>
          <a:xfrm>
            <a:off x="731520" y="9712960"/>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0042144"/>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14" name="TextBox 13"/>
          <p:cNvSpPr txBox="1"/>
          <p:nvPr/>
        </p:nvSpPr>
        <p:spPr>
          <a:xfrm>
            <a:off x="731520" y="11843511"/>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Times New Roman"/>
              </a:rPr>
              <a:t>Asked something it had never seen</a:t>
            </a:r>
          </a:p>
        </p:txBody>
      </p:sp>
      <p:sp>
        <p:nvSpPr>
          <p:cNvPr id="15" name="Rectangle 14"/>
          <p:cNvSpPr/>
          <p:nvPr/>
        </p:nvSpPr>
        <p:spPr>
          <a:xfrm>
            <a:off x="731520" y="12404851"/>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12734035"/>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17" name="TextBox 16"/>
          <p:cNvSpPr txBox="1"/>
          <p:nvPr/>
        </p:nvSpPr>
        <p:spPr>
          <a:xfrm>
            <a:off x="731520" y="14535403"/>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Times New Roman"/>
              </a:rPr>
              <a:t>Adding the next robot</a:t>
            </a:r>
          </a:p>
        </p:txBody>
      </p:sp>
      <p:sp>
        <p:nvSpPr>
          <p:cNvPr id="18" name="Rectangle 17"/>
          <p:cNvSpPr/>
          <p:nvPr/>
        </p:nvSpPr>
        <p:spPr>
          <a:xfrm>
            <a:off x="731520" y="15096743"/>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15425927"/>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A new robot needs a project, an API key and a session start. The ingest contract is the same for every vehicle: start a session, post sensor batches and frames while driving, stop. The platform does not care what the robot is. The Unitree humanoid's project exists on this basis and is waiting on its first upload.</a:t>
            </a:r>
          </a:p>
        </p:txBody>
      </p:sp>
      <p:sp>
        <p:nvSpPr>
          <p:cNvPr id="20" name="TextBox 19"/>
          <p:cNvSpPr txBox="1"/>
          <p:nvPr/>
        </p:nvSpPr>
        <p:spPr>
          <a:xfrm>
            <a:off x="731520" y="17227296"/>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Times New Roman"/>
              </a:rPr>
              <a:t>Reading the loop's own artifacts</a:t>
            </a:r>
          </a:p>
        </p:txBody>
      </p:sp>
      <p:sp>
        <p:nvSpPr>
          <p:cNvPr id="21" name="Rectangle 20"/>
          <p:cNvSpPr/>
          <p:nvPr/>
        </p:nvSpPr>
        <p:spPr>
          <a:xfrm>
            <a:off x="731520" y="17788636"/>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18117820"/>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The corpus stopped growing at round three: the same 24 datasets and 48,752 unique images went in every time, and the apparent growth was one staging directory nobody cleared. Eight rounds collected nothing and reported success. Starting fresh instead of from the previous round's weights is worth +0.0287, 5.1 times this recipe's own seed spread.</a:t>
            </a:r>
          </a:p>
        </p:txBody>
      </p:sp>
      <p:sp>
        <p:nvSpPr>
          <p:cNvPr id="23" name="TextBox 22"/>
          <p:cNvSpPr txBox="1"/>
          <p:nvPr/>
        </p:nvSpPr>
        <p:spPr>
          <a:xfrm>
            <a:off x="731520" y="20229068"/>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Times New Roman"/>
              </a:rPr>
              <a:t>Not yet pointed at the drives</a:t>
            </a:r>
          </a:p>
        </p:txBody>
      </p:sp>
      <p:sp>
        <p:nvSpPr>
          <p:cNvPr id="24" name="Rectangle 23"/>
          <p:cNvSpPr/>
          <p:nvPr/>
        </p:nvSpPr>
        <p:spPr>
          <a:xfrm>
            <a:off x="731520" y="20790408"/>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21119592"/>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The conversational agent has answered 92 questions, and none of them was about a live robot drive. Every one of the 26 live sessions got the fixed diagnosis; not one got a question. Pointing the agent at the drives is the next thing to do and it costs nothing but asking. This part is built and is switched off today.</a:t>
            </a:r>
          </a:p>
        </p:txBody>
      </p:sp>
      <p:sp>
        <p:nvSpPr>
          <p:cNvPr id="26" name="TextBox 25"/>
          <p:cNvSpPr txBox="1"/>
          <p:nvPr/>
        </p:nvSpPr>
        <p:spPr>
          <a:xfrm>
            <a:off x="11704320" y="6149848"/>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Times New Roman"/>
              </a:rPr>
              <a:t>Robots on the platform today</a:t>
            </a:r>
          </a:p>
        </p:txBody>
      </p:sp>
      <p:sp>
        <p:nvSpPr>
          <p:cNvPr id="27" name="Rectangle 26"/>
          <p:cNvSpPr/>
          <p:nvPr/>
        </p:nvSpPr>
        <p:spPr>
          <a:xfrm>
            <a:off x="11704320" y="6711188"/>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704320" y="7040372"/>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Robot 241 is a tracked rover that drives crop rows and streams camera, GPS and two IMUs. The laser cart carries the weeder: a galvanometer laser, a down camera over the work zone and a forward camera. A Unitree humanoid has a project and has uploaded nothing yet. Between them the two ground vehicles have recorded 2,686 frames in 26 drives.</a:t>
            </a:r>
          </a:p>
        </p:txBody>
      </p:sp>
      <p:sp>
        <p:nvSpPr>
          <p:cNvPr id="29" name="TextBox 28"/>
          <p:cNvSpPr txBox="1"/>
          <p:nvPr/>
        </p:nvSpPr>
        <p:spPr>
          <a:xfrm>
            <a:off x="11704320" y="9151620"/>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Times New Roman"/>
              </a:rPr>
              <a:t>Four frames, as recorded</a:t>
            </a:r>
          </a:p>
        </p:txBody>
      </p:sp>
      <p:sp>
        <p:nvSpPr>
          <p:cNvPr id="30" name="Rectangle 29"/>
          <p:cNvSpPr/>
          <p:nvPr/>
        </p:nvSpPr>
        <p:spPr>
          <a:xfrm>
            <a:off x="11704320" y="9712960"/>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1704320" y="10042144"/>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Nothing here is enhanced and nothing is labelled. The rectangle in the cart's down camera is a fixed work-zone overlay: it sits at the same pixels on frames with no vegetation in them at all.</a:t>
            </a:r>
          </a:p>
        </p:txBody>
      </p:sp>
      <p:sp>
        <p:nvSpPr>
          <p:cNvPr id="32" name="TextBox 31"/>
          <p:cNvSpPr txBox="1"/>
          <p:nvPr/>
        </p:nvSpPr>
        <p:spPr>
          <a:xfrm>
            <a:off x="11704320" y="11533631"/>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Times New Roman"/>
              </a:rPr>
              <a:t>Which decisions a model makes</a:t>
            </a:r>
          </a:p>
        </p:txBody>
      </p:sp>
      <p:sp>
        <p:nvSpPr>
          <p:cNvPr id="33" name="Rectangle 32"/>
          <p:cNvSpPr/>
          <p:nvPr/>
        </p:nvSpPr>
        <p:spPr>
          <a:xfrm>
            <a:off x="11704320" y="12094971"/>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704320" y="12424155"/>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35" name="TextBox 34"/>
          <p:cNvSpPr txBox="1"/>
          <p:nvPr/>
        </p:nvSpPr>
        <p:spPr>
          <a:xfrm>
            <a:off x="11704320" y="14535403"/>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Times New Roman"/>
              </a:rPr>
              <a:t>213 seconds in one crop plot</a:t>
            </a:r>
          </a:p>
        </p:txBody>
      </p:sp>
      <p:sp>
        <p:nvSpPr>
          <p:cNvPr id="36" name="Rectangle 35"/>
          <p:cNvSpPr/>
          <p:nvPr/>
        </p:nvSpPr>
        <p:spPr>
          <a:xfrm>
            <a:off x="11704320" y="15096743"/>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704320" y="15425927"/>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The longest single pass the platform holds: 141 m of track from 211 fixes, with heading from the IMU over the same 213 seconds. The platform holds 18 passes that carry position.</a:t>
            </a:r>
          </a:p>
        </p:txBody>
      </p:sp>
      <p:sp>
        <p:nvSpPr>
          <p:cNvPr id="38" name="TextBox 37"/>
          <p:cNvSpPr txBox="1"/>
          <p:nvPr/>
        </p:nvSpPr>
        <p:spPr>
          <a:xfrm>
            <a:off x="11704320" y="16917416"/>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Times New Roman"/>
              </a:rPr>
              <a:t>Back on our own rows</a:t>
            </a:r>
          </a:p>
        </p:txBody>
      </p:sp>
      <p:sp>
        <p:nvSpPr>
          <p:cNvPr id="39" name="Rectangle 38"/>
          <p:cNvSpPr/>
          <p:nvPr/>
        </p:nvSpPr>
        <p:spPr>
          <a:xfrm>
            <a:off x="11704320" y="17478756"/>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704320" y="17807940"/>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The deployable checkpoint draws a box on 25 of the 2,686 frames our robots recorded, and 24 of those 25 boxes are the same class. These frames carry no labels, so that is a firing rate, not recall and not precision.</a:t>
            </a:r>
          </a:p>
        </p:txBody>
      </p:sp>
      <p:sp>
        <p:nvSpPr>
          <p:cNvPr id="41" name="TextBox 40"/>
          <p:cNvSpPr txBox="1"/>
          <p:nvPr/>
        </p:nvSpPr>
        <p:spPr>
          <a:xfrm>
            <a:off x="11704320" y="19299428"/>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Times New Roman"/>
              </a:rPr>
              <a:t>Who notices when it breaks</a:t>
            </a:r>
          </a:p>
        </p:txBody>
      </p:sp>
      <p:sp>
        <p:nvSpPr>
          <p:cNvPr id="42" name="Rectangle 41"/>
          <p:cNvSpPr/>
          <p:nvPr/>
        </p:nvSpPr>
        <p:spPr>
          <a:xfrm>
            <a:off x="11704320" y="19860768"/>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1704320" y="20189952"/>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We froze 162 real failures out of this project's own engineering record and scored every kind of supervision against them. The watchdog the loop was running returned no decision on any of the 149 dev cases. A model reading the raw artifacts reaches 0.70 recall over 116 incidents.</a:t>
            </a:r>
          </a:p>
        </p:txBody>
      </p:sp>
      <p:sp>
        <p:nvSpPr>
          <p:cNvPr id="44" name="TextBox 43"/>
          <p:cNvSpPr txBox="1"/>
          <p:nvPr/>
        </p:nvSpPr>
        <p:spPr>
          <a:xfrm>
            <a:off x="22059900" y="6149848"/>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Times New Roman"/>
              </a:rPr>
              <a:t>A drive becomes a dataset as it opens</a:t>
            </a:r>
          </a:p>
        </p:txBody>
      </p:sp>
      <p:sp>
        <p:nvSpPr>
          <p:cNvPr id="45" name="Rectangle 44"/>
          <p:cNvSpPr/>
          <p:nvPr/>
        </p:nvSpPr>
        <p:spPr>
          <a:xfrm>
            <a:off x="22059900" y="6711188"/>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2059900" y="7040372"/>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47" name="TextBox 46"/>
          <p:cNvSpPr txBox="1"/>
          <p:nvPr/>
        </p:nvSpPr>
        <p:spPr>
          <a:xfrm>
            <a:off x="22059900" y="9151620"/>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Times New Roman"/>
              </a:rPr>
              <a:t>On disk today</a:t>
            </a:r>
          </a:p>
        </p:txBody>
      </p:sp>
      <p:sp>
        <p:nvSpPr>
          <p:cNvPr id="48" name="Rectangle 47"/>
          <p:cNvSpPr/>
          <p:nvPr/>
        </p:nvSpPr>
        <p:spPr>
          <a:xfrm>
            <a:off x="22059900" y="9712960"/>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2059900" y="10042144"/>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Two robots have put 2,686 camera frames and 91,955 telemetry rows across nine streams onto the platform, over 26 drives, with 342 m of GPS track from 1,502 fixes. None of the frames is labelled.</a:t>
            </a:r>
          </a:p>
        </p:txBody>
      </p:sp>
      <p:sp>
        <p:nvSpPr>
          <p:cNvPr id="50" name="TextBox 49"/>
          <p:cNvSpPr txBox="1"/>
          <p:nvPr/>
        </p:nvSpPr>
        <p:spPr>
          <a:xfrm>
            <a:off x="22059900" y="11533631"/>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Times New Roman"/>
              </a:rPr>
              <a:t>More web data, less accuracy</a:t>
            </a:r>
          </a:p>
        </p:txBody>
      </p:sp>
      <p:sp>
        <p:nvSpPr>
          <p:cNvPr id="51" name="Rectangle 50"/>
          <p:cNvSpPr/>
          <p:nvPr/>
        </p:nvSpPr>
        <p:spPr>
          <a:xfrm>
            <a:off x="22059900" y="12094971"/>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2059900" y="12424155"/>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53" name="TextBox 52"/>
          <p:cNvSpPr txBox="1"/>
          <p:nvPr/>
        </p:nvSpPr>
        <p:spPr>
          <a:xfrm>
            <a:off x="22059900" y="14225523"/>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Times New Roman"/>
              </a:rPr>
              <a:t>Talking back to a robot</a:t>
            </a:r>
          </a:p>
        </p:txBody>
      </p:sp>
      <p:sp>
        <p:nvSpPr>
          <p:cNvPr id="54" name="Rectangle 53"/>
          <p:cNvSpPr/>
          <p:nvPr/>
        </p:nvSpPr>
        <p:spPr>
          <a:xfrm>
            <a:off x="22059900" y="14786863"/>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2059900" y="15116047"/>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Besides the drive relay, the platform sends a robot exactly one thing: advisory text. The rover polls for it and shows deterministic warnings about battery, current and temperature. That poll has returned 406 times. No platform code path sends an actuation command to any robot.</a:t>
            </a:r>
          </a:p>
        </p:txBody>
      </p:sp>
      <p:sp>
        <p:nvSpPr>
          <p:cNvPr id="56" name="TextBox 55"/>
          <p:cNvSpPr txBox="1"/>
          <p:nvPr/>
        </p:nvSpPr>
        <p:spPr>
          <a:xfrm>
            <a:off x="22059900" y="16917416"/>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Times New Roman"/>
              </a:rPr>
              <a:t>Every drive is diagnosed on arrival</a:t>
            </a:r>
          </a:p>
        </p:txBody>
      </p:sp>
      <p:sp>
        <p:nvSpPr>
          <p:cNvPr id="57" name="Rectangle 56"/>
          <p:cNvSpPr/>
          <p:nvPr/>
        </p:nvSpPr>
        <p:spPr>
          <a:xfrm>
            <a:off x="22059900" y="17478756"/>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2059900" y="17807940"/>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The platform runs a fixed diagnosis over each finished session without being asked: route, noise, cross-sensor correlation, a timeline. It has done that for 26 live robot sessions and written 45 charts. A person reads the diagnosis before deciding whether the drive is worth anything.</a:t>
            </a:r>
          </a:p>
        </p:txBody>
      </p:sp>
      <p:sp>
        <p:nvSpPr>
          <p:cNvPr id="59" name="TextBox 58"/>
          <p:cNvSpPr txBox="1"/>
          <p:nvPr/>
        </p:nvSpPr>
        <p:spPr>
          <a:xfrm>
            <a:off x="22059900" y="19609308"/>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Times New Roman"/>
              </a:rPr>
              <a:t>Auditing six web sources</a:t>
            </a:r>
          </a:p>
        </p:txBody>
      </p:sp>
      <p:sp>
        <p:nvSpPr>
          <p:cNvPr id="60" name="Rectangle 59"/>
          <p:cNvSpPr/>
          <p:nvPr/>
        </p:nvSpPr>
        <p:spPr>
          <a:xfrm>
            <a:off x="22059900" y="20170648"/>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2059900" y="20499832"/>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The same probe reads 1.000 on human-labelled CottonWeedDet12, so a source at 0.184 is the data and not the instrument. Only the top source clears the bar, and it supplies 3,208 of the 13,527 audited images.</a:t>
            </a:r>
          </a:p>
        </p:txBody>
      </p:sp>
      <p:sp>
        <p:nvSpPr>
          <p:cNvPr id="62" name="TextBox 61"/>
          <p:cNvSpPr txBox="1"/>
          <p:nvPr/>
        </p:nvSpPr>
        <p:spPr>
          <a:xfrm>
            <a:off x="32552640" y="6149848"/>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Times New Roman"/>
              </a:rPr>
              <a:t>Driving a robot from a browser</a:t>
            </a:r>
          </a:p>
        </p:txBody>
      </p:sp>
      <p:sp>
        <p:nvSpPr>
          <p:cNvPr id="63" name="Rectangle 62"/>
          <p:cNvSpPr/>
          <p:nvPr/>
        </p:nvSpPr>
        <p:spPr>
          <a:xfrm>
            <a:off x="32552640" y="6711188"/>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2552640" y="7040372"/>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65" name="TextBox 64"/>
          <p:cNvSpPr txBox="1"/>
          <p:nvPr/>
        </p:nvSpPr>
        <p:spPr>
          <a:xfrm>
            <a:off x="32552640" y="9151620"/>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Times New Roman"/>
              </a:rPr>
              <a:t>Only one robot has the button</a:t>
            </a:r>
          </a:p>
        </p:txBody>
      </p:sp>
      <p:sp>
        <p:nvSpPr>
          <p:cNvPr id="66" name="Rectangle 65"/>
          <p:cNvSpPr/>
          <p:nvPr/>
        </p:nvSpPr>
        <p:spPr>
          <a:xfrm>
            <a:off x="32552640" y="9712960"/>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2552640" y="10042144"/>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68" name="TextBox 67"/>
          <p:cNvSpPr txBox="1"/>
          <p:nvPr/>
        </p:nvSpPr>
        <p:spPr>
          <a:xfrm>
            <a:off x="32552640" y="11843511"/>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Times New Roman"/>
              </a:rPr>
              <a:t>Any research field is a project</a:t>
            </a:r>
          </a:p>
        </p:txBody>
      </p:sp>
      <p:sp>
        <p:nvSpPr>
          <p:cNvPr id="69" name="Rectangle 68"/>
          <p:cNvSpPr/>
          <p:nvPr/>
        </p:nvSpPr>
        <p:spPr>
          <a:xfrm>
            <a:off x="32552640" y="12404851"/>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552640" y="12734035"/>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A lab member opens a project for any data type and any field, uploads images, video or sensor logs, and gets an automatic diagnosis before choosing what to do next. Weed detection is one project on this platform. The 241 rover, the laser cart and a Unitree humanoid each have their own.</a:t>
            </a:r>
          </a:p>
        </p:txBody>
      </p:sp>
      <p:sp>
        <p:nvSpPr>
          <p:cNvPr id="71" name="TextBox 70"/>
          <p:cNvSpPr txBox="1"/>
          <p:nvPr/>
        </p:nvSpPr>
        <p:spPr>
          <a:xfrm>
            <a:off x="32552640" y="14535403"/>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Times New Roman"/>
              </a:rPr>
              <a:t>Code the agent writes runs fenced in</a:t>
            </a:r>
          </a:p>
        </p:txBody>
      </p:sp>
      <p:sp>
        <p:nvSpPr>
          <p:cNvPr id="72" name="Rectangle 71"/>
          <p:cNvSpPr/>
          <p:nvPr/>
        </p:nvSpPr>
        <p:spPr>
          <a:xfrm>
            <a:off x="32552640" y="15096743"/>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2552640" y="15425927"/>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Generated code passes an import whitelist and an AST check before it runs, with no network and no file writes, 15 seconds of CPU, 1.5 GB of memory and a 25 second wall clock. A user can edit the agent's code or paste their own and re-run it in the same fence.</a:t>
            </a:r>
          </a:p>
        </p:txBody>
      </p:sp>
      <p:sp>
        <p:nvSpPr>
          <p:cNvPr id="74" name="TextBox 73"/>
          <p:cNvSpPr txBox="1"/>
          <p:nvPr/>
        </p:nvSpPr>
        <p:spPr>
          <a:xfrm>
            <a:off x="32552640" y="17227296"/>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Times New Roman"/>
              </a:rPr>
              <a:t>Laser on, never once at a target</a:t>
            </a:r>
          </a:p>
        </p:txBody>
      </p:sp>
      <p:sp>
        <p:nvSpPr>
          <p:cNvPr id="75" name="Rectangle 74"/>
          <p:cNvSpPr/>
          <p:nvPr/>
        </p:nvSpPr>
        <p:spPr>
          <a:xfrm>
            <a:off x="32552640" y="17788636"/>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2552640" y="18117820"/>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The cart's own operator switched the laser on during three of eight archived sessions. The platform recorded 3379 laser rows and 216 of them have the laser enabled. Every one of those 216 is in OBSERVATION phase, with no target. The laser has never been armed, aimed or fired by the platform.</a:t>
            </a:r>
          </a:p>
        </p:txBody>
      </p:sp>
      <p:sp>
        <p:nvSpPr>
          <p:cNvPr id="77" name="Rectangle 76"/>
          <p:cNvSpPr/>
          <p:nvPr/>
        </p:nvSpPr>
        <p:spPr>
          <a:xfrm>
            <a:off x="731520" y="30632400"/>
            <a:ext cx="42428160" cy="20116"/>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79" name="TextBox 78"/>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80" name="TextBox 79"/>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