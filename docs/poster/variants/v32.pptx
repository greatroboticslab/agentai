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1E293B"/>
                </a:solidFill>
                <a:latin typeface="Times New Roman"/>
              </a:rPr>
              <a:t>agentAI: A Research-Data Platform for Physical and Embodied Agents</a:t>
            </a:r>
          </a:p>
        </p:txBody>
      </p:sp>
      <p:sp>
        <p:nvSpPr>
          <p:cNvPr id="4" name="Rectangle 3"/>
          <p:cNvSpPr/>
          <p:nvPr/>
        </p:nvSpPr>
        <p:spPr>
          <a:xfrm>
            <a:off x="731520" y="2103120"/>
            <a:ext cx="42245280" cy="146304"/>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TextBox 7"/>
          <p:cNvSpPr txBox="1"/>
          <p:nvPr/>
        </p:nvSpPr>
        <p:spPr>
          <a:xfrm>
            <a:off x="731520" y="614984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One platform for every robot the lab owns</a:t>
            </a:r>
          </a:p>
        </p:txBody>
      </p:sp>
      <p:sp>
        <p:nvSpPr>
          <p:cNvPr id="9" name="Rectangle 8"/>
          <p:cNvSpPr/>
          <p:nvPr/>
        </p:nvSpPr>
        <p:spPr>
          <a:xfrm>
            <a:off x="731520" y="671118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704037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1" name="TextBox 10"/>
          <p:cNvSpPr txBox="1"/>
          <p:nvPr/>
        </p:nvSpPr>
        <p:spPr>
          <a:xfrm>
            <a:off x="731520" y="9151620"/>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14</a:t>
            </a:r>
          </a:p>
        </p:txBody>
      </p:sp>
      <p:sp>
        <p:nvSpPr>
          <p:cNvPr id="12" name="TextBox 11"/>
          <p:cNvSpPr txBox="1"/>
          <p:nvPr/>
        </p:nvSpPr>
        <p:spPr>
          <a:xfrm>
            <a:off x="731520" y="9954768"/>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analysis tools the planner can choose from</a:t>
            </a:r>
          </a:p>
        </p:txBody>
      </p:sp>
      <p:sp>
        <p:nvSpPr>
          <p:cNvPr id="13" name="TextBox 12"/>
          <p:cNvSpPr txBox="1"/>
          <p:nvPr/>
        </p:nvSpPr>
        <p:spPr>
          <a:xfrm>
            <a:off x="731520" y="104251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Ask a dataset what it is good for</a:t>
            </a:r>
          </a:p>
        </p:txBody>
      </p:sp>
      <p:sp>
        <p:nvSpPr>
          <p:cNvPr id="14" name="Rectangle 13"/>
          <p:cNvSpPr/>
          <p:nvPr/>
        </p:nvSpPr>
        <p:spPr>
          <a:xfrm>
            <a:off x="731520" y="1098651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131570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6" name="TextBox 15"/>
          <p:cNvSpPr txBox="1"/>
          <p:nvPr/>
        </p:nvSpPr>
        <p:spPr>
          <a:xfrm>
            <a:off x="731520" y="13117068"/>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92</a:t>
            </a:r>
          </a:p>
        </p:txBody>
      </p:sp>
      <p:sp>
        <p:nvSpPr>
          <p:cNvPr id="17" name="TextBox 16"/>
          <p:cNvSpPr txBox="1"/>
          <p:nvPr/>
        </p:nvSpPr>
        <p:spPr>
          <a:xfrm>
            <a:off x="731520" y="13920216"/>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questions asked of a dataset so far</a:t>
            </a:r>
          </a:p>
        </p:txBody>
      </p:sp>
      <p:sp>
        <p:nvSpPr>
          <p:cNvPr id="18" name="TextBox 17"/>
          <p:cNvSpPr txBox="1"/>
          <p:nvPr/>
        </p:nvSpPr>
        <p:spPr>
          <a:xfrm>
            <a:off x="731520" y="143906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Asked something it had never seen</a:t>
            </a:r>
          </a:p>
        </p:txBody>
      </p:sp>
      <p:sp>
        <p:nvSpPr>
          <p:cNvPr id="19" name="Rectangle 18"/>
          <p:cNvSpPr/>
          <p:nvPr/>
        </p:nvSpPr>
        <p:spPr>
          <a:xfrm>
            <a:off x="731520" y="1495196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152811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1" name="TextBox 20"/>
          <p:cNvSpPr txBox="1"/>
          <p:nvPr/>
        </p:nvSpPr>
        <p:spPr>
          <a:xfrm>
            <a:off x="731520" y="170825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Adding the next robot</a:t>
            </a:r>
          </a:p>
        </p:txBody>
      </p:sp>
      <p:sp>
        <p:nvSpPr>
          <p:cNvPr id="22" name="Rectangle 21"/>
          <p:cNvSpPr/>
          <p:nvPr/>
        </p:nvSpPr>
        <p:spPr>
          <a:xfrm>
            <a:off x="731520" y="1764385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1797304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24" name="TextBox 23"/>
          <p:cNvSpPr txBox="1"/>
          <p:nvPr/>
        </p:nvSpPr>
        <p:spPr>
          <a:xfrm>
            <a:off x="731520" y="1977440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Reading the loop's own artifacts</a:t>
            </a:r>
          </a:p>
        </p:txBody>
      </p:sp>
      <p:sp>
        <p:nvSpPr>
          <p:cNvPr id="25" name="Rectangle 24"/>
          <p:cNvSpPr/>
          <p:nvPr/>
        </p:nvSpPr>
        <p:spPr>
          <a:xfrm>
            <a:off x="731520" y="2033574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066493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27" name="TextBox 26"/>
          <p:cNvSpPr txBox="1"/>
          <p:nvPr/>
        </p:nvSpPr>
        <p:spPr>
          <a:xfrm>
            <a:off x="731520" y="2277618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Not yet pointed at the drives</a:t>
            </a:r>
          </a:p>
        </p:txBody>
      </p:sp>
      <p:sp>
        <p:nvSpPr>
          <p:cNvPr id="28" name="Rectangle 27"/>
          <p:cNvSpPr/>
          <p:nvPr/>
        </p:nvSpPr>
        <p:spPr>
          <a:xfrm>
            <a:off x="731520" y="2333752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2366670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30" name="TextBox 29"/>
          <p:cNvSpPr txBox="1"/>
          <p:nvPr/>
        </p:nvSpPr>
        <p:spPr>
          <a:xfrm>
            <a:off x="11704320" y="6149848"/>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Robots on the platform today</a:t>
            </a:r>
          </a:p>
        </p:txBody>
      </p:sp>
      <p:sp>
        <p:nvSpPr>
          <p:cNvPr id="31" name="Rectangle 30"/>
          <p:cNvSpPr/>
          <p:nvPr/>
        </p:nvSpPr>
        <p:spPr>
          <a:xfrm>
            <a:off x="11704320" y="6711188"/>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0" y="7040372"/>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33" name="TextBox 32"/>
          <p:cNvSpPr txBox="1"/>
          <p:nvPr/>
        </p:nvSpPr>
        <p:spPr>
          <a:xfrm>
            <a:off x="11704320" y="915162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Four frames, as recorded</a:t>
            </a:r>
          </a:p>
        </p:txBody>
      </p:sp>
      <p:sp>
        <p:nvSpPr>
          <p:cNvPr id="34" name="Rectangle 33"/>
          <p:cNvSpPr/>
          <p:nvPr/>
        </p:nvSpPr>
        <p:spPr>
          <a:xfrm>
            <a:off x="11704320" y="9712960"/>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04320" y="10042144"/>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Nothing here is enhanced and nothing is labelled. The rectangle in the cart's down camera is a fixed work-zone overlay: it sits at the same pixels on frames with no vegetation in them at all.</a:t>
            </a:r>
          </a:p>
        </p:txBody>
      </p:sp>
      <p:sp>
        <p:nvSpPr>
          <p:cNvPr id="36" name="TextBox 35"/>
          <p:cNvSpPr txBox="1"/>
          <p:nvPr/>
        </p:nvSpPr>
        <p:spPr>
          <a:xfrm>
            <a:off x="11704320" y="11533631"/>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Which decisions a model makes</a:t>
            </a:r>
          </a:p>
        </p:txBody>
      </p:sp>
      <p:sp>
        <p:nvSpPr>
          <p:cNvPr id="37" name="Rectangle 36"/>
          <p:cNvSpPr/>
          <p:nvPr/>
        </p:nvSpPr>
        <p:spPr>
          <a:xfrm>
            <a:off x="11704320" y="1209497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704320" y="12424155"/>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39" name="TextBox 38"/>
          <p:cNvSpPr txBox="1"/>
          <p:nvPr/>
        </p:nvSpPr>
        <p:spPr>
          <a:xfrm>
            <a:off x="11704320" y="1453540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213 seconds in one crop plot</a:t>
            </a:r>
          </a:p>
        </p:txBody>
      </p:sp>
      <p:sp>
        <p:nvSpPr>
          <p:cNvPr id="40" name="Rectangle 39"/>
          <p:cNvSpPr/>
          <p:nvPr/>
        </p:nvSpPr>
        <p:spPr>
          <a:xfrm>
            <a:off x="11704320" y="1509674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04320" y="1542592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longest single pass the platform holds: 141 m of track from 211 fixes, with heading from the IMU over the same 213 seconds. The platform holds 18 passes that carry position.</a:t>
            </a:r>
          </a:p>
        </p:txBody>
      </p:sp>
      <p:sp>
        <p:nvSpPr>
          <p:cNvPr id="42" name="TextBox 41"/>
          <p:cNvSpPr txBox="1"/>
          <p:nvPr/>
        </p:nvSpPr>
        <p:spPr>
          <a:xfrm>
            <a:off x="11704320" y="16917416"/>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Back on our own rows</a:t>
            </a:r>
          </a:p>
        </p:txBody>
      </p:sp>
      <p:sp>
        <p:nvSpPr>
          <p:cNvPr id="43" name="Rectangle 42"/>
          <p:cNvSpPr/>
          <p:nvPr/>
        </p:nvSpPr>
        <p:spPr>
          <a:xfrm>
            <a:off x="11704320" y="17478756"/>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04320" y="17807940"/>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45" name="TextBox 44"/>
          <p:cNvSpPr txBox="1"/>
          <p:nvPr/>
        </p:nvSpPr>
        <p:spPr>
          <a:xfrm>
            <a:off x="11704320" y="19299428"/>
            <a:ext cx="998982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162</a:t>
            </a:r>
          </a:p>
        </p:txBody>
      </p:sp>
      <p:sp>
        <p:nvSpPr>
          <p:cNvPr id="46" name="TextBox 45"/>
          <p:cNvSpPr txBox="1"/>
          <p:nvPr/>
        </p:nvSpPr>
        <p:spPr>
          <a:xfrm>
            <a:off x="11704320" y="20102576"/>
            <a:ext cx="998982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real failures frozen as a benchmark</a:t>
            </a:r>
          </a:p>
        </p:txBody>
      </p:sp>
      <p:sp>
        <p:nvSpPr>
          <p:cNvPr id="47" name="TextBox 46"/>
          <p:cNvSpPr txBox="1"/>
          <p:nvPr/>
        </p:nvSpPr>
        <p:spPr>
          <a:xfrm>
            <a:off x="11704320" y="2057298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Who notices when it breaks</a:t>
            </a:r>
          </a:p>
        </p:txBody>
      </p:sp>
      <p:sp>
        <p:nvSpPr>
          <p:cNvPr id="48" name="Rectangle 47"/>
          <p:cNvSpPr/>
          <p:nvPr/>
        </p:nvSpPr>
        <p:spPr>
          <a:xfrm>
            <a:off x="11704320" y="21134324"/>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04320" y="2146350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50" name="TextBox 49"/>
          <p:cNvSpPr txBox="1"/>
          <p:nvPr/>
        </p:nvSpPr>
        <p:spPr>
          <a:xfrm>
            <a:off x="22059900" y="6149848"/>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 drive becomes a dataset as it opens</a:t>
            </a:r>
          </a:p>
        </p:txBody>
      </p:sp>
      <p:sp>
        <p:nvSpPr>
          <p:cNvPr id="51" name="Rectangle 50"/>
          <p:cNvSpPr/>
          <p:nvPr/>
        </p:nvSpPr>
        <p:spPr>
          <a:xfrm>
            <a:off x="22059900" y="6711188"/>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059900" y="7040372"/>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3" name="TextBox 52"/>
          <p:cNvSpPr txBox="1"/>
          <p:nvPr/>
        </p:nvSpPr>
        <p:spPr>
          <a:xfrm>
            <a:off x="22059900" y="915162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On disk today</a:t>
            </a:r>
          </a:p>
        </p:txBody>
      </p:sp>
      <p:sp>
        <p:nvSpPr>
          <p:cNvPr id="54" name="Rectangle 53"/>
          <p:cNvSpPr/>
          <p:nvPr/>
        </p:nvSpPr>
        <p:spPr>
          <a:xfrm>
            <a:off x="22059900" y="9712960"/>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059900" y="10042144"/>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Two robots have put 2,686 camera frames and 91,955 telemetry rows across nine streams onto the platform, over 26 drives, with 342 m of GPS track from 1,502 fixes. None of the frames is labelled.</a:t>
            </a:r>
          </a:p>
        </p:txBody>
      </p:sp>
      <p:sp>
        <p:nvSpPr>
          <p:cNvPr id="56" name="TextBox 55"/>
          <p:cNvSpPr txBox="1"/>
          <p:nvPr/>
        </p:nvSpPr>
        <p:spPr>
          <a:xfrm>
            <a:off x="22059900" y="11533631"/>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More web data, less accuracy</a:t>
            </a:r>
          </a:p>
        </p:txBody>
      </p:sp>
      <p:sp>
        <p:nvSpPr>
          <p:cNvPr id="57" name="Rectangle 56"/>
          <p:cNvSpPr/>
          <p:nvPr/>
        </p:nvSpPr>
        <p:spPr>
          <a:xfrm>
            <a:off x="22059900" y="1209497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059900" y="12424155"/>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9" name="TextBox 58"/>
          <p:cNvSpPr txBox="1"/>
          <p:nvPr/>
        </p:nvSpPr>
        <p:spPr>
          <a:xfrm>
            <a:off x="22059900" y="1422552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Talking back to a robot</a:t>
            </a:r>
          </a:p>
        </p:txBody>
      </p:sp>
      <p:sp>
        <p:nvSpPr>
          <p:cNvPr id="60" name="Rectangle 59"/>
          <p:cNvSpPr/>
          <p:nvPr/>
        </p:nvSpPr>
        <p:spPr>
          <a:xfrm>
            <a:off x="22059900" y="1478686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059900" y="1511604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62" name="TextBox 61"/>
          <p:cNvSpPr txBox="1"/>
          <p:nvPr/>
        </p:nvSpPr>
        <p:spPr>
          <a:xfrm>
            <a:off x="22059900" y="16917416"/>
            <a:ext cx="998982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26</a:t>
            </a:r>
          </a:p>
        </p:txBody>
      </p:sp>
      <p:sp>
        <p:nvSpPr>
          <p:cNvPr id="63" name="TextBox 62"/>
          <p:cNvSpPr txBox="1"/>
          <p:nvPr/>
        </p:nvSpPr>
        <p:spPr>
          <a:xfrm>
            <a:off x="22059900" y="17720564"/>
            <a:ext cx="998982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live drives diagnosed without being asked</a:t>
            </a:r>
          </a:p>
        </p:txBody>
      </p:sp>
      <p:sp>
        <p:nvSpPr>
          <p:cNvPr id="64" name="TextBox 63"/>
          <p:cNvSpPr txBox="1"/>
          <p:nvPr/>
        </p:nvSpPr>
        <p:spPr>
          <a:xfrm>
            <a:off x="22059900" y="18190972"/>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Every drive is diagnosed on arrival</a:t>
            </a:r>
          </a:p>
        </p:txBody>
      </p:sp>
      <p:sp>
        <p:nvSpPr>
          <p:cNvPr id="65" name="Rectangle 64"/>
          <p:cNvSpPr/>
          <p:nvPr/>
        </p:nvSpPr>
        <p:spPr>
          <a:xfrm>
            <a:off x="22059900" y="1875231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059900" y="19081495"/>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67" name="TextBox 66"/>
          <p:cNvSpPr txBox="1"/>
          <p:nvPr/>
        </p:nvSpPr>
        <p:spPr>
          <a:xfrm>
            <a:off x="22059900" y="2088286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Auditing six web sources</a:t>
            </a:r>
          </a:p>
        </p:txBody>
      </p:sp>
      <p:sp>
        <p:nvSpPr>
          <p:cNvPr id="68" name="Rectangle 67"/>
          <p:cNvSpPr/>
          <p:nvPr/>
        </p:nvSpPr>
        <p:spPr>
          <a:xfrm>
            <a:off x="22059900" y="21444204"/>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059900" y="2177338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same probe reads 1.000 on human-labelled CottonWeedDet12, so a source at 0.184 is the data and not the instrument. Only the top source clears the bar, and it supplies 3,208 of the 13,527 audited images.</a:t>
            </a:r>
          </a:p>
        </p:txBody>
      </p:sp>
      <p:sp>
        <p:nvSpPr>
          <p:cNvPr id="70" name="TextBox 69"/>
          <p:cNvSpPr txBox="1"/>
          <p:nvPr/>
        </p:nvSpPr>
        <p:spPr>
          <a:xfrm>
            <a:off x="32552640" y="6149848"/>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1,389</a:t>
            </a:r>
          </a:p>
        </p:txBody>
      </p:sp>
      <p:sp>
        <p:nvSpPr>
          <p:cNvPr id="71" name="TextBox 70"/>
          <p:cNvSpPr txBox="1"/>
          <p:nvPr/>
        </p:nvSpPr>
        <p:spPr>
          <a:xfrm>
            <a:off x="32552640" y="6952996"/>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joystick commands through the platform</a:t>
            </a:r>
          </a:p>
        </p:txBody>
      </p:sp>
      <p:sp>
        <p:nvSpPr>
          <p:cNvPr id="72" name="TextBox 71"/>
          <p:cNvSpPr txBox="1"/>
          <p:nvPr/>
        </p:nvSpPr>
        <p:spPr>
          <a:xfrm>
            <a:off x="32552640" y="742340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Driving a robot from a browser</a:t>
            </a:r>
          </a:p>
        </p:txBody>
      </p:sp>
      <p:sp>
        <p:nvSpPr>
          <p:cNvPr id="73" name="Rectangle 72"/>
          <p:cNvSpPr/>
          <p:nvPr/>
        </p:nvSpPr>
        <p:spPr>
          <a:xfrm>
            <a:off x="32552640" y="798474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552640" y="831392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75" name="TextBox 74"/>
          <p:cNvSpPr txBox="1"/>
          <p:nvPr/>
        </p:nvSpPr>
        <p:spPr>
          <a:xfrm>
            <a:off x="32552640" y="104251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Only one robot has the button</a:t>
            </a:r>
          </a:p>
        </p:txBody>
      </p:sp>
      <p:sp>
        <p:nvSpPr>
          <p:cNvPr id="76" name="Rectangle 75"/>
          <p:cNvSpPr/>
          <p:nvPr/>
        </p:nvSpPr>
        <p:spPr>
          <a:xfrm>
            <a:off x="32552640" y="1098651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552640" y="1131570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8" name="TextBox 77"/>
          <p:cNvSpPr txBox="1"/>
          <p:nvPr/>
        </p:nvSpPr>
        <p:spPr>
          <a:xfrm>
            <a:off x="32552640" y="131170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Any research field is a project</a:t>
            </a:r>
          </a:p>
        </p:txBody>
      </p:sp>
      <p:sp>
        <p:nvSpPr>
          <p:cNvPr id="79" name="Rectangle 78"/>
          <p:cNvSpPr/>
          <p:nvPr/>
        </p:nvSpPr>
        <p:spPr>
          <a:xfrm>
            <a:off x="32552640" y="1367840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552640" y="140075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1" name="TextBox 80"/>
          <p:cNvSpPr txBox="1"/>
          <p:nvPr/>
        </p:nvSpPr>
        <p:spPr>
          <a:xfrm>
            <a:off x="32552640" y="158089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Code the agent writes runs fenced in</a:t>
            </a:r>
          </a:p>
        </p:txBody>
      </p:sp>
      <p:sp>
        <p:nvSpPr>
          <p:cNvPr id="82" name="Rectangle 81"/>
          <p:cNvSpPr/>
          <p:nvPr/>
        </p:nvSpPr>
        <p:spPr>
          <a:xfrm>
            <a:off x="32552640" y="1637030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2552640" y="1669948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84" name="TextBox 83"/>
          <p:cNvSpPr txBox="1"/>
          <p:nvPr/>
        </p:nvSpPr>
        <p:spPr>
          <a:xfrm>
            <a:off x="32552640" y="1850085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Times New Roman"/>
              </a:rPr>
              <a:t>0</a:t>
            </a:r>
          </a:p>
        </p:txBody>
      </p:sp>
      <p:sp>
        <p:nvSpPr>
          <p:cNvPr id="85" name="TextBox 84"/>
          <p:cNvSpPr txBox="1"/>
          <p:nvPr/>
        </p:nvSpPr>
        <p:spPr>
          <a:xfrm>
            <a:off x="32552640" y="19304000"/>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times the laser has been fired by the platform</a:t>
            </a:r>
          </a:p>
        </p:txBody>
      </p:sp>
      <p:sp>
        <p:nvSpPr>
          <p:cNvPr id="86" name="TextBox 85"/>
          <p:cNvSpPr txBox="1"/>
          <p:nvPr/>
        </p:nvSpPr>
        <p:spPr>
          <a:xfrm>
            <a:off x="32552640" y="1977440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Times New Roman"/>
              </a:rPr>
              <a:t>Laser on, never once at a target</a:t>
            </a:r>
          </a:p>
        </p:txBody>
      </p:sp>
      <p:sp>
        <p:nvSpPr>
          <p:cNvPr id="87" name="Rectangle 86"/>
          <p:cNvSpPr/>
          <p:nvPr/>
        </p:nvSpPr>
        <p:spPr>
          <a:xfrm>
            <a:off x="32552640" y="2033574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2552640" y="2066493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89" name="Rectangle 88"/>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91" name="TextBox 90"/>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2" name="TextBox 91"/>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