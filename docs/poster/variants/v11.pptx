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43891200" cy="329184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3891200" cy="32918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3891200" cy="393192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3931920"/>
            <a:ext cx="43891200" cy="45720"/>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384048"/>
            <a:ext cx="42428160" cy="365760"/>
          </a:xfrm>
          <a:prstGeom prst="rect">
            <a:avLst/>
          </a:prstGeom>
          <a:noFill/>
        </p:spPr>
        <p:txBody>
          <a:bodyPr wrap="square" lIns="0" rIns="0" tIns="0" bIns="0">
            <a:spAutoFit/>
          </a:bodyPr>
          <a:lstStyle/>
          <a:p>
            <a:pPr algn="l">
              <a:lnSpc>
                <a:spcPct val="95000"/>
              </a:lnSpc>
              <a:spcAft>
                <a:spcPts val="0"/>
              </a:spcAft>
            </a:pPr>
            <a:r>
              <a:rPr sz="9200" b="1">
                <a:solidFill>
                  <a:srgbClr val="FFFFFF"/>
                </a:solidFill>
                <a:latin typeface="Arial"/>
              </a:rPr>
              <a:t>agentAI: A Research-Data Platform for Physical and Embodied Agents</a:t>
            </a:r>
          </a:p>
        </p:txBody>
      </p:sp>
      <p:sp>
        <p:nvSpPr>
          <p:cNvPr id="6" name="TextBox 5"/>
          <p:cNvSpPr txBox="1"/>
          <p:nvPr/>
        </p:nvSpPr>
        <p:spPr>
          <a:xfrm>
            <a:off x="731520" y="2121408"/>
            <a:ext cx="42428160" cy="365760"/>
          </a:xfrm>
          <a:prstGeom prst="rect">
            <a:avLst/>
          </a:prstGeom>
          <a:noFill/>
        </p:spPr>
        <p:txBody>
          <a:bodyPr wrap="square" lIns="0" rIns="0" tIns="0" bIns="0">
            <a:spAutoFit/>
          </a:bodyPr>
          <a:lstStyle/>
          <a:p>
            <a:pPr algn="l">
              <a:lnSpc>
                <a:spcPct val="100000"/>
              </a:lnSpc>
              <a:spcAft>
                <a:spcPts val="0"/>
              </a:spcAft>
            </a:pPr>
            <a:r>
              <a:rPr sz="4000" b="1">
                <a:solidFill>
                  <a:srgbClr val="FFFFFF"/>
                </a:solidFill>
                <a:latin typeface="Arial"/>
              </a:rPr>
              <a:t>Harry He   ·   Hongbo Zhang</a:t>
            </a:r>
          </a:p>
        </p:txBody>
      </p:sp>
      <p:sp>
        <p:nvSpPr>
          <p:cNvPr id="7" name="TextBox 6"/>
          <p:cNvSpPr txBox="1"/>
          <p:nvPr/>
        </p:nvSpPr>
        <p:spPr>
          <a:xfrm>
            <a:off x="731520" y="2761488"/>
            <a:ext cx="42428160" cy="365760"/>
          </a:xfrm>
          <a:prstGeom prst="rect">
            <a:avLst/>
          </a:prstGeom>
          <a:noFill/>
        </p:spPr>
        <p:txBody>
          <a:bodyPr wrap="square" lIns="0" rIns="0" tIns="0" bIns="0">
            <a:spAutoFit/>
          </a:bodyPr>
          <a:lstStyle/>
          <a:p>
            <a:pPr algn="l">
              <a:lnSpc>
                <a:spcPct val="100000"/>
              </a:lnSpc>
              <a:spcAft>
                <a:spcPts val="0"/>
              </a:spcAft>
            </a:pPr>
            <a:r>
              <a:rPr sz="2400" b="0">
                <a:solidFill>
                  <a:srgbClr val="D5D5D5"/>
                </a:solidFill>
                <a:latin typeface="Arial"/>
              </a:rPr>
              <a:t>Department of Engineering Technology   ·   Middle Tennessee State University, Murfreesboro, TN, USA</a:t>
            </a:r>
          </a:p>
        </p:txBody>
      </p:sp>
      <p:sp>
        <p:nvSpPr>
          <p:cNvPr id="8" name="TextBox 7"/>
          <p:cNvSpPr txBox="1"/>
          <p:nvPr/>
        </p:nvSpPr>
        <p:spPr>
          <a:xfrm>
            <a:off x="731520" y="4315968"/>
            <a:ext cx="42428160" cy="365760"/>
          </a:xfrm>
          <a:prstGeom prst="rect">
            <a:avLst/>
          </a:prstGeom>
          <a:noFill/>
        </p:spPr>
        <p:txBody>
          <a:bodyPr wrap="square" lIns="0" rIns="0" tIns="0" bIns="0">
            <a:spAutoFit/>
          </a:bodyPr>
          <a:lstStyle/>
          <a:p>
            <a:pPr algn="l">
              <a:lnSpc>
                <a:spcPct val="116000"/>
              </a:lnSpc>
              <a:spcAft>
                <a:spcPts val="0"/>
              </a:spcAft>
            </a:pPr>
            <a:r>
              <a:rPr sz="3000" b="0">
                <a:solidFill>
                  <a:srgbClr val="1A1A1A"/>
                </a:solidFill>
                <a:latin typeface="Arial"/>
              </a:rPr>
              <a:t>Built at the MTSU Great Robotics Lab. Every robot the lab owns reports into one platform; agents on it harvest, filter, label and train; a third agent watches the other two. This is what runs today, what the robots have recorded, and what six months of running it taught us.</a:t>
            </a:r>
          </a:p>
        </p:txBody>
      </p:sp>
      <p:sp>
        <p:nvSpPr>
          <p:cNvPr id="9" name="TextBox 8"/>
          <p:cNvSpPr txBox="1"/>
          <p:nvPr/>
        </p:nvSpPr>
        <p:spPr>
          <a:xfrm>
            <a:off x="731520" y="6031992"/>
            <a:ext cx="20482560" cy="365760"/>
          </a:xfrm>
          <a:prstGeom prst="rect">
            <a:avLst/>
          </a:prstGeom>
          <a:noFill/>
        </p:spPr>
        <p:txBody>
          <a:bodyPr wrap="square" lIns="0" rIns="0" tIns="0" bIns="0">
            <a:spAutoFit/>
          </a:bodyPr>
          <a:lstStyle/>
          <a:p>
            <a:pPr algn="l">
              <a:lnSpc>
                <a:spcPct val="95000"/>
              </a:lnSpc>
              <a:spcAft>
                <a:spcPts val="0"/>
              </a:spcAft>
            </a:pPr>
            <a:r>
              <a:rPr sz="3200" b="1">
                <a:solidFill>
                  <a:srgbClr val="1A1A1A"/>
                </a:solidFill>
                <a:latin typeface="Arial"/>
              </a:rPr>
              <a:t>One platform for every robot the lab owns</a:t>
            </a:r>
          </a:p>
        </p:txBody>
      </p:sp>
      <p:sp>
        <p:nvSpPr>
          <p:cNvPr id="10" name="Rectangle 9"/>
          <p:cNvSpPr/>
          <p:nvPr/>
        </p:nvSpPr>
        <p:spPr>
          <a:xfrm>
            <a:off x="731520" y="6560312"/>
            <a:ext cx="2048256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6889496"/>
            <a:ext cx="20482560" cy="365760"/>
          </a:xfrm>
          <a:prstGeom prst="rect">
            <a:avLst/>
          </a:prstGeom>
          <a:noFill/>
        </p:spPr>
        <p:txBody>
          <a:bodyPr wrap="square" lIns="0" rIns="0" tIns="0" bIns="0">
            <a:spAutoFit/>
          </a:bodyPr>
          <a:lstStyle/>
          <a:p>
            <a:pPr algn="l">
              <a:lnSpc>
                <a:spcPct val="122000"/>
              </a:lnSpc>
              <a:spcAft>
                <a:spcPts val="1400"/>
              </a:spcAft>
            </a:pPr>
            <a:r>
              <a:rPr sz="1900" b="0">
                <a:solidFill>
                  <a:srgbClr val="1A1A1A"/>
                </a:solidFill>
                <a:latin typeface="Arial"/>
              </a:rPr>
              <a:t>agentAI is a research-data platform for physical and embodied agents, built at the MTSU Great Robotics Lab. A robot, a drone or a sensor rig is a project. A project owns its keys, its people and a locked dataset registry. Agents on the platform harvest, filter, label and train against that registry. Adding a robot is a configuration, not a migration.</a:t>
            </a:r>
          </a:p>
        </p:txBody>
      </p:sp>
      <p:sp>
        <p:nvSpPr>
          <p:cNvPr id="12" name="TextBox 11"/>
          <p:cNvSpPr txBox="1"/>
          <p:nvPr/>
        </p:nvSpPr>
        <p:spPr>
          <a:xfrm>
            <a:off x="731520" y="8261349"/>
            <a:ext cx="20482560" cy="365760"/>
          </a:xfrm>
          <a:prstGeom prst="rect">
            <a:avLst/>
          </a:prstGeom>
          <a:noFill/>
        </p:spPr>
        <p:txBody>
          <a:bodyPr wrap="square" lIns="0" rIns="0" tIns="0" bIns="0">
            <a:spAutoFit/>
          </a:bodyPr>
          <a:lstStyle/>
          <a:p>
            <a:pPr algn="l">
              <a:lnSpc>
                <a:spcPct val="95000"/>
              </a:lnSpc>
              <a:spcAft>
                <a:spcPts val="0"/>
              </a:spcAft>
            </a:pPr>
            <a:r>
              <a:rPr sz="3200" b="1">
                <a:solidFill>
                  <a:srgbClr val="1A1A1A"/>
                </a:solidFill>
                <a:latin typeface="Arial"/>
              </a:rPr>
              <a:t>A drive becomes a dataset as it opens</a:t>
            </a:r>
          </a:p>
        </p:txBody>
      </p:sp>
      <p:sp>
        <p:nvSpPr>
          <p:cNvPr id="13" name="Rectangle 12"/>
          <p:cNvSpPr/>
          <p:nvPr/>
        </p:nvSpPr>
        <p:spPr>
          <a:xfrm>
            <a:off x="731520" y="8789669"/>
            <a:ext cx="2048256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9118853"/>
            <a:ext cx="20482560" cy="365760"/>
          </a:xfrm>
          <a:prstGeom prst="rect">
            <a:avLst/>
          </a:prstGeom>
          <a:noFill/>
        </p:spPr>
        <p:txBody>
          <a:bodyPr wrap="square" lIns="0" rIns="0" tIns="0" bIns="0">
            <a:spAutoFit/>
          </a:bodyPr>
          <a:lstStyle/>
          <a:p>
            <a:pPr algn="l">
              <a:lnSpc>
                <a:spcPct val="122000"/>
              </a:lnSpc>
              <a:spcAft>
                <a:spcPts val="1400"/>
              </a:spcAft>
            </a:pPr>
            <a:r>
              <a:rPr sz="1900" b="0">
                <a:solidFill>
                  <a:srgbClr val="1A1A1A"/>
                </a:solidFill>
                <a:latin typeface="Arial"/>
              </a:rPr>
              <a:t>A vehicle opens a session and the platform registers it as a governed dataset at that moment, not after the drive ends. Frames and sensor batches arrive over one API key. Robot 241 sends camera, GPS and two IMUs; the laser cart sends camera, laser state, vehicle telemetry and its own detections, and no position at all.</a:t>
            </a:r>
          </a:p>
        </p:txBody>
      </p:sp>
      <p:sp>
        <p:nvSpPr>
          <p:cNvPr id="15" name="TextBox 14"/>
          <p:cNvSpPr txBox="1"/>
          <p:nvPr/>
        </p:nvSpPr>
        <p:spPr>
          <a:xfrm>
            <a:off x="731520" y="10196321"/>
            <a:ext cx="20482560" cy="365760"/>
          </a:xfrm>
          <a:prstGeom prst="rect">
            <a:avLst/>
          </a:prstGeom>
          <a:noFill/>
        </p:spPr>
        <p:txBody>
          <a:bodyPr wrap="square" lIns="0" rIns="0" tIns="0" bIns="0">
            <a:spAutoFit/>
          </a:bodyPr>
          <a:lstStyle/>
          <a:p>
            <a:pPr algn="l">
              <a:lnSpc>
                <a:spcPct val="95000"/>
              </a:lnSpc>
              <a:spcAft>
                <a:spcPts val="0"/>
              </a:spcAft>
            </a:pPr>
            <a:r>
              <a:rPr sz="6200" b="1">
                <a:solidFill>
                  <a:srgbClr val="1C6FB5"/>
                </a:solidFill>
                <a:latin typeface="Arial"/>
              </a:rPr>
              <a:t>14</a:t>
            </a:r>
          </a:p>
        </p:txBody>
      </p:sp>
      <p:sp>
        <p:nvSpPr>
          <p:cNvPr id="16" name="TextBox 15"/>
          <p:cNvSpPr txBox="1"/>
          <p:nvPr/>
        </p:nvSpPr>
        <p:spPr>
          <a:xfrm>
            <a:off x="731520" y="10999469"/>
            <a:ext cx="20482560" cy="365760"/>
          </a:xfrm>
          <a:prstGeom prst="rect">
            <a:avLst/>
          </a:prstGeom>
          <a:noFill/>
        </p:spPr>
        <p:txBody>
          <a:bodyPr wrap="square" lIns="0" rIns="0" tIns="0" bIns="0">
            <a:spAutoFit/>
          </a:bodyPr>
          <a:lstStyle/>
          <a:p>
            <a:pPr algn="l">
              <a:lnSpc>
                <a:spcPct val="122000"/>
              </a:lnSpc>
              <a:spcAft>
                <a:spcPts val="600"/>
              </a:spcAft>
            </a:pPr>
            <a:r>
              <a:rPr sz="1500" b="0">
                <a:solidFill>
                  <a:srgbClr val="6A6A6A"/>
                </a:solidFill>
                <a:latin typeface="Arial"/>
              </a:rPr>
              <a:t>analysis tools the planner can choose from</a:t>
            </a:r>
          </a:p>
        </p:txBody>
      </p:sp>
      <p:sp>
        <p:nvSpPr>
          <p:cNvPr id="17" name="TextBox 16"/>
          <p:cNvSpPr txBox="1"/>
          <p:nvPr/>
        </p:nvSpPr>
        <p:spPr>
          <a:xfrm>
            <a:off x="731520" y="11454383"/>
            <a:ext cx="20482560" cy="365760"/>
          </a:xfrm>
          <a:prstGeom prst="rect">
            <a:avLst/>
          </a:prstGeom>
          <a:noFill/>
        </p:spPr>
        <p:txBody>
          <a:bodyPr wrap="square" lIns="0" rIns="0" tIns="0" bIns="0">
            <a:spAutoFit/>
          </a:bodyPr>
          <a:lstStyle/>
          <a:p>
            <a:pPr algn="l">
              <a:lnSpc>
                <a:spcPct val="95000"/>
              </a:lnSpc>
              <a:spcAft>
                <a:spcPts val="0"/>
              </a:spcAft>
            </a:pPr>
            <a:r>
              <a:rPr sz="3200" b="1">
                <a:solidFill>
                  <a:srgbClr val="1A1A1A"/>
                </a:solidFill>
                <a:latin typeface="Arial"/>
              </a:rPr>
              <a:t>Ask a dataset what it is good for</a:t>
            </a:r>
          </a:p>
        </p:txBody>
      </p:sp>
      <p:sp>
        <p:nvSpPr>
          <p:cNvPr id="18" name="Rectangle 17"/>
          <p:cNvSpPr/>
          <p:nvPr/>
        </p:nvSpPr>
        <p:spPr>
          <a:xfrm>
            <a:off x="731520" y="11982703"/>
            <a:ext cx="2048256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12311887"/>
            <a:ext cx="20482560" cy="365760"/>
          </a:xfrm>
          <a:prstGeom prst="rect">
            <a:avLst/>
          </a:prstGeom>
          <a:noFill/>
        </p:spPr>
        <p:txBody>
          <a:bodyPr wrap="square" lIns="0" rIns="0" tIns="0" bIns="0">
            <a:spAutoFit/>
          </a:bodyPr>
          <a:lstStyle/>
          <a:p>
            <a:pPr algn="l">
              <a:lnSpc>
                <a:spcPct val="122000"/>
              </a:lnSpc>
              <a:spcAft>
                <a:spcPts val="1400"/>
              </a:spcAft>
            </a:pPr>
            <a:r>
              <a:rPr sz="1900" b="0">
                <a:solidFill>
                  <a:srgbClr val="1A1A1A"/>
                </a:solidFill>
                <a:latin typeface="Arial"/>
              </a:rPr>
              <a:t>Every dataset page carries a chat box. A user types or speaks a plain question about that dataset. A planner reads the question and the dataset's real column profile, then picks from 14 fixed analysis tools or writes new code. The answer comes back with the chart and the code that produced it.</a:t>
            </a:r>
          </a:p>
        </p:txBody>
      </p:sp>
      <p:sp>
        <p:nvSpPr>
          <p:cNvPr id="20" name="TextBox 19"/>
          <p:cNvSpPr txBox="1"/>
          <p:nvPr/>
        </p:nvSpPr>
        <p:spPr>
          <a:xfrm>
            <a:off x="731520" y="13389355"/>
            <a:ext cx="20482560" cy="365760"/>
          </a:xfrm>
          <a:prstGeom prst="rect">
            <a:avLst/>
          </a:prstGeom>
          <a:noFill/>
        </p:spPr>
        <p:txBody>
          <a:bodyPr wrap="square" lIns="0" rIns="0" tIns="0" bIns="0">
            <a:spAutoFit/>
          </a:bodyPr>
          <a:lstStyle/>
          <a:p>
            <a:pPr algn="l">
              <a:lnSpc>
                <a:spcPct val="95000"/>
              </a:lnSpc>
              <a:spcAft>
                <a:spcPts val="0"/>
              </a:spcAft>
            </a:pPr>
            <a:r>
              <a:rPr sz="6200" b="1">
                <a:solidFill>
                  <a:srgbClr val="1C6FB5"/>
                </a:solidFill>
                <a:latin typeface="Arial"/>
              </a:rPr>
              <a:t>27</a:t>
            </a:r>
          </a:p>
        </p:txBody>
      </p:sp>
      <p:sp>
        <p:nvSpPr>
          <p:cNvPr id="21" name="TextBox 20"/>
          <p:cNvSpPr txBox="1"/>
          <p:nvPr/>
        </p:nvSpPr>
        <p:spPr>
          <a:xfrm>
            <a:off x="731520" y="14192503"/>
            <a:ext cx="20482560" cy="365760"/>
          </a:xfrm>
          <a:prstGeom prst="rect">
            <a:avLst/>
          </a:prstGeom>
          <a:noFill/>
        </p:spPr>
        <p:txBody>
          <a:bodyPr wrap="square" lIns="0" rIns="0" tIns="0" bIns="0">
            <a:spAutoFit/>
          </a:bodyPr>
          <a:lstStyle/>
          <a:p>
            <a:pPr algn="l">
              <a:lnSpc>
                <a:spcPct val="122000"/>
              </a:lnSpc>
              <a:spcAft>
                <a:spcPts val="600"/>
              </a:spcAft>
            </a:pPr>
            <a:r>
              <a:rPr sz="1500" b="0">
                <a:solidFill>
                  <a:srgbClr val="6A6A6A"/>
                </a:solidFill>
                <a:latin typeface="Arial"/>
              </a:rPr>
              <a:t>distinct models trained, run, or rejected</a:t>
            </a:r>
          </a:p>
        </p:txBody>
      </p:sp>
      <p:sp>
        <p:nvSpPr>
          <p:cNvPr id="22" name="TextBox 21"/>
          <p:cNvSpPr txBox="1"/>
          <p:nvPr/>
        </p:nvSpPr>
        <p:spPr>
          <a:xfrm>
            <a:off x="731520" y="14647417"/>
            <a:ext cx="20482560" cy="365760"/>
          </a:xfrm>
          <a:prstGeom prst="rect">
            <a:avLst/>
          </a:prstGeom>
          <a:noFill/>
        </p:spPr>
        <p:txBody>
          <a:bodyPr wrap="square" lIns="0" rIns="0" tIns="0" bIns="0">
            <a:spAutoFit/>
          </a:bodyPr>
          <a:lstStyle/>
          <a:p>
            <a:pPr algn="l">
              <a:lnSpc>
                <a:spcPct val="95000"/>
              </a:lnSpc>
              <a:spcAft>
                <a:spcPts val="0"/>
              </a:spcAft>
            </a:pPr>
            <a:r>
              <a:rPr sz="3200" b="1">
                <a:solidFill>
                  <a:srgbClr val="1A1A1A"/>
                </a:solidFill>
                <a:latin typeface="Arial"/>
              </a:rPr>
              <a:t>Everything we trained, ran, or rejected</a:t>
            </a:r>
          </a:p>
        </p:txBody>
      </p:sp>
      <p:sp>
        <p:nvSpPr>
          <p:cNvPr id="23" name="Rectangle 22"/>
          <p:cNvSpPr/>
          <p:nvPr/>
        </p:nvSpPr>
        <p:spPr>
          <a:xfrm>
            <a:off x="731520" y="15175738"/>
            <a:ext cx="2048256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m_ledger.png"/>
          <p:cNvPicPr>
            <a:picLocks noChangeAspect="1"/>
          </p:cNvPicPr>
          <p:nvPr/>
        </p:nvPicPr>
        <p:blipFill>
          <a:blip r:embed="rId2"/>
          <a:stretch>
            <a:fillRect/>
          </a:stretch>
        </p:blipFill>
        <p:spPr>
          <a:xfrm>
            <a:off x="731520" y="15504922"/>
            <a:ext cx="20482560" cy="3749040"/>
          </a:xfrm>
          <a:prstGeom prst="rect">
            <a:avLst/>
          </a:prstGeom>
        </p:spPr>
      </p:pic>
      <p:sp>
        <p:nvSpPr>
          <p:cNvPr id="25" name="TextBox 24"/>
          <p:cNvSpPr txBox="1"/>
          <p:nvPr/>
        </p:nvSpPr>
        <p:spPr>
          <a:xfrm>
            <a:off x="731520" y="19363690"/>
            <a:ext cx="20482560" cy="365760"/>
          </a:xfrm>
          <a:prstGeom prst="rect">
            <a:avLst/>
          </a:prstGeom>
          <a:noFill/>
        </p:spPr>
        <p:txBody>
          <a:bodyPr wrap="square" lIns="0" rIns="0" tIns="0" bIns="0">
            <a:spAutoFit/>
          </a:bodyPr>
          <a:lstStyle/>
          <a:p>
            <a:pPr algn="l">
              <a:lnSpc>
                <a:spcPct val="118000"/>
              </a:lnSpc>
              <a:spcAft>
                <a:spcPts val="0"/>
              </a:spcAft>
            </a:pPr>
            <a:r>
              <a:rPr sz="1500" b="0">
                <a:solidFill>
                  <a:srgbClr val="6A6A6A"/>
                </a:solidFill>
                <a:latin typeface="Arial"/>
              </a:rPr>
              <a:t>Figure 1.  30 rows in four families, which is 27 distinct models: OWLv2-large and Qwen2.5-7B each appear twice because each does two jobs here. One model is deployed. The zero-shot column is a single deterministic pass per model with no repeats, scored as mAP50 on the 848-image split; the reviewer column is the 149-case dev split, and two of its arms are still running. RF-DETR's score is on a third scale and is never differenced against the rows above it: the one measured offset between two of our evaluators, 0.0239, is larger than the gap on display.</a:t>
            </a:r>
          </a:p>
        </p:txBody>
      </p:sp>
      <p:sp>
        <p:nvSpPr>
          <p:cNvPr id="26" name="TextBox 25"/>
          <p:cNvSpPr txBox="1"/>
          <p:nvPr/>
        </p:nvSpPr>
        <p:spPr>
          <a:xfrm>
            <a:off x="731520" y="20348956"/>
            <a:ext cx="20482560" cy="365760"/>
          </a:xfrm>
          <a:prstGeom prst="rect">
            <a:avLst/>
          </a:prstGeom>
          <a:noFill/>
        </p:spPr>
        <p:txBody>
          <a:bodyPr wrap="square" lIns="0" rIns="0" tIns="0" bIns="0">
            <a:spAutoFit/>
          </a:bodyPr>
          <a:lstStyle/>
          <a:p>
            <a:pPr algn="l">
              <a:lnSpc>
                <a:spcPct val="122000"/>
              </a:lnSpc>
              <a:spcAft>
                <a:spcPts val="1400"/>
              </a:spcAft>
            </a:pPr>
            <a:r>
              <a:rPr sz="1900" b="0">
                <a:solidFill>
                  <a:srgbClr val="1A1A1A"/>
                </a:solidFill>
                <a:latin typeface="Arial"/>
              </a:rPr>
              <a:t>Thirty rows in four families, which is 27 distinct models. Five detectors trained on our own holdout, two vision models inside the loop, fourteen vision-language models zero-shot, and nine language models as reviewers. One is deployed.</a:t>
            </a:r>
          </a:p>
        </p:txBody>
      </p:sp>
      <p:sp>
        <p:nvSpPr>
          <p:cNvPr id="27" name="TextBox 26"/>
          <p:cNvSpPr txBox="1"/>
          <p:nvPr/>
        </p:nvSpPr>
        <p:spPr>
          <a:xfrm>
            <a:off x="731520" y="21426424"/>
            <a:ext cx="20482560" cy="365760"/>
          </a:xfrm>
          <a:prstGeom prst="rect">
            <a:avLst/>
          </a:prstGeom>
          <a:noFill/>
        </p:spPr>
        <p:txBody>
          <a:bodyPr wrap="square" lIns="0" rIns="0" tIns="0" bIns="0">
            <a:spAutoFit/>
          </a:bodyPr>
          <a:lstStyle/>
          <a:p>
            <a:pPr algn="l">
              <a:lnSpc>
                <a:spcPct val="95000"/>
              </a:lnSpc>
              <a:spcAft>
                <a:spcPts val="0"/>
              </a:spcAft>
            </a:pPr>
            <a:r>
              <a:rPr sz="3200" b="1">
                <a:solidFill>
                  <a:srgbClr val="1A1A1A"/>
                </a:solidFill>
                <a:latin typeface="Arial"/>
              </a:rPr>
              <a:t>On disk today</a:t>
            </a:r>
          </a:p>
        </p:txBody>
      </p:sp>
      <p:sp>
        <p:nvSpPr>
          <p:cNvPr id="28" name="Rectangle 27"/>
          <p:cNvSpPr/>
          <p:nvPr/>
        </p:nvSpPr>
        <p:spPr>
          <a:xfrm>
            <a:off x="731520" y="21954744"/>
            <a:ext cx="2048256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31520" y="22283928"/>
            <a:ext cx="20482560" cy="365760"/>
          </a:xfrm>
          <a:prstGeom prst="rect">
            <a:avLst/>
          </a:prstGeom>
          <a:noFill/>
        </p:spPr>
        <p:txBody>
          <a:bodyPr wrap="square" lIns="0" rIns="0" tIns="0" bIns="0">
            <a:spAutoFit/>
          </a:bodyPr>
          <a:lstStyle/>
          <a:p>
            <a:pPr algn="l">
              <a:lnSpc>
                <a:spcPct val="122000"/>
              </a:lnSpc>
              <a:spcAft>
                <a:spcPts val="1400"/>
              </a:spcAft>
            </a:pPr>
            <a:r>
              <a:rPr sz="1900" b="0">
                <a:solidFill>
                  <a:srgbClr val="1A1A1A"/>
                </a:solidFill>
                <a:latin typeface="Arial"/>
              </a:rPr>
              <a:t>Two robots have put 2,686 camera frames and 91,955 telemetry rows across nine streams onto the platform, over 26 drives, with 342 m of GPS track from 1,502 fixes. None of the frames is labelled.</a:t>
            </a:r>
          </a:p>
        </p:txBody>
      </p:sp>
      <p:sp>
        <p:nvSpPr>
          <p:cNvPr id="30" name="TextBox 29"/>
          <p:cNvSpPr txBox="1"/>
          <p:nvPr/>
        </p:nvSpPr>
        <p:spPr>
          <a:xfrm>
            <a:off x="731520" y="23361396"/>
            <a:ext cx="20482560" cy="365760"/>
          </a:xfrm>
          <a:prstGeom prst="rect">
            <a:avLst/>
          </a:prstGeom>
          <a:noFill/>
        </p:spPr>
        <p:txBody>
          <a:bodyPr wrap="square" lIns="0" rIns="0" tIns="0" bIns="0">
            <a:spAutoFit/>
          </a:bodyPr>
          <a:lstStyle/>
          <a:p>
            <a:pPr algn="l">
              <a:lnSpc>
                <a:spcPct val="95000"/>
              </a:lnSpc>
              <a:spcAft>
                <a:spcPts val="0"/>
              </a:spcAft>
            </a:pPr>
            <a:r>
              <a:rPr sz="6200" b="1">
                <a:solidFill>
                  <a:srgbClr val="1C6FB5"/>
                </a:solidFill>
                <a:latin typeface="Arial"/>
              </a:rPr>
              <a:t>92</a:t>
            </a:r>
          </a:p>
        </p:txBody>
      </p:sp>
      <p:sp>
        <p:nvSpPr>
          <p:cNvPr id="31" name="TextBox 30"/>
          <p:cNvSpPr txBox="1"/>
          <p:nvPr/>
        </p:nvSpPr>
        <p:spPr>
          <a:xfrm>
            <a:off x="731520" y="24164544"/>
            <a:ext cx="20482560" cy="365760"/>
          </a:xfrm>
          <a:prstGeom prst="rect">
            <a:avLst/>
          </a:prstGeom>
          <a:noFill/>
        </p:spPr>
        <p:txBody>
          <a:bodyPr wrap="square" lIns="0" rIns="0" tIns="0" bIns="0">
            <a:spAutoFit/>
          </a:bodyPr>
          <a:lstStyle/>
          <a:p>
            <a:pPr algn="l">
              <a:lnSpc>
                <a:spcPct val="122000"/>
              </a:lnSpc>
              <a:spcAft>
                <a:spcPts val="600"/>
              </a:spcAft>
            </a:pPr>
            <a:r>
              <a:rPr sz="1500" b="0">
                <a:solidFill>
                  <a:srgbClr val="6A6A6A"/>
                </a:solidFill>
                <a:latin typeface="Arial"/>
              </a:rPr>
              <a:t>questions asked of a dataset so far</a:t>
            </a:r>
          </a:p>
        </p:txBody>
      </p:sp>
      <p:sp>
        <p:nvSpPr>
          <p:cNvPr id="32" name="TextBox 31"/>
          <p:cNvSpPr txBox="1"/>
          <p:nvPr/>
        </p:nvSpPr>
        <p:spPr>
          <a:xfrm>
            <a:off x="731520" y="24619458"/>
            <a:ext cx="20482560" cy="365760"/>
          </a:xfrm>
          <a:prstGeom prst="rect">
            <a:avLst/>
          </a:prstGeom>
          <a:noFill/>
        </p:spPr>
        <p:txBody>
          <a:bodyPr wrap="square" lIns="0" rIns="0" tIns="0" bIns="0">
            <a:spAutoFit/>
          </a:bodyPr>
          <a:lstStyle/>
          <a:p>
            <a:pPr algn="l">
              <a:lnSpc>
                <a:spcPct val="95000"/>
              </a:lnSpc>
              <a:spcAft>
                <a:spcPts val="0"/>
              </a:spcAft>
            </a:pPr>
            <a:r>
              <a:rPr sz="3200" b="1">
                <a:solidFill>
                  <a:srgbClr val="1A1A1A"/>
                </a:solidFill>
                <a:latin typeface="Arial"/>
              </a:rPr>
              <a:t>Asked something it had never seen</a:t>
            </a:r>
          </a:p>
        </p:txBody>
      </p:sp>
      <p:sp>
        <p:nvSpPr>
          <p:cNvPr id="33" name="Rectangle 32"/>
          <p:cNvSpPr/>
          <p:nvPr/>
        </p:nvSpPr>
        <p:spPr>
          <a:xfrm>
            <a:off x="731520" y="25147778"/>
            <a:ext cx="2048256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31520" y="25476962"/>
            <a:ext cx="20482560" cy="365760"/>
          </a:xfrm>
          <a:prstGeom prst="rect">
            <a:avLst/>
          </a:prstGeom>
          <a:noFill/>
        </p:spPr>
        <p:txBody>
          <a:bodyPr wrap="square" lIns="0" rIns="0" tIns="0" bIns="0">
            <a:spAutoFit/>
          </a:bodyPr>
          <a:lstStyle/>
          <a:p>
            <a:pPr algn="l">
              <a:lnSpc>
                <a:spcPct val="122000"/>
              </a:lnSpc>
              <a:spcAft>
                <a:spcPts val="1400"/>
              </a:spcAft>
            </a:pPr>
            <a:r>
              <a:rPr sz="1900" b="0">
                <a:solidFill>
                  <a:srgbClr val="1A1A1A"/>
                </a:solidFill>
                <a:latin typeface="Arial"/>
              </a:rPr>
              <a:t>Asked to plot a histogram of the heading change rate on the 241 field drive, the agent wrote the code and returned the plot on the first attempt. A fixed template cannot do that, because nothing in the platform knew that question would be asked. Across the platform, 9 datasets carry 92 turns of that conversation.</a:t>
            </a:r>
          </a:p>
        </p:txBody>
      </p:sp>
      <p:sp>
        <p:nvSpPr>
          <p:cNvPr id="35" name="TextBox 34"/>
          <p:cNvSpPr txBox="1"/>
          <p:nvPr/>
        </p:nvSpPr>
        <p:spPr>
          <a:xfrm>
            <a:off x="731520" y="26554430"/>
            <a:ext cx="20482560" cy="365760"/>
          </a:xfrm>
          <a:prstGeom prst="rect">
            <a:avLst/>
          </a:prstGeom>
          <a:noFill/>
        </p:spPr>
        <p:txBody>
          <a:bodyPr wrap="square" lIns="0" rIns="0" tIns="0" bIns="0">
            <a:spAutoFit/>
          </a:bodyPr>
          <a:lstStyle/>
          <a:p>
            <a:pPr algn="l">
              <a:lnSpc>
                <a:spcPct val="95000"/>
              </a:lnSpc>
              <a:spcAft>
                <a:spcPts val="0"/>
              </a:spcAft>
            </a:pPr>
            <a:r>
              <a:rPr sz="3200" b="1">
                <a:solidFill>
                  <a:srgbClr val="1A1A1A"/>
                </a:solidFill>
                <a:latin typeface="Arial"/>
              </a:rPr>
              <a:t>More web data, less accuracy</a:t>
            </a:r>
          </a:p>
        </p:txBody>
      </p:sp>
      <p:sp>
        <p:nvSpPr>
          <p:cNvPr id="36" name="Rectangle 35"/>
          <p:cNvSpPr/>
          <p:nvPr/>
        </p:nvSpPr>
        <p:spPr>
          <a:xfrm>
            <a:off x="731520" y="27082750"/>
            <a:ext cx="2048256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31520" y="27411934"/>
            <a:ext cx="20482560" cy="365760"/>
          </a:xfrm>
          <a:prstGeom prst="rect">
            <a:avLst/>
          </a:prstGeom>
          <a:noFill/>
        </p:spPr>
        <p:txBody>
          <a:bodyPr wrap="square" lIns="0" rIns="0" tIns="0" bIns="0">
            <a:spAutoFit/>
          </a:bodyPr>
          <a:lstStyle/>
          <a:p>
            <a:pPr algn="l">
              <a:lnSpc>
                <a:spcPct val="122000"/>
              </a:lnSpc>
              <a:spcAft>
                <a:spcPts val="1400"/>
              </a:spcAft>
            </a:pPr>
            <a:r>
              <a:rPr sz="1900" b="0">
                <a:solidFill>
                  <a:srgbClr val="1A1A1A"/>
                </a:solidFill>
                <a:latin typeface="Arial"/>
              </a:rPr>
              <a:t>Twelve times the training data costs 0.0189 on our own 1,977-image holdout, three seeds at every rung, which is 8.2 times the seed spread. The same eight checkpoints fall on a second weed dataset too. One of six audited web sources reaches a 0.90 label-precision bar.</a:t>
            </a:r>
          </a:p>
        </p:txBody>
      </p:sp>
      <p:sp>
        <p:nvSpPr>
          <p:cNvPr id="38" name="TextBox 37"/>
          <p:cNvSpPr txBox="1"/>
          <p:nvPr/>
        </p:nvSpPr>
        <p:spPr>
          <a:xfrm>
            <a:off x="22677120" y="6031992"/>
            <a:ext cx="20482560" cy="365760"/>
          </a:xfrm>
          <a:prstGeom prst="rect">
            <a:avLst/>
          </a:prstGeom>
          <a:noFill/>
        </p:spPr>
        <p:txBody>
          <a:bodyPr wrap="square" lIns="0" rIns="0" tIns="0" bIns="0">
            <a:spAutoFit/>
          </a:bodyPr>
          <a:lstStyle/>
          <a:p>
            <a:pPr algn="l">
              <a:lnSpc>
                <a:spcPct val="95000"/>
              </a:lnSpc>
              <a:spcAft>
                <a:spcPts val="0"/>
              </a:spcAft>
            </a:pPr>
            <a:r>
              <a:rPr sz="3200" b="1">
                <a:solidFill>
                  <a:srgbClr val="1A1A1A"/>
                </a:solidFill>
                <a:latin typeface="Arial"/>
              </a:rPr>
              <a:t>Robots on the platform today</a:t>
            </a:r>
          </a:p>
        </p:txBody>
      </p:sp>
      <p:sp>
        <p:nvSpPr>
          <p:cNvPr id="39" name="Rectangle 38"/>
          <p:cNvSpPr/>
          <p:nvPr/>
        </p:nvSpPr>
        <p:spPr>
          <a:xfrm>
            <a:off x="22677120" y="6560312"/>
            <a:ext cx="2048256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2677120" y="6889496"/>
            <a:ext cx="20482560" cy="365760"/>
          </a:xfrm>
          <a:prstGeom prst="rect">
            <a:avLst/>
          </a:prstGeom>
          <a:noFill/>
        </p:spPr>
        <p:txBody>
          <a:bodyPr wrap="square" lIns="0" rIns="0" tIns="0" bIns="0">
            <a:spAutoFit/>
          </a:bodyPr>
          <a:lstStyle/>
          <a:p>
            <a:pPr algn="l">
              <a:lnSpc>
                <a:spcPct val="122000"/>
              </a:lnSpc>
              <a:spcAft>
                <a:spcPts val="1400"/>
              </a:spcAft>
            </a:pPr>
            <a:r>
              <a:rPr sz="1900" b="0">
                <a:solidFill>
                  <a:srgbClr val="1A1A1A"/>
                </a:solidFill>
                <a:latin typeface="Arial"/>
              </a:rPr>
              <a:t>Robot 241 is a tracked rover that drives crop rows and streams camera, GPS and two IMUs. The laser cart carries the weeder: a galvanometer laser, a down camera over the work zone and a forward camera. Ten projects sit on the platform and two of them have a robot reporting into them. Between those two vehicles, 2,686 frames in 26 drives.</a:t>
            </a:r>
          </a:p>
        </p:txBody>
      </p:sp>
      <p:sp>
        <p:nvSpPr>
          <p:cNvPr id="41" name="TextBox 40"/>
          <p:cNvSpPr txBox="1"/>
          <p:nvPr/>
        </p:nvSpPr>
        <p:spPr>
          <a:xfrm>
            <a:off x="22677120" y="7966964"/>
            <a:ext cx="20482560" cy="365760"/>
          </a:xfrm>
          <a:prstGeom prst="rect">
            <a:avLst/>
          </a:prstGeom>
          <a:noFill/>
        </p:spPr>
        <p:txBody>
          <a:bodyPr wrap="square" lIns="0" rIns="0" tIns="0" bIns="0">
            <a:spAutoFit/>
          </a:bodyPr>
          <a:lstStyle/>
          <a:p>
            <a:pPr algn="l">
              <a:lnSpc>
                <a:spcPct val="95000"/>
              </a:lnSpc>
              <a:spcAft>
                <a:spcPts val="0"/>
              </a:spcAft>
            </a:pPr>
            <a:r>
              <a:rPr sz="6200" b="1">
                <a:solidFill>
                  <a:srgbClr val="1C6FB5"/>
                </a:solidFill>
                <a:latin typeface="Arial"/>
              </a:rPr>
              <a:t>1,389</a:t>
            </a:r>
          </a:p>
        </p:txBody>
      </p:sp>
      <p:sp>
        <p:nvSpPr>
          <p:cNvPr id="42" name="TextBox 41"/>
          <p:cNvSpPr txBox="1"/>
          <p:nvPr/>
        </p:nvSpPr>
        <p:spPr>
          <a:xfrm>
            <a:off x="22677120" y="8770112"/>
            <a:ext cx="20482560" cy="365760"/>
          </a:xfrm>
          <a:prstGeom prst="rect">
            <a:avLst/>
          </a:prstGeom>
          <a:noFill/>
        </p:spPr>
        <p:txBody>
          <a:bodyPr wrap="square" lIns="0" rIns="0" tIns="0" bIns="0">
            <a:spAutoFit/>
          </a:bodyPr>
          <a:lstStyle/>
          <a:p>
            <a:pPr algn="l">
              <a:lnSpc>
                <a:spcPct val="122000"/>
              </a:lnSpc>
              <a:spcAft>
                <a:spcPts val="600"/>
              </a:spcAft>
            </a:pPr>
            <a:r>
              <a:rPr sz="1500" b="0">
                <a:solidFill>
                  <a:srgbClr val="6A6A6A"/>
                </a:solidFill>
                <a:latin typeface="Arial"/>
              </a:rPr>
              <a:t>joystick commands through the platform</a:t>
            </a:r>
          </a:p>
        </p:txBody>
      </p:sp>
      <p:sp>
        <p:nvSpPr>
          <p:cNvPr id="43" name="TextBox 42"/>
          <p:cNvSpPr txBox="1"/>
          <p:nvPr/>
        </p:nvSpPr>
        <p:spPr>
          <a:xfrm>
            <a:off x="22677120" y="9225026"/>
            <a:ext cx="20482560" cy="365760"/>
          </a:xfrm>
          <a:prstGeom prst="rect">
            <a:avLst/>
          </a:prstGeom>
          <a:noFill/>
        </p:spPr>
        <p:txBody>
          <a:bodyPr wrap="square" lIns="0" rIns="0" tIns="0" bIns="0">
            <a:spAutoFit/>
          </a:bodyPr>
          <a:lstStyle/>
          <a:p>
            <a:pPr algn="l">
              <a:lnSpc>
                <a:spcPct val="95000"/>
              </a:lnSpc>
              <a:spcAft>
                <a:spcPts val="0"/>
              </a:spcAft>
            </a:pPr>
            <a:r>
              <a:rPr sz="3200" b="1">
                <a:solidFill>
                  <a:srgbClr val="1A1A1A"/>
                </a:solidFill>
                <a:latin typeface="Arial"/>
              </a:rPr>
              <a:t>Driving a robot from a browser</a:t>
            </a:r>
          </a:p>
        </p:txBody>
      </p:sp>
      <p:sp>
        <p:nvSpPr>
          <p:cNvPr id="44" name="Rectangle 43"/>
          <p:cNvSpPr/>
          <p:nvPr/>
        </p:nvSpPr>
        <p:spPr>
          <a:xfrm>
            <a:off x="22677120" y="9753346"/>
            <a:ext cx="2048256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2677120" y="10082530"/>
            <a:ext cx="20482560" cy="365760"/>
          </a:xfrm>
          <a:prstGeom prst="rect">
            <a:avLst/>
          </a:prstGeom>
          <a:noFill/>
        </p:spPr>
        <p:txBody>
          <a:bodyPr wrap="square" lIns="0" rIns="0" tIns="0" bIns="0">
            <a:spAutoFit/>
          </a:bodyPr>
          <a:lstStyle/>
          <a:p>
            <a:pPr algn="l">
              <a:lnSpc>
                <a:spcPct val="122000"/>
              </a:lnSpc>
              <a:spcAft>
                <a:spcPts val="1400"/>
              </a:spcAft>
            </a:pPr>
            <a:r>
              <a:rPr sz="1900" b="0">
                <a:solidFill>
                  <a:srgbClr val="1A1A1A"/>
                </a:solidFill>
                <a:latin typeface="Arial"/>
              </a:rPr>
              <a:t>A signed-in user opens the 241 project and clicks Drive. The platform reverse-proxies the robot's own console over the lab tailnet, so the rover is driven from a plain browser with no VPN client. 1,389 joystick commands have gone through that path. Two gates sit in front of it: the platform's Google login, then the robot's own password.</a:t>
            </a:r>
          </a:p>
        </p:txBody>
      </p:sp>
      <p:sp>
        <p:nvSpPr>
          <p:cNvPr id="46" name="TextBox 45"/>
          <p:cNvSpPr txBox="1"/>
          <p:nvPr/>
        </p:nvSpPr>
        <p:spPr>
          <a:xfrm>
            <a:off x="22677120" y="11159998"/>
            <a:ext cx="20482560" cy="365760"/>
          </a:xfrm>
          <a:prstGeom prst="rect">
            <a:avLst/>
          </a:prstGeom>
          <a:noFill/>
        </p:spPr>
        <p:txBody>
          <a:bodyPr wrap="square" lIns="0" rIns="0" tIns="0" bIns="0">
            <a:spAutoFit/>
          </a:bodyPr>
          <a:lstStyle/>
          <a:p>
            <a:pPr algn="l">
              <a:lnSpc>
                <a:spcPct val="95000"/>
              </a:lnSpc>
              <a:spcAft>
                <a:spcPts val="0"/>
              </a:spcAft>
            </a:pPr>
            <a:r>
              <a:rPr sz="3200" b="1">
                <a:solidFill>
                  <a:srgbClr val="1A1A1A"/>
                </a:solidFill>
                <a:latin typeface="Arial"/>
              </a:rPr>
              <a:t>Left alone for fifteen rounds</a:t>
            </a:r>
          </a:p>
        </p:txBody>
      </p:sp>
      <p:sp>
        <p:nvSpPr>
          <p:cNvPr id="47" name="Rectangle 46"/>
          <p:cNvSpPr/>
          <p:nvPr/>
        </p:nvSpPr>
        <p:spPr>
          <a:xfrm>
            <a:off x="22677120" y="11688317"/>
            <a:ext cx="2048256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8" name="Picture 47" descr="f_rounds.png"/>
          <p:cNvPicPr>
            <a:picLocks noChangeAspect="1"/>
          </p:cNvPicPr>
          <p:nvPr/>
        </p:nvPicPr>
        <p:blipFill>
          <a:blip r:embed="rId3"/>
          <a:stretch>
            <a:fillRect/>
          </a:stretch>
        </p:blipFill>
        <p:spPr>
          <a:xfrm>
            <a:off x="22677120" y="12017501"/>
            <a:ext cx="20482560" cy="4663440"/>
          </a:xfrm>
          <a:prstGeom prst="rect">
            <a:avLst/>
          </a:prstGeom>
        </p:spPr>
      </p:pic>
      <p:sp>
        <p:nvSpPr>
          <p:cNvPr id="49" name="TextBox 48"/>
          <p:cNvSpPr txBox="1"/>
          <p:nvPr/>
        </p:nvSpPr>
        <p:spPr>
          <a:xfrm>
            <a:off x="22677120" y="16790670"/>
            <a:ext cx="20482560" cy="365760"/>
          </a:xfrm>
          <a:prstGeom prst="rect">
            <a:avLst/>
          </a:prstGeom>
          <a:noFill/>
        </p:spPr>
        <p:txBody>
          <a:bodyPr wrap="square" lIns="0" rIns="0" tIns="0" bIns="0">
            <a:spAutoFit/>
          </a:bodyPr>
          <a:lstStyle/>
          <a:p>
            <a:pPr algn="l">
              <a:lnSpc>
                <a:spcPct val="118000"/>
              </a:lnSpc>
              <a:spcAft>
                <a:spcPts val="0"/>
              </a:spcAft>
            </a:pPr>
            <a:r>
              <a:rPr sz="1500" b="0">
                <a:solidFill>
                  <a:srgbClr val="6A6A6A"/>
                </a:solidFill>
                <a:latin typeface="Arial"/>
              </a:rPr>
              <a:t>Figure 2.  (f) Fifteen unattended rounds on a fixed holdout. (g) Round 15's exact dataset, three ways. The first two marks differ only in the starting weights, so their gap is the warm-start chain; the third is the recipe the campaign ran, whose wall-clock cap truncates the cosine, with its three seeds drawn behind it. Sigma throughout is that recipe's own seed spread, 0.0040 over three seeds, propagated to the difference being quoted. Completing the schedule is not the fix -- the second mark sits below the third.</a:t>
            </a:r>
          </a:p>
        </p:txBody>
      </p:sp>
      <p:sp>
        <p:nvSpPr>
          <p:cNvPr id="50" name="TextBox 49"/>
          <p:cNvSpPr txBox="1"/>
          <p:nvPr/>
        </p:nvSpPr>
        <p:spPr>
          <a:xfrm>
            <a:off x="22677120" y="17775936"/>
            <a:ext cx="20482560" cy="365760"/>
          </a:xfrm>
          <a:prstGeom prst="rect">
            <a:avLst/>
          </a:prstGeom>
          <a:noFill/>
        </p:spPr>
        <p:txBody>
          <a:bodyPr wrap="square" lIns="0" rIns="0" tIns="0" bIns="0">
            <a:spAutoFit/>
          </a:bodyPr>
          <a:lstStyle/>
          <a:p>
            <a:pPr algn="l">
              <a:lnSpc>
                <a:spcPct val="122000"/>
              </a:lnSpc>
              <a:spcAft>
                <a:spcPts val="1400"/>
              </a:spcAft>
            </a:pPr>
            <a:r>
              <a:rPr sz="1900" b="0">
                <a:solidFill>
                  <a:srgbClr val="1A1A1A"/>
                </a:solidFill>
                <a:latin typeface="Arial"/>
              </a:rPr>
              <a:t>Two cluster jobs, one collecting and one training, ran fifteen rounds against the locked registry with nobody in the room. Each round searched public sources, filtered what it found, merged, trained and evaluated. Every round reported success. Accuracy fell for fifteen rounds. This part is built and is switched off today.</a:t>
            </a:r>
          </a:p>
        </p:txBody>
      </p:sp>
      <p:sp>
        <p:nvSpPr>
          <p:cNvPr id="51" name="TextBox 50"/>
          <p:cNvSpPr txBox="1"/>
          <p:nvPr/>
        </p:nvSpPr>
        <p:spPr>
          <a:xfrm>
            <a:off x="22677120" y="18853404"/>
            <a:ext cx="20482560" cy="365760"/>
          </a:xfrm>
          <a:prstGeom prst="rect">
            <a:avLst/>
          </a:prstGeom>
          <a:noFill/>
        </p:spPr>
        <p:txBody>
          <a:bodyPr wrap="square" lIns="0" rIns="0" tIns="0" bIns="0">
            <a:spAutoFit/>
          </a:bodyPr>
          <a:lstStyle/>
          <a:p>
            <a:pPr algn="l">
              <a:lnSpc>
                <a:spcPct val="95000"/>
              </a:lnSpc>
              <a:spcAft>
                <a:spcPts val="0"/>
              </a:spcAft>
            </a:pPr>
            <a:r>
              <a:rPr sz="3200" b="1">
                <a:solidFill>
                  <a:srgbClr val="1A1A1A"/>
                </a:solidFill>
                <a:latin typeface="Arial"/>
              </a:rPr>
              <a:t>Inside the platform</a:t>
            </a:r>
          </a:p>
        </p:txBody>
      </p:sp>
      <p:sp>
        <p:nvSpPr>
          <p:cNvPr id="52" name="Rectangle 51"/>
          <p:cNvSpPr/>
          <p:nvPr/>
        </p:nvSpPr>
        <p:spPr>
          <a:xfrm>
            <a:off x="22677120" y="19381724"/>
            <a:ext cx="2048256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3" name="Picture 52" descr="n_system.png"/>
          <p:cNvPicPr>
            <a:picLocks noChangeAspect="1"/>
          </p:cNvPicPr>
          <p:nvPr/>
        </p:nvPicPr>
        <p:blipFill>
          <a:blip r:embed="rId4"/>
          <a:stretch>
            <a:fillRect/>
          </a:stretch>
        </p:blipFill>
        <p:spPr>
          <a:xfrm>
            <a:off x="22677120" y="19710908"/>
            <a:ext cx="20482560" cy="3383280"/>
          </a:xfrm>
          <a:prstGeom prst="rect">
            <a:avLst/>
          </a:prstGeom>
        </p:spPr>
      </p:pic>
      <p:sp>
        <p:nvSpPr>
          <p:cNvPr id="54" name="TextBox 53"/>
          <p:cNvSpPr txBox="1"/>
          <p:nvPr/>
        </p:nvSpPr>
        <p:spPr>
          <a:xfrm>
            <a:off x="22677120" y="23203916"/>
            <a:ext cx="20482560" cy="365760"/>
          </a:xfrm>
          <a:prstGeom prst="rect">
            <a:avLst/>
          </a:prstGeom>
          <a:noFill/>
        </p:spPr>
        <p:txBody>
          <a:bodyPr wrap="square" lIns="0" rIns="0" tIns="0" bIns="0">
            <a:spAutoFit/>
          </a:bodyPr>
          <a:lstStyle/>
          <a:p>
            <a:pPr algn="l">
              <a:lnSpc>
                <a:spcPct val="118000"/>
              </a:lnSpc>
              <a:spcAft>
                <a:spcPts val="0"/>
              </a:spcAft>
            </a:pPr>
            <a:r>
              <a:rPr sz="1500" b="0">
                <a:solidFill>
                  <a:srgbClr val="6A6A6A"/>
                </a:solidFill>
                <a:latin typeface="Arial"/>
              </a:rPr>
              <a:t>Figure 3.  The path as built, from a camera in a crop row to a checkpoint on the cluster. Every stage has run. Three qualifications ride on it. The collector and trainer are paused after a stop-loss on 2026-08-29. The supervisor is advisory and nothing it says is applied. And the last link is not closed: no robot frame has entered training, because none of them is labelled yet.</a:t>
            </a:r>
          </a:p>
        </p:txBody>
      </p:sp>
      <p:sp>
        <p:nvSpPr>
          <p:cNvPr id="55" name="TextBox 54"/>
          <p:cNvSpPr txBox="1"/>
          <p:nvPr/>
        </p:nvSpPr>
        <p:spPr>
          <a:xfrm>
            <a:off x="22677120" y="23964392"/>
            <a:ext cx="20482560" cy="365760"/>
          </a:xfrm>
          <a:prstGeom prst="rect">
            <a:avLst/>
          </a:prstGeom>
          <a:noFill/>
        </p:spPr>
        <p:txBody>
          <a:bodyPr wrap="square" lIns="0" rIns="0" tIns="0" bIns="0">
            <a:spAutoFit/>
          </a:bodyPr>
          <a:lstStyle/>
          <a:p>
            <a:pPr algn="l">
              <a:lnSpc>
                <a:spcPct val="122000"/>
              </a:lnSpc>
              <a:spcAft>
                <a:spcPts val="1400"/>
              </a:spcAft>
            </a:pPr>
            <a:r>
              <a:rPr sz="1900" b="0">
                <a:solidFill>
                  <a:srgbClr val="1A1A1A"/>
                </a:solidFill>
                <a:latin typeface="Arial"/>
              </a:rPr>
              <a:t>Every stage from a camera in a crop row to a checkpoint on the cluster has run. The dashboard and registry run on a lab server; GPU jobs queue on PSC Bridges-2. The collector and trainer are paused after a stop-loss on 2026-08-29. The supervisor is advisory and nothing it says is applied.</a:t>
            </a:r>
          </a:p>
        </p:txBody>
      </p:sp>
      <p:sp>
        <p:nvSpPr>
          <p:cNvPr id="56" name="TextBox 55"/>
          <p:cNvSpPr txBox="1"/>
          <p:nvPr/>
        </p:nvSpPr>
        <p:spPr>
          <a:xfrm>
            <a:off x="22677120" y="25041860"/>
            <a:ext cx="20482560" cy="365760"/>
          </a:xfrm>
          <a:prstGeom prst="rect">
            <a:avLst/>
          </a:prstGeom>
          <a:noFill/>
        </p:spPr>
        <p:txBody>
          <a:bodyPr wrap="square" lIns="0" rIns="0" tIns="0" bIns="0">
            <a:spAutoFit/>
          </a:bodyPr>
          <a:lstStyle/>
          <a:p>
            <a:pPr algn="l">
              <a:lnSpc>
                <a:spcPct val="95000"/>
              </a:lnSpc>
              <a:spcAft>
                <a:spcPts val="0"/>
              </a:spcAft>
            </a:pPr>
            <a:r>
              <a:rPr sz="3200" b="1">
                <a:solidFill>
                  <a:srgbClr val="1A1A1A"/>
                </a:solidFill>
                <a:latin typeface="Arial"/>
              </a:rPr>
              <a:t>Only one robot has the button</a:t>
            </a:r>
          </a:p>
        </p:txBody>
      </p:sp>
      <p:sp>
        <p:nvSpPr>
          <p:cNvPr id="57" name="Rectangle 56"/>
          <p:cNvSpPr/>
          <p:nvPr/>
        </p:nvSpPr>
        <p:spPr>
          <a:xfrm>
            <a:off x="22677120" y="25570180"/>
            <a:ext cx="2048256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22677120" y="25899364"/>
            <a:ext cx="20482560" cy="365760"/>
          </a:xfrm>
          <a:prstGeom prst="rect">
            <a:avLst/>
          </a:prstGeom>
          <a:noFill/>
        </p:spPr>
        <p:txBody>
          <a:bodyPr wrap="square" lIns="0" rIns="0" tIns="0" bIns="0">
            <a:spAutoFit/>
          </a:bodyPr>
          <a:lstStyle/>
          <a:p>
            <a:pPr algn="l">
              <a:lnSpc>
                <a:spcPct val="122000"/>
              </a:lnSpc>
              <a:spcAft>
                <a:spcPts val="1400"/>
              </a:spcAft>
            </a:pPr>
            <a:r>
              <a:rPr sz="1900" b="0">
                <a:solidFill>
                  <a:srgbClr val="1A1A1A"/>
                </a:solidFill>
                <a:latin typeface="Arial"/>
              </a:rPr>
              <a:t>The Drive button appears on the 241 project and not on the laser cart's, because the allow-list holds one target. The rover has been dark since 2026-08-28: the platform answers a drive request today with its own offline page. The cart has never been drivable from the platform.</a:t>
            </a:r>
          </a:p>
        </p:txBody>
      </p:sp>
      <p:sp>
        <p:nvSpPr>
          <p:cNvPr id="59" name="TextBox 58"/>
          <p:cNvSpPr txBox="1"/>
          <p:nvPr/>
        </p:nvSpPr>
        <p:spPr>
          <a:xfrm>
            <a:off x="22677120" y="26976832"/>
            <a:ext cx="20482560" cy="365760"/>
          </a:xfrm>
          <a:prstGeom prst="rect">
            <a:avLst/>
          </a:prstGeom>
          <a:noFill/>
        </p:spPr>
        <p:txBody>
          <a:bodyPr wrap="square" lIns="0" rIns="0" tIns="0" bIns="0">
            <a:spAutoFit/>
          </a:bodyPr>
          <a:lstStyle/>
          <a:p>
            <a:pPr algn="l">
              <a:lnSpc>
                <a:spcPct val="95000"/>
              </a:lnSpc>
              <a:spcAft>
                <a:spcPts val="0"/>
              </a:spcAft>
            </a:pPr>
            <a:r>
              <a:rPr sz="3200" b="1">
                <a:solidFill>
                  <a:srgbClr val="1A1A1A"/>
                </a:solidFill>
                <a:latin typeface="Arial"/>
              </a:rPr>
              <a:t>Which decisions a model makes</a:t>
            </a:r>
          </a:p>
        </p:txBody>
      </p:sp>
      <p:sp>
        <p:nvSpPr>
          <p:cNvPr id="60" name="Rectangle 59"/>
          <p:cNvSpPr/>
          <p:nvPr/>
        </p:nvSpPr>
        <p:spPr>
          <a:xfrm>
            <a:off x="22677120" y="27505152"/>
            <a:ext cx="2048256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22677120" y="27834336"/>
            <a:ext cx="20482560" cy="365760"/>
          </a:xfrm>
          <a:prstGeom prst="rect">
            <a:avLst/>
          </a:prstGeom>
          <a:noFill/>
        </p:spPr>
        <p:txBody>
          <a:bodyPr wrap="square" lIns="0" rIns="0" tIns="0" bIns="0">
            <a:spAutoFit/>
          </a:bodyPr>
          <a:lstStyle/>
          <a:p>
            <a:pPr algn="l">
              <a:lnSpc>
                <a:spcPct val="122000"/>
              </a:lnSpc>
              <a:spcAft>
                <a:spcPts val="1400"/>
              </a:spcAft>
            </a:pPr>
            <a:r>
              <a:rPr sz="1900" b="0">
                <a:solidFill>
                  <a:srgbClr val="1A1A1A"/>
                </a:solidFill>
                <a:latin typeface="Arial"/>
              </a:rPr>
              <a:t>A language model decides what the collector goes after next, judges whether a candidate dataset is on topic, and reviews a finished step. Those run on the cluster, as batch jobs, on open weights. The lab box hosts only the small guide model, and a verdict produced there is marked in its own record as a draft that may not be reported.</a:t>
            </a:r>
          </a:p>
        </p:txBody>
      </p:sp>
      <p:sp>
        <p:nvSpPr>
          <p:cNvPr id="62" name="Rectangle 61"/>
          <p:cNvSpPr/>
          <p:nvPr/>
        </p:nvSpPr>
        <p:spPr>
          <a:xfrm>
            <a:off x="731520" y="30632400"/>
            <a:ext cx="42428160" cy="20116"/>
          </a:xfrm>
          <a:prstGeom prst="rect">
            <a:avLst/>
          </a:prstGeom>
          <a:solidFill>
            <a:srgbClr val="D5D5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731520" y="30861000"/>
            <a:ext cx="13837920" cy="365760"/>
          </a:xfrm>
          <a:prstGeom prst="rect">
            <a:avLst/>
          </a:prstGeom>
          <a:noFill/>
        </p:spPr>
        <p:txBody>
          <a:bodyPr wrap="square" lIns="0" rIns="0" tIns="0" bIns="0">
            <a:spAutoFit/>
          </a:bodyPr>
          <a:lstStyle/>
          <a:p>
            <a:pPr algn="l">
              <a:lnSpc>
                <a:spcPct val="122000"/>
              </a:lnSpc>
              <a:spcAft>
                <a:spcPts val="1200"/>
              </a:spcAft>
            </a:pPr>
            <a:r>
              <a:rPr sz="1500" b="0">
                <a:solidFill>
                  <a:srgbClr val="6A6A6A"/>
                </a:solidFill>
                <a:latin typeface="Arial"/>
              </a:rPr>
              <a:t>Standing today. The collector and trainer are paused after a stop-loss on 2026-08-29. The rover has been off the tailnet since then and the platform answers a drive request with its offline page. The supervisor is advisory. None of the 2,686 frames is labelled.</a:t>
            </a:r>
          </a:p>
        </p:txBody>
      </p:sp>
      <p:sp>
        <p:nvSpPr>
          <p:cNvPr id="64" name="TextBox 63"/>
          <p:cNvSpPr txBox="1"/>
          <p:nvPr/>
        </p:nvSpPr>
        <p:spPr>
          <a:xfrm>
            <a:off x="15026640" y="30861000"/>
            <a:ext cx="13837920" cy="365760"/>
          </a:xfrm>
          <a:prstGeom prst="rect">
            <a:avLst/>
          </a:prstGeom>
          <a:noFill/>
        </p:spPr>
        <p:txBody>
          <a:bodyPr wrap="square" lIns="0" rIns="0" tIns="0" bIns="0">
            <a:spAutoFit/>
          </a:bodyPr>
          <a:lstStyle/>
          <a:p>
            <a:pPr algn="l">
              <a:lnSpc>
                <a:spcPct val="122000"/>
              </a:lnSpc>
              <a:spcAft>
                <a:spcPts val="1200"/>
              </a:spcAft>
            </a:pPr>
            <a:r>
              <a:rPr sz="1500" b="0">
                <a:solidFill>
                  <a:srgbClr val="6A6A6A"/>
                </a:solidFill>
                <a:latin typeface="Arial"/>
              </a:rPr>
              <a:t>How the numbers were made. Most in-domain numbers are mAP50-95 on the same 1,977 images under Ultralytics. RF-DETR is pycocotools and the zero-shot column is mAP50 on the 848-image split; neither is differenced against the rest. That holdout is also the validation set during training, so every mAP here is a run's best epoch.</a:t>
            </a:r>
          </a:p>
        </p:txBody>
      </p:sp>
      <p:sp>
        <p:nvSpPr>
          <p:cNvPr id="65" name="TextBox 64"/>
          <p:cNvSpPr txBox="1"/>
          <p:nvPr/>
        </p:nvSpPr>
        <p:spPr>
          <a:xfrm>
            <a:off x="29321759" y="30861000"/>
            <a:ext cx="13837920" cy="365760"/>
          </a:xfrm>
          <a:prstGeom prst="rect">
            <a:avLst/>
          </a:prstGeom>
          <a:noFill/>
        </p:spPr>
        <p:txBody>
          <a:bodyPr wrap="square" lIns="0" rIns="0" tIns="0" bIns="0">
            <a:spAutoFit/>
          </a:bodyPr>
          <a:lstStyle/>
          <a:p>
            <a:pPr algn="l">
              <a:lnSpc>
                <a:spcPct val="122000"/>
              </a:lnSpc>
              <a:spcAft>
                <a:spcPts val="1200"/>
              </a:spcAft>
            </a:pPr>
            <a:r>
              <a:rPr sz="1500" b="0">
                <a:solidFill>
                  <a:srgbClr val="6A6A6A"/>
                </a:solidFill>
                <a:latin typeface="Arial"/>
              </a:rPr>
              <a:t>Numbers we withdrew. 0.910 was a data leak, found by a content-level check we built after publishing it. 0.9033 is the best of four unseeded runs and only one of the four crossed 0.90. An earlier reading of the ladder as a flat curve is retracted.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Middle Tennessee State University, Murfreesboro, TN, USA</dc:title>
  <dc:subject/>
  <dc:creator>Harry He</dc:creator>
  <cp:keywords/>
  <dc:description>generated using python-pptx</dc:description>
  <cp:lastModifiedBy>Harry He</cp:lastModifiedBy>
  <cp:revision>1</cp:revision>
  <dcterms:created xsi:type="dcterms:W3CDTF">2013-01-27T09:14:16Z</dcterms:created>
  <dcterms:modified xsi:type="dcterms:W3CDTF">2013-01-27T09:15:58Z</dcterms:modified>
  <cp:category/>
</cp:coreProperties>
</file>