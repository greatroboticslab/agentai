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43891200" cy="3931920"/>
          </a:xfrm>
          <a:prstGeom prst="rect">
            <a:avLst/>
          </a:prstGeom>
          <a:solidFill>
            <a:srgbClr val="1A1A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3931920"/>
            <a:ext cx="43891200" cy="45720"/>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84048"/>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FFFFFF"/>
                </a:solidFill>
                <a:latin typeface="Arial"/>
              </a:rPr>
              <a:t>agentAI: A Research-Data Platform for Physical and Embodied Agents</a:t>
            </a:r>
          </a:p>
        </p:txBody>
      </p:sp>
      <p:sp>
        <p:nvSpPr>
          <p:cNvPr id="6" name="TextBox 5"/>
          <p:cNvSpPr txBox="1"/>
          <p:nvPr/>
        </p:nvSpPr>
        <p:spPr>
          <a:xfrm>
            <a:off x="731520" y="2121408"/>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FFFFFF"/>
                </a:solidFill>
                <a:latin typeface="Arial"/>
              </a:rPr>
              <a:t>Harry He   ·   Hongbo Zhang</a:t>
            </a:r>
          </a:p>
        </p:txBody>
      </p:sp>
      <p:sp>
        <p:nvSpPr>
          <p:cNvPr id="7" name="TextBox 6"/>
          <p:cNvSpPr txBox="1"/>
          <p:nvPr/>
        </p:nvSpPr>
        <p:spPr>
          <a:xfrm>
            <a:off x="731520" y="2761488"/>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D5D5D5"/>
                </a:solidFill>
                <a:latin typeface="Arial"/>
              </a:rPr>
              <a:t>Department of Engineering Technology   ·   Middle Tennessee State University, Murfreesboro, TN, USA</a:t>
            </a:r>
          </a:p>
        </p:txBody>
      </p:sp>
      <p:sp>
        <p:nvSpPr>
          <p:cNvPr id="8" name="TextBox 7"/>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000" b="0">
                <a:solidFill>
                  <a:srgbClr val="1A1A1A"/>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sp>
        <p:nvSpPr>
          <p:cNvPr id="9" name="TextBox 8"/>
          <p:cNvSpPr txBox="1"/>
          <p:nvPr/>
        </p:nvSpPr>
        <p:spPr>
          <a:xfrm>
            <a:off x="731520" y="603199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One platform for every robot the lab owns</a:t>
            </a:r>
          </a:p>
        </p:txBody>
      </p:sp>
      <p:sp>
        <p:nvSpPr>
          <p:cNvPr id="10" name="Rectangle 9"/>
          <p:cNvSpPr/>
          <p:nvPr/>
        </p:nvSpPr>
        <p:spPr>
          <a:xfrm>
            <a:off x="731520" y="656031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688949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2" name="TextBox 11"/>
          <p:cNvSpPr txBox="1"/>
          <p:nvPr/>
        </p:nvSpPr>
        <p:spPr>
          <a:xfrm>
            <a:off x="731520" y="826134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A drive becomes a dataset as it opens</a:t>
            </a:r>
          </a:p>
        </p:txBody>
      </p:sp>
      <p:sp>
        <p:nvSpPr>
          <p:cNvPr id="13" name="Rectangle 12"/>
          <p:cNvSpPr/>
          <p:nvPr/>
        </p:nvSpPr>
        <p:spPr>
          <a:xfrm>
            <a:off x="731520" y="8789669"/>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911885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15" name="TextBox 14"/>
          <p:cNvSpPr txBox="1"/>
          <p:nvPr/>
        </p:nvSpPr>
        <p:spPr>
          <a:xfrm>
            <a:off x="731520" y="1019632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Ask a dataset what it is good for</a:t>
            </a:r>
          </a:p>
        </p:txBody>
      </p:sp>
      <p:sp>
        <p:nvSpPr>
          <p:cNvPr id="16" name="Rectangle 15"/>
          <p:cNvSpPr/>
          <p:nvPr/>
        </p:nvSpPr>
        <p:spPr>
          <a:xfrm>
            <a:off x="731520" y="10724641"/>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11053825"/>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18" name="TextBox 17"/>
          <p:cNvSpPr txBox="1"/>
          <p:nvPr/>
        </p:nvSpPr>
        <p:spPr>
          <a:xfrm>
            <a:off x="731520" y="12131293"/>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Everything we trained, ran, or rejected</a:t>
            </a:r>
          </a:p>
        </p:txBody>
      </p:sp>
      <p:sp>
        <p:nvSpPr>
          <p:cNvPr id="19" name="Rectangle 18"/>
          <p:cNvSpPr/>
          <p:nvPr/>
        </p:nvSpPr>
        <p:spPr>
          <a:xfrm>
            <a:off x="731520" y="12659613"/>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_ledger.png"/>
          <p:cNvPicPr>
            <a:picLocks noChangeAspect="1"/>
          </p:cNvPicPr>
          <p:nvPr/>
        </p:nvPicPr>
        <p:blipFill>
          <a:blip r:embed="rId2"/>
          <a:stretch>
            <a:fillRect/>
          </a:stretch>
        </p:blipFill>
        <p:spPr>
          <a:xfrm>
            <a:off x="731520" y="12988797"/>
            <a:ext cx="20482560" cy="3749040"/>
          </a:xfrm>
          <a:prstGeom prst="rect">
            <a:avLst/>
          </a:prstGeom>
        </p:spPr>
      </p:pic>
      <p:sp>
        <p:nvSpPr>
          <p:cNvPr id="21" name="TextBox 20"/>
          <p:cNvSpPr txBox="1"/>
          <p:nvPr/>
        </p:nvSpPr>
        <p:spPr>
          <a:xfrm>
            <a:off x="731520" y="16847565"/>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1.  30 rows in four families, which is 27 distinct models: OWLv2-large and Qwen2.5-7B each appear twice because each does two jobs here. One model is deployed. The zero-shot column is a single deterministic pass per model with no repeats, scored as mAP50 on the 848-image split; the reviewer column is the 149-case dev split, and two of its arms are still running. RF-DETR's score is on a third scale and is never differenced against the rows above it: the one measured offset between two of our evaluators, 0.0239, is larger than the gap on display.</a:t>
            </a:r>
          </a:p>
        </p:txBody>
      </p:sp>
      <p:sp>
        <p:nvSpPr>
          <p:cNvPr id="22" name="TextBox 21"/>
          <p:cNvSpPr txBox="1"/>
          <p:nvPr/>
        </p:nvSpPr>
        <p:spPr>
          <a:xfrm>
            <a:off x="731520" y="17832831"/>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Thirty rows in four families, which is 27 distinct models. Five detectors trained on our own holdout, two vision models inside the loop, fourteen vision-language models zero-shot, and nine language models as reviewers. One is deployed.</a:t>
            </a:r>
          </a:p>
        </p:txBody>
      </p:sp>
      <p:sp>
        <p:nvSpPr>
          <p:cNvPr id="23" name="TextBox 22"/>
          <p:cNvSpPr txBox="1"/>
          <p:nvPr/>
        </p:nvSpPr>
        <p:spPr>
          <a:xfrm>
            <a:off x="731520" y="18910300"/>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On disk today</a:t>
            </a:r>
          </a:p>
        </p:txBody>
      </p:sp>
      <p:sp>
        <p:nvSpPr>
          <p:cNvPr id="24" name="Rectangle 23"/>
          <p:cNvSpPr/>
          <p:nvPr/>
        </p:nvSpPr>
        <p:spPr>
          <a:xfrm>
            <a:off x="731520" y="19438620"/>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31520" y="19767804"/>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Two robots have put 2,686 camera frames and 91,955 telemetry rows across nine streams onto the platform, over 26 drives, with 342 m of GPS track from 1,502 fixes. None of the frames is labelled.</a:t>
            </a:r>
          </a:p>
        </p:txBody>
      </p:sp>
      <p:sp>
        <p:nvSpPr>
          <p:cNvPr id="26" name="TextBox 25"/>
          <p:cNvSpPr txBox="1"/>
          <p:nvPr/>
        </p:nvSpPr>
        <p:spPr>
          <a:xfrm>
            <a:off x="731520" y="2084527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Asked something it had never seen</a:t>
            </a:r>
          </a:p>
        </p:txBody>
      </p:sp>
      <p:sp>
        <p:nvSpPr>
          <p:cNvPr id="27" name="Rectangle 26"/>
          <p:cNvSpPr/>
          <p:nvPr/>
        </p:nvSpPr>
        <p:spPr>
          <a:xfrm>
            <a:off x="731520" y="2137359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31520" y="2170277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29" name="TextBox 28"/>
          <p:cNvSpPr txBox="1"/>
          <p:nvPr/>
        </p:nvSpPr>
        <p:spPr>
          <a:xfrm>
            <a:off x="731520" y="2278024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More web data, less accuracy</a:t>
            </a:r>
          </a:p>
        </p:txBody>
      </p:sp>
      <p:sp>
        <p:nvSpPr>
          <p:cNvPr id="30" name="Rectangle 29"/>
          <p:cNvSpPr/>
          <p:nvPr/>
        </p:nvSpPr>
        <p:spPr>
          <a:xfrm>
            <a:off x="731520" y="23308564"/>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31520" y="23637748"/>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32" name="TextBox 31"/>
          <p:cNvSpPr txBox="1"/>
          <p:nvPr/>
        </p:nvSpPr>
        <p:spPr>
          <a:xfrm>
            <a:off x="731520" y="2471521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Adding the next robot</a:t>
            </a:r>
          </a:p>
        </p:txBody>
      </p:sp>
      <p:sp>
        <p:nvSpPr>
          <p:cNvPr id="33" name="Rectangle 32"/>
          <p:cNvSpPr/>
          <p:nvPr/>
        </p:nvSpPr>
        <p:spPr>
          <a:xfrm>
            <a:off x="731520" y="2524353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31520" y="2557272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new robot needs a project, an API key and a session start. The ingest contract is the same for every vehicle: start a session, post sensor batches and frames while driving, stop. The platform does not care what the robot is. The Unitree humanoid's project exists on this basis and is waiting on its first upload.</a:t>
            </a:r>
          </a:p>
        </p:txBody>
      </p:sp>
      <p:sp>
        <p:nvSpPr>
          <p:cNvPr id="35" name="TextBox 34"/>
          <p:cNvSpPr txBox="1"/>
          <p:nvPr/>
        </p:nvSpPr>
        <p:spPr>
          <a:xfrm>
            <a:off x="731520" y="2665018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Code the agent writes runs fenced in</a:t>
            </a:r>
          </a:p>
        </p:txBody>
      </p:sp>
      <p:sp>
        <p:nvSpPr>
          <p:cNvPr id="36" name="Rectangle 35"/>
          <p:cNvSpPr/>
          <p:nvPr/>
        </p:nvSpPr>
        <p:spPr>
          <a:xfrm>
            <a:off x="731520" y="27178508"/>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31520" y="2750769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Generated code passes an import whitelist and an AST check before it runs, with no network and no file writes, 15 seconds of CPU, 1.5 GB of memory and a 25 second wall clock. A user can edit the agent's code or paste their own and re-run it in the same fence.</a:t>
            </a:r>
          </a:p>
        </p:txBody>
      </p:sp>
      <p:sp>
        <p:nvSpPr>
          <p:cNvPr id="38" name="TextBox 37"/>
          <p:cNvSpPr txBox="1"/>
          <p:nvPr/>
        </p:nvSpPr>
        <p:spPr>
          <a:xfrm>
            <a:off x="22677120" y="6031992"/>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Robots on the platform today</a:t>
            </a:r>
          </a:p>
        </p:txBody>
      </p:sp>
      <p:sp>
        <p:nvSpPr>
          <p:cNvPr id="39" name="Rectangle 38"/>
          <p:cNvSpPr/>
          <p:nvPr/>
        </p:nvSpPr>
        <p:spPr>
          <a:xfrm>
            <a:off x="22677120" y="6560312"/>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22677120" y="688949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41" name="TextBox 40"/>
          <p:cNvSpPr txBox="1"/>
          <p:nvPr/>
        </p:nvSpPr>
        <p:spPr>
          <a:xfrm>
            <a:off x="22677120" y="8261349"/>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Driving a robot from a browser</a:t>
            </a:r>
          </a:p>
        </p:txBody>
      </p:sp>
      <p:sp>
        <p:nvSpPr>
          <p:cNvPr id="42" name="Rectangle 41"/>
          <p:cNvSpPr/>
          <p:nvPr/>
        </p:nvSpPr>
        <p:spPr>
          <a:xfrm>
            <a:off x="22677120" y="8789669"/>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677120" y="9118853"/>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44" name="TextBox 43"/>
          <p:cNvSpPr txBox="1"/>
          <p:nvPr/>
        </p:nvSpPr>
        <p:spPr>
          <a:xfrm>
            <a:off x="22677120" y="10196321"/>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Left alone for fifteen rounds</a:t>
            </a:r>
          </a:p>
        </p:txBody>
      </p:sp>
      <p:sp>
        <p:nvSpPr>
          <p:cNvPr id="45" name="Rectangle 44"/>
          <p:cNvSpPr/>
          <p:nvPr/>
        </p:nvSpPr>
        <p:spPr>
          <a:xfrm>
            <a:off x="22677120" y="10724641"/>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6" name="Picture 45" descr="f_rounds.png"/>
          <p:cNvPicPr>
            <a:picLocks noChangeAspect="1"/>
          </p:cNvPicPr>
          <p:nvPr/>
        </p:nvPicPr>
        <p:blipFill>
          <a:blip r:embed="rId3"/>
          <a:stretch>
            <a:fillRect/>
          </a:stretch>
        </p:blipFill>
        <p:spPr>
          <a:xfrm>
            <a:off x="22677120" y="11053825"/>
            <a:ext cx="20482560" cy="4663440"/>
          </a:xfrm>
          <a:prstGeom prst="rect">
            <a:avLst/>
          </a:prstGeom>
        </p:spPr>
      </p:pic>
      <p:sp>
        <p:nvSpPr>
          <p:cNvPr id="47" name="TextBox 46"/>
          <p:cNvSpPr txBox="1"/>
          <p:nvPr/>
        </p:nvSpPr>
        <p:spPr>
          <a:xfrm>
            <a:off x="22677120" y="15826993"/>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2.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48" name="TextBox 47"/>
          <p:cNvSpPr txBox="1"/>
          <p:nvPr/>
        </p:nvSpPr>
        <p:spPr>
          <a:xfrm>
            <a:off x="22677120" y="1681226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49" name="TextBox 48"/>
          <p:cNvSpPr txBox="1"/>
          <p:nvPr/>
        </p:nvSpPr>
        <p:spPr>
          <a:xfrm>
            <a:off x="22677120" y="1788972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Inside the platform</a:t>
            </a:r>
          </a:p>
        </p:txBody>
      </p:sp>
      <p:sp>
        <p:nvSpPr>
          <p:cNvPr id="50" name="Rectangle 49"/>
          <p:cNvSpPr/>
          <p:nvPr/>
        </p:nvSpPr>
        <p:spPr>
          <a:xfrm>
            <a:off x="22677120" y="18418048"/>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1" name="Picture 50" descr="n_system.png"/>
          <p:cNvPicPr>
            <a:picLocks noChangeAspect="1"/>
          </p:cNvPicPr>
          <p:nvPr/>
        </p:nvPicPr>
        <p:blipFill>
          <a:blip r:embed="rId4"/>
          <a:stretch>
            <a:fillRect/>
          </a:stretch>
        </p:blipFill>
        <p:spPr>
          <a:xfrm>
            <a:off x="22677120" y="18747232"/>
            <a:ext cx="20482560" cy="3383280"/>
          </a:xfrm>
          <a:prstGeom prst="rect">
            <a:avLst/>
          </a:prstGeom>
        </p:spPr>
      </p:pic>
      <p:sp>
        <p:nvSpPr>
          <p:cNvPr id="52" name="TextBox 51"/>
          <p:cNvSpPr txBox="1"/>
          <p:nvPr/>
        </p:nvSpPr>
        <p:spPr>
          <a:xfrm>
            <a:off x="22677120" y="22240240"/>
            <a:ext cx="20482560" cy="365760"/>
          </a:xfrm>
          <a:prstGeom prst="rect">
            <a:avLst/>
          </a:prstGeom>
          <a:noFill/>
        </p:spPr>
        <p:txBody>
          <a:bodyPr wrap="square" lIns="0" rIns="0" tIns="0" bIns="0">
            <a:spAutoFit/>
          </a:bodyPr>
          <a:lstStyle/>
          <a:p>
            <a:pPr algn="l">
              <a:lnSpc>
                <a:spcPct val="118000"/>
              </a:lnSpc>
              <a:spcAft>
                <a:spcPts val="0"/>
              </a:spcAft>
            </a:pPr>
            <a:r>
              <a:rPr sz="1500" b="0">
                <a:solidFill>
                  <a:srgbClr val="6A6A6A"/>
                </a:solidFill>
                <a:latin typeface="Arial"/>
              </a:rPr>
              <a:t>Figure 3.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53" name="TextBox 52"/>
          <p:cNvSpPr txBox="1"/>
          <p:nvPr/>
        </p:nvSpPr>
        <p:spPr>
          <a:xfrm>
            <a:off x="22677120" y="23000716"/>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Every stage from a camera in a crop row to a checkpoint on the cluster has run. The dashboard and registry run on a lab server; GPU jobs queue on PSC Bridges-2. The collector and trainer are paused after a stop-loss on 2026-08-29. The supervisor is advisory and nothing it says is applied.</a:t>
            </a:r>
          </a:p>
        </p:txBody>
      </p:sp>
      <p:sp>
        <p:nvSpPr>
          <p:cNvPr id="54" name="TextBox 53"/>
          <p:cNvSpPr txBox="1"/>
          <p:nvPr/>
        </p:nvSpPr>
        <p:spPr>
          <a:xfrm>
            <a:off x="22677120" y="24078184"/>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Only one robot has the button</a:t>
            </a:r>
          </a:p>
        </p:txBody>
      </p:sp>
      <p:sp>
        <p:nvSpPr>
          <p:cNvPr id="55" name="Rectangle 54"/>
          <p:cNvSpPr/>
          <p:nvPr/>
        </p:nvSpPr>
        <p:spPr>
          <a:xfrm>
            <a:off x="22677120" y="24606504"/>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22677120" y="24935688"/>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57" name="TextBox 56"/>
          <p:cNvSpPr txBox="1"/>
          <p:nvPr/>
        </p:nvSpPr>
        <p:spPr>
          <a:xfrm>
            <a:off x="22677120" y="26013156"/>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Which decisions a model makes</a:t>
            </a:r>
          </a:p>
        </p:txBody>
      </p:sp>
      <p:sp>
        <p:nvSpPr>
          <p:cNvPr id="58" name="Rectangle 57"/>
          <p:cNvSpPr/>
          <p:nvPr/>
        </p:nvSpPr>
        <p:spPr>
          <a:xfrm>
            <a:off x="22677120" y="26541476"/>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22677120" y="26870660"/>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60" name="TextBox 59"/>
          <p:cNvSpPr txBox="1"/>
          <p:nvPr/>
        </p:nvSpPr>
        <p:spPr>
          <a:xfrm>
            <a:off x="22677120" y="27948128"/>
            <a:ext cx="20482560" cy="365760"/>
          </a:xfrm>
          <a:prstGeom prst="rect">
            <a:avLst/>
          </a:prstGeom>
          <a:noFill/>
        </p:spPr>
        <p:txBody>
          <a:bodyPr wrap="square" lIns="0" rIns="0" tIns="0" bIns="0">
            <a:spAutoFit/>
          </a:bodyPr>
          <a:lstStyle/>
          <a:p>
            <a:pPr algn="l">
              <a:lnSpc>
                <a:spcPct val="95000"/>
              </a:lnSpc>
              <a:spcAft>
                <a:spcPts val="0"/>
              </a:spcAft>
            </a:pPr>
            <a:r>
              <a:rPr sz="3200" b="1">
                <a:solidFill>
                  <a:srgbClr val="1A1A1A"/>
                </a:solidFill>
                <a:latin typeface="Arial"/>
              </a:rPr>
              <a:t>Any research field is a project</a:t>
            </a:r>
          </a:p>
        </p:txBody>
      </p:sp>
      <p:sp>
        <p:nvSpPr>
          <p:cNvPr id="61" name="Rectangle 60"/>
          <p:cNvSpPr/>
          <p:nvPr/>
        </p:nvSpPr>
        <p:spPr>
          <a:xfrm>
            <a:off x="22677120" y="28476448"/>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22677120" y="28805632"/>
            <a:ext cx="20482560" cy="365760"/>
          </a:xfrm>
          <a:prstGeom prst="rect">
            <a:avLst/>
          </a:prstGeom>
          <a:noFill/>
        </p:spPr>
        <p:txBody>
          <a:bodyPr wrap="square" lIns="0" rIns="0" tIns="0" bIns="0">
            <a:spAutoFit/>
          </a:bodyPr>
          <a:lstStyle/>
          <a:p>
            <a:pPr algn="l">
              <a:lnSpc>
                <a:spcPct val="122000"/>
              </a:lnSpc>
              <a:spcAft>
                <a:spcPts val="1400"/>
              </a:spcAft>
            </a:pPr>
            <a:r>
              <a:rPr sz="1900" b="0">
                <a:solidFill>
                  <a:srgbClr val="1A1A1A"/>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63" name="Rectangle 62"/>
          <p:cNvSpPr/>
          <p:nvPr/>
        </p:nvSpPr>
        <p:spPr>
          <a:xfrm>
            <a:off x="731520" y="30632400"/>
            <a:ext cx="42428160" cy="20116"/>
          </a:xfrm>
          <a:prstGeom prst="rect">
            <a:avLst/>
          </a:prstGeom>
          <a:solidFill>
            <a:srgbClr val="D5D5D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65" name="TextBox 64"/>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66" name="TextBox 65"/>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500" b="0">
                <a:solidFill>
                  <a:srgbClr val="6A6A6A"/>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