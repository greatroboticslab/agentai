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8600" b="1">
                <a:solidFill>
                  <a:srgbClr val="1C2A22"/>
                </a:solidFill>
                <a:latin typeface="Arial"/>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1C2A22"/>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5C6B62"/>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C2A22"/>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TextBox 7"/>
          <p:cNvSpPr txBox="1"/>
          <p:nvPr/>
        </p:nvSpPr>
        <p:spPr>
          <a:xfrm>
            <a:off x="731520" y="603199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One platform for every robot the lab owns</a:t>
            </a:r>
          </a:p>
        </p:txBody>
      </p:sp>
      <p:sp>
        <p:nvSpPr>
          <p:cNvPr id="9" name="Rectangle 8"/>
          <p:cNvSpPr/>
          <p:nvPr/>
        </p:nvSpPr>
        <p:spPr>
          <a:xfrm>
            <a:off x="731520" y="6560312"/>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88949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1" name="TextBox 10"/>
          <p:cNvSpPr txBox="1"/>
          <p:nvPr/>
        </p:nvSpPr>
        <p:spPr>
          <a:xfrm>
            <a:off x="731520" y="826134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A drive becomes a dataset as it opens</a:t>
            </a:r>
          </a:p>
        </p:txBody>
      </p:sp>
      <p:sp>
        <p:nvSpPr>
          <p:cNvPr id="12" name="Rectangle 11"/>
          <p:cNvSpPr/>
          <p:nvPr/>
        </p:nvSpPr>
        <p:spPr>
          <a:xfrm>
            <a:off x="731520" y="8789669"/>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911885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14" name="TextBox 13"/>
          <p:cNvSpPr txBox="1"/>
          <p:nvPr/>
        </p:nvSpPr>
        <p:spPr>
          <a:xfrm>
            <a:off x="731520" y="1019632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Ask a dataset what it is good for</a:t>
            </a:r>
          </a:p>
        </p:txBody>
      </p:sp>
      <p:sp>
        <p:nvSpPr>
          <p:cNvPr id="15" name="Rectangle 14"/>
          <p:cNvSpPr/>
          <p:nvPr/>
        </p:nvSpPr>
        <p:spPr>
          <a:xfrm>
            <a:off x="731520" y="10724641"/>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1053825"/>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17" name="TextBox 16"/>
          <p:cNvSpPr txBox="1"/>
          <p:nvPr/>
        </p:nvSpPr>
        <p:spPr>
          <a:xfrm>
            <a:off x="731520" y="12131293"/>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Everything we trained, ran, or rejected</a:t>
            </a:r>
          </a:p>
        </p:txBody>
      </p:sp>
      <p:sp>
        <p:nvSpPr>
          <p:cNvPr id="18" name="Rectangle 17"/>
          <p:cNvSpPr/>
          <p:nvPr/>
        </p:nvSpPr>
        <p:spPr>
          <a:xfrm>
            <a:off x="731520" y="12659613"/>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_ledger.png"/>
          <p:cNvPicPr>
            <a:picLocks noChangeAspect="1"/>
          </p:cNvPicPr>
          <p:nvPr/>
        </p:nvPicPr>
        <p:blipFill>
          <a:blip r:embed="rId2"/>
          <a:stretch>
            <a:fillRect/>
          </a:stretch>
        </p:blipFill>
        <p:spPr>
          <a:xfrm>
            <a:off x="731520" y="12988797"/>
            <a:ext cx="20482560" cy="3749040"/>
          </a:xfrm>
          <a:prstGeom prst="rect">
            <a:avLst/>
          </a:prstGeom>
        </p:spPr>
      </p:pic>
      <p:sp>
        <p:nvSpPr>
          <p:cNvPr id="20" name="TextBox 19"/>
          <p:cNvSpPr txBox="1"/>
          <p:nvPr/>
        </p:nvSpPr>
        <p:spPr>
          <a:xfrm>
            <a:off x="731520" y="16847565"/>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1.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21" name="TextBox 20"/>
          <p:cNvSpPr txBox="1"/>
          <p:nvPr/>
        </p:nvSpPr>
        <p:spPr>
          <a:xfrm>
            <a:off x="731520" y="17832831"/>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22" name="TextBox 21"/>
          <p:cNvSpPr txBox="1"/>
          <p:nvPr/>
        </p:nvSpPr>
        <p:spPr>
          <a:xfrm>
            <a:off x="731520" y="18910300"/>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On disk today</a:t>
            </a:r>
          </a:p>
        </p:txBody>
      </p:sp>
      <p:sp>
        <p:nvSpPr>
          <p:cNvPr id="23" name="Rectangle 22"/>
          <p:cNvSpPr/>
          <p:nvPr/>
        </p:nvSpPr>
        <p:spPr>
          <a:xfrm>
            <a:off x="731520" y="19438620"/>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19767804"/>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Two robots have put 2,686 camera frames and 91,955 telemetry rows across nine streams onto the platform, over 26 drives, with 342 m of GPS track from 1,502 fixes. None of the frames is labelled.</a:t>
            </a:r>
          </a:p>
        </p:txBody>
      </p:sp>
      <p:sp>
        <p:nvSpPr>
          <p:cNvPr id="25" name="TextBox 24"/>
          <p:cNvSpPr txBox="1"/>
          <p:nvPr/>
        </p:nvSpPr>
        <p:spPr>
          <a:xfrm>
            <a:off x="731520" y="2084527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Asked something it had never seen</a:t>
            </a:r>
          </a:p>
        </p:txBody>
      </p:sp>
      <p:sp>
        <p:nvSpPr>
          <p:cNvPr id="26" name="Rectangle 25"/>
          <p:cNvSpPr/>
          <p:nvPr/>
        </p:nvSpPr>
        <p:spPr>
          <a:xfrm>
            <a:off x="731520" y="21373592"/>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170277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28" name="TextBox 27"/>
          <p:cNvSpPr txBox="1"/>
          <p:nvPr/>
        </p:nvSpPr>
        <p:spPr>
          <a:xfrm>
            <a:off x="731520" y="2278024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More web data, less accuracy</a:t>
            </a:r>
          </a:p>
        </p:txBody>
      </p:sp>
      <p:sp>
        <p:nvSpPr>
          <p:cNvPr id="29" name="Rectangle 28"/>
          <p:cNvSpPr/>
          <p:nvPr/>
        </p:nvSpPr>
        <p:spPr>
          <a:xfrm>
            <a:off x="731520" y="23308564"/>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3637748"/>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31" name="TextBox 30"/>
          <p:cNvSpPr txBox="1"/>
          <p:nvPr/>
        </p:nvSpPr>
        <p:spPr>
          <a:xfrm>
            <a:off x="731520" y="24715216"/>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Adding the next robot</a:t>
            </a:r>
          </a:p>
        </p:txBody>
      </p:sp>
      <p:sp>
        <p:nvSpPr>
          <p:cNvPr id="32" name="Rectangle 31"/>
          <p:cNvSpPr/>
          <p:nvPr/>
        </p:nvSpPr>
        <p:spPr>
          <a:xfrm>
            <a:off x="731520" y="25243536"/>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2557272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34" name="TextBox 33"/>
          <p:cNvSpPr txBox="1"/>
          <p:nvPr/>
        </p:nvSpPr>
        <p:spPr>
          <a:xfrm>
            <a:off x="731520" y="26650188"/>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Code the agent writes runs fenced in</a:t>
            </a:r>
          </a:p>
        </p:txBody>
      </p:sp>
      <p:sp>
        <p:nvSpPr>
          <p:cNvPr id="35" name="Rectangle 34"/>
          <p:cNvSpPr/>
          <p:nvPr/>
        </p:nvSpPr>
        <p:spPr>
          <a:xfrm>
            <a:off x="731520" y="27178508"/>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27507692"/>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37" name="TextBox 36"/>
          <p:cNvSpPr txBox="1"/>
          <p:nvPr/>
        </p:nvSpPr>
        <p:spPr>
          <a:xfrm>
            <a:off x="22677120" y="603199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Robots on the platform today</a:t>
            </a:r>
          </a:p>
        </p:txBody>
      </p:sp>
      <p:sp>
        <p:nvSpPr>
          <p:cNvPr id="38" name="Rectangle 37"/>
          <p:cNvSpPr/>
          <p:nvPr/>
        </p:nvSpPr>
        <p:spPr>
          <a:xfrm>
            <a:off x="22677120" y="6560312"/>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677120" y="688949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0" name="TextBox 39"/>
          <p:cNvSpPr txBox="1"/>
          <p:nvPr/>
        </p:nvSpPr>
        <p:spPr>
          <a:xfrm>
            <a:off x="22677120" y="826134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Driving a robot from a browser</a:t>
            </a:r>
          </a:p>
        </p:txBody>
      </p:sp>
      <p:sp>
        <p:nvSpPr>
          <p:cNvPr id="41" name="Rectangle 40"/>
          <p:cNvSpPr/>
          <p:nvPr/>
        </p:nvSpPr>
        <p:spPr>
          <a:xfrm>
            <a:off x="22677120" y="8789669"/>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677120" y="911885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43" name="TextBox 42"/>
          <p:cNvSpPr txBox="1"/>
          <p:nvPr/>
        </p:nvSpPr>
        <p:spPr>
          <a:xfrm>
            <a:off x="22677120" y="1019632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Left alone for fifteen rounds</a:t>
            </a:r>
          </a:p>
        </p:txBody>
      </p:sp>
      <p:sp>
        <p:nvSpPr>
          <p:cNvPr id="44" name="Rectangle 43"/>
          <p:cNvSpPr/>
          <p:nvPr/>
        </p:nvSpPr>
        <p:spPr>
          <a:xfrm>
            <a:off x="22677120" y="10724641"/>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f_rounds.png"/>
          <p:cNvPicPr>
            <a:picLocks noChangeAspect="1"/>
          </p:cNvPicPr>
          <p:nvPr/>
        </p:nvPicPr>
        <p:blipFill>
          <a:blip r:embed="rId3"/>
          <a:stretch>
            <a:fillRect/>
          </a:stretch>
        </p:blipFill>
        <p:spPr>
          <a:xfrm>
            <a:off x="22677120" y="11053825"/>
            <a:ext cx="20482560" cy="4663440"/>
          </a:xfrm>
          <a:prstGeom prst="rect">
            <a:avLst/>
          </a:prstGeom>
        </p:spPr>
      </p:pic>
      <p:sp>
        <p:nvSpPr>
          <p:cNvPr id="46" name="TextBox 45"/>
          <p:cNvSpPr txBox="1"/>
          <p:nvPr/>
        </p:nvSpPr>
        <p:spPr>
          <a:xfrm>
            <a:off x="22677120" y="15826993"/>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2.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47" name="TextBox 46"/>
          <p:cNvSpPr txBox="1"/>
          <p:nvPr/>
        </p:nvSpPr>
        <p:spPr>
          <a:xfrm>
            <a:off x="22677120" y="1681226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48" name="TextBox 47"/>
          <p:cNvSpPr txBox="1"/>
          <p:nvPr/>
        </p:nvSpPr>
        <p:spPr>
          <a:xfrm>
            <a:off x="22677120" y="17889728"/>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Inside the platform</a:t>
            </a:r>
          </a:p>
        </p:txBody>
      </p:sp>
      <p:sp>
        <p:nvSpPr>
          <p:cNvPr id="49" name="Rectangle 48"/>
          <p:cNvSpPr/>
          <p:nvPr/>
        </p:nvSpPr>
        <p:spPr>
          <a:xfrm>
            <a:off x="22677120" y="18418048"/>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n_system.png"/>
          <p:cNvPicPr>
            <a:picLocks noChangeAspect="1"/>
          </p:cNvPicPr>
          <p:nvPr/>
        </p:nvPicPr>
        <p:blipFill>
          <a:blip r:embed="rId4"/>
          <a:stretch>
            <a:fillRect/>
          </a:stretch>
        </p:blipFill>
        <p:spPr>
          <a:xfrm>
            <a:off x="22677120" y="18747232"/>
            <a:ext cx="20482560" cy="3383280"/>
          </a:xfrm>
          <a:prstGeom prst="rect">
            <a:avLst/>
          </a:prstGeom>
        </p:spPr>
      </p:pic>
      <p:sp>
        <p:nvSpPr>
          <p:cNvPr id="51" name="TextBox 50"/>
          <p:cNvSpPr txBox="1"/>
          <p:nvPr/>
        </p:nvSpPr>
        <p:spPr>
          <a:xfrm>
            <a:off x="22677120" y="22240240"/>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3.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52" name="TextBox 51"/>
          <p:cNvSpPr txBox="1"/>
          <p:nvPr/>
        </p:nvSpPr>
        <p:spPr>
          <a:xfrm>
            <a:off x="22677120" y="2300071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Every stage from a camera in a crop row to a checkpoint on the cluster has run. The dashboard and registry run on a lab server; GPU jobs queue on PSC Bridges-2. The collector and trainer are paused after a stop-loss on 2026-08-29. The supervisor is advisory and nothing it says is applied.</a:t>
            </a:r>
          </a:p>
        </p:txBody>
      </p:sp>
      <p:sp>
        <p:nvSpPr>
          <p:cNvPr id="53" name="TextBox 52"/>
          <p:cNvSpPr txBox="1"/>
          <p:nvPr/>
        </p:nvSpPr>
        <p:spPr>
          <a:xfrm>
            <a:off x="22677120" y="2407818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Only one robot has the button</a:t>
            </a:r>
          </a:p>
        </p:txBody>
      </p:sp>
      <p:sp>
        <p:nvSpPr>
          <p:cNvPr id="54" name="Rectangle 53"/>
          <p:cNvSpPr/>
          <p:nvPr/>
        </p:nvSpPr>
        <p:spPr>
          <a:xfrm>
            <a:off x="22677120" y="24606504"/>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677120" y="24935688"/>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56" name="TextBox 55"/>
          <p:cNvSpPr txBox="1"/>
          <p:nvPr/>
        </p:nvSpPr>
        <p:spPr>
          <a:xfrm>
            <a:off x="22677120" y="26013156"/>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Which decisions a model makes</a:t>
            </a:r>
          </a:p>
        </p:txBody>
      </p:sp>
      <p:sp>
        <p:nvSpPr>
          <p:cNvPr id="57" name="Rectangle 56"/>
          <p:cNvSpPr/>
          <p:nvPr/>
        </p:nvSpPr>
        <p:spPr>
          <a:xfrm>
            <a:off x="22677120" y="26541476"/>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677120" y="2687066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9" name="TextBox 58"/>
          <p:cNvSpPr txBox="1"/>
          <p:nvPr/>
        </p:nvSpPr>
        <p:spPr>
          <a:xfrm>
            <a:off x="22677120" y="27948128"/>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a:rPr>
              <a:t>Any research field is a project</a:t>
            </a:r>
          </a:p>
        </p:txBody>
      </p:sp>
      <p:sp>
        <p:nvSpPr>
          <p:cNvPr id="60" name="Rectangle 59"/>
          <p:cNvSpPr/>
          <p:nvPr/>
        </p:nvSpPr>
        <p:spPr>
          <a:xfrm>
            <a:off x="22677120" y="28476448"/>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677120" y="28805632"/>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62" name="Rectangle 61"/>
          <p:cNvSpPr/>
          <p:nvPr/>
        </p:nvSpPr>
        <p:spPr>
          <a:xfrm>
            <a:off x="731520" y="30632400"/>
            <a:ext cx="42428160" cy="20116"/>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4" name="TextBox 63"/>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65" name="TextBox 64"/>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