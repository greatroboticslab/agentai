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9000" b="1">
                <a:solidFill>
                  <a:srgbClr val="111111"/>
                </a:solidFill>
                <a:latin typeface="Times New Roman"/>
              </a:rPr>
              <a:t>agentAI: A Research-Data Platform for Physical and Embodied Agents</a:t>
            </a:r>
          </a:p>
        </p:txBody>
      </p:sp>
      <p:sp>
        <p:nvSpPr>
          <p:cNvPr id="4" name="Rectangle 3"/>
          <p:cNvSpPr/>
          <p:nvPr/>
        </p:nvSpPr>
        <p:spPr>
          <a:xfrm>
            <a:off x="731520" y="2103120"/>
            <a:ext cx="42245280" cy="146304"/>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11111"/>
                </a:solidFill>
                <a:latin typeface="Arial"/>
              </a:rPr>
              <a:t>Harry He   ·   Hongbo Zhang</a:t>
            </a:r>
          </a:p>
        </p:txBody>
      </p:sp>
      <p:sp>
        <p:nvSpPr>
          <p:cNvPr id="6" name="TextBox 5"/>
          <p:cNvSpPr txBox="1"/>
          <p:nvPr/>
        </p:nvSpPr>
        <p:spPr>
          <a:xfrm>
            <a:off x="731520" y="31089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B5B5B"/>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11111"/>
                </a:solidFill>
                <a:latin typeface="Times New Roman"/>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w_robots.png"/>
          <p:cNvPicPr>
            <a:picLocks noChangeAspect="1"/>
          </p:cNvPicPr>
          <p:nvPr/>
        </p:nvPicPr>
        <p:blipFill>
          <a:blip r:embed="rId2"/>
          <a:stretch>
            <a:fillRect/>
          </a:stretch>
        </p:blipFill>
        <p:spPr>
          <a:xfrm>
            <a:off x="731520" y="5820663"/>
            <a:ext cx="42428160" cy="4023360"/>
          </a:xfrm>
          <a:prstGeom prst="rect">
            <a:avLst/>
          </a:prstGeom>
        </p:spPr>
      </p:pic>
      <p:sp>
        <p:nvSpPr>
          <p:cNvPr id="9" name="TextBox 8"/>
          <p:cNvSpPr txBox="1"/>
          <p:nvPr/>
        </p:nvSpPr>
        <p:spPr>
          <a:xfrm>
            <a:off x="731520" y="9953751"/>
            <a:ext cx="424281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1.  Four frames as recorded, unenhanced and unlabelled. The rectangle in (c) is the cart's fixed work-zone overlay. It is drawn on every frame, including the ones with no vegetation in them.</a:t>
            </a:r>
          </a:p>
        </p:txBody>
      </p:sp>
      <p:sp>
        <p:nvSpPr>
          <p:cNvPr id="10" name="Rectangle 9"/>
          <p:cNvSpPr/>
          <p:nvPr/>
        </p:nvSpPr>
        <p:spPr>
          <a:xfrm>
            <a:off x="731520" y="10687303"/>
            <a:ext cx="42428160" cy="23774"/>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2,686</a:t>
            </a:r>
          </a:p>
        </p:txBody>
      </p:sp>
      <p:sp>
        <p:nvSpPr>
          <p:cNvPr id="12" name="TextBox 11"/>
          <p:cNvSpPr txBox="1"/>
          <p:nvPr/>
        </p:nvSpPr>
        <p:spPr>
          <a:xfrm>
            <a:off x="731520"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11111"/>
                </a:solidFill>
                <a:latin typeface="Arial"/>
              </a:rPr>
              <a:t>camera frames</a:t>
            </a:r>
          </a:p>
        </p:txBody>
      </p:sp>
      <p:sp>
        <p:nvSpPr>
          <p:cNvPr id="13" name="TextBox 12"/>
          <p:cNvSpPr txBox="1"/>
          <p:nvPr/>
        </p:nvSpPr>
        <p:spPr>
          <a:xfrm>
            <a:off x="731520"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B5B5B"/>
                </a:solidFill>
                <a:latin typeface="Arial"/>
              </a:rPr>
              <a:t>26 drives, 2 robots, 0 labelled</a:t>
            </a:r>
          </a:p>
        </p:txBody>
      </p:sp>
      <p:sp>
        <p:nvSpPr>
          <p:cNvPr id="14" name="TextBox 13"/>
          <p:cNvSpPr txBox="1"/>
          <p:nvPr/>
        </p:nvSpPr>
        <p:spPr>
          <a:xfrm>
            <a:off x="9317736"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91,955</a:t>
            </a:r>
          </a:p>
        </p:txBody>
      </p:sp>
      <p:sp>
        <p:nvSpPr>
          <p:cNvPr id="15" name="TextBox 14"/>
          <p:cNvSpPr txBox="1"/>
          <p:nvPr/>
        </p:nvSpPr>
        <p:spPr>
          <a:xfrm>
            <a:off x="9317736"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11111"/>
                </a:solidFill>
                <a:latin typeface="Arial"/>
              </a:rPr>
              <a:t>telemetry rows</a:t>
            </a:r>
          </a:p>
        </p:txBody>
      </p:sp>
      <p:sp>
        <p:nvSpPr>
          <p:cNvPr id="16" name="TextBox 15"/>
          <p:cNvSpPr txBox="1"/>
          <p:nvPr/>
        </p:nvSpPr>
        <p:spPr>
          <a:xfrm>
            <a:off x="9317736"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B5B5B"/>
                </a:solidFill>
                <a:latin typeface="Arial"/>
              </a:rPr>
              <a:t>nine streams, counted line by line</a:t>
            </a:r>
          </a:p>
        </p:txBody>
      </p:sp>
      <p:sp>
        <p:nvSpPr>
          <p:cNvPr id="17" name="TextBox 16"/>
          <p:cNvSpPr txBox="1"/>
          <p:nvPr/>
        </p:nvSpPr>
        <p:spPr>
          <a:xfrm>
            <a:off x="17903952"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342 m</a:t>
            </a:r>
          </a:p>
        </p:txBody>
      </p:sp>
      <p:sp>
        <p:nvSpPr>
          <p:cNvPr id="18" name="TextBox 17"/>
          <p:cNvSpPr txBox="1"/>
          <p:nvPr/>
        </p:nvSpPr>
        <p:spPr>
          <a:xfrm>
            <a:off x="17903952"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11111"/>
                </a:solidFill>
                <a:latin typeface="Arial"/>
              </a:rPr>
              <a:t>of GPS track</a:t>
            </a:r>
          </a:p>
        </p:txBody>
      </p:sp>
      <p:sp>
        <p:nvSpPr>
          <p:cNvPr id="19" name="TextBox 18"/>
          <p:cNvSpPr txBox="1"/>
          <p:nvPr/>
        </p:nvSpPr>
        <p:spPr>
          <a:xfrm>
            <a:off x="17903952"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B5B5B"/>
                </a:solidFill>
                <a:latin typeface="Arial"/>
              </a:rPr>
              <a:t>1,502 fixes over 18 drives</a:t>
            </a:r>
          </a:p>
        </p:txBody>
      </p:sp>
      <p:sp>
        <p:nvSpPr>
          <p:cNvPr id="20" name="TextBox 19"/>
          <p:cNvSpPr txBox="1"/>
          <p:nvPr/>
        </p:nvSpPr>
        <p:spPr>
          <a:xfrm>
            <a:off x="26490168"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27</a:t>
            </a:r>
          </a:p>
        </p:txBody>
      </p:sp>
      <p:sp>
        <p:nvSpPr>
          <p:cNvPr id="21" name="TextBox 20"/>
          <p:cNvSpPr txBox="1"/>
          <p:nvPr/>
        </p:nvSpPr>
        <p:spPr>
          <a:xfrm>
            <a:off x="26490168"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11111"/>
                </a:solidFill>
                <a:latin typeface="Arial"/>
              </a:rPr>
              <a:t>distinct models run</a:t>
            </a:r>
          </a:p>
        </p:txBody>
      </p:sp>
      <p:sp>
        <p:nvSpPr>
          <p:cNvPr id="22" name="TextBox 21"/>
          <p:cNvSpPr txBox="1"/>
          <p:nvPr/>
        </p:nvSpPr>
        <p:spPr>
          <a:xfrm>
            <a:off x="26490168"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B5B5B"/>
                </a:solidFill>
                <a:latin typeface="Arial"/>
              </a:rPr>
              <a:t>four families, one deployed</a:t>
            </a:r>
          </a:p>
        </p:txBody>
      </p:sp>
      <p:sp>
        <p:nvSpPr>
          <p:cNvPr id="23" name="TextBox 22"/>
          <p:cNvSpPr txBox="1"/>
          <p:nvPr/>
        </p:nvSpPr>
        <p:spPr>
          <a:xfrm>
            <a:off x="35076384"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0</a:t>
            </a:r>
          </a:p>
        </p:txBody>
      </p:sp>
      <p:sp>
        <p:nvSpPr>
          <p:cNvPr id="24" name="TextBox 23"/>
          <p:cNvSpPr txBox="1"/>
          <p:nvPr/>
        </p:nvSpPr>
        <p:spPr>
          <a:xfrm>
            <a:off x="35076384"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11111"/>
                </a:solidFill>
                <a:latin typeface="Arial"/>
              </a:rPr>
              <a:t>robot frames labelled</a:t>
            </a:r>
          </a:p>
        </p:txBody>
      </p:sp>
      <p:sp>
        <p:nvSpPr>
          <p:cNvPr id="25" name="TextBox 24"/>
          <p:cNvSpPr txBox="1"/>
          <p:nvPr/>
        </p:nvSpPr>
        <p:spPr>
          <a:xfrm>
            <a:off x="35076384"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B5B5B"/>
                </a:solidFill>
                <a:latin typeface="Arial"/>
              </a:rPr>
              <a:t>the whole archive, so far</a:t>
            </a:r>
          </a:p>
        </p:txBody>
      </p:sp>
      <p:sp>
        <p:nvSpPr>
          <p:cNvPr id="26" name="Rectangle 25"/>
          <p:cNvSpPr/>
          <p:nvPr/>
        </p:nvSpPr>
        <p:spPr>
          <a:xfrm>
            <a:off x="731520" y="12306807"/>
            <a:ext cx="42428160" cy="23774"/>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280058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One platform for every robot the lab owns</a:t>
            </a:r>
          </a:p>
        </p:txBody>
      </p:sp>
      <p:sp>
        <p:nvSpPr>
          <p:cNvPr id="28" name="Rectangle 27"/>
          <p:cNvSpPr/>
          <p:nvPr/>
        </p:nvSpPr>
        <p:spPr>
          <a:xfrm>
            <a:off x="731520" y="1336192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369110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30" name="TextBox 29"/>
          <p:cNvSpPr txBox="1"/>
          <p:nvPr/>
        </p:nvSpPr>
        <p:spPr>
          <a:xfrm>
            <a:off x="731520" y="1580235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Driving a robot from a browser</a:t>
            </a:r>
          </a:p>
        </p:txBody>
      </p:sp>
      <p:sp>
        <p:nvSpPr>
          <p:cNvPr id="31" name="Rectangle 30"/>
          <p:cNvSpPr/>
          <p:nvPr/>
        </p:nvSpPr>
        <p:spPr>
          <a:xfrm>
            <a:off x="731520" y="1636369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669287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731520" y="1880412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On disk today</a:t>
            </a:r>
          </a:p>
        </p:txBody>
      </p:sp>
      <p:sp>
        <p:nvSpPr>
          <p:cNvPr id="34" name="Rectangle 33"/>
          <p:cNvSpPr/>
          <p:nvPr/>
        </p:nvSpPr>
        <p:spPr>
          <a:xfrm>
            <a:off x="731520" y="1936546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1969465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Two robots have put 2,686 camera frames and 91,955 telemetry rows across nine streams onto the platform, over 26 drives, with 342 m of GPS track from 1,502 fixes. None of the frames is labelled.</a:t>
            </a:r>
          </a:p>
        </p:txBody>
      </p:sp>
      <p:sp>
        <p:nvSpPr>
          <p:cNvPr id="36" name="TextBox 35"/>
          <p:cNvSpPr txBox="1"/>
          <p:nvPr/>
        </p:nvSpPr>
        <p:spPr>
          <a:xfrm>
            <a:off x="731520" y="2118614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Asked something it had never seen</a:t>
            </a:r>
          </a:p>
        </p:txBody>
      </p:sp>
      <p:sp>
        <p:nvSpPr>
          <p:cNvPr id="37" name="Rectangle 36"/>
          <p:cNvSpPr/>
          <p:nvPr/>
        </p:nvSpPr>
        <p:spPr>
          <a:xfrm>
            <a:off x="731520" y="2174748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2207666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39" name="TextBox 38"/>
          <p:cNvSpPr txBox="1"/>
          <p:nvPr/>
        </p:nvSpPr>
        <p:spPr>
          <a:xfrm>
            <a:off x="731520" y="2387803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More web data, less accuracy</a:t>
            </a:r>
          </a:p>
        </p:txBody>
      </p:sp>
      <p:sp>
        <p:nvSpPr>
          <p:cNvPr id="40" name="Rectangle 39"/>
          <p:cNvSpPr/>
          <p:nvPr/>
        </p:nvSpPr>
        <p:spPr>
          <a:xfrm>
            <a:off x="731520" y="2443937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2476855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42" name="TextBox 41"/>
          <p:cNvSpPr txBox="1"/>
          <p:nvPr/>
        </p:nvSpPr>
        <p:spPr>
          <a:xfrm>
            <a:off x="731520" y="2656992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Adding the next robot</a:t>
            </a:r>
          </a:p>
        </p:txBody>
      </p:sp>
      <p:sp>
        <p:nvSpPr>
          <p:cNvPr id="43" name="Rectangle 42"/>
          <p:cNvSpPr/>
          <p:nvPr/>
        </p:nvSpPr>
        <p:spPr>
          <a:xfrm>
            <a:off x="731520" y="2713126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2746044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45" name="TextBox 44"/>
          <p:cNvSpPr txBox="1"/>
          <p:nvPr/>
        </p:nvSpPr>
        <p:spPr>
          <a:xfrm>
            <a:off x="11704320" y="1280058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Robots on the platform today</a:t>
            </a:r>
          </a:p>
        </p:txBody>
      </p:sp>
      <p:sp>
        <p:nvSpPr>
          <p:cNvPr id="46" name="Rectangle 45"/>
          <p:cNvSpPr/>
          <p:nvPr/>
        </p:nvSpPr>
        <p:spPr>
          <a:xfrm>
            <a:off x="11704320" y="13361923"/>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704320" y="1369110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8" name="TextBox 47"/>
          <p:cNvSpPr txBox="1"/>
          <p:nvPr/>
        </p:nvSpPr>
        <p:spPr>
          <a:xfrm>
            <a:off x="11704320" y="15182596"/>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Ask a dataset what it is good for</a:t>
            </a:r>
          </a:p>
        </p:txBody>
      </p:sp>
      <p:sp>
        <p:nvSpPr>
          <p:cNvPr id="49" name="Rectangle 48"/>
          <p:cNvSpPr/>
          <p:nvPr/>
        </p:nvSpPr>
        <p:spPr>
          <a:xfrm>
            <a:off x="11704320" y="15743935"/>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704320" y="16073119"/>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51" name="TextBox 50"/>
          <p:cNvSpPr txBox="1"/>
          <p:nvPr/>
        </p:nvSpPr>
        <p:spPr>
          <a:xfrm>
            <a:off x="11704320" y="17254728"/>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Left alone for fifteen rounds</a:t>
            </a:r>
          </a:p>
        </p:txBody>
      </p:sp>
      <p:sp>
        <p:nvSpPr>
          <p:cNvPr id="52" name="Rectangle 51"/>
          <p:cNvSpPr/>
          <p:nvPr/>
        </p:nvSpPr>
        <p:spPr>
          <a:xfrm>
            <a:off x="11704320" y="17816068"/>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f_rounds.png"/>
          <p:cNvPicPr>
            <a:picLocks noChangeAspect="1"/>
          </p:cNvPicPr>
          <p:nvPr/>
        </p:nvPicPr>
        <p:blipFill>
          <a:blip r:embed="rId3"/>
          <a:stretch>
            <a:fillRect/>
          </a:stretch>
        </p:blipFill>
        <p:spPr>
          <a:xfrm>
            <a:off x="11704320" y="18145252"/>
            <a:ext cx="20482560" cy="4663440"/>
          </a:xfrm>
          <a:prstGeom prst="rect">
            <a:avLst/>
          </a:prstGeom>
        </p:spPr>
      </p:pic>
      <p:sp>
        <p:nvSpPr>
          <p:cNvPr id="54" name="TextBox 53"/>
          <p:cNvSpPr txBox="1"/>
          <p:nvPr/>
        </p:nvSpPr>
        <p:spPr>
          <a:xfrm>
            <a:off x="11704320" y="22918420"/>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55" name="TextBox 54"/>
          <p:cNvSpPr txBox="1"/>
          <p:nvPr/>
        </p:nvSpPr>
        <p:spPr>
          <a:xfrm>
            <a:off x="11704320" y="23948644"/>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56" name="TextBox 55"/>
          <p:cNvSpPr txBox="1"/>
          <p:nvPr/>
        </p:nvSpPr>
        <p:spPr>
          <a:xfrm>
            <a:off x="32552640" y="1280058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A drive becomes a dataset as it opens</a:t>
            </a:r>
          </a:p>
        </p:txBody>
      </p:sp>
      <p:sp>
        <p:nvSpPr>
          <p:cNvPr id="57" name="Rectangle 56"/>
          <p:cNvSpPr/>
          <p:nvPr/>
        </p:nvSpPr>
        <p:spPr>
          <a:xfrm>
            <a:off x="32552640" y="1336192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552640" y="1369110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59" name="TextBox 58"/>
          <p:cNvSpPr txBox="1"/>
          <p:nvPr/>
        </p:nvSpPr>
        <p:spPr>
          <a:xfrm>
            <a:off x="32552640" y="1549247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Four frames, as recorded</a:t>
            </a:r>
          </a:p>
        </p:txBody>
      </p:sp>
      <p:sp>
        <p:nvSpPr>
          <p:cNvPr id="60" name="Rectangle 59"/>
          <p:cNvSpPr/>
          <p:nvPr/>
        </p:nvSpPr>
        <p:spPr>
          <a:xfrm>
            <a:off x="32552640" y="1605381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l_robots.png"/>
          <p:cNvPicPr>
            <a:picLocks noChangeAspect="1"/>
          </p:cNvPicPr>
          <p:nvPr/>
        </p:nvPicPr>
        <p:blipFill>
          <a:blip r:embed="rId4"/>
          <a:stretch>
            <a:fillRect/>
          </a:stretch>
        </p:blipFill>
        <p:spPr>
          <a:xfrm>
            <a:off x="32552640" y="16382999"/>
            <a:ext cx="10607040" cy="2377440"/>
          </a:xfrm>
          <a:prstGeom prst="rect">
            <a:avLst/>
          </a:prstGeom>
        </p:spPr>
      </p:pic>
      <p:sp>
        <p:nvSpPr>
          <p:cNvPr id="62" name="TextBox 61"/>
          <p:cNvSpPr txBox="1"/>
          <p:nvPr/>
        </p:nvSpPr>
        <p:spPr>
          <a:xfrm>
            <a:off x="32552640" y="18870168"/>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4.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63" name="TextBox 62"/>
          <p:cNvSpPr txBox="1"/>
          <p:nvPr/>
        </p:nvSpPr>
        <p:spPr>
          <a:xfrm>
            <a:off x="32552640" y="2014016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Nothing here is enhanced and nothing is labelled. The rectangle in the cart's down camera is a fixed work-zone overlay: it sits at the same pixels on frames with no vegetation in them at all.</a:t>
            </a:r>
          </a:p>
        </p:txBody>
      </p:sp>
      <p:sp>
        <p:nvSpPr>
          <p:cNvPr id="64" name="TextBox 63"/>
          <p:cNvSpPr txBox="1"/>
          <p:nvPr/>
        </p:nvSpPr>
        <p:spPr>
          <a:xfrm>
            <a:off x="32552640" y="2163165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Only one robot has the button</a:t>
            </a:r>
          </a:p>
        </p:txBody>
      </p:sp>
      <p:sp>
        <p:nvSpPr>
          <p:cNvPr id="65" name="Rectangle 64"/>
          <p:cNvSpPr/>
          <p:nvPr/>
        </p:nvSpPr>
        <p:spPr>
          <a:xfrm>
            <a:off x="32552640" y="2219299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552640" y="2252218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67" name="TextBox 66"/>
          <p:cNvSpPr txBox="1"/>
          <p:nvPr/>
        </p:nvSpPr>
        <p:spPr>
          <a:xfrm>
            <a:off x="32552640" y="2432354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Which decisions a model makes</a:t>
            </a:r>
          </a:p>
        </p:txBody>
      </p:sp>
      <p:sp>
        <p:nvSpPr>
          <p:cNvPr id="68" name="Rectangle 67"/>
          <p:cNvSpPr/>
          <p:nvPr/>
        </p:nvSpPr>
        <p:spPr>
          <a:xfrm>
            <a:off x="32552640" y="2488488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552640" y="2521407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70" name="TextBox 69"/>
          <p:cNvSpPr txBox="1"/>
          <p:nvPr/>
        </p:nvSpPr>
        <p:spPr>
          <a:xfrm>
            <a:off x="32552640" y="2732532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Any research field is a project</a:t>
            </a:r>
          </a:p>
        </p:txBody>
      </p:sp>
      <p:sp>
        <p:nvSpPr>
          <p:cNvPr id="71" name="Rectangle 70"/>
          <p:cNvSpPr/>
          <p:nvPr/>
        </p:nvSpPr>
        <p:spPr>
          <a:xfrm>
            <a:off x="32552640" y="2788666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552640" y="2821584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73" name="Rectangle 72"/>
          <p:cNvSpPr/>
          <p:nvPr/>
        </p:nvSpPr>
        <p:spPr>
          <a:xfrm>
            <a:off x="731520" y="30632400"/>
            <a:ext cx="42428160" cy="20116"/>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75" name="TextBox 74"/>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76" name="TextBox 75"/>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