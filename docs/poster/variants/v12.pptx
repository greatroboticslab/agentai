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8000" b="1">
                <a:solidFill>
                  <a:srgbClr val="111111"/>
                </a:solidFill>
                <a:latin typeface="Georgia"/>
              </a:rPr>
              <a:t>agentAI: A Research-Data Platform for Physical and Embodied Agents</a:t>
            </a:r>
          </a:p>
        </p:txBody>
      </p:sp>
      <p:sp>
        <p:nvSpPr>
          <p:cNvPr id="4" name="Rectangle 3"/>
          <p:cNvSpPr/>
          <p:nvPr/>
        </p:nvSpPr>
        <p:spPr>
          <a:xfrm>
            <a:off x="731520" y="2103120"/>
            <a:ext cx="41574720" cy="146304"/>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468880"/>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111111"/>
                </a:solidFill>
                <a:latin typeface="Arial"/>
              </a:rPr>
              <a:t>Harry He   ·   Hongbo Zhang</a:t>
            </a:r>
          </a:p>
        </p:txBody>
      </p:sp>
      <p:sp>
        <p:nvSpPr>
          <p:cNvPr id="6" name="TextBox 5"/>
          <p:cNvSpPr txBox="1"/>
          <p:nvPr/>
        </p:nvSpPr>
        <p:spPr>
          <a:xfrm>
            <a:off x="731520" y="3108960"/>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5B5B5B"/>
                </a:solidFill>
                <a:latin typeface="Arial"/>
              </a:rPr>
              <a:t>Department of Engineering Technology   ·   Middle Tennessee State University, Murfreesboro, TN, USA</a:t>
            </a: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400" b="0">
                <a:solidFill>
                  <a:srgbClr val="111111"/>
                </a:solidFill>
                <a:latin typeface="Georgia"/>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pic>
        <p:nvPicPr>
          <p:cNvPr id="8" name="Picture 7" descr="n_system.png"/>
          <p:cNvPicPr>
            <a:picLocks noChangeAspect="1"/>
          </p:cNvPicPr>
          <p:nvPr/>
        </p:nvPicPr>
        <p:blipFill>
          <a:blip r:embed="rId2"/>
          <a:stretch>
            <a:fillRect/>
          </a:stretch>
        </p:blipFill>
        <p:spPr>
          <a:xfrm>
            <a:off x="11704320" y="5820663"/>
            <a:ext cx="20482560" cy="3383280"/>
          </a:xfrm>
          <a:prstGeom prst="rect">
            <a:avLst/>
          </a:prstGeom>
        </p:spPr>
      </p:pic>
      <p:sp>
        <p:nvSpPr>
          <p:cNvPr id="9" name="TextBox 8"/>
          <p:cNvSpPr txBox="1"/>
          <p:nvPr/>
        </p:nvSpPr>
        <p:spPr>
          <a:xfrm>
            <a:off x="11704320" y="9313671"/>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B5B5B"/>
                </a:solidFill>
                <a:latin typeface="Arial"/>
              </a:rPr>
              <a:t>Figure 1.  The path as built, from a camera in a crop row to a checkpoint on the cluster. Every stage has run. Three qualifications ride on it. The collector and trainer are paused after a stop-loss on 2026-08-29. The supervisor is advisory and nothing it says is applied. And the last link is not closed: no robot frame has entered training, because none of them is labelled yet.</a:t>
            </a:r>
          </a:p>
        </p:txBody>
      </p:sp>
      <p:sp>
        <p:nvSpPr>
          <p:cNvPr id="10" name="TextBox 9"/>
          <p:cNvSpPr txBox="1"/>
          <p:nvPr/>
        </p:nvSpPr>
        <p:spPr>
          <a:xfrm>
            <a:off x="731520" y="10433303"/>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Georgia"/>
              </a:rPr>
              <a:t>One platform for every robot the lab owns</a:t>
            </a:r>
          </a:p>
        </p:txBody>
      </p:sp>
      <p:sp>
        <p:nvSpPr>
          <p:cNvPr id="11" name="Rectangle 10"/>
          <p:cNvSpPr/>
          <p:nvPr/>
        </p:nvSpPr>
        <p:spPr>
          <a:xfrm>
            <a:off x="731520" y="10994643"/>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132382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13" name="TextBox 12"/>
          <p:cNvSpPr txBox="1"/>
          <p:nvPr/>
        </p:nvSpPr>
        <p:spPr>
          <a:xfrm>
            <a:off x="731520" y="13435075"/>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B5502A"/>
                </a:solidFill>
                <a:latin typeface="Georgia"/>
              </a:rPr>
              <a:t>1,389</a:t>
            </a:r>
          </a:p>
        </p:txBody>
      </p:sp>
      <p:sp>
        <p:nvSpPr>
          <p:cNvPr id="14" name="TextBox 13"/>
          <p:cNvSpPr txBox="1"/>
          <p:nvPr/>
        </p:nvSpPr>
        <p:spPr>
          <a:xfrm>
            <a:off x="731520" y="14238223"/>
            <a:ext cx="10607040" cy="365760"/>
          </a:xfrm>
          <a:prstGeom prst="rect">
            <a:avLst/>
          </a:prstGeom>
          <a:noFill/>
        </p:spPr>
        <p:txBody>
          <a:bodyPr wrap="square" lIns="0" rIns="0" tIns="0" bIns="0">
            <a:spAutoFit/>
          </a:bodyPr>
          <a:lstStyle/>
          <a:p>
            <a:pPr algn="l">
              <a:lnSpc>
                <a:spcPct val="122000"/>
              </a:lnSpc>
              <a:spcAft>
                <a:spcPts val="600"/>
              </a:spcAft>
            </a:pPr>
            <a:r>
              <a:rPr sz="1600" b="0">
                <a:solidFill>
                  <a:srgbClr val="5B5B5B"/>
                </a:solidFill>
                <a:latin typeface="Arial"/>
              </a:rPr>
              <a:t>joystick commands through the platform</a:t>
            </a:r>
          </a:p>
        </p:txBody>
      </p:sp>
      <p:sp>
        <p:nvSpPr>
          <p:cNvPr id="15" name="TextBox 14"/>
          <p:cNvSpPr txBox="1"/>
          <p:nvPr/>
        </p:nvSpPr>
        <p:spPr>
          <a:xfrm>
            <a:off x="731520" y="1470863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Georgia"/>
              </a:rPr>
              <a:t>Driving a robot from a browser</a:t>
            </a:r>
          </a:p>
        </p:txBody>
      </p:sp>
      <p:sp>
        <p:nvSpPr>
          <p:cNvPr id="16" name="Rectangle 15"/>
          <p:cNvSpPr/>
          <p:nvPr/>
        </p:nvSpPr>
        <p:spPr>
          <a:xfrm>
            <a:off x="731520" y="15269972"/>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1559915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18" name="TextBox 17"/>
          <p:cNvSpPr txBox="1"/>
          <p:nvPr/>
        </p:nvSpPr>
        <p:spPr>
          <a:xfrm>
            <a:off x="731520" y="17710404"/>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Georgia"/>
              </a:rPr>
              <a:t>On disk today</a:t>
            </a:r>
          </a:p>
        </p:txBody>
      </p:sp>
      <p:sp>
        <p:nvSpPr>
          <p:cNvPr id="19" name="Rectangle 18"/>
          <p:cNvSpPr/>
          <p:nvPr/>
        </p:nvSpPr>
        <p:spPr>
          <a:xfrm>
            <a:off x="731520" y="18271744"/>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18600928"/>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Two robots have put 2,686 camera frames and 91,955 telemetry rows across nine streams onto the platform, over 26 drives, with 342 m of GPS track from 1,502 fixes. None of the frames is labelled.</a:t>
            </a:r>
          </a:p>
        </p:txBody>
      </p:sp>
      <p:sp>
        <p:nvSpPr>
          <p:cNvPr id="21" name="TextBox 20"/>
          <p:cNvSpPr txBox="1"/>
          <p:nvPr/>
        </p:nvSpPr>
        <p:spPr>
          <a:xfrm>
            <a:off x="731520" y="20092416"/>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B5502A"/>
                </a:solidFill>
                <a:latin typeface="Georgia"/>
              </a:rPr>
              <a:t>92</a:t>
            </a:r>
          </a:p>
        </p:txBody>
      </p:sp>
      <p:sp>
        <p:nvSpPr>
          <p:cNvPr id="22" name="TextBox 21"/>
          <p:cNvSpPr txBox="1"/>
          <p:nvPr/>
        </p:nvSpPr>
        <p:spPr>
          <a:xfrm>
            <a:off x="731520" y="20895564"/>
            <a:ext cx="10607040" cy="365760"/>
          </a:xfrm>
          <a:prstGeom prst="rect">
            <a:avLst/>
          </a:prstGeom>
          <a:noFill/>
        </p:spPr>
        <p:txBody>
          <a:bodyPr wrap="square" lIns="0" rIns="0" tIns="0" bIns="0">
            <a:spAutoFit/>
          </a:bodyPr>
          <a:lstStyle/>
          <a:p>
            <a:pPr algn="l">
              <a:lnSpc>
                <a:spcPct val="122000"/>
              </a:lnSpc>
              <a:spcAft>
                <a:spcPts val="600"/>
              </a:spcAft>
            </a:pPr>
            <a:r>
              <a:rPr sz="1600" b="0">
                <a:solidFill>
                  <a:srgbClr val="5B5B5B"/>
                </a:solidFill>
                <a:latin typeface="Arial"/>
              </a:rPr>
              <a:t>questions asked of a dataset so far</a:t>
            </a:r>
          </a:p>
        </p:txBody>
      </p:sp>
      <p:sp>
        <p:nvSpPr>
          <p:cNvPr id="23" name="TextBox 22"/>
          <p:cNvSpPr txBox="1"/>
          <p:nvPr/>
        </p:nvSpPr>
        <p:spPr>
          <a:xfrm>
            <a:off x="731520" y="2136597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Georgia"/>
              </a:rPr>
              <a:t>Asked something it had never seen</a:t>
            </a:r>
          </a:p>
        </p:txBody>
      </p:sp>
      <p:sp>
        <p:nvSpPr>
          <p:cNvPr id="24" name="Rectangle 23"/>
          <p:cNvSpPr/>
          <p:nvPr/>
        </p:nvSpPr>
        <p:spPr>
          <a:xfrm>
            <a:off x="731520" y="21927312"/>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225649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26" name="TextBox 25"/>
          <p:cNvSpPr txBox="1"/>
          <p:nvPr/>
        </p:nvSpPr>
        <p:spPr>
          <a:xfrm>
            <a:off x="731520" y="24057864"/>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Georgia"/>
              </a:rPr>
              <a:t>More web data, less accuracy</a:t>
            </a:r>
          </a:p>
        </p:txBody>
      </p:sp>
      <p:sp>
        <p:nvSpPr>
          <p:cNvPr id="27" name="Rectangle 26"/>
          <p:cNvSpPr/>
          <p:nvPr/>
        </p:nvSpPr>
        <p:spPr>
          <a:xfrm>
            <a:off x="731520" y="24619204"/>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24948388"/>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29" name="TextBox 28"/>
          <p:cNvSpPr txBox="1"/>
          <p:nvPr/>
        </p:nvSpPr>
        <p:spPr>
          <a:xfrm>
            <a:off x="731520" y="26749756"/>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Georgia"/>
              </a:rPr>
              <a:t>Adding the next robot</a:t>
            </a:r>
          </a:p>
        </p:txBody>
      </p:sp>
      <p:sp>
        <p:nvSpPr>
          <p:cNvPr id="30" name="Rectangle 29"/>
          <p:cNvSpPr/>
          <p:nvPr/>
        </p:nvSpPr>
        <p:spPr>
          <a:xfrm>
            <a:off x="731520" y="27311096"/>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27640280"/>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 new robot needs a project, an API key and a session start. The ingest contract is the same for every vehicle: open a session, post sensor batches and frames while driving, stop. The platform does not care what the robot is. Empty projects for a mobile robot and a humanoid already sit on it, waiting for a first upload.</a:t>
            </a:r>
          </a:p>
        </p:txBody>
      </p:sp>
      <p:sp>
        <p:nvSpPr>
          <p:cNvPr id="32" name="TextBox 31"/>
          <p:cNvSpPr txBox="1"/>
          <p:nvPr/>
        </p:nvSpPr>
        <p:spPr>
          <a:xfrm>
            <a:off x="11704320" y="10433303"/>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Georgia"/>
              </a:rPr>
              <a:t>Robots on the platform today</a:t>
            </a:r>
          </a:p>
        </p:txBody>
      </p:sp>
      <p:sp>
        <p:nvSpPr>
          <p:cNvPr id="33" name="Rectangle 32"/>
          <p:cNvSpPr/>
          <p:nvPr/>
        </p:nvSpPr>
        <p:spPr>
          <a:xfrm>
            <a:off x="11704320" y="10994643"/>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704320" y="11323827"/>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35" name="TextBox 34"/>
          <p:cNvSpPr txBox="1"/>
          <p:nvPr/>
        </p:nvSpPr>
        <p:spPr>
          <a:xfrm>
            <a:off x="11704320" y="12815315"/>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B5502A"/>
                </a:solidFill>
                <a:latin typeface="Georgia"/>
              </a:rPr>
              <a:t>14</a:t>
            </a:r>
          </a:p>
        </p:txBody>
      </p:sp>
      <p:sp>
        <p:nvSpPr>
          <p:cNvPr id="36" name="TextBox 35"/>
          <p:cNvSpPr txBox="1"/>
          <p:nvPr/>
        </p:nvSpPr>
        <p:spPr>
          <a:xfrm>
            <a:off x="11704320" y="13618463"/>
            <a:ext cx="20482560" cy="365760"/>
          </a:xfrm>
          <a:prstGeom prst="rect">
            <a:avLst/>
          </a:prstGeom>
          <a:noFill/>
        </p:spPr>
        <p:txBody>
          <a:bodyPr wrap="square" lIns="0" rIns="0" tIns="0" bIns="0">
            <a:spAutoFit/>
          </a:bodyPr>
          <a:lstStyle/>
          <a:p>
            <a:pPr algn="l">
              <a:lnSpc>
                <a:spcPct val="122000"/>
              </a:lnSpc>
              <a:spcAft>
                <a:spcPts val="600"/>
              </a:spcAft>
            </a:pPr>
            <a:r>
              <a:rPr sz="1600" b="0">
                <a:solidFill>
                  <a:srgbClr val="5B5B5B"/>
                </a:solidFill>
                <a:latin typeface="Arial"/>
              </a:rPr>
              <a:t>analysis tools the planner can choose from</a:t>
            </a:r>
          </a:p>
        </p:txBody>
      </p:sp>
      <p:sp>
        <p:nvSpPr>
          <p:cNvPr id="37" name="TextBox 36"/>
          <p:cNvSpPr txBox="1"/>
          <p:nvPr/>
        </p:nvSpPr>
        <p:spPr>
          <a:xfrm>
            <a:off x="11704320" y="14088871"/>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Georgia"/>
              </a:rPr>
              <a:t>Ask a dataset what it is good for</a:t>
            </a:r>
          </a:p>
        </p:txBody>
      </p:sp>
      <p:sp>
        <p:nvSpPr>
          <p:cNvPr id="38" name="Rectangle 37"/>
          <p:cNvSpPr/>
          <p:nvPr/>
        </p:nvSpPr>
        <p:spPr>
          <a:xfrm>
            <a:off x="11704320" y="14650211"/>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704320" y="14979395"/>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40" name="TextBox 39"/>
          <p:cNvSpPr txBox="1"/>
          <p:nvPr/>
        </p:nvSpPr>
        <p:spPr>
          <a:xfrm>
            <a:off x="11704320" y="16161004"/>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Georgia"/>
              </a:rPr>
              <a:t>Left alone for fifteen rounds</a:t>
            </a:r>
          </a:p>
        </p:txBody>
      </p:sp>
      <p:sp>
        <p:nvSpPr>
          <p:cNvPr id="41" name="Rectangle 40"/>
          <p:cNvSpPr/>
          <p:nvPr/>
        </p:nvSpPr>
        <p:spPr>
          <a:xfrm>
            <a:off x="11704320" y="16722343"/>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f_rounds.png"/>
          <p:cNvPicPr>
            <a:picLocks noChangeAspect="1"/>
          </p:cNvPicPr>
          <p:nvPr/>
        </p:nvPicPr>
        <p:blipFill>
          <a:blip r:embed="rId3"/>
          <a:stretch>
            <a:fillRect/>
          </a:stretch>
        </p:blipFill>
        <p:spPr>
          <a:xfrm>
            <a:off x="11704320" y="17051528"/>
            <a:ext cx="20482560" cy="4663440"/>
          </a:xfrm>
          <a:prstGeom prst="rect">
            <a:avLst/>
          </a:prstGeom>
        </p:spPr>
      </p:pic>
      <p:sp>
        <p:nvSpPr>
          <p:cNvPr id="43" name="TextBox 42"/>
          <p:cNvSpPr txBox="1"/>
          <p:nvPr/>
        </p:nvSpPr>
        <p:spPr>
          <a:xfrm>
            <a:off x="11704320" y="21824696"/>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B5B5B"/>
                </a:solidFill>
                <a:latin typeface="Arial"/>
              </a:rPr>
              <a:t>Figure 3.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44" name="TextBox 43"/>
          <p:cNvSpPr txBox="1"/>
          <p:nvPr/>
        </p:nvSpPr>
        <p:spPr>
          <a:xfrm>
            <a:off x="11704320" y="22854920"/>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45" name="TextBox 44"/>
          <p:cNvSpPr txBox="1"/>
          <p:nvPr/>
        </p:nvSpPr>
        <p:spPr>
          <a:xfrm>
            <a:off x="32552640" y="10433303"/>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Georgia"/>
              </a:rPr>
              <a:t>A drive becomes a dataset as it opens</a:t>
            </a:r>
          </a:p>
        </p:txBody>
      </p:sp>
      <p:sp>
        <p:nvSpPr>
          <p:cNvPr id="46" name="Rectangle 45"/>
          <p:cNvSpPr/>
          <p:nvPr/>
        </p:nvSpPr>
        <p:spPr>
          <a:xfrm>
            <a:off x="32552640" y="10994643"/>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552640" y="1132382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48" name="TextBox 47"/>
          <p:cNvSpPr txBox="1"/>
          <p:nvPr/>
        </p:nvSpPr>
        <p:spPr>
          <a:xfrm>
            <a:off x="32552640" y="13125195"/>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Georgia"/>
              </a:rPr>
              <a:t>Four frames, as recorded</a:t>
            </a:r>
          </a:p>
        </p:txBody>
      </p:sp>
      <p:sp>
        <p:nvSpPr>
          <p:cNvPr id="49" name="Rectangle 48"/>
          <p:cNvSpPr/>
          <p:nvPr/>
        </p:nvSpPr>
        <p:spPr>
          <a:xfrm>
            <a:off x="32552640" y="13686535"/>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l_robots.png"/>
          <p:cNvPicPr>
            <a:picLocks noChangeAspect="1"/>
          </p:cNvPicPr>
          <p:nvPr/>
        </p:nvPicPr>
        <p:blipFill>
          <a:blip r:embed="rId4"/>
          <a:stretch>
            <a:fillRect/>
          </a:stretch>
        </p:blipFill>
        <p:spPr>
          <a:xfrm>
            <a:off x="32552640" y="14015719"/>
            <a:ext cx="10607040" cy="2377440"/>
          </a:xfrm>
          <a:prstGeom prst="rect">
            <a:avLst/>
          </a:prstGeom>
        </p:spPr>
      </p:pic>
      <p:sp>
        <p:nvSpPr>
          <p:cNvPr id="51" name="TextBox 50"/>
          <p:cNvSpPr txBox="1"/>
          <p:nvPr/>
        </p:nvSpPr>
        <p:spPr>
          <a:xfrm>
            <a:off x="32552640" y="16502888"/>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B5B5B"/>
                </a:solidFill>
                <a:latin typeface="Arial"/>
              </a:rPr>
              <a:t>Figure 4.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52" name="TextBox 51"/>
          <p:cNvSpPr txBox="1"/>
          <p:nvPr/>
        </p:nvSpPr>
        <p:spPr>
          <a:xfrm>
            <a:off x="32552640" y="17772888"/>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Nothing here is enhanced and nothing is labelled. The rectangle in the cart's down camera is a fixed work-zone overlay: it sits at the same pixels on frames with no vegetation in them at all.</a:t>
            </a:r>
          </a:p>
        </p:txBody>
      </p:sp>
      <p:sp>
        <p:nvSpPr>
          <p:cNvPr id="53" name="TextBox 52"/>
          <p:cNvSpPr txBox="1"/>
          <p:nvPr/>
        </p:nvSpPr>
        <p:spPr>
          <a:xfrm>
            <a:off x="32552640" y="19264376"/>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Georgia"/>
              </a:rPr>
              <a:t>Only one robot has the button</a:t>
            </a:r>
          </a:p>
        </p:txBody>
      </p:sp>
      <p:sp>
        <p:nvSpPr>
          <p:cNvPr id="54" name="Rectangle 53"/>
          <p:cNvSpPr/>
          <p:nvPr/>
        </p:nvSpPr>
        <p:spPr>
          <a:xfrm>
            <a:off x="32552640" y="19825716"/>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2552640" y="20154900"/>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56" name="TextBox 55"/>
          <p:cNvSpPr txBox="1"/>
          <p:nvPr/>
        </p:nvSpPr>
        <p:spPr>
          <a:xfrm>
            <a:off x="32552640" y="21956268"/>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Georgia"/>
              </a:rPr>
              <a:t>Which decisions a model makes</a:t>
            </a:r>
          </a:p>
        </p:txBody>
      </p:sp>
      <p:sp>
        <p:nvSpPr>
          <p:cNvPr id="57" name="Rectangle 56"/>
          <p:cNvSpPr/>
          <p:nvPr/>
        </p:nvSpPr>
        <p:spPr>
          <a:xfrm>
            <a:off x="32552640" y="22517608"/>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2552640" y="22846792"/>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59" name="TextBox 58"/>
          <p:cNvSpPr txBox="1"/>
          <p:nvPr/>
        </p:nvSpPr>
        <p:spPr>
          <a:xfrm>
            <a:off x="32552640" y="2495804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Georgia"/>
              </a:rPr>
              <a:t>Any research field is a project</a:t>
            </a:r>
          </a:p>
        </p:txBody>
      </p:sp>
      <p:sp>
        <p:nvSpPr>
          <p:cNvPr id="60" name="Rectangle 59"/>
          <p:cNvSpPr/>
          <p:nvPr/>
        </p:nvSpPr>
        <p:spPr>
          <a:xfrm>
            <a:off x="32552640" y="25519380"/>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552640" y="25848564"/>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 lab member opens a project for any data type and any field, uploads images, video or sensor logs, and gets an automatic diagnosis before choosing what to do next. Weed detection is one project on this platform. The 241 rover, the laser cart and a Unitree humanoid each have their own.</a:t>
            </a:r>
          </a:p>
        </p:txBody>
      </p:sp>
      <p:sp>
        <p:nvSpPr>
          <p:cNvPr id="62" name="Rectangle 61"/>
          <p:cNvSpPr/>
          <p:nvPr/>
        </p:nvSpPr>
        <p:spPr>
          <a:xfrm>
            <a:off x="731520" y="30632400"/>
            <a:ext cx="42428160" cy="20116"/>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B5B5B"/>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64" name="TextBox 63"/>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B5B5B"/>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65" name="TextBox 64"/>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B5B5B"/>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