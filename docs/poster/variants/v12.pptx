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42428160" cy="365760"/>
          </a:xfrm>
          <a:prstGeom prst="rect">
            <a:avLst/>
          </a:prstGeom>
          <a:noFill/>
        </p:spPr>
        <p:txBody>
          <a:bodyPr wrap="square" lIns="0" rIns="0" tIns="0" bIns="0">
            <a:spAutoFit/>
          </a:bodyPr>
          <a:lstStyle/>
          <a:p>
            <a:pPr algn="l">
              <a:lnSpc>
                <a:spcPct val="95000"/>
              </a:lnSpc>
              <a:spcAft>
                <a:spcPts val="0"/>
              </a:spcAft>
            </a:pPr>
            <a:r>
              <a:rPr sz="8000" b="1">
                <a:solidFill>
                  <a:srgbClr val="111111"/>
                </a:solidFill>
                <a:latin typeface="Georgia"/>
              </a:rPr>
              <a:t>agentAI: A Research-Data Platform for Physical and Embodied Agents</a:t>
            </a:r>
          </a:p>
        </p:txBody>
      </p:sp>
      <p:sp>
        <p:nvSpPr>
          <p:cNvPr id="4" name="Rectangle 3"/>
          <p:cNvSpPr/>
          <p:nvPr/>
        </p:nvSpPr>
        <p:spPr>
          <a:xfrm>
            <a:off x="731520" y="2103120"/>
            <a:ext cx="41574720" cy="146304"/>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468880"/>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111111"/>
                </a:solidFill>
                <a:latin typeface="Arial"/>
              </a:rPr>
              <a:t>Harry He   ·   Hongbo Zhang</a:t>
            </a:r>
          </a:p>
        </p:txBody>
      </p:sp>
      <p:sp>
        <p:nvSpPr>
          <p:cNvPr id="6" name="TextBox 5"/>
          <p:cNvSpPr txBox="1"/>
          <p:nvPr/>
        </p:nvSpPr>
        <p:spPr>
          <a:xfrm>
            <a:off x="731520" y="3108960"/>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5B5B5B"/>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400" b="0">
                <a:solidFill>
                  <a:srgbClr val="111111"/>
                </a:solidFill>
                <a:latin typeface="Georgia"/>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pic>
        <p:nvPicPr>
          <p:cNvPr id="8" name="Picture 7" descr="n_system.png"/>
          <p:cNvPicPr>
            <a:picLocks noChangeAspect="1"/>
          </p:cNvPicPr>
          <p:nvPr/>
        </p:nvPicPr>
        <p:blipFill>
          <a:blip r:embed="rId2"/>
          <a:stretch>
            <a:fillRect/>
          </a:stretch>
        </p:blipFill>
        <p:spPr>
          <a:xfrm>
            <a:off x="11704320" y="5820663"/>
            <a:ext cx="20482560" cy="3383280"/>
          </a:xfrm>
          <a:prstGeom prst="rect">
            <a:avLst/>
          </a:prstGeom>
        </p:spPr>
      </p:pic>
      <p:sp>
        <p:nvSpPr>
          <p:cNvPr id="9" name="TextBox 8"/>
          <p:cNvSpPr txBox="1"/>
          <p:nvPr/>
        </p:nvSpPr>
        <p:spPr>
          <a:xfrm>
            <a:off x="11704320" y="9313671"/>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B5B5B"/>
                </a:solidFill>
                <a:latin typeface="Arial"/>
              </a:rPr>
              <a:t>Figure 1.  The path as built, from a camera in a crop row to a checkpoint on the cluster. Every stage has run. Three qualifications ride on it. The collector and trainer are paused after a stop-loss on 2026-08-29. The supervisor is advisory and nothing it says is applied. And the last link is not closed: no robot frame has entered training, because none of them is labelled yet.</a:t>
            </a:r>
          </a:p>
        </p:txBody>
      </p:sp>
      <p:sp>
        <p:nvSpPr>
          <p:cNvPr id="10" name="TextBox 9"/>
          <p:cNvSpPr txBox="1"/>
          <p:nvPr/>
        </p:nvSpPr>
        <p:spPr>
          <a:xfrm>
            <a:off x="731520" y="1043330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Georgia"/>
              </a:rPr>
              <a:t>One platform for every robot the lab owns</a:t>
            </a:r>
          </a:p>
        </p:txBody>
      </p:sp>
      <p:sp>
        <p:nvSpPr>
          <p:cNvPr id="11" name="Rectangle 10"/>
          <p:cNvSpPr/>
          <p:nvPr/>
        </p:nvSpPr>
        <p:spPr>
          <a:xfrm>
            <a:off x="731520" y="10994643"/>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132382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13" name="TextBox 12"/>
          <p:cNvSpPr txBox="1"/>
          <p:nvPr/>
        </p:nvSpPr>
        <p:spPr>
          <a:xfrm>
            <a:off x="731520" y="13435075"/>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Georgia"/>
              </a:rPr>
              <a:t>Driving a robot from a browser</a:t>
            </a:r>
          </a:p>
        </p:txBody>
      </p:sp>
      <p:sp>
        <p:nvSpPr>
          <p:cNvPr id="14" name="Rectangle 13"/>
          <p:cNvSpPr/>
          <p:nvPr/>
        </p:nvSpPr>
        <p:spPr>
          <a:xfrm>
            <a:off x="731520" y="13996415"/>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325599"/>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16" name="TextBox 15"/>
          <p:cNvSpPr txBox="1"/>
          <p:nvPr/>
        </p:nvSpPr>
        <p:spPr>
          <a:xfrm>
            <a:off x="731520" y="16436848"/>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Georgia"/>
              </a:rPr>
              <a:t>On disk today</a:t>
            </a:r>
          </a:p>
        </p:txBody>
      </p:sp>
      <p:sp>
        <p:nvSpPr>
          <p:cNvPr id="17" name="Rectangle 16"/>
          <p:cNvSpPr/>
          <p:nvPr/>
        </p:nvSpPr>
        <p:spPr>
          <a:xfrm>
            <a:off x="731520" y="16998188"/>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17327372"/>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Two robots have put 2,686 camera frames and 91,955 telemetry rows across nine streams onto the platform, over 26 drives, with 342 m of GPS track from 1,502 fixes. None of the frames is labelled.</a:t>
            </a:r>
          </a:p>
        </p:txBody>
      </p:sp>
      <p:sp>
        <p:nvSpPr>
          <p:cNvPr id="19" name="TextBox 18"/>
          <p:cNvSpPr txBox="1"/>
          <p:nvPr/>
        </p:nvSpPr>
        <p:spPr>
          <a:xfrm>
            <a:off x="731520" y="1881886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Georgia"/>
              </a:rPr>
              <a:t>Asked something it had never seen</a:t>
            </a:r>
          </a:p>
        </p:txBody>
      </p:sp>
      <p:sp>
        <p:nvSpPr>
          <p:cNvPr id="20" name="Rectangle 19"/>
          <p:cNvSpPr/>
          <p:nvPr/>
        </p:nvSpPr>
        <p:spPr>
          <a:xfrm>
            <a:off x="731520" y="19380200"/>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19709384"/>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22" name="TextBox 21"/>
          <p:cNvSpPr txBox="1"/>
          <p:nvPr/>
        </p:nvSpPr>
        <p:spPr>
          <a:xfrm>
            <a:off x="731520" y="2151075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Georgia"/>
              </a:rPr>
              <a:t>More web data, less accuracy</a:t>
            </a:r>
          </a:p>
        </p:txBody>
      </p:sp>
      <p:sp>
        <p:nvSpPr>
          <p:cNvPr id="23" name="Rectangle 22"/>
          <p:cNvSpPr/>
          <p:nvPr/>
        </p:nvSpPr>
        <p:spPr>
          <a:xfrm>
            <a:off x="731520" y="22072092"/>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2240127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25" name="TextBox 24"/>
          <p:cNvSpPr txBox="1"/>
          <p:nvPr/>
        </p:nvSpPr>
        <p:spPr>
          <a:xfrm>
            <a:off x="731520" y="24202644"/>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Georgia"/>
              </a:rPr>
              <a:t>Adding the next robot</a:t>
            </a:r>
          </a:p>
        </p:txBody>
      </p:sp>
      <p:sp>
        <p:nvSpPr>
          <p:cNvPr id="26" name="Rectangle 25"/>
          <p:cNvSpPr/>
          <p:nvPr/>
        </p:nvSpPr>
        <p:spPr>
          <a:xfrm>
            <a:off x="731520" y="24763984"/>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25093168"/>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 new robot needs a project, an API key and a session start. The ingest contract is the same for every vehicle: start a session, post sensor batches and frames while driving, stop. The platform does not care what the robot is. The Unitree humanoid's project exists on this basis and is waiting on its first upload.</a:t>
            </a:r>
          </a:p>
        </p:txBody>
      </p:sp>
      <p:sp>
        <p:nvSpPr>
          <p:cNvPr id="28" name="TextBox 27"/>
          <p:cNvSpPr txBox="1"/>
          <p:nvPr/>
        </p:nvSpPr>
        <p:spPr>
          <a:xfrm>
            <a:off x="731520" y="26894536"/>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Georgia"/>
              </a:rPr>
              <a:t>Code the agent writes runs fenced in</a:t>
            </a:r>
          </a:p>
        </p:txBody>
      </p:sp>
      <p:sp>
        <p:nvSpPr>
          <p:cNvPr id="29" name="Rectangle 28"/>
          <p:cNvSpPr/>
          <p:nvPr/>
        </p:nvSpPr>
        <p:spPr>
          <a:xfrm>
            <a:off x="731520" y="27455876"/>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27785060"/>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Generated code passes an import whitelist and an AST check before it runs, with no network and no file writes, 15 seconds of CPU, 1.5 GB of memory and a 25 second wall clock. A user can edit the agent's code or paste their own and re-run it in the same fence.</a:t>
            </a:r>
          </a:p>
        </p:txBody>
      </p:sp>
      <p:sp>
        <p:nvSpPr>
          <p:cNvPr id="31" name="TextBox 30"/>
          <p:cNvSpPr txBox="1"/>
          <p:nvPr/>
        </p:nvSpPr>
        <p:spPr>
          <a:xfrm>
            <a:off x="11704320" y="10433303"/>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Georgia"/>
              </a:rPr>
              <a:t>Robots on the platform today</a:t>
            </a:r>
          </a:p>
        </p:txBody>
      </p:sp>
      <p:sp>
        <p:nvSpPr>
          <p:cNvPr id="32" name="Rectangle 31"/>
          <p:cNvSpPr/>
          <p:nvPr/>
        </p:nvSpPr>
        <p:spPr>
          <a:xfrm>
            <a:off x="11704320" y="10994643"/>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704320" y="11323827"/>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34" name="TextBox 33"/>
          <p:cNvSpPr txBox="1"/>
          <p:nvPr/>
        </p:nvSpPr>
        <p:spPr>
          <a:xfrm>
            <a:off x="11704320" y="12815315"/>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Georgia"/>
              </a:rPr>
              <a:t>Ask a dataset what it is good for</a:t>
            </a:r>
          </a:p>
        </p:txBody>
      </p:sp>
      <p:sp>
        <p:nvSpPr>
          <p:cNvPr id="35" name="Rectangle 34"/>
          <p:cNvSpPr/>
          <p:nvPr/>
        </p:nvSpPr>
        <p:spPr>
          <a:xfrm>
            <a:off x="11704320" y="13376655"/>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704320" y="13705839"/>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37" name="TextBox 36"/>
          <p:cNvSpPr txBox="1"/>
          <p:nvPr/>
        </p:nvSpPr>
        <p:spPr>
          <a:xfrm>
            <a:off x="11704320" y="14887447"/>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Georgia"/>
              </a:rPr>
              <a:t>Left alone for fifteen rounds</a:t>
            </a:r>
          </a:p>
        </p:txBody>
      </p:sp>
      <p:sp>
        <p:nvSpPr>
          <p:cNvPr id="38" name="Rectangle 37"/>
          <p:cNvSpPr/>
          <p:nvPr/>
        </p:nvSpPr>
        <p:spPr>
          <a:xfrm>
            <a:off x="11704320" y="15448787"/>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f_rounds.png"/>
          <p:cNvPicPr>
            <a:picLocks noChangeAspect="1"/>
          </p:cNvPicPr>
          <p:nvPr/>
        </p:nvPicPr>
        <p:blipFill>
          <a:blip r:embed="rId3"/>
          <a:stretch>
            <a:fillRect/>
          </a:stretch>
        </p:blipFill>
        <p:spPr>
          <a:xfrm>
            <a:off x="11704320" y="15777971"/>
            <a:ext cx="20482560" cy="4663440"/>
          </a:xfrm>
          <a:prstGeom prst="rect">
            <a:avLst/>
          </a:prstGeom>
        </p:spPr>
      </p:pic>
      <p:sp>
        <p:nvSpPr>
          <p:cNvPr id="40" name="TextBox 39"/>
          <p:cNvSpPr txBox="1"/>
          <p:nvPr/>
        </p:nvSpPr>
        <p:spPr>
          <a:xfrm>
            <a:off x="11704320" y="20551139"/>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B5B5B"/>
                </a:solidFill>
                <a:latin typeface="Arial"/>
              </a:rPr>
              <a:t>Figure 3.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41" name="TextBox 40"/>
          <p:cNvSpPr txBox="1"/>
          <p:nvPr/>
        </p:nvSpPr>
        <p:spPr>
          <a:xfrm>
            <a:off x="11704320" y="21581363"/>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42" name="TextBox 41"/>
          <p:cNvSpPr txBox="1"/>
          <p:nvPr/>
        </p:nvSpPr>
        <p:spPr>
          <a:xfrm>
            <a:off x="11704320" y="23072852"/>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Georgia"/>
              </a:rPr>
              <a:t>Everything we trained, ran, or rejected</a:t>
            </a:r>
          </a:p>
        </p:txBody>
      </p:sp>
      <p:sp>
        <p:nvSpPr>
          <p:cNvPr id="43" name="Rectangle 42"/>
          <p:cNvSpPr/>
          <p:nvPr/>
        </p:nvSpPr>
        <p:spPr>
          <a:xfrm>
            <a:off x="11704320" y="23634191"/>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m_ledger.png"/>
          <p:cNvPicPr>
            <a:picLocks noChangeAspect="1"/>
          </p:cNvPicPr>
          <p:nvPr/>
        </p:nvPicPr>
        <p:blipFill>
          <a:blip r:embed="rId4"/>
          <a:stretch>
            <a:fillRect/>
          </a:stretch>
        </p:blipFill>
        <p:spPr>
          <a:xfrm>
            <a:off x="11704320" y="23963375"/>
            <a:ext cx="20482560" cy="3749040"/>
          </a:xfrm>
          <a:prstGeom prst="rect">
            <a:avLst/>
          </a:prstGeom>
        </p:spPr>
      </p:pic>
      <p:sp>
        <p:nvSpPr>
          <p:cNvPr id="45" name="TextBox 44"/>
          <p:cNvSpPr txBox="1"/>
          <p:nvPr/>
        </p:nvSpPr>
        <p:spPr>
          <a:xfrm>
            <a:off x="11704320" y="27822144"/>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B5B5B"/>
                </a:solidFill>
                <a:latin typeface="Arial"/>
              </a:rPr>
              <a:t>Figure 4.  30 rows in four families, which is 27 distinct models: OWLv2-large and Qwen2.5-7B each appear twice because each does two jobs here. One model is deployed. The zero-shot column is a single deterministic pass per model with no repeats, scored as mAP50 on the 848-image split; the reviewer column is the 149-case dev split, and two of its arms are still running. RF-DETR's score is on a third scale and is never differenced against the rows above it: the one measured offset between two of our evaluators, 0.0239, is larger than the gap on display.</a:t>
            </a:r>
          </a:p>
        </p:txBody>
      </p:sp>
      <p:sp>
        <p:nvSpPr>
          <p:cNvPr id="46" name="TextBox 45"/>
          <p:cNvSpPr txBox="1"/>
          <p:nvPr/>
        </p:nvSpPr>
        <p:spPr>
          <a:xfrm>
            <a:off x="11704320" y="28852367"/>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Thirty rows in four families, which is 27 distinct models. Five detectors trained on our own holdout, two vision models inside the loop, fourteen vision-language models zero-shot, and nine language models as reviewers. One is deployed.</a:t>
            </a:r>
          </a:p>
        </p:txBody>
      </p:sp>
      <p:sp>
        <p:nvSpPr>
          <p:cNvPr id="47" name="TextBox 46"/>
          <p:cNvSpPr txBox="1"/>
          <p:nvPr/>
        </p:nvSpPr>
        <p:spPr>
          <a:xfrm>
            <a:off x="32552640" y="1043330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Georgia"/>
              </a:rPr>
              <a:t>A drive becomes a dataset as it opens</a:t>
            </a:r>
          </a:p>
        </p:txBody>
      </p:sp>
      <p:sp>
        <p:nvSpPr>
          <p:cNvPr id="48" name="Rectangle 47"/>
          <p:cNvSpPr/>
          <p:nvPr/>
        </p:nvSpPr>
        <p:spPr>
          <a:xfrm>
            <a:off x="32552640" y="10994643"/>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552640" y="1132382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50" name="TextBox 49"/>
          <p:cNvSpPr txBox="1"/>
          <p:nvPr/>
        </p:nvSpPr>
        <p:spPr>
          <a:xfrm>
            <a:off x="32552640" y="13125195"/>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Georgia"/>
              </a:rPr>
              <a:t>Four frames, as recorded</a:t>
            </a:r>
          </a:p>
        </p:txBody>
      </p:sp>
      <p:sp>
        <p:nvSpPr>
          <p:cNvPr id="51" name="Rectangle 50"/>
          <p:cNvSpPr/>
          <p:nvPr/>
        </p:nvSpPr>
        <p:spPr>
          <a:xfrm>
            <a:off x="32552640" y="13686535"/>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l_robots.png"/>
          <p:cNvPicPr>
            <a:picLocks noChangeAspect="1"/>
          </p:cNvPicPr>
          <p:nvPr/>
        </p:nvPicPr>
        <p:blipFill>
          <a:blip r:embed="rId5"/>
          <a:stretch>
            <a:fillRect/>
          </a:stretch>
        </p:blipFill>
        <p:spPr>
          <a:xfrm>
            <a:off x="32552640" y="14015719"/>
            <a:ext cx="10607040" cy="2377440"/>
          </a:xfrm>
          <a:prstGeom prst="rect">
            <a:avLst/>
          </a:prstGeom>
        </p:spPr>
      </p:pic>
      <p:sp>
        <p:nvSpPr>
          <p:cNvPr id="53" name="TextBox 52"/>
          <p:cNvSpPr txBox="1"/>
          <p:nvPr/>
        </p:nvSpPr>
        <p:spPr>
          <a:xfrm>
            <a:off x="32552640" y="16502888"/>
            <a:ext cx="10607040" cy="365760"/>
          </a:xfrm>
          <a:prstGeom prst="rect">
            <a:avLst/>
          </a:prstGeom>
          <a:noFill/>
        </p:spPr>
        <p:txBody>
          <a:bodyPr wrap="square" lIns="0" rIns="0" tIns="0" bIns="0">
            <a:spAutoFit/>
          </a:bodyPr>
          <a:lstStyle/>
          <a:p>
            <a:pPr algn="l">
              <a:lnSpc>
                <a:spcPct val="118000"/>
              </a:lnSpc>
              <a:spcAft>
                <a:spcPts val="0"/>
              </a:spcAft>
            </a:pPr>
            <a:r>
              <a:rPr sz="1600" b="0">
                <a:solidFill>
                  <a:srgbClr val="5B5B5B"/>
                </a:solidFill>
                <a:latin typeface="Arial"/>
              </a:rPr>
              <a:t>Figure 5.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54" name="TextBox 53"/>
          <p:cNvSpPr txBox="1"/>
          <p:nvPr/>
        </p:nvSpPr>
        <p:spPr>
          <a:xfrm>
            <a:off x="32552640" y="17772888"/>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Nothing here is enhanced and nothing is labelled. The rectangle in the cart's down camera is a fixed work-zone overlay: it sits at the same pixels on frames with no vegetation in them at all.</a:t>
            </a:r>
          </a:p>
        </p:txBody>
      </p:sp>
      <p:sp>
        <p:nvSpPr>
          <p:cNvPr id="55" name="TextBox 54"/>
          <p:cNvSpPr txBox="1"/>
          <p:nvPr/>
        </p:nvSpPr>
        <p:spPr>
          <a:xfrm>
            <a:off x="32552640" y="19264376"/>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Georgia"/>
              </a:rPr>
              <a:t>Only one robot has the button</a:t>
            </a:r>
          </a:p>
        </p:txBody>
      </p:sp>
      <p:sp>
        <p:nvSpPr>
          <p:cNvPr id="56" name="Rectangle 55"/>
          <p:cNvSpPr/>
          <p:nvPr/>
        </p:nvSpPr>
        <p:spPr>
          <a:xfrm>
            <a:off x="32552640" y="19825716"/>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2552640" y="20154900"/>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58" name="TextBox 57"/>
          <p:cNvSpPr txBox="1"/>
          <p:nvPr/>
        </p:nvSpPr>
        <p:spPr>
          <a:xfrm>
            <a:off x="32552640" y="21956268"/>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Georgia"/>
              </a:rPr>
              <a:t>Which decisions a model makes</a:t>
            </a:r>
          </a:p>
        </p:txBody>
      </p:sp>
      <p:sp>
        <p:nvSpPr>
          <p:cNvPr id="59" name="Rectangle 58"/>
          <p:cNvSpPr/>
          <p:nvPr/>
        </p:nvSpPr>
        <p:spPr>
          <a:xfrm>
            <a:off x="32552640" y="22517608"/>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2552640" y="22846792"/>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61" name="TextBox 60"/>
          <p:cNvSpPr txBox="1"/>
          <p:nvPr/>
        </p:nvSpPr>
        <p:spPr>
          <a:xfrm>
            <a:off x="32552640" y="2495804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Georgia"/>
              </a:rPr>
              <a:t>Any research field is a project</a:t>
            </a:r>
          </a:p>
        </p:txBody>
      </p:sp>
      <p:sp>
        <p:nvSpPr>
          <p:cNvPr id="62" name="Rectangle 61"/>
          <p:cNvSpPr/>
          <p:nvPr/>
        </p:nvSpPr>
        <p:spPr>
          <a:xfrm>
            <a:off x="32552640" y="25519380"/>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552640" y="25848564"/>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64" name="Rectangle 63"/>
          <p:cNvSpPr/>
          <p:nvPr/>
        </p:nvSpPr>
        <p:spPr>
          <a:xfrm>
            <a:off x="731520" y="30632400"/>
            <a:ext cx="42428160" cy="20116"/>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B5B5B"/>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66" name="TextBox 65"/>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B5B5B"/>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67" name="TextBox 66"/>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B5B5B"/>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