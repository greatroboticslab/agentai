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42428160" cy="365760"/>
          </a:xfrm>
          <a:prstGeom prst="rect">
            <a:avLst/>
          </a:prstGeom>
          <a:noFill/>
        </p:spPr>
        <p:txBody>
          <a:bodyPr wrap="square" lIns="0" rIns="0" tIns="0" bIns="0">
            <a:spAutoFit/>
          </a:bodyPr>
          <a:lstStyle/>
          <a:p>
            <a:pPr algn="l">
              <a:lnSpc>
                <a:spcPct val="95000"/>
              </a:lnSpc>
              <a:spcAft>
                <a:spcPts val="0"/>
              </a:spcAft>
            </a:pPr>
            <a:r>
              <a:rPr sz="8000" b="1">
                <a:solidFill>
                  <a:srgbClr val="2B2A26"/>
                </a:solidFill>
                <a:latin typeface="Georgia"/>
              </a:rPr>
              <a:t>agentAI: A Research-Data Platform for Physical and Embodied Agents</a:t>
            </a:r>
          </a:p>
        </p:txBody>
      </p:sp>
      <p:sp>
        <p:nvSpPr>
          <p:cNvPr id="4" name="TextBox 3"/>
          <p:cNvSpPr txBox="1"/>
          <p:nvPr/>
        </p:nvSpPr>
        <p:spPr>
          <a:xfrm>
            <a:off x="731520" y="2240280"/>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2B2A26"/>
                </a:solidFill>
                <a:latin typeface="Arial"/>
              </a:rPr>
              <a:t>Harry He   ·   Hongbo Zhang</a:t>
            </a:r>
          </a:p>
        </p:txBody>
      </p:sp>
      <p:sp>
        <p:nvSpPr>
          <p:cNvPr id="5" name="TextBox 4"/>
          <p:cNvSpPr txBox="1"/>
          <p:nvPr/>
        </p:nvSpPr>
        <p:spPr>
          <a:xfrm>
            <a:off x="731520" y="2880360"/>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6E6759"/>
                </a:solidFill>
                <a:latin typeface="Arial"/>
              </a:rPr>
              <a:t>Department of Engineering Technology   ·   Middle Tennessee State University, Murfreesboro, TN, USA</a:t>
            </a:r>
          </a:p>
        </p:txBody>
      </p:sp>
      <p:sp>
        <p:nvSpPr>
          <p:cNvPr id="6" name="Rectangle 5"/>
          <p:cNvSpPr/>
          <p:nvPr/>
        </p:nvSpPr>
        <p:spPr>
          <a:xfrm>
            <a:off x="731520" y="3749039"/>
            <a:ext cx="42428160" cy="41148"/>
          </a:xfrm>
          <a:prstGeom prst="rect">
            <a:avLst/>
          </a:prstGeom>
          <a:solidFill>
            <a:srgbClr val="2B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000" b="0">
                <a:solidFill>
                  <a:srgbClr val="2B2A26"/>
                </a:solidFill>
                <a:latin typeface="Georgia"/>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sp>
        <p:nvSpPr>
          <p:cNvPr id="8" name="Rectangle 7"/>
          <p:cNvSpPr/>
          <p:nvPr/>
        </p:nvSpPr>
        <p:spPr>
          <a:xfrm>
            <a:off x="731520" y="5702808"/>
            <a:ext cx="42428160" cy="23774"/>
          </a:xfrm>
          <a:prstGeom prst="rect">
            <a:avLst/>
          </a:prstGeom>
          <a:solidFill>
            <a:srgbClr val="D8D0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903975"/>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8A4B1E"/>
                </a:solidFill>
                <a:latin typeface="Georgia"/>
              </a:rPr>
              <a:t>2,686</a:t>
            </a:r>
          </a:p>
        </p:txBody>
      </p:sp>
      <p:sp>
        <p:nvSpPr>
          <p:cNvPr id="10" name="TextBox 9"/>
          <p:cNvSpPr txBox="1"/>
          <p:nvPr/>
        </p:nvSpPr>
        <p:spPr>
          <a:xfrm>
            <a:off x="731520" y="6629399"/>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2B2A26"/>
                </a:solidFill>
                <a:latin typeface="Arial"/>
              </a:rPr>
              <a:t>camera frames</a:t>
            </a:r>
          </a:p>
        </p:txBody>
      </p:sp>
      <p:sp>
        <p:nvSpPr>
          <p:cNvPr id="11" name="TextBox 10"/>
          <p:cNvSpPr txBox="1"/>
          <p:nvPr/>
        </p:nvSpPr>
        <p:spPr>
          <a:xfrm>
            <a:off x="731520" y="6949185"/>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6E6759"/>
                </a:solidFill>
                <a:latin typeface="Arial"/>
              </a:rPr>
              <a:t>26 drives, 2 robots, 0 labelled</a:t>
            </a:r>
          </a:p>
        </p:txBody>
      </p:sp>
      <p:sp>
        <p:nvSpPr>
          <p:cNvPr id="12" name="TextBox 11"/>
          <p:cNvSpPr txBox="1"/>
          <p:nvPr/>
        </p:nvSpPr>
        <p:spPr>
          <a:xfrm>
            <a:off x="9317736" y="5903975"/>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8A4B1E"/>
                </a:solidFill>
                <a:latin typeface="Georgia"/>
              </a:rPr>
              <a:t>91,955</a:t>
            </a:r>
          </a:p>
        </p:txBody>
      </p:sp>
      <p:sp>
        <p:nvSpPr>
          <p:cNvPr id="13" name="TextBox 12"/>
          <p:cNvSpPr txBox="1"/>
          <p:nvPr/>
        </p:nvSpPr>
        <p:spPr>
          <a:xfrm>
            <a:off x="9317736" y="6629399"/>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2B2A26"/>
                </a:solidFill>
                <a:latin typeface="Arial"/>
              </a:rPr>
              <a:t>telemetry rows</a:t>
            </a:r>
          </a:p>
        </p:txBody>
      </p:sp>
      <p:sp>
        <p:nvSpPr>
          <p:cNvPr id="14" name="TextBox 13"/>
          <p:cNvSpPr txBox="1"/>
          <p:nvPr/>
        </p:nvSpPr>
        <p:spPr>
          <a:xfrm>
            <a:off x="9317736" y="6949185"/>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6E6759"/>
                </a:solidFill>
                <a:latin typeface="Arial"/>
              </a:rPr>
              <a:t>nine streams, counted line by line</a:t>
            </a:r>
          </a:p>
        </p:txBody>
      </p:sp>
      <p:sp>
        <p:nvSpPr>
          <p:cNvPr id="15" name="TextBox 14"/>
          <p:cNvSpPr txBox="1"/>
          <p:nvPr/>
        </p:nvSpPr>
        <p:spPr>
          <a:xfrm>
            <a:off x="17903952" y="5903975"/>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8A4B1E"/>
                </a:solidFill>
                <a:latin typeface="Georgia"/>
              </a:rPr>
              <a:t>342 m</a:t>
            </a:r>
          </a:p>
        </p:txBody>
      </p:sp>
      <p:sp>
        <p:nvSpPr>
          <p:cNvPr id="16" name="TextBox 15"/>
          <p:cNvSpPr txBox="1"/>
          <p:nvPr/>
        </p:nvSpPr>
        <p:spPr>
          <a:xfrm>
            <a:off x="17903952" y="6629399"/>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2B2A26"/>
                </a:solidFill>
                <a:latin typeface="Arial"/>
              </a:rPr>
              <a:t>of GPS track</a:t>
            </a:r>
          </a:p>
        </p:txBody>
      </p:sp>
      <p:sp>
        <p:nvSpPr>
          <p:cNvPr id="17" name="TextBox 16"/>
          <p:cNvSpPr txBox="1"/>
          <p:nvPr/>
        </p:nvSpPr>
        <p:spPr>
          <a:xfrm>
            <a:off x="17903952" y="6949185"/>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6E6759"/>
                </a:solidFill>
                <a:latin typeface="Arial"/>
              </a:rPr>
              <a:t>1,502 fixes over 18 drives</a:t>
            </a:r>
          </a:p>
        </p:txBody>
      </p:sp>
      <p:sp>
        <p:nvSpPr>
          <p:cNvPr id="18" name="TextBox 17"/>
          <p:cNvSpPr txBox="1"/>
          <p:nvPr/>
        </p:nvSpPr>
        <p:spPr>
          <a:xfrm>
            <a:off x="26490168" y="5903975"/>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8A4B1E"/>
                </a:solidFill>
                <a:latin typeface="Georgia"/>
              </a:rPr>
              <a:t>27</a:t>
            </a:r>
          </a:p>
        </p:txBody>
      </p:sp>
      <p:sp>
        <p:nvSpPr>
          <p:cNvPr id="19" name="TextBox 18"/>
          <p:cNvSpPr txBox="1"/>
          <p:nvPr/>
        </p:nvSpPr>
        <p:spPr>
          <a:xfrm>
            <a:off x="26490168" y="6629399"/>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2B2A26"/>
                </a:solidFill>
                <a:latin typeface="Arial"/>
              </a:rPr>
              <a:t>distinct models run</a:t>
            </a:r>
          </a:p>
        </p:txBody>
      </p:sp>
      <p:sp>
        <p:nvSpPr>
          <p:cNvPr id="20" name="TextBox 19"/>
          <p:cNvSpPr txBox="1"/>
          <p:nvPr/>
        </p:nvSpPr>
        <p:spPr>
          <a:xfrm>
            <a:off x="26490168" y="6949185"/>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6E6759"/>
                </a:solidFill>
                <a:latin typeface="Arial"/>
              </a:rPr>
              <a:t>four families, one deployed</a:t>
            </a:r>
          </a:p>
        </p:txBody>
      </p:sp>
      <p:sp>
        <p:nvSpPr>
          <p:cNvPr id="21" name="TextBox 20"/>
          <p:cNvSpPr txBox="1"/>
          <p:nvPr/>
        </p:nvSpPr>
        <p:spPr>
          <a:xfrm>
            <a:off x="35076384" y="5903975"/>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8A4B1E"/>
                </a:solidFill>
                <a:latin typeface="Georgia"/>
              </a:rPr>
              <a:t>0</a:t>
            </a:r>
          </a:p>
        </p:txBody>
      </p:sp>
      <p:sp>
        <p:nvSpPr>
          <p:cNvPr id="22" name="TextBox 21"/>
          <p:cNvSpPr txBox="1"/>
          <p:nvPr/>
        </p:nvSpPr>
        <p:spPr>
          <a:xfrm>
            <a:off x="35076384" y="6629399"/>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2B2A26"/>
                </a:solidFill>
                <a:latin typeface="Arial"/>
              </a:rPr>
              <a:t>robot frames labelled</a:t>
            </a:r>
          </a:p>
        </p:txBody>
      </p:sp>
      <p:sp>
        <p:nvSpPr>
          <p:cNvPr id="23" name="TextBox 22"/>
          <p:cNvSpPr txBox="1"/>
          <p:nvPr/>
        </p:nvSpPr>
        <p:spPr>
          <a:xfrm>
            <a:off x="35076384" y="6949185"/>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6E6759"/>
                </a:solidFill>
                <a:latin typeface="Arial"/>
              </a:rPr>
              <a:t>the whole archive, so far</a:t>
            </a:r>
          </a:p>
        </p:txBody>
      </p:sp>
      <p:sp>
        <p:nvSpPr>
          <p:cNvPr id="24" name="Rectangle 23"/>
          <p:cNvSpPr/>
          <p:nvPr/>
        </p:nvSpPr>
        <p:spPr>
          <a:xfrm>
            <a:off x="731520" y="7291323"/>
            <a:ext cx="42428160" cy="23774"/>
          </a:xfrm>
          <a:prstGeom prst="rect">
            <a:avLst/>
          </a:prstGeom>
          <a:solidFill>
            <a:srgbClr val="D8D0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7785099"/>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One platform for every robot the lab owns</a:t>
            </a:r>
          </a:p>
        </p:txBody>
      </p:sp>
      <p:sp>
        <p:nvSpPr>
          <p:cNvPr id="26" name="Rectangle 25"/>
          <p:cNvSpPr/>
          <p:nvPr/>
        </p:nvSpPr>
        <p:spPr>
          <a:xfrm>
            <a:off x="731520" y="8313419"/>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8642603"/>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28" name="TextBox 27"/>
          <p:cNvSpPr txBox="1"/>
          <p:nvPr/>
        </p:nvSpPr>
        <p:spPr>
          <a:xfrm>
            <a:off x="731520" y="10603229"/>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Driving a robot from a browser</a:t>
            </a:r>
          </a:p>
        </p:txBody>
      </p:sp>
      <p:sp>
        <p:nvSpPr>
          <p:cNvPr id="29" name="Rectangle 28"/>
          <p:cNvSpPr/>
          <p:nvPr/>
        </p:nvSpPr>
        <p:spPr>
          <a:xfrm>
            <a:off x="731520" y="11131549"/>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11460733"/>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31" name="TextBox 30"/>
          <p:cNvSpPr txBox="1"/>
          <p:nvPr/>
        </p:nvSpPr>
        <p:spPr>
          <a:xfrm>
            <a:off x="731520" y="13126973"/>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Four frames, as recorded</a:t>
            </a:r>
          </a:p>
        </p:txBody>
      </p:sp>
      <p:sp>
        <p:nvSpPr>
          <p:cNvPr id="32" name="Rectangle 31"/>
          <p:cNvSpPr/>
          <p:nvPr/>
        </p:nvSpPr>
        <p:spPr>
          <a:xfrm>
            <a:off x="731520" y="13655293"/>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l_robots.png"/>
          <p:cNvPicPr>
            <a:picLocks noChangeAspect="1"/>
          </p:cNvPicPr>
          <p:nvPr/>
        </p:nvPicPr>
        <p:blipFill>
          <a:blip r:embed="rId2"/>
          <a:stretch>
            <a:fillRect/>
          </a:stretch>
        </p:blipFill>
        <p:spPr>
          <a:xfrm>
            <a:off x="731520" y="13984477"/>
            <a:ext cx="10607040" cy="2377440"/>
          </a:xfrm>
          <a:prstGeom prst="rect">
            <a:avLst/>
          </a:prstGeom>
        </p:spPr>
      </p:pic>
      <p:sp>
        <p:nvSpPr>
          <p:cNvPr id="34" name="TextBox 33"/>
          <p:cNvSpPr txBox="1"/>
          <p:nvPr/>
        </p:nvSpPr>
        <p:spPr>
          <a:xfrm>
            <a:off x="731520" y="16471645"/>
            <a:ext cx="10607040" cy="365760"/>
          </a:xfrm>
          <a:prstGeom prst="rect">
            <a:avLst/>
          </a:prstGeom>
          <a:noFill/>
        </p:spPr>
        <p:txBody>
          <a:bodyPr wrap="square" lIns="0" rIns="0" tIns="0" bIns="0">
            <a:spAutoFit/>
          </a:bodyPr>
          <a:lstStyle/>
          <a:p>
            <a:pPr algn="l">
              <a:lnSpc>
                <a:spcPct val="118000"/>
              </a:lnSpc>
              <a:spcAft>
                <a:spcPts val="0"/>
              </a:spcAft>
            </a:pPr>
            <a:r>
              <a:rPr sz="1500" b="0">
                <a:solidFill>
                  <a:srgbClr val="6E6759"/>
                </a:solidFill>
                <a:latin typeface="Arial"/>
              </a:rPr>
              <a:t>Figure 1.  Frames as recorded, unenhanced. Robot 241 has sent 2,238 frames at 640 x 360 and 1 Hz, the laser cart 427, and 75 of the cart's were taken in a field. None of the 2,686 is labelled. The rectangle in the down camera is the cart's fixed work-zone overlay. It is drawn on every frame, including the ones with no vegetation in them.</a:t>
            </a:r>
          </a:p>
        </p:txBody>
      </p:sp>
      <p:sp>
        <p:nvSpPr>
          <p:cNvPr id="35" name="TextBox 34"/>
          <p:cNvSpPr txBox="1"/>
          <p:nvPr/>
        </p:nvSpPr>
        <p:spPr>
          <a:xfrm>
            <a:off x="731520" y="17681701"/>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Nothing here is enhanced and nothing is labelled. The rectangle in the cart's down camera is a fixed work-zone overlay: it sits at the same pixels on frames with no vegetation in them at all.</a:t>
            </a:r>
          </a:p>
        </p:txBody>
      </p:sp>
      <p:sp>
        <p:nvSpPr>
          <p:cNvPr id="36" name="TextBox 35"/>
          <p:cNvSpPr txBox="1"/>
          <p:nvPr/>
        </p:nvSpPr>
        <p:spPr>
          <a:xfrm>
            <a:off x="731520" y="19053555"/>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Only one robot has the button</a:t>
            </a:r>
          </a:p>
        </p:txBody>
      </p:sp>
      <p:sp>
        <p:nvSpPr>
          <p:cNvPr id="37" name="Rectangle 36"/>
          <p:cNvSpPr/>
          <p:nvPr/>
        </p:nvSpPr>
        <p:spPr>
          <a:xfrm>
            <a:off x="731520" y="19581876"/>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19911060"/>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39" name="TextBox 38"/>
          <p:cNvSpPr txBox="1"/>
          <p:nvPr/>
        </p:nvSpPr>
        <p:spPr>
          <a:xfrm>
            <a:off x="731520" y="21577300"/>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Which decisions a model makes</a:t>
            </a:r>
          </a:p>
        </p:txBody>
      </p:sp>
      <p:sp>
        <p:nvSpPr>
          <p:cNvPr id="40" name="Rectangle 39"/>
          <p:cNvSpPr/>
          <p:nvPr/>
        </p:nvSpPr>
        <p:spPr>
          <a:xfrm>
            <a:off x="731520" y="22105620"/>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22434804"/>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42" name="TextBox 41"/>
          <p:cNvSpPr txBox="1"/>
          <p:nvPr/>
        </p:nvSpPr>
        <p:spPr>
          <a:xfrm>
            <a:off x="731520" y="24101044"/>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Adding the next robot</a:t>
            </a:r>
          </a:p>
        </p:txBody>
      </p:sp>
      <p:sp>
        <p:nvSpPr>
          <p:cNvPr id="43" name="Rectangle 42"/>
          <p:cNvSpPr/>
          <p:nvPr/>
        </p:nvSpPr>
        <p:spPr>
          <a:xfrm>
            <a:off x="731520" y="24629364"/>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24958548"/>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A new robot needs a project, an API key and a session start. The ingest contract is the same for every vehicle: start a session, post sensor batches and frames while driving, stop. The platform does not care what the robot is. The Unitree humanoid's project exists on this basis and is waiting on its first upload.</a:t>
            </a:r>
          </a:p>
        </p:txBody>
      </p:sp>
      <p:sp>
        <p:nvSpPr>
          <p:cNvPr id="45" name="TextBox 44"/>
          <p:cNvSpPr txBox="1"/>
          <p:nvPr/>
        </p:nvSpPr>
        <p:spPr>
          <a:xfrm>
            <a:off x="731520" y="26624788"/>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Code the agent writes runs fenced in</a:t>
            </a:r>
          </a:p>
        </p:txBody>
      </p:sp>
      <p:sp>
        <p:nvSpPr>
          <p:cNvPr id="46" name="Rectangle 45"/>
          <p:cNvSpPr/>
          <p:nvPr/>
        </p:nvSpPr>
        <p:spPr>
          <a:xfrm>
            <a:off x="731520" y="27153108"/>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31520" y="27482292"/>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Generated code passes an import whitelist and an AST check before it runs, with no network and no file writes, 15 seconds of CPU, 1.5 GB of memory and a 25 second wall clock. A user can edit the agent's code or paste their own and re-run it in the same fence.</a:t>
            </a:r>
          </a:p>
        </p:txBody>
      </p:sp>
      <p:sp>
        <p:nvSpPr>
          <p:cNvPr id="48" name="TextBox 47"/>
          <p:cNvSpPr txBox="1"/>
          <p:nvPr/>
        </p:nvSpPr>
        <p:spPr>
          <a:xfrm>
            <a:off x="11704320" y="7785099"/>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Robots on the platform today</a:t>
            </a:r>
          </a:p>
        </p:txBody>
      </p:sp>
      <p:sp>
        <p:nvSpPr>
          <p:cNvPr id="49" name="Rectangle 48"/>
          <p:cNvSpPr/>
          <p:nvPr/>
        </p:nvSpPr>
        <p:spPr>
          <a:xfrm>
            <a:off x="11704320" y="8313419"/>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704320" y="8642603"/>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Robot 241 is a tracked rover that drives crop rows and streams camera, GPS and two IMUs. The laser cart carries the weeder: a galvanometer laser, a down camera over the work zone and a forward camera. A Unitree humanoid has a project and has uploaded nothing yet. Between them the two ground vehicles have recorded 2,686 frames in 26 drives.</a:t>
            </a:r>
          </a:p>
        </p:txBody>
      </p:sp>
      <p:sp>
        <p:nvSpPr>
          <p:cNvPr id="51" name="TextBox 50"/>
          <p:cNvSpPr txBox="1"/>
          <p:nvPr/>
        </p:nvSpPr>
        <p:spPr>
          <a:xfrm>
            <a:off x="11704320" y="10308843"/>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Ask a dataset what it is good for</a:t>
            </a:r>
          </a:p>
        </p:txBody>
      </p:sp>
      <p:sp>
        <p:nvSpPr>
          <p:cNvPr id="52" name="Rectangle 51"/>
          <p:cNvSpPr/>
          <p:nvPr/>
        </p:nvSpPr>
        <p:spPr>
          <a:xfrm>
            <a:off x="11704320" y="10837163"/>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1704320" y="11166347"/>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54" name="TextBox 53"/>
          <p:cNvSpPr txBox="1"/>
          <p:nvPr/>
        </p:nvSpPr>
        <p:spPr>
          <a:xfrm>
            <a:off x="11704320" y="12832587"/>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On disk today</a:t>
            </a:r>
          </a:p>
        </p:txBody>
      </p:sp>
      <p:sp>
        <p:nvSpPr>
          <p:cNvPr id="55" name="Rectangle 54"/>
          <p:cNvSpPr/>
          <p:nvPr/>
        </p:nvSpPr>
        <p:spPr>
          <a:xfrm>
            <a:off x="11704320" y="13360907"/>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1704320" y="13690091"/>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Two robots have put 2,686 camera frames and 91,955 telemetry rows across nine streams onto the platform, over 26 drives, with 342 m of GPS track from 1,502 fixes. None of the frames is labelled.</a:t>
            </a:r>
          </a:p>
        </p:txBody>
      </p:sp>
      <p:sp>
        <p:nvSpPr>
          <p:cNvPr id="57" name="TextBox 56"/>
          <p:cNvSpPr txBox="1"/>
          <p:nvPr/>
        </p:nvSpPr>
        <p:spPr>
          <a:xfrm>
            <a:off x="11704320" y="15061945"/>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Asked something it had never seen</a:t>
            </a:r>
          </a:p>
        </p:txBody>
      </p:sp>
      <p:sp>
        <p:nvSpPr>
          <p:cNvPr id="58" name="Rectangle 57"/>
          <p:cNvSpPr/>
          <p:nvPr/>
        </p:nvSpPr>
        <p:spPr>
          <a:xfrm>
            <a:off x="11704320" y="15590265"/>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704320" y="15919449"/>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60" name="TextBox 59"/>
          <p:cNvSpPr txBox="1"/>
          <p:nvPr/>
        </p:nvSpPr>
        <p:spPr>
          <a:xfrm>
            <a:off x="11704320" y="17585689"/>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More web data, less accuracy</a:t>
            </a:r>
          </a:p>
        </p:txBody>
      </p:sp>
      <p:sp>
        <p:nvSpPr>
          <p:cNvPr id="61" name="Rectangle 60"/>
          <p:cNvSpPr/>
          <p:nvPr/>
        </p:nvSpPr>
        <p:spPr>
          <a:xfrm>
            <a:off x="11704320" y="18114009"/>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1704320" y="18443193"/>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63" name="TextBox 62"/>
          <p:cNvSpPr txBox="1"/>
          <p:nvPr/>
        </p:nvSpPr>
        <p:spPr>
          <a:xfrm>
            <a:off x="11704320" y="20109433"/>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213 seconds in one crop plot</a:t>
            </a:r>
          </a:p>
        </p:txBody>
      </p:sp>
      <p:sp>
        <p:nvSpPr>
          <p:cNvPr id="64" name="Rectangle 63"/>
          <p:cNvSpPr/>
          <p:nvPr/>
        </p:nvSpPr>
        <p:spPr>
          <a:xfrm>
            <a:off x="11704320" y="20637754"/>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h_drive.png"/>
          <p:cNvPicPr>
            <a:picLocks noChangeAspect="1"/>
          </p:cNvPicPr>
          <p:nvPr/>
        </p:nvPicPr>
        <p:blipFill>
          <a:blip r:embed="rId3"/>
          <a:stretch>
            <a:fillRect/>
          </a:stretch>
        </p:blipFill>
        <p:spPr>
          <a:xfrm>
            <a:off x="11704320" y="20966938"/>
            <a:ext cx="10607040" cy="4023360"/>
          </a:xfrm>
          <a:prstGeom prst="rect">
            <a:avLst/>
          </a:prstGeom>
        </p:spPr>
      </p:pic>
      <p:sp>
        <p:nvSpPr>
          <p:cNvPr id="66" name="TextBox 65"/>
          <p:cNvSpPr txBox="1"/>
          <p:nvPr/>
        </p:nvSpPr>
        <p:spPr>
          <a:xfrm>
            <a:off x="11704320" y="25100026"/>
            <a:ext cx="10607040" cy="365760"/>
          </a:xfrm>
          <a:prstGeom prst="rect">
            <a:avLst/>
          </a:prstGeom>
          <a:noFill/>
        </p:spPr>
        <p:txBody>
          <a:bodyPr wrap="square" lIns="0" rIns="0" tIns="0" bIns="0">
            <a:spAutoFit/>
          </a:bodyPr>
          <a:lstStyle/>
          <a:p>
            <a:pPr algn="l">
              <a:lnSpc>
                <a:spcPct val="118000"/>
              </a:lnSpc>
              <a:spcAft>
                <a:spcPts val="0"/>
              </a:spcAft>
            </a:pPr>
            <a:r>
              <a:rPr sz="1500" b="0">
                <a:solidFill>
                  <a:srgbClr val="6E6759"/>
                </a:solidFill>
                <a:latin typeface="Arial"/>
              </a:rPr>
              <a:t>Figure 2.  Robot 241, 2026-08-29: one 213 s pass through a crop plot. (h) GPS track from the board fix. (i) IMU heading over the same pass.</a:t>
            </a:r>
          </a:p>
        </p:txBody>
      </p:sp>
      <p:sp>
        <p:nvSpPr>
          <p:cNvPr id="67" name="TextBox 66"/>
          <p:cNvSpPr txBox="1"/>
          <p:nvPr/>
        </p:nvSpPr>
        <p:spPr>
          <a:xfrm>
            <a:off x="11704320" y="25860502"/>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The longest single pass the platform holds: 141 m of track from 211 fixes, with heading from the IMU over the same 213 seconds. The platform holds 18 passes that carry position.</a:t>
            </a:r>
          </a:p>
        </p:txBody>
      </p:sp>
      <p:sp>
        <p:nvSpPr>
          <p:cNvPr id="68" name="TextBox 67"/>
          <p:cNvSpPr txBox="1"/>
          <p:nvPr/>
        </p:nvSpPr>
        <p:spPr>
          <a:xfrm>
            <a:off x="11704320" y="27232356"/>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Reading the loop's own artifacts</a:t>
            </a:r>
          </a:p>
        </p:txBody>
      </p:sp>
      <p:sp>
        <p:nvSpPr>
          <p:cNvPr id="69" name="Rectangle 68"/>
          <p:cNvSpPr/>
          <p:nvPr/>
        </p:nvSpPr>
        <p:spPr>
          <a:xfrm>
            <a:off x="11704320" y="27760676"/>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1704320" y="28089860"/>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The corpus stopped growing at round three: the same 24 datasets and 48,752 unique images went in every time, and the apparent growth was one staging directory nobody cleared. Eight rounds collected nothing and reported success. Starting fresh instead of from the previous round's weights is worth +0.0287, 5.1 times this recipe's own seed spread.</a:t>
            </a:r>
          </a:p>
        </p:txBody>
      </p:sp>
      <p:sp>
        <p:nvSpPr>
          <p:cNvPr id="71" name="TextBox 70"/>
          <p:cNvSpPr txBox="1"/>
          <p:nvPr/>
        </p:nvSpPr>
        <p:spPr>
          <a:xfrm>
            <a:off x="22677120" y="7785099"/>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A drive becomes a dataset as it opens</a:t>
            </a:r>
          </a:p>
        </p:txBody>
      </p:sp>
      <p:sp>
        <p:nvSpPr>
          <p:cNvPr id="72" name="Rectangle 71"/>
          <p:cNvSpPr/>
          <p:nvPr/>
        </p:nvSpPr>
        <p:spPr>
          <a:xfrm>
            <a:off x="22677120" y="8313419"/>
            <a:ext cx="2048256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2677120" y="8642603"/>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74" name="TextBox 73"/>
          <p:cNvSpPr txBox="1"/>
          <p:nvPr/>
        </p:nvSpPr>
        <p:spPr>
          <a:xfrm>
            <a:off x="22677120" y="9720071"/>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Left alone for fifteen rounds</a:t>
            </a:r>
          </a:p>
        </p:txBody>
      </p:sp>
      <p:sp>
        <p:nvSpPr>
          <p:cNvPr id="75" name="Rectangle 74"/>
          <p:cNvSpPr/>
          <p:nvPr/>
        </p:nvSpPr>
        <p:spPr>
          <a:xfrm>
            <a:off x="22677120" y="10248391"/>
            <a:ext cx="2048256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f_rounds.png"/>
          <p:cNvPicPr>
            <a:picLocks noChangeAspect="1"/>
          </p:cNvPicPr>
          <p:nvPr/>
        </p:nvPicPr>
        <p:blipFill>
          <a:blip r:embed="rId4"/>
          <a:stretch>
            <a:fillRect/>
          </a:stretch>
        </p:blipFill>
        <p:spPr>
          <a:xfrm>
            <a:off x="22677120" y="10577575"/>
            <a:ext cx="20482560" cy="4663440"/>
          </a:xfrm>
          <a:prstGeom prst="rect">
            <a:avLst/>
          </a:prstGeom>
        </p:spPr>
      </p:pic>
      <p:sp>
        <p:nvSpPr>
          <p:cNvPr id="77" name="TextBox 76"/>
          <p:cNvSpPr txBox="1"/>
          <p:nvPr/>
        </p:nvSpPr>
        <p:spPr>
          <a:xfrm>
            <a:off x="22677120" y="15350743"/>
            <a:ext cx="20482560" cy="365760"/>
          </a:xfrm>
          <a:prstGeom prst="rect">
            <a:avLst/>
          </a:prstGeom>
          <a:noFill/>
        </p:spPr>
        <p:txBody>
          <a:bodyPr wrap="square" lIns="0" rIns="0" tIns="0" bIns="0">
            <a:spAutoFit/>
          </a:bodyPr>
          <a:lstStyle/>
          <a:p>
            <a:pPr algn="l">
              <a:lnSpc>
                <a:spcPct val="118000"/>
              </a:lnSpc>
              <a:spcAft>
                <a:spcPts val="0"/>
              </a:spcAft>
            </a:pPr>
            <a:r>
              <a:rPr sz="1500" b="0">
                <a:solidFill>
                  <a:srgbClr val="6E6759"/>
                </a:solidFill>
                <a:latin typeface="Arial"/>
              </a:rPr>
              <a:t>Figure 3.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78" name="TextBox 77"/>
          <p:cNvSpPr txBox="1"/>
          <p:nvPr/>
        </p:nvSpPr>
        <p:spPr>
          <a:xfrm>
            <a:off x="22677120" y="16336009"/>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79" name="TextBox 78"/>
          <p:cNvSpPr txBox="1"/>
          <p:nvPr/>
        </p:nvSpPr>
        <p:spPr>
          <a:xfrm>
            <a:off x="22677120" y="17413477"/>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Everything we trained, ran, or rejected</a:t>
            </a:r>
          </a:p>
        </p:txBody>
      </p:sp>
      <p:sp>
        <p:nvSpPr>
          <p:cNvPr id="80" name="Rectangle 79"/>
          <p:cNvSpPr/>
          <p:nvPr/>
        </p:nvSpPr>
        <p:spPr>
          <a:xfrm>
            <a:off x="22677120" y="17941798"/>
            <a:ext cx="2048256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1" name="Picture 80" descr="m_ledger.png"/>
          <p:cNvPicPr>
            <a:picLocks noChangeAspect="1"/>
          </p:cNvPicPr>
          <p:nvPr/>
        </p:nvPicPr>
        <p:blipFill>
          <a:blip r:embed="rId5"/>
          <a:stretch>
            <a:fillRect/>
          </a:stretch>
        </p:blipFill>
        <p:spPr>
          <a:xfrm>
            <a:off x="22677120" y="18270982"/>
            <a:ext cx="20482560" cy="3749040"/>
          </a:xfrm>
          <a:prstGeom prst="rect">
            <a:avLst/>
          </a:prstGeom>
        </p:spPr>
      </p:pic>
      <p:sp>
        <p:nvSpPr>
          <p:cNvPr id="82" name="TextBox 81"/>
          <p:cNvSpPr txBox="1"/>
          <p:nvPr/>
        </p:nvSpPr>
        <p:spPr>
          <a:xfrm>
            <a:off x="22677120" y="22129750"/>
            <a:ext cx="20482560" cy="365760"/>
          </a:xfrm>
          <a:prstGeom prst="rect">
            <a:avLst/>
          </a:prstGeom>
          <a:noFill/>
        </p:spPr>
        <p:txBody>
          <a:bodyPr wrap="square" lIns="0" rIns="0" tIns="0" bIns="0">
            <a:spAutoFit/>
          </a:bodyPr>
          <a:lstStyle/>
          <a:p>
            <a:pPr algn="l">
              <a:lnSpc>
                <a:spcPct val="118000"/>
              </a:lnSpc>
              <a:spcAft>
                <a:spcPts val="0"/>
              </a:spcAft>
            </a:pPr>
            <a:r>
              <a:rPr sz="1500" b="0">
                <a:solidFill>
                  <a:srgbClr val="6E6759"/>
                </a:solidFill>
                <a:latin typeface="Arial"/>
              </a:rPr>
              <a:t>Figure 4.  30 rows in four families, which is 27 distinct models: OWLv2-large and Qwen2.5-7B each appear twice because each does two jobs here. One model is deployed. The zero-shot column is a single deterministic pass per model with no repeats, scored as mAP50 on the 848-image split; the reviewer column is the 149-case dev split, and two of its arms are still running. RF-DETR's score is on a third scale and is never differenced against the rows above it: the one measured offset between two of our evaluators, 0.0239, is larger than the gap on display.</a:t>
            </a:r>
          </a:p>
        </p:txBody>
      </p:sp>
      <p:sp>
        <p:nvSpPr>
          <p:cNvPr id="83" name="TextBox 82"/>
          <p:cNvSpPr txBox="1"/>
          <p:nvPr/>
        </p:nvSpPr>
        <p:spPr>
          <a:xfrm>
            <a:off x="22677120" y="23115016"/>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Thirty rows in four families, which is 27 distinct models. Five detectors trained on our own holdout, two vision models inside the loop, fourteen vision-language models zero-shot, and nine language models as reviewers. One is deployed.</a:t>
            </a:r>
          </a:p>
        </p:txBody>
      </p:sp>
      <p:sp>
        <p:nvSpPr>
          <p:cNvPr id="84" name="Rectangle 83"/>
          <p:cNvSpPr/>
          <p:nvPr/>
        </p:nvSpPr>
        <p:spPr>
          <a:xfrm>
            <a:off x="731520" y="30632400"/>
            <a:ext cx="42428160" cy="20116"/>
          </a:xfrm>
          <a:prstGeom prst="rect">
            <a:avLst/>
          </a:prstGeom>
          <a:solidFill>
            <a:srgbClr val="D8D0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6E6759"/>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86" name="TextBox 85"/>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6E6759"/>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87" name="TextBox 86"/>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6E6759"/>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