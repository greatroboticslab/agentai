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8000" b="1">
                <a:solidFill>
                  <a:srgbClr val="24303B"/>
                </a:solidFill>
                <a:latin typeface="Georgia"/>
              </a:rPr>
              <a:t>agentAI: A Research-Data Platform for Physical and Embodied Agents</a:t>
            </a:r>
          </a:p>
        </p:txBody>
      </p:sp>
      <p:sp>
        <p:nvSpPr>
          <p:cNvPr id="4" name="Rectangle 3"/>
          <p:cNvSpPr/>
          <p:nvPr/>
        </p:nvSpPr>
        <p:spPr>
          <a:xfrm>
            <a:off x="731520" y="2103120"/>
            <a:ext cx="41574720" cy="146304"/>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24303B"/>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66727E"/>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24303B"/>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w_robots.png"/>
          <p:cNvPicPr>
            <a:picLocks noChangeAspect="1"/>
          </p:cNvPicPr>
          <p:nvPr/>
        </p:nvPicPr>
        <p:blipFill>
          <a:blip r:embed="rId2"/>
          <a:stretch>
            <a:fillRect/>
          </a:stretch>
        </p:blipFill>
        <p:spPr>
          <a:xfrm>
            <a:off x="731520" y="5879592"/>
            <a:ext cx="42428160" cy="4023360"/>
          </a:xfrm>
          <a:prstGeom prst="rect">
            <a:avLst/>
          </a:prstGeom>
        </p:spPr>
      </p:pic>
      <p:sp>
        <p:nvSpPr>
          <p:cNvPr id="9" name="TextBox 8"/>
          <p:cNvSpPr txBox="1"/>
          <p:nvPr/>
        </p:nvSpPr>
        <p:spPr>
          <a:xfrm>
            <a:off x="731520" y="10012680"/>
            <a:ext cx="42428160" cy="365760"/>
          </a:xfrm>
          <a:prstGeom prst="rect">
            <a:avLst/>
          </a:prstGeom>
          <a:noFill/>
        </p:spPr>
        <p:txBody>
          <a:bodyPr wrap="square" lIns="0" rIns="0" tIns="0" bIns="0">
            <a:spAutoFit/>
          </a:bodyPr>
          <a:lstStyle/>
          <a:p>
            <a:pPr algn="l">
              <a:lnSpc>
                <a:spcPct val="118000"/>
              </a:lnSpc>
              <a:spcAft>
                <a:spcPts val="0"/>
              </a:spcAft>
            </a:pPr>
            <a:r>
              <a:rPr sz="1700" b="0">
                <a:solidFill>
                  <a:srgbClr val="66727E"/>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761217"/>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Georgia"/>
              </a:rPr>
              <a:t>2,686</a:t>
            </a:r>
          </a:p>
        </p:txBody>
      </p:sp>
      <p:sp>
        <p:nvSpPr>
          <p:cNvPr id="12" name="TextBox 11"/>
          <p:cNvSpPr txBox="1"/>
          <p:nvPr/>
        </p:nvSpPr>
        <p:spPr>
          <a:xfrm>
            <a:off x="731520"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camera frames</a:t>
            </a:r>
          </a:p>
        </p:txBody>
      </p:sp>
      <p:sp>
        <p:nvSpPr>
          <p:cNvPr id="13" name="TextBox 12"/>
          <p:cNvSpPr txBox="1"/>
          <p:nvPr/>
        </p:nvSpPr>
        <p:spPr>
          <a:xfrm>
            <a:off x="731520"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26 drives, 2 robots, 0 labelled</a:t>
            </a:r>
          </a:p>
        </p:txBody>
      </p:sp>
      <p:sp>
        <p:nvSpPr>
          <p:cNvPr id="14" name="TextBox 13"/>
          <p:cNvSpPr txBox="1"/>
          <p:nvPr/>
        </p:nvSpPr>
        <p:spPr>
          <a:xfrm>
            <a:off x="9317736"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Georgia"/>
              </a:rPr>
              <a:t>91,955</a:t>
            </a:r>
          </a:p>
        </p:txBody>
      </p:sp>
      <p:sp>
        <p:nvSpPr>
          <p:cNvPr id="15" name="TextBox 14"/>
          <p:cNvSpPr txBox="1"/>
          <p:nvPr/>
        </p:nvSpPr>
        <p:spPr>
          <a:xfrm>
            <a:off x="9317736"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telemetry rows</a:t>
            </a:r>
          </a:p>
        </p:txBody>
      </p:sp>
      <p:sp>
        <p:nvSpPr>
          <p:cNvPr id="16" name="TextBox 15"/>
          <p:cNvSpPr txBox="1"/>
          <p:nvPr/>
        </p:nvSpPr>
        <p:spPr>
          <a:xfrm>
            <a:off x="9317736"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nine streams, counted line by line</a:t>
            </a:r>
          </a:p>
        </p:txBody>
      </p:sp>
      <p:sp>
        <p:nvSpPr>
          <p:cNvPr id="17" name="TextBox 16"/>
          <p:cNvSpPr txBox="1"/>
          <p:nvPr/>
        </p:nvSpPr>
        <p:spPr>
          <a:xfrm>
            <a:off x="17903952"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Georgia"/>
              </a:rPr>
              <a:t>342 m</a:t>
            </a:r>
          </a:p>
        </p:txBody>
      </p:sp>
      <p:sp>
        <p:nvSpPr>
          <p:cNvPr id="18" name="TextBox 17"/>
          <p:cNvSpPr txBox="1"/>
          <p:nvPr/>
        </p:nvSpPr>
        <p:spPr>
          <a:xfrm>
            <a:off x="17903952"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of GPS track</a:t>
            </a:r>
          </a:p>
        </p:txBody>
      </p:sp>
      <p:sp>
        <p:nvSpPr>
          <p:cNvPr id="19" name="TextBox 18"/>
          <p:cNvSpPr txBox="1"/>
          <p:nvPr/>
        </p:nvSpPr>
        <p:spPr>
          <a:xfrm>
            <a:off x="17903952"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1,502 fixes over 18 drives</a:t>
            </a:r>
          </a:p>
        </p:txBody>
      </p:sp>
      <p:sp>
        <p:nvSpPr>
          <p:cNvPr id="20" name="TextBox 19"/>
          <p:cNvSpPr txBox="1"/>
          <p:nvPr/>
        </p:nvSpPr>
        <p:spPr>
          <a:xfrm>
            <a:off x="26490168"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Georgia"/>
              </a:rPr>
              <a:t>27</a:t>
            </a:r>
          </a:p>
        </p:txBody>
      </p:sp>
      <p:sp>
        <p:nvSpPr>
          <p:cNvPr id="21" name="TextBox 20"/>
          <p:cNvSpPr txBox="1"/>
          <p:nvPr/>
        </p:nvSpPr>
        <p:spPr>
          <a:xfrm>
            <a:off x="26490168"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distinct models run</a:t>
            </a:r>
          </a:p>
        </p:txBody>
      </p:sp>
      <p:sp>
        <p:nvSpPr>
          <p:cNvPr id="22" name="TextBox 21"/>
          <p:cNvSpPr txBox="1"/>
          <p:nvPr/>
        </p:nvSpPr>
        <p:spPr>
          <a:xfrm>
            <a:off x="26490168"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four families, one deployed</a:t>
            </a:r>
          </a:p>
        </p:txBody>
      </p:sp>
      <p:sp>
        <p:nvSpPr>
          <p:cNvPr id="23" name="TextBox 22"/>
          <p:cNvSpPr txBox="1"/>
          <p:nvPr/>
        </p:nvSpPr>
        <p:spPr>
          <a:xfrm>
            <a:off x="35076384"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Georgia"/>
              </a:rPr>
              <a:t>0</a:t>
            </a:r>
          </a:p>
        </p:txBody>
      </p:sp>
      <p:sp>
        <p:nvSpPr>
          <p:cNvPr id="24" name="TextBox 23"/>
          <p:cNvSpPr txBox="1"/>
          <p:nvPr/>
        </p:nvSpPr>
        <p:spPr>
          <a:xfrm>
            <a:off x="35076384"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24303B"/>
                </a:solidFill>
                <a:latin typeface="Arial"/>
              </a:rPr>
              <a:t>robot frames labelled</a:t>
            </a:r>
          </a:p>
        </p:txBody>
      </p:sp>
      <p:sp>
        <p:nvSpPr>
          <p:cNvPr id="25" name="TextBox 24"/>
          <p:cNvSpPr txBox="1"/>
          <p:nvPr/>
        </p:nvSpPr>
        <p:spPr>
          <a:xfrm>
            <a:off x="35076384"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6727E"/>
                </a:solidFill>
                <a:latin typeface="Arial"/>
              </a:rPr>
              <a:t>the whole archive, so far</a:t>
            </a:r>
          </a:p>
        </p:txBody>
      </p:sp>
      <p:sp>
        <p:nvSpPr>
          <p:cNvPr id="26" name="Rectangle 25"/>
          <p:cNvSpPr/>
          <p:nvPr/>
        </p:nvSpPr>
        <p:spPr>
          <a:xfrm>
            <a:off x="731520" y="12427203"/>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920980"/>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One platform for every robot the lab owns</a:t>
            </a:r>
          </a:p>
        </p:txBody>
      </p:sp>
      <p:sp>
        <p:nvSpPr>
          <p:cNvPr id="28" name="Rectangle 27"/>
          <p:cNvSpPr/>
          <p:nvPr/>
        </p:nvSpPr>
        <p:spPr>
          <a:xfrm>
            <a:off x="731520" y="13515340"/>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84452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0" name="TextBox 29"/>
          <p:cNvSpPr txBox="1"/>
          <p:nvPr/>
        </p:nvSpPr>
        <p:spPr>
          <a:xfrm>
            <a:off x="731520" y="1561185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Driving a robot from a browser</a:t>
            </a:r>
          </a:p>
        </p:txBody>
      </p:sp>
      <p:sp>
        <p:nvSpPr>
          <p:cNvPr id="31" name="Rectangle 30"/>
          <p:cNvSpPr/>
          <p:nvPr/>
        </p:nvSpPr>
        <p:spPr>
          <a:xfrm>
            <a:off x="731520" y="16206216"/>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653539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830273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Left alone for fifteen rounds</a:t>
            </a:r>
          </a:p>
        </p:txBody>
      </p:sp>
      <p:sp>
        <p:nvSpPr>
          <p:cNvPr id="34" name="Rectangle 33"/>
          <p:cNvSpPr/>
          <p:nvPr/>
        </p:nvSpPr>
        <p:spPr>
          <a:xfrm>
            <a:off x="731520" y="1889709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_rounds.png"/>
          <p:cNvPicPr>
            <a:picLocks noChangeAspect="1"/>
          </p:cNvPicPr>
          <p:nvPr/>
        </p:nvPicPr>
        <p:blipFill>
          <a:blip r:embed="rId3"/>
          <a:stretch>
            <a:fillRect/>
          </a:stretch>
        </p:blipFill>
        <p:spPr>
          <a:xfrm>
            <a:off x="731520" y="19226276"/>
            <a:ext cx="20482560" cy="4663440"/>
          </a:xfrm>
          <a:prstGeom prst="rect">
            <a:avLst/>
          </a:prstGeom>
        </p:spPr>
      </p:pic>
      <p:sp>
        <p:nvSpPr>
          <p:cNvPr id="36" name="TextBox 35"/>
          <p:cNvSpPr txBox="1"/>
          <p:nvPr/>
        </p:nvSpPr>
        <p:spPr>
          <a:xfrm>
            <a:off x="731520" y="23999443"/>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66727E"/>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37" name="TextBox 36"/>
          <p:cNvSpPr txBox="1"/>
          <p:nvPr/>
        </p:nvSpPr>
        <p:spPr>
          <a:xfrm>
            <a:off x="731520" y="2507462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38" name="TextBox 37"/>
          <p:cNvSpPr txBox="1"/>
          <p:nvPr/>
        </p:nvSpPr>
        <p:spPr>
          <a:xfrm>
            <a:off x="21579840" y="1292098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Robots on the platform today</a:t>
            </a:r>
          </a:p>
        </p:txBody>
      </p:sp>
      <p:sp>
        <p:nvSpPr>
          <p:cNvPr id="39" name="Rectangle 38"/>
          <p:cNvSpPr/>
          <p:nvPr/>
        </p:nvSpPr>
        <p:spPr>
          <a:xfrm>
            <a:off x="21579840" y="1351534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579840" y="1384452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1" name="TextBox 40"/>
          <p:cNvSpPr txBox="1"/>
          <p:nvPr/>
        </p:nvSpPr>
        <p:spPr>
          <a:xfrm>
            <a:off x="21579840" y="1629359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Ask a dataset what it is good for</a:t>
            </a:r>
          </a:p>
        </p:txBody>
      </p:sp>
      <p:sp>
        <p:nvSpPr>
          <p:cNvPr id="42" name="Rectangle 41"/>
          <p:cNvSpPr/>
          <p:nvPr/>
        </p:nvSpPr>
        <p:spPr>
          <a:xfrm>
            <a:off x="21579840" y="1688795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579840" y="17217136"/>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4" name="TextBox 43"/>
          <p:cNvSpPr txBox="1"/>
          <p:nvPr/>
        </p:nvSpPr>
        <p:spPr>
          <a:xfrm>
            <a:off x="21579840" y="1932533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On disk today</a:t>
            </a:r>
          </a:p>
        </p:txBody>
      </p:sp>
      <p:sp>
        <p:nvSpPr>
          <p:cNvPr id="45" name="Rectangle 44"/>
          <p:cNvSpPr/>
          <p:nvPr/>
        </p:nvSpPr>
        <p:spPr>
          <a:xfrm>
            <a:off x="21579840" y="1991969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579840" y="20248879"/>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Two robots have put 2,686 camera frames and 91,955 telemetry rows across nine streams onto the platform, over 26 drives, with 342 m of GPS track from 1,502 fixes. None of the frames is labelled.</a:t>
            </a:r>
          </a:p>
        </p:txBody>
      </p:sp>
      <p:sp>
        <p:nvSpPr>
          <p:cNvPr id="47" name="TextBox 46"/>
          <p:cNvSpPr txBox="1"/>
          <p:nvPr/>
        </p:nvSpPr>
        <p:spPr>
          <a:xfrm>
            <a:off x="21579840" y="2201621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Asked something it had never seen</a:t>
            </a:r>
          </a:p>
        </p:txBody>
      </p:sp>
      <p:sp>
        <p:nvSpPr>
          <p:cNvPr id="48" name="Rectangle 47"/>
          <p:cNvSpPr/>
          <p:nvPr/>
        </p:nvSpPr>
        <p:spPr>
          <a:xfrm>
            <a:off x="21579840" y="2261057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579840" y="22939755"/>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50" name="TextBox 49"/>
          <p:cNvSpPr txBox="1"/>
          <p:nvPr/>
        </p:nvSpPr>
        <p:spPr>
          <a:xfrm>
            <a:off x="21579840" y="2538882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More web data, less accuracy</a:t>
            </a:r>
          </a:p>
        </p:txBody>
      </p:sp>
      <p:sp>
        <p:nvSpPr>
          <p:cNvPr id="51" name="Rectangle 50"/>
          <p:cNvSpPr/>
          <p:nvPr/>
        </p:nvSpPr>
        <p:spPr>
          <a:xfrm>
            <a:off x="21579840" y="2598318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579840" y="2631236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3" name="TextBox 52"/>
          <p:cNvSpPr txBox="1"/>
          <p:nvPr/>
        </p:nvSpPr>
        <p:spPr>
          <a:xfrm>
            <a:off x="32552640" y="1292098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A drive becomes a dataset as it opens</a:t>
            </a:r>
          </a:p>
        </p:txBody>
      </p:sp>
      <p:sp>
        <p:nvSpPr>
          <p:cNvPr id="54" name="Rectangle 53"/>
          <p:cNvSpPr/>
          <p:nvPr/>
        </p:nvSpPr>
        <p:spPr>
          <a:xfrm>
            <a:off x="32552640" y="1351534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552640" y="1384452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56" name="TextBox 55"/>
          <p:cNvSpPr txBox="1"/>
          <p:nvPr/>
        </p:nvSpPr>
        <p:spPr>
          <a:xfrm>
            <a:off x="32552640" y="1629359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Four frames, as recorded</a:t>
            </a:r>
          </a:p>
        </p:txBody>
      </p:sp>
      <p:sp>
        <p:nvSpPr>
          <p:cNvPr id="57" name="Rectangle 56"/>
          <p:cNvSpPr/>
          <p:nvPr/>
        </p:nvSpPr>
        <p:spPr>
          <a:xfrm>
            <a:off x="32552640" y="1688795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l_robots.png"/>
          <p:cNvPicPr>
            <a:picLocks noChangeAspect="1"/>
          </p:cNvPicPr>
          <p:nvPr/>
        </p:nvPicPr>
        <p:blipFill>
          <a:blip r:embed="rId4"/>
          <a:stretch>
            <a:fillRect/>
          </a:stretch>
        </p:blipFill>
        <p:spPr>
          <a:xfrm>
            <a:off x="32552640" y="17217136"/>
            <a:ext cx="10607040" cy="2377440"/>
          </a:xfrm>
          <a:prstGeom prst="rect">
            <a:avLst/>
          </a:prstGeom>
        </p:spPr>
      </p:pic>
      <p:sp>
        <p:nvSpPr>
          <p:cNvPr id="59" name="TextBox 58"/>
          <p:cNvSpPr txBox="1"/>
          <p:nvPr/>
        </p:nvSpPr>
        <p:spPr>
          <a:xfrm>
            <a:off x="32552640" y="19704304"/>
            <a:ext cx="10607040" cy="365760"/>
          </a:xfrm>
          <a:prstGeom prst="rect">
            <a:avLst/>
          </a:prstGeom>
          <a:noFill/>
        </p:spPr>
        <p:txBody>
          <a:bodyPr wrap="square" lIns="0" rIns="0" tIns="0" bIns="0">
            <a:spAutoFit/>
          </a:bodyPr>
          <a:lstStyle/>
          <a:p>
            <a:pPr algn="l">
              <a:lnSpc>
                <a:spcPct val="118000"/>
              </a:lnSpc>
              <a:spcAft>
                <a:spcPts val="0"/>
              </a:spcAft>
            </a:pPr>
            <a:r>
              <a:rPr sz="1700" b="0">
                <a:solidFill>
                  <a:srgbClr val="66727E"/>
                </a:solidFill>
                <a:latin typeface="Arial"/>
              </a:rPr>
              <a:t>Figure 4.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0" name="TextBox 59"/>
          <p:cNvSpPr txBox="1"/>
          <p:nvPr/>
        </p:nvSpPr>
        <p:spPr>
          <a:xfrm>
            <a:off x="32552640" y="21034248"/>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Nothing here is enhanced and nothing is labelled. The rectangle in the cart's down camera is a fixed work-zone overlay: it sits at the same pixels on frames with no vegetation in them at all.</a:t>
            </a:r>
          </a:p>
        </p:txBody>
      </p:sp>
      <p:sp>
        <p:nvSpPr>
          <p:cNvPr id="61" name="TextBox 60"/>
          <p:cNvSpPr txBox="1"/>
          <p:nvPr/>
        </p:nvSpPr>
        <p:spPr>
          <a:xfrm>
            <a:off x="32552640" y="2280158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Only one robot has the button</a:t>
            </a:r>
          </a:p>
        </p:txBody>
      </p:sp>
      <p:sp>
        <p:nvSpPr>
          <p:cNvPr id="62" name="Rectangle 61"/>
          <p:cNvSpPr/>
          <p:nvPr/>
        </p:nvSpPr>
        <p:spPr>
          <a:xfrm>
            <a:off x="32552640" y="2339594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552640" y="23725124"/>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64" name="TextBox 63"/>
          <p:cNvSpPr txBox="1"/>
          <p:nvPr/>
        </p:nvSpPr>
        <p:spPr>
          <a:xfrm>
            <a:off x="32552640" y="2583332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F3A45"/>
                </a:solidFill>
                <a:latin typeface="Georgia"/>
              </a:rPr>
              <a:t>Which decisions a model makes</a:t>
            </a:r>
          </a:p>
        </p:txBody>
      </p:sp>
      <p:sp>
        <p:nvSpPr>
          <p:cNvPr id="65" name="Rectangle 64"/>
          <p:cNvSpPr/>
          <p:nvPr/>
        </p:nvSpPr>
        <p:spPr>
          <a:xfrm>
            <a:off x="32552640" y="2642768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552640" y="26756868"/>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430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67" name="Rectangle 66"/>
          <p:cNvSpPr/>
          <p:nvPr/>
        </p:nvSpPr>
        <p:spPr>
          <a:xfrm>
            <a:off x="731520" y="30632400"/>
            <a:ext cx="42428160" cy="20116"/>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6727E"/>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9" name="TextBox 68"/>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6727E"/>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70" name="TextBox 69"/>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6727E"/>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