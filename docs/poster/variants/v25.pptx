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9000" b="1">
                <a:solidFill>
                  <a:srgbClr val="111111"/>
                </a:solidFill>
                <a:latin typeface="Times New Roman"/>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11111"/>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D0D0D0"/>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11111"/>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9" name="Picture 8" descr="n_system.png"/>
          <p:cNvPicPr>
            <a:picLocks noChangeAspect="1"/>
          </p:cNvPicPr>
          <p:nvPr/>
        </p:nvPicPr>
        <p:blipFill>
          <a:blip r:embed="rId2"/>
          <a:stretch>
            <a:fillRect/>
          </a:stretch>
        </p:blipFill>
        <p:spPr>
          <a:xfrm>
            <a:off x="22677120" y="5820663"/>
            <a:ext cx="20482560" cy="3383280"/>
          </a:xfrm>
          <a:prstGeom prst="rect">
            <a:avLst/>
          </a:prstGeom>
        </p:spPr>
      </p:pic>
      <p:sp>
        <p:nvSpPr>
          <p:cNvPr id="10" name="TextBox 9"/>
          <p:cNvSpPr txBox="1"/>
          <p:nvPr/>
        </p:nvSpPr>
        <p:spPr>
          <a:xfrm>
            <a:off x="22677120" y="9313671"/>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1.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11" name="TextBox 10"/>
          <p:cNvSpPr txBox="1"/>
          <p:nvPr/>
        </p:nvSpPr>
        <p:spPr>
          <a:xfrm>
            <a:off x="731520" y="1043330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One platform for every robot the lab owns</a:t>
            </a:r>
          </a:p>
        </p:txBody>
      </p:sp>
      <p:sp>
        <p:nvSpPr>
          <p:cNvPr id="12" name="Rectangle 11"/>
          <p:cNvSpPr/>
          <p:nvPr/>
        </p:nvSpPr>
        <p:spPr>
          <a:xfrm>
            <a:off x="731520" y="1099464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13238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4" name="TextBox 13"/>
          <p:cNvSpPr txBox="1"/>
          <p:nvPr/>
        </p:nvSpPr>
        <p:spPr>
          <a:xfrm>
            <a:off x="731520" y="1343507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Driving a robot from a browser</a:t>
            </a:r>
          </a:p>
        </p:txBody>
      </p:sp>
      <p:sp>
        <p:nvSpPr>
          <p:cNvPr id="15" name="Rectangle 14"/>
          <p:cNvSpPr/>
          <p:nvPr/>
        </p:nvSpPr>
        <p:spPr>
          <a:xfrm>
            <a:off x="731520" y="1399641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432559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17" name="TextBox 16"/>
          <p:cNvSpPr txBox="1"/>
          <p:nvPr/>
        </p:nvSpPr>
        <p:spPr>
          <a:xfrm>
            <a:off x="731520" y="1643684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Four frames, as recorded</a:t>
            </a:r>
          </a:p>
        </p:txBody>
      </p:sp>
      <p:sp>
        <p:nvSpPr>
          <p:cNvPr id="18" name="Rectangle 17"/>
          <p:cNvSpPr/>
          <p:nvPr/>
        </p:nvSpPr>
        <p:spPr>
          <a:xfrm>
            <a:off x="731520" y="1699818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_robots.png"/>
          <p:cNvPicPr>
            <a:picLocks noChangeAspect="1"/>
          </p:cNvPicPr>
          <p:nvPr/>
        </p:nvPicPr>
        <p:blipFill>
          <a:blip r:embed="rId3"/>
          <a:stretch>
            <a:fillRect/>
          </a:stretch>
        </p:blipFill>
        <p:spPr>
          <a:xfrm>
            <a:off x="731520" y="17327372"/>
            <a:ext cx="10607040" cy="2377440"/>
          </a:xfrm>
          <a:prstGeom prst="rect">
            <a:avLst/>
          </a:prstGeom>
        </p:spPr>
      </p:pic>
      <p:sp>
        <p:nvSpPr>
          <p:cNvPr id="20" name="TextBox 19"/>
          <p:cNvSpPr txBox="1"/>
          <p:nvPr/>
        </p:nvSpPr>
        <p:spPr>
          <a:xfrm>
            <a:off x="731520" y="19814540"/>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3.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21" name="TextBox 20"/>
          <p:cNvSpPr txBox="1"/>
          <p:nvPr/>
        </p:nvSpPr>
        <p:spPr>
          <a:xfrm>
            <a:off x="731520" y="2108454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Nothing here is enhanced and nothing is labelled. The rectangle in the cart's down camera is a fixed work-zone overlay: it sits at the same pixels on frames with no vegetation in them at all.</a:t>
            </a:r>
          </a:p>
        </p:txBody>
      </p:sp>
      <p:sp>
        <p:nvSpPr>
          <p:cNvPr id="22" name="TextBox 21"/>
          <p:cNvSpPr txBox="1"/>
          <p:nvPr/>
        </p:nvSpPr>
        <p:spPr>
          <a:xfrm>
            <a:off x="731520" y="2257602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Only one robot has the button</a:t>
            </a:r>
          </a:p>
        </p:txBody>
      </p:sp>
      <p:sp>
        <p:nvSpPr>
          <p:cNvPr id="23" name="Rectangle 22"/>
          <p:cNvSpPr/>
          <p:nvPr/>
        </p:nvSpPr>
        <p:spPr>
          <a:xfrm>
            <a:off x="731520" y="2313736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346655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25" name="TextBox 24"/>
          <p:cNvSpPr txBox="1"/>
          <p:nvPr/>
        </p:nvSpPr>
        <p:spPr>
          <a:xfrm>
            <a:off x="731520" y="2526792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Which decisions a model makes</a:t>
            </a:r>
          </a:p>
        </p:txBody>
      </p:sp>
      <p:sp>
        <p:nvSpPr>
          <p:cNvPr id="26" name="Rectangle 25"/>
          <p:cNvSpPr/>
          <p:nvPr/>
        </p:nvSpPr>
        <p:spPr>
          <a:xfrm>
            <a:off x="731520" y="2582926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615844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28" name="TextBox 27"/>
          <p:cNvSpPr txBox="1"/>
          <p:nvPr/>
        </p:nvSpPr>
        <p:spPr>
          <a:xfrm>
            <a:off x="11704320" y="1043330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Robots on the platform today</a:t>
            </a:r>
          </a:p>
        </p:txBody>
      </p:sp>
      <p:sp>
        <p:nvSpPr>
          <p:cNvPr id="29" name="Rectangle 28"/>
          <p:cNvSpPr/>
          <p:nvPr/>
        </p:nvSpPr>
        <p:spPr>
          <a:xfrm>
            <a:off x="11704320" y="1099464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704320" y="113238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31" name="TextBox 30"/>
          <p:cNvSpPr txBox="1"/>
          <p:nvPr/>
        </p:nvSpPr>
        <p:spPr>
          <a:xfrm>
            <a:off x="11704320" y="1343507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Ask a dataset what it is good for</a:t>
            </a:r>
          </a:p>
        </p:txBody>
      </p:sp>
      <p:sp>
        <p:nvSpPr>
          <p:cNvPr id="32" name="Rectangle 31"/>
          <p:cNvSpPr/>
          <p:nvPr/>
        </p:nvSpPr>
        <p:spPr>
          <a:xfrm>
            <a:off x="11704320" y="1399641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704320" y="1432559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4" name="TextBox 33"/>
          <p:cNvSpPr txBox="1"/>
          <p:nvPr/>
        </p:nvSpPr>
        <p:spPr>
          <a:xfrm>
            <a:off x="11704320" y="1612696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On disk today</a:t>
            </a:r>
          </a:p>
        </p:txBody>
      </p:sp>
      <p:sp>
        <p:nvSpPr>
          <p:cNvPr id="35" name="Rectangle 34"/>
          <p:cNvSpPr/>
          <p:nvPr/>
        </p:nvSpPr>
        <p:spPr>
          <a:xfrm>
            <a:off x="11704320" y="1668830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04320" y="1701749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Two robots have put 2,686 camera frames and 91,955 telemetry rows across nine streams onto the platform, over 26 drives, with 342 m of GPS track from 1,502 fixes. None of the frames is labelled.</a:t>
            </a:r>
          </a:p>
        </p:txBody>
      </p:sp>
      <p:sp>
        <p:nvSpPr>
          <p:cNvPr id="37" name="TextBox 36"/>
          <p:cNvSpPr txBox="1"/>
          <p:nvPr/>
        </p:nvSpPr>
        <p:spPr>
          <a:xfrm>
            <a:off x="11704320" y="1850898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Asked something it had never seen</a:t>
            </a:r>
          </a:p>
        </p:txBody>
      </p:sp>
      <p:sp>
        <p:nvSpPr>
          <p:cNvPr id="38" name="Rectangle 37"/>
          <p:cNvSpPr/>
          <p:nvPr/>
        </p:nvSpPr>
        <p:spPr>
          <a:xfrm>
            <a:off x="11704320" y="1907032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704320" y="1939950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40" name="TextBox 39"/>
          <p:cNvSpPr txBox="1"/>
          <p:nvPr/>
        </p:nvSpPr>
        <p:spPr>
          <a:xfrm>
            <a:off x="11704320" y="212008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More web data, less accuracy</a:t>
            </a:r>
          </a:p>
        </p:txBody>
      </p:sp>
      <p:sp>
        <p:nvSpPr>
          <p:cNvPr id="41" name="Rectangle 40"/>
          <p:cNvSpPr/>
          <p:nvPr/>
        </p:nvSpPr>
        <p:spPr>
          <a:xfrm>
            <a:off x="11704320" y="2176221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704320" y="2209139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43" name="TextBox 42"/>
          <p:cNvSpPr txBox="1"/>
          <p:nvPr/>
        </p:nvSpPr>
        <p:spPr>
          <a:xfrm>
            <a:off x="22677120" y="1043330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A drive becomes a dataset as it opens</a:t>
            </a:r>
          </a:p>
        </p:txBody>
      </p:sp>
      <p:sp>
        <p:nvSpPr>
          <p:cNvPr id="44" name="Rectangle 43"/>
          <p:cNvSpPr/>
          <p:nvPr/>
        </p:nvSpPr>
        <p:spPr>
          <a:xfrm>
            <a:off x="22677120" y="10994643"/>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677120" y="1132382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46" name="TextBox 45"/>
          <p:cNvSpPr txBox="1"/>
          <p:nvPr/>
        </p:nvSpPr>
        <p:spPr>
          <a:xfrm>
            <a:off x="22677120" y="12505435"/>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Left alone for fifteen rounds</a:t>
            </a:r>
          </a:p>
        </p:txBody>
      </p:sp>
      <p:sp>
        <p:nvSpPr>
          <p:cNvPr id="47" name="Rectangle 46"/>
          <p:cNvSpPr/>
          <p:nvPr/>
        </p:nvSpPr>
        <p:spPr>
          <a:xfrm>
            <a:off x="22677120" y="13066775"/>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f_rounds.png"/>
          <p:cNvPicPr>
            <a:picLocks noChangeAspect="1"/>
          </p:cNvPicPr>
          <p:nvPr/>
        </p:nvPicPr>
        <p:blipFill>
          <a:blip r:embed="rId4"/>
          <a:stretch>
            <a:fillRect/>
          </a:stretch>
        </p:blipFill>
        <p:spPr>
          <a:xfrm>
            <a:off x="22677120" y="13395959"/>
            <a:ext cx="20482560" cy="4663440"/>
          </a:xfrm>
          <a:prstGeom prst="rect">
            <a:avLst/>
          </a:prstGeom>
        </p:spPr>
      </p:pic>
      <p:sp>
        <p:nvSpPr>
          <p:cNvPr id="49" name="TextBox 48"/>
          <p:cNvSpPr txBox="1"/>
          <p:nvPr/>
        </p:nvSpPr>
        <p:spPr>
          <a:xfrm>
            <a:off x="22677120" y="18169127"/>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4.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50" name="TextBox 49"/>
          <p:cNvSpPr txBox="1"/>
          <p:nvPr/>
        </p:nvSpPr>
        <p:spPr>
          <a:xfrm>
            <a:off x="22677120" y="19199351"/>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51" name="TextBox 50"/>
          <p:cNvSpPr txBox="1"/>
          <p:nvPr/>
        </p:nvSpPr>
        <p:spPr>
          <a:xfrm>
            <a:off x="22677120" y="20690840"/>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Times New Roman"/>
              </a:rPr>
              <a:t>Everything we trained, ran, or rejected</a:t>
            </a:r>
          </a:p>
        </p:txBody>
      </p:sp>
      <p:sp>
        <p:nvSpPr>
          <p:cNvPr id="52" name="Rectangle 51"/>
          <p:cNvSpPr/>
          <p:nvPr/>
        </p:nvSpPr>
        <p:spPr>
          <a:xfrm>
            <a:off x="22677120" y="21252180"/>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m_ledger.png"/>
          <p:cNvPicPr>
            <a:picLocks noChangeAspect="1"/>
          </p:cNvPicPr>
          <p:nvPr/>
        </p:nvPicPr>
        <p:blipFill>
          <a:blip r:embed="rId5"/>
          <a:stretch>
            <a:fillRect/>
          </a:stretch>
        </p:blipFill>
        <p:spPr>
          <a:xfrm>
            <a:off x="22677120" y="21581364"/>
            <a:ext cx="20482560" cy="3749040"/>
          </a:xfrm>
          <a:prstGeom prst="rect">
            <a:avLst/>
          </a:prstGeom>
        </p:spPr>
      </p:pic>
      <p:sp>
        <p:nvSpPr>
          <p:cNvPr id="54" name="TextBox 53"/>
          <p:cNvSpPr txBox="1"/>
          <p:nvPr/>
        </p:nvSpPr>
        <p:spPr>
          <a:xfrm>
            <a:off x="22677120" y="25440132"/>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5.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55" name="TextBox 54"/>
          <p:cNvSpPr txBox="1"/>
          <p:nvPr/>
        </p:nvSpPr>
        <p:spPr>
          <a:xfrm>
            <a:off x="22677120" y="26470356"/>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56" name="Rectangle 55"/>
          <p:cNvSpPr/>
          <p:nvPr/>
        </p:nvSpPr>
        <p:spPr>
          <a:xfrm>
            <a:off x="731520" y="30632400"/>
            <a:ext cx="42428160" cy="20116"/>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58" name="TextBox 57"/>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59" name="TextBox 58"/>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