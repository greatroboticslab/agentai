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9000" b="1">
                <a:solidFill>
                  <a:srgbClr val="111111"/>
                </a:solidFill>
                <a:latin typeface="Times New Roman"/>
              </a:rPr>
              <a:t>agentAI: A Research-Data Platform for Physical and Embodied Agents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11111"/>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D0D0D0"/>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11111"/>
                </a:solidFill>
                <a:latin typeface="Times New Roman"/>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9" name="Picture 8" descr="n_system.png"/>
          <p:cNvPicPr>
            <a:picLocks noChangeAspect="1"/>
          </p:cNvPicPr>
          <p:nvPr/>
        </p:nvPicPr>
        <p:blipFill>
          <a:blip r:embed="rId2"/>
          <a:stretch>
            <a:fillRect/>
          </a:stretch>
        </p:blipFill>
        <p:spPr>
          <a:xfrm>
            <a:off x="22677120" y="5820663"/>
            <a:ext cx="20482560" cy="3383280"/>
          </a:xfrm>
          <a:prstGeom prst="rect">
            <a:avLst/>
          </a:prstGeom>
        </p:spPr>
      </p:pic>
      <p:sp>
        <p:nvSpPr>
          <p:cNvPr id="10" name="TextBox 9"/>
          <p:cNvSpPr txBox="1"/>
          <p:nvPr/>
        </p:nvSpPr>
        <p:spPr>
          <a:xfrm>
            <a:off x="22677120" y="9313671"/>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1.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11" name="TextBox 10"/>
          <p:cNvSpPr txBox="1"/>
          <p:nvPr/>
        </p:nvSpPr>
        <p:spPr>
          <a:xfrm>
            <a:off x="731520" y="104333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One platform for every robot the lab owns</a:t>
            </a:r>
          </a:p>
        </p:txBody>
      </p:sp>
      <p:sp>
        <p:nvSpPr>
          <p:cNvPr id="12" name="Rectangle 11"/>
          <p:cNvSpPr/>
          <p:nvPr/>
        </p:nvSpPr>
        <p:spPr>
          <a:xfrm>
            <a:off x="731520" y="1099464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13238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4" name="TextBox 13"/>
          <p:cNvSpPr txBox="1"/>
          <p:nvPr/>
        </p:nvSpPr>
        <p:spPr>
          <a:xfrm>
            <a:off x="731520" y="13435075"/>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Times New Roman"/>
              </a:rPr>
              <a:t>1,389</a:t>
            </a:r>
          </a:p>
        </p:txBody>
      </p:sp>
      <p:sp>
        <p:nvSpPr>
          <p:cNvPr id="15" name="TextBox 14"/>
          <p:cNvSpPr txBox="1"/>
          <p:nvPr/>
        </p:nvSpPr>
        <p:spPr>
          <a:xfrm>
            <a:off x="731520" y="14238223"/>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joystick commands through the platform</a:t>
            </a:r>
          </a:p>
        </p:txBody>
      </p:sp>
      <p:sp>
        <p:nvSpPr>
          <p:cNvPr id="16" name="TextBox 15"/>
          <p:cNvSpPr txBox="1"/>
          <p:nvPr/>
        </p:nvSpPr>
        <p:spPr>
          <a:xfrm>
            <a:off x="731520" y="1470863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Driving a robot from a browser</a:t>
            </a:r>
          </a:p>
        </p:txBody>
      </p:sp>
      <p:sp>
        <p:nvSpPr>
          <p:cNvPr id="17" name="Rectangle 16"/>
          <p:cNvSpPr/>
          <p:nvPr/>
        </p:nvSpPr>
        <p:spPr>
          <a:xfrm>
            <a:off x="731520" y="1526997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559915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19" name="TextBox 18"/>
          <p:cNvSpPr txBox="1"/>
          <p:nvPr/>
        </p:nvSpPr>
        <p:spPr>
          <a:xfrm>
            <a:off x="731520" y="1771040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Four frames, as recorded</a:t>
            </a:r>
          </a:p>
        </p:txBody>
      </p:sp>
      <p:sp>
        <p:nvSpPr>
          <p:cNvPr id="20" name="Rectangle 19"/>
          <p:cNvSpPr/>
          <p:nvPr/>
        </p:nvSpPr>
        <p:spPr>
          <a:xfrm>
            <a:off x="731520" y="1827174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_robots.png"/>
          <p:cNvPicPr>
            <a:picLocks noChangeAspect="1"/>
          </p:cNvPicPr>
          <p:nvPr/>
        </p:nvPicPr>
        <p:blipFill>
          <a:blip r:embed="rId3"/>
          <a:stretch>
            <a:fillRect/>
          </a:stretch>
        </p:blipFill>
        <p:spPr>
          <a:xfrm>
            <a:off x="731520" y="18600928"/>
            <a:ext cx="10607040" cy="2377440"/>
          </a:xfrm>
          <a:prstGeom prst="rect">
            <a:avLst/>
          </a:prstGeom>
        </p:spPr>
      </p:pic>
      <p:sp>
        <p:nvSpPr>
          <p:cNvPr id="22" name="TextBox 21"/>
          <p:cNvSpPr txBox="1"/>
          <p:nvPr/>
        </p:nvSpPr>
        <p:spPr>
          <a:xfrm>
            <a:off x="731520" y="21088096"/>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3.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23" name="TextBox 22"/>
          <p:cNvSpPr txBox="1"/>
          <p:nvPr/>
        </p:nvSpPr>
        <p:spPr>
          <a:xfrm>
            <a:off x="731520" y="223580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Nothing here is enhanced and nothing is labelled. The rectangle in the cart's down camera is a fixed work-zone overlay: it sits at the same pixels on frames with no vegetation in them at all.</a:t>
            </a:r>
          </a:p>
        </p:txBody>
      </p:sp>
      <p:sp>
        <p:nvSpPr>
          <p:cNvPr id="24" name="TextBox 23"/>
          <p:cNvSpPr txBox="1"/>
          <p:nvPr/>
        </p:nvSpPr>
        <p:spPr>
          <a:xfrm>
            <a:off x="731520" y="2384958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Only one robot has the button</a:t>
            </a:r>
          </a:p>
        </p:txBody>
      </p:sp>
      <p:sp>
        <p:nvSpPr>
          <p:cNvPr id="25" name="Rectangle 24"/>
          <p:cNvSpPr/>
          <p:nvPr/>
        </p:nvSpPr>
        <p:spPr>
          <a:xfrm>
            <a:off x="731520" y="2441092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2474010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27" name="TextBox 26"/>
          <p:cNvSpPr txBox="1"/>
          <p:nvPr/>
        </p:nvSpPr>
        <p:spPr>
          <a:xfrm>
            <a:off x="731520" y="2654147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Which decisions a model makes</a:t>
            </a:r>
          </a:p>
        </p:txBody>
      </p:sp>
      <p:sp>
        <p:nvSpPr>
          <p:cNvPr id="28" name="Rectangle 27"/>
          <p:cNvSpPr/>
          <p:nvPr/>
        </p:nvSpPr>
        <p:spPr>
          <a:xfrm>
            <a:off x="731520" y="2710281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2743200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30" name="TextBox 29"/>
          <p:cNvSpPr txBox="1"/>
          <p:nvPr/>
        </p:nvSpPr>
        <p:spPr>
          <a:xfrm>
            <a:off x="11704320" y="104333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Robots on the platform today</a:t>
            </a:r>
          </a:p>
        </p:txBody>
      </p:sp>
      <p:sp>
        <p:nvSpPr>
          <p:cNvPr id="31" name="Rectangle 30"/>
          <p:cNvSpPr/>
          <p:nvPr/>
        </p:nvSpPr>
        <p:spPr>
          <a:xfrm>
            <a:off x="11704320" y="1099464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04320" y="113238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33" name="TextBox 32"/>
          <p:cNvSpPr txBox="1"/>
          <p:nvPr/>
        </p:nvSpPr>
        <p:spPr>
          <a:xfrm>
            <a:off x="11704320" y="13435075"/>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Times New Roman"/>
              </a:rPr>
              <a:t>14</a:t>
            </a:r>
          </a:p>
        </p:txBody>
      </p:sp>
      <p:sp>
        <p:nvSpPr>
          <p:cNvPr id="34" name="TextBox 33"/>
          <p:cNvSpPr txBox="1"/>
          <p:nvPr/>
        </p:nvSpPr>
        <p:spPr>
          <a:xfrm>
            <a:off x="11704320" y="14238223"/>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analysis tools the planner can choose from</a:t>
            </a:r>
          </a:p>
        </p:txBody>
      </p:sp>
      <p:sp>
        <p:nvSpPr>
          <p:cNvPr id="35" name="TextBox 34"/>
          <p:cNvSpPr txBox="1"/>
          <p:nvPr/>
        </p:nvSpPr>
        <p:spPr>
          <a:xfrm>
            <a:off x="11704320" y="1470863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Ask a dataset what it is good for</a:t>
            </a:r>
          </a:p>
        </p:txBody>
      </p:sp>
      <p:sp>
        <p:nvSpPr>
          <p:cNvPr id="36" name="Rectangle 35"/>
          <p:cNvSpPr/>
          <p:nvPr/>
        </p:nvSpPr>
        <p:spPr>
          <a:xfrm>
            <a:off x="11704320" y="1526997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704320" y="1559915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8" name="TextBox 37"/>
          <p:cNvSpPr txBox="1"/>
          <p:nvPr/>
        </p:nvSpPr>
        <p:spPr>
          <a:xfrm>
            <a:off x="11704320" y="1740052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On disk today</a:t>
            </a:r>
          </a:p>
        </p:txBody>
      </p:sp>
      <p:sp>
        <p:nvSpPr>
          <p:cNvPr id="39" name="Rectangle 38"/>
          <p:cNvSpPr/>
          <p:nvPr/>
        </p:nvSpPr>
        <p:spPr>
          <a:xfrm>
            <a:off x="11704320" y="1796186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04320" y="1829104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Two robots have put 2,686 camera frames and 91,955 telemetry rows across nine streams onto the platform, over 26 drives, with 342 m of GPS track from 1,502 fixes. None of the frames is labelled.</a:t>
            </a:r>
          </a:p>
        </p:txBody>
      </p:sp>
      <p:sp>
        <p:nvSpPr>
          <p:cNvPr id="41" name="TextBox 40"/>
          <p:cNvSpPr txBox="1"/>
          <p:nvPr/>
        </p:nvSpPr>
        <p:spPr>
          <a:xfrm>
            <a:off x="11704320" y="1978253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Times New Roman"/>
              </a:rPr>
              <a:t>92</a:t>
            </a:r>
          </a:p>
        </p:txBody>
      </p:sp>
      <p:sp>
        <p:nvSpPr>
          <p:cNvPr id="42" name="TextBox 41"/>
          <p:cNvSpPr txBox="1"/>
          <p:nvPr/>
        </p:nvSpPr>
        <p:spPr>
          <a:xfrm>
            <a:off x="11704320" y="20585684"/>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questions asked of a dataset so far</a:t>
            </a:r>
          </a:p>
        </p:txBody>
      </p:sp>
      <p:sp>
        <p:nvSpPr>
          <p:cNvPr id="43" name="TextBox 42"/>
          <p:cNvSpPr txBox="1"/>
          <p:nvPr/>
        </p:nvSpPr>
        <p:spPr>
          <a:xfrm>
            <a:off x="11704320" y="2105609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Asked something it had never seen</a:t>
            </a:r>
          </a:p>
        </p:txBody>
      </p:sp>
      <p:sp>
        <p:nvSpPr>
          <p:cNvPr id="44" name="Rectangle 43"/>
          <p:cNvSpPr/>
          <p:nvPr/>
        </p:nvSpPr>
        <p:spPr>
          <a:xfrm>
            <a:off x="11704320" y="2161743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704320" y="2194661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46" name="TextBox 45"/>
          <p:cNvSpPr txBox="1"/>
          <p:nvPr/>
        </p:nvSpPr>
        <p:spPr>
          <a:xfrm>
            <a:off x="11704320" y="2374798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More web data, less accuracy</a:t>
            </a:r>
          </a:p>
        </p:txBody>
      </p:sp>
      <p:sp>
        <p:nvSpPr>
          <p:cNvPr id="47" name="Rectangle 46"/>
          <p:cNvSpPr/>
          <p:nvPr/>
        </p:nvSpPr>
        <p:spPr>
          <a:xfrm>
            <a:off x="11704320" y="2430932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704320" y="2463850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49" name="TextBox 48"/>
          <p:cNvSpPr txBox="1"/>
          <p:nvPr/>
        </p:nvSpPr>
        <p:spPr>
          <a:xfrm>
            <a:off x="22677120" y="1043330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A drive becomes a dataset as it opens</a:t>
            </a:r>
          </a:p>
        </p:txBody>
      </p:sp>
      <p:sp>
        <p:nvSpPr>
          <p:cNvPr id="50" name="Rectangle 49"/>
          <p:cNvSpPr/>
          <p:nvPr/>
        </p:nvSpPr>
        <p:spPr>
          <a:xfrm>
            <a:off x="22677120" y="10994643"/>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2677120" y="1132382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2" name="TextBox 51"/>
          <p:cNvSpPr txBox="1"/>
          <p:nvPr/>
        </p:nvSpPr>
        <p:spPr>
          <a:xfrm>
            <a:off x="22677120" y="12505435"/>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Left alone for fifteen rounds</a:t>
            </a:r>
          </a:p>
        </p:txBody>
      </p:sp>
      <p:sp>
        <p:nvSpPr>
          <p:cNvPr id="53" name="Rectangle 52"/>
          <p:cNvSpPr/>
          <p:nvPr/>
        </p:nvSpPr>
        <p:spPr>
          <a:xfrm>
            <a:off x="22677120" y="13066775"/>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f_rounds.png"/>
          <p:cNvPicPr>
            <a:picLocks noChangeAspect="1"/>
          </p:cNvPicPr>
          <p:nvPr/>
        </p:nvPicPr>
        <p:blipFill>
          <a:blip r:embed="rId4"/>
          <a:stretch>
            <a:fillRect/>
          </a:stretch>
        </p:blipFill>
        <p:spPr>
          <a:xfrm>
            <a:off x="22677120" y="13395959"/>
            <a:ext cx="20482560" cy="4663440"/>
          </a:xfrm>
          <a:prstGeom prst="rect">
            <a:avLst/>
          </a:prstGeom>
        </p:spPr>
      </p:pic>
      <p:sp>
        <p:nvSpPr>
          <p:cNvPr id="55" name="TextBox 54"/>
          <p:cNvSpPr txBox="1"/>
          <p:nvPr/>
        </p:nvSpPr>
        <p:spPr>
          <a:xfrm>
            <a:off x="22677120" y="18169127"/>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4.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56" name="TextBox 55"/>
          <p:cNvSpPr txBox="1"/>
          <p:nvPr/>
        </p:nvSpPr>
        <p:spPr>
          <a:xfrm>
            <a:off x="22677120" y="19199351"/>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57" name="TextBox 56"/>
          <p:cNvSpPr txBox="1"/>
          <p:nvPr/>
        </p:nvSpPr>
        <p:spPr>
          <a:xfrm>
            <a:off x="22677120" y="20690840"/>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Times New Roman"/>
              </a:rPr>
              <a:t>27</a:t>
            </a:r>
          </a:p>
        </p:txBody>
      </p:sp>
      <p:sp>
        <p:nvSpPr>
          <p:cNvPr id="58" name="TextBox 57"/>
          <p:cNvSpPr txBox="1"/>
          <p:nvPr/>
        </p:nvSpPr>
        <p:spPr>
          <a:xfrm>
            <a:off x="22677120" y="21493988"/>
            <a:ext cx="2048256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distinct models trained, run, or rejected</a:t>
            </a:r>
          </a:p>
        </p:txBody>
      </p:sp>
      <p:sp>
        <p:nvSpPr>
          <p:cNvPr id="59" name="TextBox 58"/>
          <p:cNvSpPr txBox="1"/>
          <p:nvPr/>
        </p:nvSpPr>
        <p:spPr>
          <a:xfrm>
            <a:off x="22677120" y="21964395"/>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Everything we trained, ran, or rejected</a:t>
            </a:r>
          </a:p>
        </p:txBody>
      </p:sp>
      <p:sp>
        <p:nvSpPr>
          <p:cNvPr id="60" name="Rectangle 59"/>
          <p:cNvSpPr/>
          <p:nvPr/>
        </p:nvSpPr>
        <p:spPr>
          <a:xfrm>
            <a:off x="22677120" y="22525735"/>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m_ledger.png"/>
          <p:cNvPicPr>
            <a:picLocks noChangeAspect="1"/>
          </p:cNvPicPr>
          <p:nvPr/>
        </p:nvPicPr>
        <p:blipFill>
          <a:blip r:embed="rId5"/>
          <a:stretch>
            <a:fillRect/>
          </a:stretch>
        </p:blipFill>
        <p:spPr>
          <a:xfrm>
            <a:off x="22677120" y="22854919"/>
            <a:ext cx="20482560" cy="3749040"/>
          </a:xfrm>
          <a:prstGeom prst="rect">
            <a:avLst/>
          </a:prstGeom>
        </p:spPr>
      </p:pic>
      <p:sp>
        <p:nvSpPr>
          <p:cNvPr id="62" name="TextBox 61"/>
          <p:cNvSpPr txBox="1"/>
          <p:nvPr/>
        </p:nvSpPr>
        <p:spPr>
          <a:xfrm>
            <a:off x="22677120" y="26713688"/>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5.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63" name="TextBox 62"/>
          <p:cNvSpPr txBox="1"/>
          <p:nvPr/>
        </p:nvSpPr>
        <p:spPr>
          <a:xfrm>
            <a:off x="22677120" y="27743911"/>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64" name="Rectangle 63"/>
          <p:cNvSpPr/>
          <p:nvPr/>
        </p:nvSpPr>
        <p:spPr>
          <a:xfrm>
            <a:off x="731520" y="30632400"/>
            <a:ext cx="42428160" cy="20116"/>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66" name="TextBox 65"/>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67" name="TextBox 66"/>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