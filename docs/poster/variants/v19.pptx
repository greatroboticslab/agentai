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9200" b="1">
                <a:solidFill>
                  <a:srgbClr val="24303B"/>
                </a:solidFill>
                <a:latin typeface="Arial"/>
              </a:rPr>
              <a:t>agentAI: A Research-Data Platform for Physical and Embodied Agents</a:t>
            </a:r>
          </a:p>
        </p:txBody>
      </p:sp>
      <p:sp>
        <p:nvSpPr>
          <p:cNvPr id="4" name="TextBox 3"/>
          <p:cNvSpPr txBox="1"/>
          <p:nvPr/>
        </p:nvSpPr>
        <p:spPr>
          <a:xfrm>
            <a:off x="731520" y="2240280"/>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24303B"/>
                </a:solidFill>
                <a:latin typeface="Arial"/>
              </a:rPr>
              <a:t>Harry He   ·   Hongbo Zhang</a:t>
            </a:r>
          </a:p>
        </p:txBody>
      </p:sp>
      <p:sp>
        <p:nvSpPr>
          <p:cNvPr id="5" name="TextBox 4"/>
          <p:cNvSpPr txBox="1"/>
          <p:nvPr/>
        </p:nvSpPr>
        <p:spPr>
          <a:xfrm>
            <a:off x="731520" y="2880360"/>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66727E"/>
                </a:solidFill>
                <a:latin typeface="Arial"/>
              </a:rPr>
              <a:t>Department of Engineering Technology   ·   Middle Tennessee State University, Murfreesboro, TN, USA</a:t>
            </a:r>
          </a:p>
        </p:txBody>
      </p:sp>
      <p:sp>
        <p:nvSpPr>
          <p:cNvPr id="6" name="Rectangle 5"/>
          <p:cNvSpPr/>
          <p:nvPr/>
        </p:nvSpPr>
        <p:spPr>
          <a:xfrm>
            <a:off x="731520" y="3749039"/>
            <a:ext cx="42428160" cy="41148"/>
          </a:xfrm>
          <a:prstGeom prst="rect">
            <a:avLst/>
          </a:prstGeom>
          <a:solidFill>
            <a:srgbClr val="2430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400" b="0">
                <a:solidFill>
                  <a:srgbClr val="24303B"/>
                </a:solidFill>
                <a:latin typeface="Arial"/>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sp>
        <p:nvSpPr>
          <p:cNvPr id="8" name="Rectangle 7"/>
          <p:cNvSpPr/>
          <p:nvPr/>
        </p:nvSpPr>
        <p:spPr>
          <a:xfrm>
            <a:off x="731520" y="5820663"/>
            <a:ext cx="42428160" cy="23774"/>
          </a:xfrm>
          <a:prstGeom prst="rect">
            <a:avLst/>
          </a:prstGeom>
          <a:solidFill>
            <a:srgbClr val="CAD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2183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Arial"/>
              </a:rPr>
              <a:t>2,686</a:t>
            </a:r>
          </a:p>
        </p:txBody>
      </p:sp>
      <p:sp>
        <p:nvSpPr>
          <p:cNvPr id="10" name="TextBox 9"/>
          <p:cNvSpPr txBox="1"/>
          <p:nvPr/>
        </p:nvSpPr>
        <p:spPr>
          <a:xfrm>
            <a:off x="731520" y="674725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24303B"/>
                </a:solidFill>
                <a:latin typeface="Arial"/>
              </a:rPr>
              <a:t>camera frames</a:t>
            </a:r>
          </a:p>
        </p:txBody>
      </p:sp>
      <p:sp>
        <p:nvSpPr>
          <p:cNvPr id="11" name="TextBox 10"/>
          <p:cNvSpPr txBox="1"/>
          <p:nvPr/>
        </p:nvSpPr>
        <p:spPr>
          <a:xfrm>
            <a:off x="731520" y="708253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66727E"/>
                </a:solidFill>
                <a:latin typeface="Arial"/>
              </a:rPr>
              <a:t>26 drives, 2 robots, 0 labelled</a:t>
            </a:r>
          </a:p>
        </p:txBody>
      </p:sp>
      <p:sp>
        <p:nvSpPr>
          <p:cNvPr id="12" name="TextBox 11"/>
          <p:cNvSpPr txBox="1"/>
          <p:nvPr/>
        </p:nvSpPr>
        <p:spPr>
          <a:xfrm>
            <a:off x="9317736" y="602183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Arial"/>
              </a:rPr>
              <a:t>91,955</a:t>
            </a:r>
          </a:p>
        </p:txBody>
      </p:sp>
      <p:sp>
        <p:nvSpPr>
          <p:cNvPr id="13" name="TextBox 12"/>
          <p:cNvSpPr txBox="1"/>
          <p:nvPr/>
        </p:nvSpPr>
        <p:spPr>
          <a:xfrm>
            <a:off x="9317736" y="674725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24303B"/>
                </a:solidFill>
                <a:latin typeface="Arial"/>
              </a:rPr>
              <a:t>telemetry rows</a:t>
            </a:r>
          </a:p>
        </p:txBody>
      </p:sp>
      <p:sp>
        <p:nvSpPr>
          <p:cNvPr id="14" name="TextBox 13"/>
          <p:cNvSpPr txBox="1"/>
          <p:nvPr/>
        </p:nvSpPr>
        <p:spPr>
          <a:xfrm>
            <a:off x="9317736" y="708253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66727E"/>
                </a:solidFill>
                <a:latin typeface="Arial"/>
              </a:rPr>
              <a:t>nine streams, counted line by line</a:t>
            </a:r>
          </a:p>
        </p:txBody>
      </p:sp>
      <p:sp>
        <p:nvSpPr>
          <p:cNvPr id="15" name="TextBox 14"/>
          <p:cNvSpPr txBox="1"/>
          <p:nvPr/>
        </p:nvSpPr>
        <p:spPr>
          <a:xfrm>
            <a:off x="17903952" y="602183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Arial"/>
              </a:rPr>
              <a:t>342 m</a:t>
            </a:r>
          </a:p>
        </p:txBody>
      </p:sp>
      <p:sp>
        <p:nvSpPr>
          <p:cNvPr id="16" name="TextBox 15"/>
          <p:cNvSpPr txBox="1"/>
          <p:nvPr/>
        </p:nvSpPr>
        <p:spPr>
          <a:xfrm>
            <a:off x="17903952" y="674725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24303B"/>
                </a:solidFill>
                <a:latin typeface="Arial"/>
              </a:rPr>
              <a:t>of GPS track</a:t>
            </a:r>
          </a:p>
        </p:txBody>
      </p:sp>
      <p:sp>
        <p:nvSpPr>
          <p:cNvPr id="17" name="TextBox 16"/>
          <p:cNvSpPr txBox="1"/>
          <p:nvPr/>
        </p:nvSpPr>
        <p:spPr>
          <a:xfrm>
            <a:off x="17903952" y="708253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66727E"/>
                </a:solidFill>
                <a:latin typeface="Arial"/>
              </a:rPr>
              <a:t>1,502 fixes over 18 drives</a:t>
            </a:r>
          </a:p>
        </p:txBody>
      </p:sp>
      <p:sp>
        <p:nvSpPr>
          <p:cNvPr id="18" name="TextBox 17"/>
          <p:cNvSpPr txBox="1"/>
          <p:nvPr/>
        </p:nvSpPr>
        <p:spPr>
          <a:xfrm>
            <a:off x="26490168" y="602183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Arial"/>
              </a:rPr>
              <a:t>27</a:t>
            </a:r>
          </a:p>
        </p:txBody>
      </p:sp>
      <p:sp>
        <p:nvSpPr>
          <p:cNvPr id="19" name="TextBox 18"/>
          <p:cNvSpPr txBox="1"/>
          <p:nvPr/>
        </p:nvSpPr>
        <p:spPr>
          <a:xfrm>
            <a:off x="26490168" y="674725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24303B"/>
                </a:solidFill>
                <a:latin typeface="Arial"/>
              </a:rPr>
              <a:t>distinct models run</a:t>
            </a:r>
          </a:p>
        </p:txBody>
      </p:sp>
      <p:sp>
        <p:nvSpPr>
          <p:cNvPr id="20" name="TextBox 19"/>
          <p:cNvSpPr txBox="1"/>
          <p:nvPr/>
        </p:nvSpPr>
        <p:spPr>
          <a:xfrm>
            <a:off x="26490168" y="708253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66727E"/>
                </a:solidFill>
                <a:latin typeface="Arial"/>
              </a:rPr>
              <a:t>four families, one deployed</a:t>
            </a:r>
          </a:p>
        </p:txBody>
      </p:sp>
      <p:sp>
        <p:nvSpPr>
          <p:cNvPr id="21" name="TextBox 20"/>
          <p:cNvSpPr txBox="1"/>
          <p:nvPr/>
        </p:nvSpPr>
        <p:spPr>
          <a:xfrm>
            <a:off x="35076384" y="602183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Arial"/>
              </a:rPr>
              <a:t>0</a:t>
            </a:r>
          </a:p>
        </p:txBody>
      </p:sp>
      <p:sp>
        <p:nvSpPr>
          <p:cNvPr id="22" name="TextBox 21"/>
          <p:cNvSpPr txBox="1"/>
          <p:nvPr/>
        </p:nvSpPr>
        <p:spPr>
          <a:xfrm>
            <a:off x="35076384" y="674725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24303B"/>
                </a:solidFill>
                <a:latin typeface="Arial"/>
              </a:rPr>
              <a:t>robot frames labelled</a:t>
            </a:r>
          </a:p>
        </p:txBody>
      </p:sp>
      <p:sp>
        <p:nvSpPr>
          <p:cNvPr id="23" name="TextBox 22"/>
          <p:cNvSpPr txBox="1"/>
          <p:nvPr/>
        </p:nvSpPr>
        <p:spPr>
          <a:xfrm>
            <a:off x="35076384" y="708253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66727E"/>
                </a:solidFill>
                <a:latin typeface="Arial"/>
              </a:rPr>
              <a:t>the whole archive, so far</a:t>
            </a:r>
          </a:p>
        </p:txBody>
      </p:sp>
      <p:sp>
        <p:nvSpPr>
          <p:cNvPr id="24" name="Rectangle 23"/>
          <p:cNvSpPr/>
          <p:nvPr/>
        </p:nvSpPr>
        <p:spPr>
          <a:xfrm>
            <a:off x="731520" y="7440167"/>
            <a:ext cx="42428160" cy="23774"/>
          </a:xfrm>
          <a:prstGeom prst="rect">
            <a:avLst/>
          </a:prstGeom>
          <a:solidFill>
            <a:srgbClr val="CAD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7933943"/>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Arial"/>
              </a:rPr>
              <a:t>One platform for every robot the lab owns</a:t>
            </a:r>
          </a:p>
        </p:txBody>
      </p:sp>
      <p:sp>
        <p:nvSpPr>
          <p:cNvPr id="26" name="Rectangle 25"/>
          <p:cNvSpPr/>
          <p:nvPr/>
        </p:nvSpPr>
        <p:spPr>
          <a:xfrm>
            <a:off x="731520" y="8495284"/>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8824467"/>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28" name="TextBox 27"/>
          <p:cNvSpPr txBox="1"/>
          <p:nvPr/>
        </p:nvSpPr>
        <p:spPr>
          <a:xfrm>
            <a:off x="731520" y="10315955"/>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Arial"/>
              </a:rPr>
              <a:t>Driving a robot from a browser</a:t>
            </a:r>
          </a:p>
        </p:txBody>
      </p:sp>
      <p:sp>
        <p:nvSpPr>
          <p:cNvPr id="29" name="Rectangle 28"/>
          <p:cNvSpPr/>
          <p:nvPr/>
        </p:nvSpPr>
        <p:spPr>
          <a:xfrm>
            <a:off x="731520" y="10877295"/>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11206479"/>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31" name="TextBox 30"/>
          <p:cNvSpPr txBox="1"/>
          <p:nvPr/>
        </p:nvSpPr>
        <p:spPr>
          <a:xfrm>
            <a:off x="731520" y="12697967"/>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Arial"/>
              </a:rPr>
              <a:t>Left alone for fifteen rounds</a:t>
            </a:r>
          </a:p>
        </p:txBody>
      </p:sp>
      <p:sp>
        <p:nvSpPr>
          <p:cNvPr id="32" name="Rectangle 31"/>
          <p:cNvSpPr/>
          <p:nvPr/>
        </p:nvSpPr>
        <p:spPr>
          <a:xfrm>
            <a:off x="731520" y="13259307"/>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f_rounds.png"/>
          <p:cNvPicPr>
            <a:picLocks noChangeAspect="1"/>
          </p:cNvPicPr>
          <p:nvPr/>
        </p:nvPicPr>
        <p:blipFill>
          <a:blip r:embed="rId2"/>
          <a:stretch>
            <a:fillRect/>
          </a:stretch>
        </p:blipFill>
        <p:spPr>
          <a:xfrm>
            <a:off x="731520" y="13588491"/>
            <a:ext cx="20482560" cy="4663440"/>
          </a:xfrm>
          <a:prstGeom prst="rect">
            <a:avLst/>
          </a:prstGeom>
        </p:spPr>
      </p:pic>
      <p:sp>
        <p:nvSpPr>
          <p:cNvPr id="34" name="TextBox 33"/>
          <p:cNvSpPr txBox="1"/>
          <p:nvPr/>
        </p:nvSpPr>
        <p:spPr>
          <a:xfrm>
            <a:off x="731520" y="18361659"/>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66727E"/>
                </a:solidFill>
                <a:latin typeface="Arial"/>
              </a:rPr>
              <a:t>Figure 1.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35" name="TextBox 34"/>
          <p:cNvSpPr txBox="1"/>
          <p:nvPr/>
        </p:nvSpPr>
        <p:spPr>
          <a:xfrm>
            <a:off x="731520" y="19391883"/>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36" name="TextBox 35"/>
          <p:cNvSpPr txBox="1"/>
          <p:nvPr/>
        </p:nvSpPr>
        <p:spPr>
          <a:xfrm>
            <a:off x="731520" y="20883371"/>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Arial"/>
              </a:rPr>
              <a:t>Everything we trained, ran, or rejected</a:t>
            </a:r>
          </a:p>
        </p:txBody>
      </p:sp>
      <p:sp>
        <p:nvSpPr>
          <p:cNvPr id="37" name="Rectangle 36"/>
          <p:cNvSpPr/>
          <p:nvPr/>
        </p:nvSpPr>
        <p:spPr>
          <a:xfrm>
            <a:off x="731520" y="21444711"/>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m_ledger.png"/>
          <p:cNvPicPr>
            <a:picLocks noChangeAspect="1"/>
          </p:cNvPicPr>
          <p:nvPr/>
        </p:nvPicPr>
        <p:blipFill>
          <a:blip r:embed="rId3"/>
          <a:stretch>
            <a:fillRect/>
          </a:stretch>
        </p:blipFill>
        <p:spPr>
          <a:xfrm>
            <a:off x="731520" y="21773895"/>
            <a:ext cx="20482560" cy="3749040"/>
          </a:xfrm>
          <a:prstGeom prst="rect">
            <a:avLst/>
          </a:prstGeom>
        </p:spPr>
      </p:pic>
      <p:sp>
        <p:nvSpPr>
          <p:cNvPr id="39" name="TextBox 38"/>
          <p:cNvSpPr txBox="1"/>
          <p:nvPr/>
        </p:nvSpPr>
        <p:spPr>
          <a:xfrm>
            <a:off x="731520" y="25632663"/>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66727E"/>
                </a:solidFill>
                <a:latin typeface="Arial"/>
              </a:rPr>
              <a:t>Figure 2.  30 rows in four families, which is 27 distinct models: OWLv2-large and Qwen2.5-7B each appear twice because each does two jobs here. One model is deployed. The zero-shot column is a single deterministic pass per model with no repeats, scored as mAP50 on the 848-image split; the reviewer column is the 149-case dev split, and two of its arms are still running. RF-DETR's score is on a third scale and is never differenced against the rows above it: the one measured offset between two of our evaluators, 0.0239, is larger than the gap on display.</a:t>
            </a:r>
          </a:p>
        </p:txBody>
      </p:sp>
      <p:sp>
        <p:nvSpPr>
          <p:cNvPr id="40" name="TextBox 39"/>
          <p:cNvSpPr txBox="1"/>
          <p:nvPr/>
        </p:nvSpPr>
        <p:spPr>
          <a:xfrm>
            <a:off x="731520" y="26662887"/>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Thirty rows in four families, which is 27 distinct models. Five detectors trained on our own holdout, two vision models inside the loop, fourteen vision-language models zero-shot, and nine language models as reviewers. One is deployed.</a:t>
            </a:r>
          </a:p>
        </p:txBody>
      </p:sp>
      <p:sp>
        <p:nvSpPr>
          <p:cNvPr id="41" name="TextBox 40"/>
          <p:cNvSpPr txBox="1"/>
          <p:nvPr/>
        </p:nvSpPr>
        <p:spPr>
          <a:xfrm>
            <a:off x="21579840" y="7933943"/>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Arial"/>
              </a:rPr>
              <a:t>Robots on the platform today</a:t>
            </a:r>
          </a:p>
        </p:txBody>
      </p:sp>
      <p:sp>
        <p:nvSpPr>
          <p:cNvPr id="42" name="Rectangle 41"/>
          <p:cNvSpPr/>
          <p:nvPr/>
        </p:nvSpPr>
        <p:spPr>
          <a:xfrm>
            <a:off x="21579840" y="8495284"/>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1579840" y="8824467"/>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Robot 241 is a tracked rover that drives crop rows and streams camera, GPS and two IMUs. The laser cart carries the weeder: a galvanometer laser, a down camera over the work zone and a forward camera. A Unitree humanoid has a project and has uploaded nothing yet. Between them the two ground vehicles have recorded 2,686 frames in 26 drives.</a:t>
            </a:r>
          </a:p>
        </p:txBody>
      </p:sp>
      <p:sp>
        <p:nvSpPr>
          <p:cNvPr id="44" name="TextBox 43"/>
          <p:cNvSpPr txBox="1"/>
          <p:nvPr/>
        </p:nvSpPr>
        <p:spPr>
          <a:xfrm>
            <a:off x="21579840" y="10935716"/>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Arial"/>
              </a:rPr>
              <a:t>Ask a dataset what it is good for</a:t>
            </a:r>
          </a:p>
        </p:txBody>
      </p:sp>
      <p:sp>
        <p:nvSpPr>
          <p:cNvPr id="45" name="Rectangle 44"/>
          <p:cNvSpPr/>
          <p:nvPr/>
        </p:nvSpPr>
        <p:spPr>
          <a:xfrm>
            <a:off x="21579840" y="11497056"/>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1579840" y="11826239"/>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47" name="TextBox 46"/>
          <p:cNvSpPr txBox="1"/>
          <p:nvPr/>
        </p:nvSpPr>
        <p:spPr>
          <a:xfrm>
            <a:off x="21579840" y="13627607"/>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Arial"/>
              </a:rPr>
              <a:t>On disk today</a:t>
            </a:r>
          </a:p>
        </p:txBody>
      </p:sp>
      <p:sp>
        <p:nvSpPr>
          <p:cNvPr id="48" name="Rectangle 47"/>
          <p:cNvSpPr/>
          <p:nvPr/>
        </p:nvSpPr>
        <p:spPr>
          <a:xfrm>
            <a:off x="21579840" y="14188947"/>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1579840" y="14518131"/>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Two robots have put 2,686 camera frames and 91,955 telemetry rows across nine streams onto the platform, over 26 drives, with 342 m of GPS track from 1,502 fixes. None of the frames is labelled.</a:t>
            </a:r>
          </a:p>
        </p:txBody>
      </p:sp>
      <p:sp>
        <p:nvSpPr>
          <p:cNvPr id="50" name="TextBox 49"/>
          <p:cNvSpPr txBox="1"/>
          <p:nvPr/>
        </p:nvSpPr>
        <p:spPr>
          <a:xfrm>
            <a:off x="21579840" y="16009620"/>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Arial"/>
              </a:rPr>
              <a:t>Asked something it had never seen</a:t>
            </a:r>
          </a:p>
        </p:txBody>
      </p:sp>
      <p:sp>
        <p:nvSpPr>
          <p:cNvPr id="51" name="Rectangle 50"/>
          <p:cNvSpPr/>
          <p:nvPr/>
        </p:nvSpPr>
        <p:spPr>
          <a:xfrm>
            <a:off x="21579840" y="16570959"/>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1579840" y="16900143"/>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53" name="TextBox 52"/>
          <p:cNvSpPr txBox="1"/>
          <p:nvPr/>
        </p:nvSpPr>
        <p:spPr>
          <a:xfrm>
            <a:off x="21579840" y="1870151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Arial"/>
              </a:rPr>
              <a:t>More web data, less accuracy</a:t>
            </a:r>
          </a:p>
        </p:txBody>
      </p:sp>
      <p:sp>
        <p:nvSpPr>
          <p:cNvPr id="54" name="Rectangle 53"/>
          <p:cNvSpPr/>
          <p:nvPr/>
        </p:nvSpPr>
        <p:spPr>
          <a:xfrm>
            <a:off x="21579840" y="19262852"/>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1579840" y="19592036"/>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56" name="TextBox 55"/>
          <p:cNvSpPr txBox="1"/>
          <p:nvPr/>
        </p:nvSpPr>
        <p:spPr>
          <a:xfrm>
            <a:off x="21579840" y="21393404"/>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Arial"/>
              </a:rPr>
              <a:t>213 seconds in one crop plot</a:t>
            </a:r>
          </a:p>
        </p:txBody>
      </p:sp>
      <p:sp>
        <p:nvSpPr>
          <p:cNvPr id="57" name="Rectangle 56"/>
          <p:cNvSpPr/>
          <p:nvPr/>
        </p:nvSpPr>
        <p:spPr>
          <a:xfrm>
            <a:off x="21579840" y="21954744"/>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h_drive.png"/>
          <p:cNvPicPr>
            <a:picLocks noChangeAspect="1"/>
          </p:cNvPicPr>
          <p:nvPr/>
        </p:nvPicPr>
        <p:blipFill>
          <a:blip r:embed="rId4"/>
          <a:stretch>
            <a:fillRect/>
          </a:stretch>
        </p:blipFill>
        <p:spPr>
          <a:xfrm>
            <a:off x="21579840" y="22283928"/>
            <a:ext cx="10607040" cy="4023360"/>
          </a:xfrm>
          <a:prstGeom prst="rect">
            <a:avLst/>
          </a:prstGeom>
        </p:spPr>
      </p:pic>
      <p:sp>
        <p:nvSpPr>
          <p:cNvPr id="59" name="TextBox 58"/>
          <p:cNvSpPr txBox="1"/>
          <p:nvPr/>
        </p:nvSpPr>
        <p:spPr>
          <a:xfrm>
            <a:off x="21579840" y="26417016"/>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66727E"/>
                </a:solidFill>
                <a:latin typeface="Arial"/>
              </a:rPr>
              <a:t>Figure 3.  Robot 241, 2026-08-29: one 213 s pass through a crop plot. (h) GPS track from the board fix. (i) IMU heading over the same pass.</a:t>
            </a:r>
          </a:p>
        </p:txBody>
      </p:sp>
      <p:sp>
        <p:nvSpPr>
          <p:cNvPr id="60" name="TextBox 59"/>
          <p:cNvSpPr txBox="1"/>
          <p:nvPr/>
        </p:nvSpPr>
        <p:spPr>
          <a:xfrm>
            <a:off x="21579840" y="27207464"/>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The longest single pass the platform holds: 141 m of track from 211 fixes, with heading from the IMU over the same 213 seconds. The platform holds 18 passes that carry position.</a:t>
            </a:r>
          </a:p>
        </p:txBody>
      </p:sp>
      <p:sp>
        <p:nvSpPr>
          <p:cNvPr id="61" name="TextBox 60"/>
          <p:cNvSpPr txBox="1"/>
          <p:nvPr/>
        </p:nvSpPr>
        <p:spPr>
          <a:xfrm>
            <a:off x="32552640" y="7933943"/>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Arial"/>
              </a:rPr>
              <a:t>A drive becomes a dataset as it opens</a:t>
            </a:r>
          </a:p>
        </p:txBody>
      </p:sp>
      <p:sp>
        <p:nvSpPr>
          <p:cNvPr id="62" name="Rectangle 61"/>
          <p:cNvSpPr/>
          <p:nvPr/>
        </p:nvSpPr>
        <p:spPr>
          <a:xfrm>
            <a:off x="32552640" y="8495284"/>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2552640" y="8824467"/>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64" name="TextBox 63"/>
          <p:cNvSpPr txBox="1"/>
          <p:nvPr/>
        </p:nvSpPr>
        <p:spPr>
          <a:xfrm>
            <a:off x="32552640" y="10625835"/>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Arial"/>
              </a:rPr>
              <a:t>Four frames, as recorded</a:t>
            </a:r>
          </a:p>
        </p:txBody>
      </p:sp>
      <p:sp>
        <p:nvSpPr>
          <p:cNvPr id="65" name="Rectangle 64"/>
          <p:cNvSpPr/>
          <p:nvPr/>
        </p:nvSpPr>
        <p:spPr>
          <a:xfrm>
            <a:off x="32552640" y="11187175"/>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l_robots.png"/>
          <p:cNvPicPr>
            <a:picLocks noChangeAspect="1"/>
          </p:cNvPicPr>
          <p:nvPr/>
        </p:nvPicPr>
        <p:blipFill>
          <a:blip r:embed="rId5"/>
          <a:stretch>
            <a:fillRect/>
          </a:stretch>
        </p:blipFill>
        <p:spPr>
          <a:xfrm>
            <a:off x="32552640" y="11516359"/>
            <a:ext cx="10607040" cy="2377440"/>
          </a:xfrm>
          <a:prstGeom prst="rect">
            <a:avLst/>
          </a:prstGeom>
        </p:spPr>
      </p:pic>
      <p:sp>
        <p:nvSpPr>
          <p:cNvPr id="67" name="TextBox 66"/>
          <p:cNvSpPr txBox="1"/>
          <p:nvPr/>
        </p:nvSpPr>
        <p:spPr>
          <a:xfrm>
            <a:off x="32552640" y="14003527"/>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66727E"/>
                </a:solidFill>
                <a:latin typeface="Arial"/>
              </a:rPr>
              <a:t>Figure 4.  Frames as recorded, unenhanced. Robot 241 has sent 2,238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sp>
        <p:nvSpPr>
          <p:cNvPr id="68" name="TextBox 67"/>
          <p:cNvSpPr txBox="1"/>
          <p:nvPr/>
        </p:nvSpPr>
        <p:spPr>
          <a:xfrm>
            <a:off x="32552640" y="15273527"/>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Nothing here is enhanced and nothing is labelled. The rectangle in the cart's down camera is a fixed work-zone overlay: it sits at the same pixels on frames with no vegetation in them at all.</a:t>
            </a:r>
          </a:p>
        </p:txBody>
      </p:sp>
      <p:sp>
        <p:nvSpPr>
          <p:cNvPr id="69" name="TextBox 68"/>
          <p:cNvSpPr txBox="1"/>
          <p:nvPr/>
        </p:nvSpPr>
        <p:spPr>
          <a:xfrm>
            <a:off x="32552640" y="16765016"/>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Arial"/>
              </a:rPr>
              <a:t>Only one robot has the button</a:t>
            </a:r>
          </a:p>
        </p:txBody>
      </p:sp>
      <p:sp>
        <p:nvSpPr>
          <p:cNvPr id="70" name="Rectangle 69"/>
          <p:cNvSpPr/>
          <p:nvPr/>
        </p:nvSpPr>
        <p:spPr>
          <a:xfrm>
            <a:off x="32552640" y="17326355"/>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2552640" y="17655539"/>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72" name="TextBox 71"/>
          <p:cNvSpPr txBox="1"/>
          <p:nvPr/>
        </p:nvSpPr>
        <p:spPr>
          <a:xfrm>
            <a:off x="32552640" y="19456908"/>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Arial"/>
              </a:rPr>
              <a:t>Which decisions a model makes</a:t>
            </a:r>
          </a:p>
        </p:txBody>
      </p:sp>
      <p:sp>
        <p:nvSpPr>
          <p:cNvPr id="73" name="Rectangle 72"/>
          <p:cNvSpPr/>
          <p:nvPr/>
        </p:nvSpPr>
        <p:spPr>
          <a:xfrm>
            <a:off x="32552640" y="20018248"/>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32552640" y="20347432"/>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75" name="TextBox 74"/>
          <p:cNvSpPr txBox="1"/>
          <p:nvPr/>
        </p:nvSpPr>
        <p:spPr>
          <a:xfrm>
            <a:off x="32552640" y="22458680"/>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Arial"/>
              </a:rPr>
              <a:t>Any research field is a project</a:t>
            </a:r>
          </a:p>
        </p:txBody>
      </p:sp>
      <p:sp>
        <p:nvSpPr>
          <p:cNvPr id="76" name="Rectangle 75"/>
          <p:cNvSpPr/>
          <p:nvPr/>
        </p:nvSpPr>
        <p:spPr>
          <a:xfrm>
            <a:off x="32552640" y="23020020"/>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2552640" y="23349204"/>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A lab member opens a project for any data type and any field, uploads images, video or sensor logs, and gets an automatic diagnosis before choosing what to do next. Weed detection is one project on this platform. The 241 rover, the laser cart and a Unitree humanoid each have their own.</a:t>
            </a:r>
          </a:p>
        </p:txBody>
      </p:sp>
      <p:sp>
        <p:nvSpPr>
          <p:cNvPr id="78" name="TextBox 77"/>
          <p:cNvSpPr txBox="1"/>
          <p:nvPr/>
        </p:nvSpPr>
        <p:spPr>
          <a:xfrm>
            <a:off x="32552640" y="2515057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F3A45"/>
                </a:solidFill>
                <a:latin typeface="Arial"/>
              </a:rPr>
              <a:t>Talking back to a robot</a:t>
            </a:r>
          </a:p>
        </p:txBody>
      </p:sp>
      <p:sp>
        <p:nvSpPr>
          <p:cNvPr id="79" name="Rectangle 78"/>
          <p:cNvSpPr/>
          <p:nvPr/>
        </p:nvSpPr>
        <p:spPr>
          <a:xfrm>
            <a:off x="32552640" y="25711912"/>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32552640" y="26041096"/>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4303B"/>
                </a:solidFill>
                <a:latin typeface="Arial"/>
              </a:rPr>
              <a:t>Besides the drive relay, the platform sends a robot exactly one thing: advisory text. The rover polls for it and shows deterministic warnings about battery, current and temperature. That poll has returned 406 times. No platform code path sends an actuation command to any robot.</a:t>
            </a:r>
          </a:p>
        </p:txBody>
      </p:sp>
      <p:sp>
        <p:nvSpPr>
          <p:cNvPr id="81" name="Rectangle 80"/>
          <p:cNvSpPr/>
          <p:nvPr/>
        </p:nvSpPr>
        <p:spPr>
          <a:xfrm>
            <a:off x="731520" y="30632400"/>
            <a:ext cx="42428160" cy="20116"/>
          </a:xfrm>
          <a:prstGeom prst="rect">
            <a:avLst/>
          </a:prstGeom>
          <a:solidFill>
            <a:srgbClr val="CAD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66727E"/>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83" name="TextBox 82"/>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66727E"/>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84" name="TextBox 83"/>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66727E"/>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