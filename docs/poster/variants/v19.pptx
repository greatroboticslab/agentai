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9200" b="1">
                <a:solidFill>
                  <a:srgbClr val="24303B"/>
                </a:solidFill>
                <a:latin typeface="Arial"/>
              </a:rPr>
              <a:t>agentAI: A Research-Data Platform for Physical and Embodied Agents</a:t>
            </a:r>
          </a:p>
        </p:txBody>
      </p:sp>
      <p:sp>
        <p:nvSpPr>
          <p:cNvPr id="4" name="TextBox 3"/>
          <p:cNvSpPr txBox="1"/>
          <p:nvPr/>
        </p:nvSpPr>
        <p:spPr>
          <a:xfrm>
            <a:off x="731520" y="22402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24303B"/>
                </a:solidFill>
                <a:latin typeface="Arial"/>
              </a:rPr>
              <a:t>Harry He   ·   Hongbo Zhang</a:t>
            </a:r>
          </a:p>
        </p:txBody>
      </p:sp>
      <p:sp>
        <p:nvSpPr>
          <p:cNvPr id="5" name="TextBox 4"/>
          <p:cNvSpPr txBox="1"/>
          <p:nvPr/>
        </p:nvSpPr>
        <p:spPr>
          <a:xfrm>
            <a:off x="731520" y="28803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66727E"/>
                </a:solidFill>
                <a:latin typeface="Arial"/>
              </a:rPr>
              <a:t>Department of Engineering Technology   ·   Middle Tennessee State University, Murfreesboro, TN, USA</a:t>
            </a:r>
          </a:p>
        </p:txBody>
      </p:sp>
      <p:sp>
        <p:nvSpPr>
          <p:cNvPr id="6" name="Rectangle 5"/>
          <p:cNvSpPr/>
          <p:nvPr/>
        </p:nvSpPr>
        <p:spPr>
          <a:xfrm>
            <a:off x="731520" y="3749039"/>
            <a:ext cx="42428160" cy="41148"/>
          </a:xfrm>
          <a:prstGeom prst="rect">
            <a:avLst/>
          </a:prstGeom>
          <a:solidFill>
            <a:srgbClr val="2430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24303B"/>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Rectangle 7"/>
          <p:cNvSpPr/>
          <p:nvPr/>
        </p:nvSpPr>
        <p:spPr>
          <a:xfrm>
            <a:off x="731520" y="5820663"/>
            <a:ext cx="42428160" cy="23774"/>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a:rPr>
              <a:t>2,686</a:t>
            </a:r>
          </a:p>
        </p:txBody>
      </p:sp>
      <p:sp>
        <p:nvSpPr>
          <p:cNvPr id="10" name="TextBox 9"/>
          <p:cNvSpPr txBox="1"/>
          <p:nvPr/>
        </p:nvSpPr>
        <p:spPr>
          <a:xfrm>
            <a:off x="731520"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4303B"/>
                </a:solidFill>
                <a:latin typeface="Arial"/>
              </a:rPr>
              <a:t>camera frames</a:t>
            </a:r>
          </a:p>
        </p:txBody>
      </p:sp>
      <p:sp>
        <p:nvSpPr>
          <p:cNvPr id="11" name="TextBox 10"/>
          <p:cNvSpPr txBox="1"/>
          <p:nvPr/>
        </p:nvSpPr>
        <p:spPr>
          <a:xfrm>
            <a:off x="731520"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6727E"/>
                </a:solidFill>
                <a:latin typeface="Arial"/>
              </a:rPr>
              <a:t>26 drives, 2 robots, 0 labelled</a:t>
            </a:r>
          </a:p>
        </p:txBody>
      </p:sp>
      <p:sp>
        <p:nvSpPr>
          <p:cNvPr id="12" name="TextBox 11"/>
          <p:cNvSpPr txBox="1"/>
          <p:nvPr/>
        </p:nvSpPr>
        <p:spPr>
          <a:xfrm>
            <a:off x="9317736"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a:rPr>
              <a:t>91,955</a:t>
            </a:r>
          </a:p>
        </p:txBody>
      </p:sp>
      <p:sp>
        <p:nvSpPr>
          <p:cNvPr id="13" name="TextBox 12"/>
          <p:cNvSpPr txBox="1"/>
          <p:nvPr/>
        </p:nvSpPr>
        <p:spPr>
          <a:xfrm>
            <a:off x="9317736"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4303B"/>
                </a:solidFill>
                <a:latin typeface="Arial"/>
              </a:rPr>
              <a:t>telemetry rows</a:t>
            </a:r>
          </a:p>
        </p:txBody>
      </p:sp>
      <p:sp>
        <p:nvSpPr>
          <p:cNvPr id="14" name="TextBox 13"/>
          <p:cNvSpPr txBox="1"/>
          <p:nvPr/>
        </p:nvSpPr>
        <p:spPr>
          <a:xfrm>
            <a:off x="9317736"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6727E"/>
                </a:solidFill>
                <a:latin typeface="Arial"/>
              </a:rPr>
              <a:t>nine streams, counted line by line</a:t>
            </a:r>
          </a:p>
        </p:txBody>
      </p:sp>
      <p:sp>
        <p:nvSpPr>
          <p:cNvPr id="15" name="TextBox 14"/>
          <p:cNvSpPr txBox="1"/>
          <p:nvPr/>
        </p:nvSpPr>
        <p:spPr>
          <a:xfrm>
            <a:off x="17903952"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a:rPr>
              <a:t>342 m</a:t>
            </a:r>
          </a:p>
        </p:txBody>
      </p:sp>
      <p:sp>
        <p:nvSpPr>
          <p:cNvPr id="16" name="TextBox 15"/>
          <p:cNvSpPr txBox="1"/>
          <p:nvPr/>
        </p:nvSpPr>
        <p:spPr>
          <a:xfrm>
            <a:off x="17903952"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4303B"/>
                </a:solidFill>
                <a:latin typeface="Arial"/>
              </a:rPr>
              <a:t>of GPS track</a:t>
            </a:r>
          </a:p>
        </p:txBody>
      </p:sp>
      <p:sp>
        <p:nvSpPr>
          <p:cNvPr id="17" name="TextBox 16"/>
          <p:cNvSpPr txBox="1"/>
          <p:nvPr/>
        </p:nvSpPr>
        <p:spPr>
          <a:xfrm>
            <a:off x="17903952"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6727E"/>
                </a:solidFill>
                <a:latin typeface="Arial"/>
              </a:rPr>
              <a:t>1,502 fixes over 18 drives</a:t>
            </a:r>
          </a:p>
        </p:txBody>
      </p:sp>
      <p:sp>
        <p:nvSpPr>
          <p:cNvPr id="18" name="TextBox 17"/>
          <p:cNvSpPr txBox="1"/>
          <p:nvPr/>
        </p:nvSpPr>
        <p:spPr>
          <a:xfrm>
            <a:off x="26490168"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a:rPr>
              <a:t>27</a:t>
            </a:r>
          </a:p>
        </p:txBody>
      </p:sp>
      <p:sp>
        <p:nvSpPr>
          <p:cNvPr id="19" name="TextBox 18"/>
          <p:cNvSpPr txBox="1"/>
          <p:nvPr/>
        </p:nvSpPr>
        <p:spPr>
          <a:xfrm>
            <a:off x="26490168"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4303B"/>
                </a:solidFill>
                <a:latin typeface="Arial"/>
              </a:rPr>
              <a:t>distinct models run</a:t>
            </a:r>
          </a:p>
        </p:txBody>
      </p:sp>
      <p:sp>
        <p:nvSpPr>
          <p:cNvPr id="20" name="TextBox 19"/>
          <p:cNvSpPr txBox="1"/>
          <p:nvPr/>
        </p:nvSpPr>
        <p:spPr>
          <a:xfrm>
            <a:off x="26490168"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6727E"/>
                </a:solidFill>
                <a:latin typeface="Arial"/>
              </a:rPr>
              <a:t>four families, one deployed</a:t>
            </a:r>
          </a:p>
        </p:txBody>
      </p:sp>
      <p:sp>
        <p:nvSpPr>
          <p:cNvPr id="21" name="TextBox 20"/>
          <p:cNvSpPr txBox="1"/>
          <p:nvPr/>
        </p:nvSpPr>
        <p:spPr>
          <a:xfrm>
            <a:off x="35076384"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a:rPr>
              <a:t>0</a:t>
            </a:r>
          </a:p>
        </p:txBody>
      </p:sp>
      <p:sp>
        <p:nvSpPr>
          <p:cNvPr id="22" name="TextBox 21"/>
          <p:cNvSpPr txBox="1"/>
          <p:nvPr/>
        </p:nvSpPr>
        <p:spPr>
          <a:xfrm>
            <a:off x="35076384"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4303B"/>
                </a:solidFill>
                <a:latin typeface="Arial"/>
              </a:rPr>
              <a:t>robot frames labelled</a:t>
            </a:r>
          </a:p>
        </p:txBody>
      </p:sp>
      <p:sp>
        <p:nvSpPr>
          <p:cNvPr id="23" name="TextBox 22"/>
          <p:cNvSpPr txBox="1"/>
          <p:nvPr/>
        </p:nvSpPr>
        <p:spPr>
          <a:xfrm>
            <a:off x="35076384"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6727E"/>
                </a:solidFill>
                <a:latin typeface="Arial"/>
              </a:rPr>
              <a:t>the whole archive, so far</a:t>
            </a:r>
          </a:p>
        </p:txBody>
      </p:sp>
      <p:sp>
        <p:nvSpPr>
          <p:cNvPr id="24" name="Rectangle 23"/>
          <p:cNvSpPr/>
          <p:nvPr/>
        </p:nvSpPr>
        <p:spPr>
          <a:xfrm>
            <a:off x="731520" y="7440167"/>
            <a:ext cx="42428160" cy="23774"/>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7933943"/>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One platform for every robot the lab owns</a:t>
            </a:r>
          </a:p>
        </p:txBody>
      </p:sp>
      <p:sp>
        <p:nvSpPr>
          <p:cNvPr id="26" name="Rectangle 25"/>
          <p:cNvSpPr/>
          <p:nvPr/>
        </p:nvSpPr>
        <p:spPr>
          <a:xfrm>
            <a:off x="731520" y="8495284"/>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8824467"/>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28" name="TextBox 27"/>
          <p:cNvSpPr txBox="1"/>
          <p:nvPr/>
        </p:nvSpPr>
        <p:spPr>
          <a:xfrm>
            <a:off x="731520" y="10315955"/>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a:rPr>
              <a:t>1,389</a:t>
            </a:r>
          </a:p>
        </p:txBody>
      </p:sp>
      <p:sp>
        <p:nvSpPr>
          <p:cNvPr id="29" name="TextBox 28"/>
          <p:cNvSpPr txBox="1"/>
          <p:nvPr/>
        </p:nvSpPr>
        <p:spPr>
          <a:xfrm>
            <a:off x="731520" y="11119103"/>
            <a:ext cx="20482560" cy="365760"/>
          </a:xfrm>
          <a:prstGeom prst="rect">
            <a:avLst/>
          </a:prstGeom>
          <a:noFill/>
        </p:spPr>
        <p:txBody>
          <a:bodyPr wrap="square" lIns="0" rIns="0" tIns="0" bIns="0">
            <a:spAutoFit/>
          </a:bodyPr>
          <a:lstStyle/>
          <a:p>
            <a:pPr algn="l">
              <a:lnSpc>
                <a:spcPct val="122000"/>
              </a:lnSpc>
              <a:spcAft>
                <a:spcPts val="600"/>
              </a:spcAft>
            </a:pPr>
            <a:r>
              <a:rPr sz="1600" b="0">
                <a:solidFill>
                  <a:srgbClr val="66727E"/>
                </a:solidFill>
                <a:latin typeface="Arial"/>
              </a:rPr>
              <a:t>joystick commands through the platform</a:t>
            </a:r>
          </a:p>
        </p:txBody>
      </p:sp>
      <p:sp>
        <p:nvSpPr>
          <p:cNvPr id="30" name="TextBox 29"/>
          <p:cNvSpPr txBox="1"/>
          <p:nvPr/>
        </p:nvSpPr>
        <p:spPr>
          <a:xfrm>
            <a:off x="731520" y="11589511"/>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Driving a robot from a browser</a:t>
            </a:r>
          </a:p>
        </p:txBody>
      </p:sp>
      <p:sp>
        <p:nvSpPr>
          <p:cNvPr id="31" name="Rectangle 30"/>
          <p:cNvSpPr/>
          <p:nvPr/>
        </p:nvSpPr>
        <p:spPr>
          <a:xfrm>
            <a:off x="731520" y="12150851"/>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12480035"/>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3" name="TextBox 32"/>
          <p:cNvSpPr txBox="1"/>
          <p:nvPr/>
        </p:nvSpPr>
        <p:spPr>
          <a:xfrm>
            <a:off x="731520" y="13971523"/>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Left alone for fifteen rounds</a:t>
            </a:r>
          </a:p>
        </p:txBody>
      </p:sp>
      <p:sp>
        <p:nvSpPr>
          <p:cNvPr id="34" name="Rectangle 33"/>
          <p:cNvSpPr/>
          <p:nvPr/>
        </p:nvSpPr>
        <p:spPr>
          <a:xfrm>
            <a:off x="731520" y="14532863"/>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f_rounds.png"/>
          <p:cNvPicPr>
            <a:picLocks noChangeAspect="1"/>
          </p:cNvPicPr>
          <p:nvPr/>
        </p:nvPicPr>
        <p:blipFill>
          <a:blip r:embed="rId2"/>
          <a:stretch>
            <a:fillRect/>
          </a:stretch>
        </p:blipFill>
        <p:spPr>
          <a:xfrm>
            <a:off x="731520" y="14862047"/>
            <a:ext cx="20482560" cy="4663440"/>
          </a:xfrm>
          <a:prstGeom prst="rect">
            <a:avLst/>
          </a:prstGeom>
        </p:spPr>
      </p:pic>
      <p:sp>
        <p:nvSpPr>
          <p:cNvPr id="36" name="TextBox 35"/>
          <p:cNvSpPr txBox="1"/>
          <p:nvPr/>
        </p:nvSpPr>
        <p:spPr>
          <a:xfrm>
            <a:off x="731520" y="19635216"/>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66727E"/>
                </a:solidFill>
                <a:latin typeface="Arial"/>
              </a:rPr>
              <a:t>Figure 1.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37" name="TextBox 36"/>
          <p:cNvSpPr txBox="1"/>
          <p:nvPr/>
        </p:nvSpPr>
        <p:spPr>
          <a:xfrm>
            <a:off x="731520" y="20665439"/>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38" name="TextBox 37"/>
          <p:cNvSpPr txBox="1"/>
          <p:nvPr/>
        </p:nvSpPr>
        <p:spPr>
          <a:xfrm>
            <a:off x="21579840" y="793394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Robots on the platform today</a:t>
            </a:r>
          </a:p>
        </p:txBody>
      </p:sp>
      <p:sp>
        <p:nvSpPr>
          <p:cNvPr id="39" name="Rectangle 38"/>
          <p:cNvSpPr/>
          <p:nvPr/>
        </p:nvSpPr>
        <p:spPr>
          <a:xfrm>
            <a:off x="21579840" y="849528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579840" y="882446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Robot 241 is a tracked rover that drives crop rows and streams camera, GPS and two IMUs. The laser cart carries the weeder: a galvanometer laser, a down camera over the work zone and a forward camera. Ten projects sit on the platform and two of them have a robot reporting into them. Between those two vehicles, 2,686 frames in 26 drives.</a:t>
            </a:r>
          </a:p>
        </p:txBody>
      </p:sp>
      <p:sp>
        <p:nvSpPr>
          <p:cNvPr id="41" name="TextBox 40"/>
          <p:cNvSpPr txBox="1"/>
          <p:nvPr/>
        </p:nvSpPr>
        <p:spPr>
          <a:xfrm>
            <a:off x="21579840" y="10935716"/>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a:rPr>
              <a:t>14</a:t>
            </a:r>
          </a:p>
        </p:txBody>
      </p:sp>
      <p:sp>
        <p:nvSpPr>
          <p:cNvPr id="42" name="TextBox 41"/>
          <p:cNvSpPr txBox="1"/>
          <p:nvPr/>
        </p:nvSpPr>
        <p:spPr>
          <a:xfrm>
            <a:off x="21579840" y="11738864"/>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66727E"/>
                </a:solidFill>
                <a:latin typeface="Arial"/>
              </a:rPr>
              <a:t>analysis tools the planner can choose from</a:t>
            </a:r>
          </a:p>
        </p:txBody>
      </p:sp>
      <p:sp>
        <p:nvSpPr>
          <p:cNvPr id="43" name="TextBox 42"/>
          <p:cNvSpPr txBox="1"/>
          <p:nvPr/>
        </p:nvSpPr>
        <p:spPr>
          <a:xfrm>
            <a:off x="21579840" y="1220927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Ask a dataset what it is good for</a:t>
            </a:r>
          </a:p>
        </p:txBody>
      </p:sp>
      <p:sp>
        <p:nvSpPr>
          <p:cNvPr id="44" name="Rectangle 43"/>
          <p:cNvSpPr/>
          <p:nvPr/>
        </p:nvSpPr>
        <p:spPr>
          <a:xfrm>
            <a:off x="21579840" y="1277061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1579840" y="1309979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46" name="TextBox 45"/>
          <p:cNvSpPr txBox="1"/>
          <p:nvPr/>
        </p:nvSpPr>
        <p:spPr>
          <a:xfrm>
            <a:off x="21579840" y="1490116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On disk today</a:t>
            </a:r>
          </a:p>
        </p:txBody>
      </p:sp>
      <p:sp>
        <p:nvSpPr>
          <p:cNvPr id="47" name="Rectangle 46"/>
          <p:cNvSpPr/>
          <p:nvPr/>
        </p:nvSpPr>
        <p:spPr>
          <a:xfrm>
            <a:off x="21579840" y="1546250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579840" y="1579168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Two robots have put 2,686 camera frames and 91,955 telemetry rows across nine streams onto the platform, over 26 drives, with 342 m of GPS track from 1,502 fixes. None of the frames is labelled.</a:t>
            </a:r>
          </a:p>
        </p:txBody>
      </p:sp>
      <p:sp>
        <p:nvSpPr>
          <p:cNvPr id="49" name="TextBox 48"/>
          <p:cNvSpPr txBox="1"/>
          <p:nvPr/>
        </p:nvSpPr>
        <p:spPr>
          <a:xfrm>
            <a:off x="21579840" y="17283176"/>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a:rPr>
              <a:t>92</a:t>
            </a:r>
          </a:p>
        </p:txBody>
      </p:sp>
      <p:sp>
        <p:nvSpPr>
          <p:cNvPr id="50" name="TextBox 49"/>
          <p:cNvSpPr txBox="1"/>
          <p:nvPr/>
        </p:nvSpPr>
        <p:spPr>
          <a:xfrm>
            <a:off x="21579840" y="18086324"/>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66727E"/>
                </a:solidFill>
                <a:latin typeface="Arial"/>
              </a:rPr>
              <a:t>questions asked of a dataset so far</a:t>
            </a:r>
          </a:p>
        </p:txBody>
      </p:sp>
      <p:sp>
        <p:nvSpPr>
          <p:cNvPr id="51" name="TextBox 50"/>
          <p:cNvSpPr txBox="1"/>
          <p:nvPr/>
        </p:nvSpPr>
        <p:spPr>
          <a:xfrm>
            <a:off x="21579840" y="1855673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Asked something it had never seen</a:t>
            </a:r>
          </a:p>
        </p:txBody>
      </p:sp>
      <p:sp>
        <p:nvSpPr>
          <p:cNvPr id="52" name="Rectangle 51"/>
          <p:cNvSpPr/>
          <p:nvPr/>
        </p:nvSpPr>
        <p:spPr>
          <a:xfrm>
            <a:off x="21579840" y="1911807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1579840" y="1944725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54" name="TextBox 53"/>
          <p:cNvSpPr txBox="1"/>
          <p:nvPr/>
        </p:nvSpPr>
        <p:spPr>
          <a:xfrm>
            <a:off x="21579840" y="2124862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More web data, less accuracy</a:t>
            </a:r>
          </a:p>
        </p:txBody>
      </p:sp>
      <p:sp>
        <p:nvSpPr>
          <p:cNvPr id="55" name="Rectangle 54"/>
          <p:cNvSpPr/>
          <p:nvPr/>
        </p:nvSpPr>
        <p:spPr>
          <a:xfrm>
            <a:off x="21579840" y="2180996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1579840" y="2213914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57" name="TextBox 56"/>
          <p:cNvSpPr txBox="1"/>
          <p:nvPr/>
        </p:nvSpPr>
        <p:spPr>
          <a:xfrm>
            <a:off x="32552640" y="793394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A drive becomes a dataset as it opens</a:t>
            </a:r>
          </a:p>
        </p:txBody>
      </p:sp>
      <p:sp>
        <p:nvSpPr>
          <p:cNvPr id="58" name="Rectangle 57"/>
          <p:cNvSpPr/>
          <p:nvPr/>
        </p:nvSpPr>
        <p:spPr>
          <a:xfrm>
            <a:off x="32552640" y="849528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2552640" y="882446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60" name="TextBox 59"/>
          <p:cNvSpPr txBox="1"/>
          <p:nvPr/>
        </p:nvSpPr>
        <p:spPr>
          <a:xfrm>
            <a:off x="32552640" y="10625835"/>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Four frames, as recorded</a:t>
            </a:r>
          </a:p>
        </p:txBody>
      </p:sp>
      <p:sp>
        <p:nvSpPr>
          <p:cNvPr id="61" name="Rectangle 60"/>
          <p:cNvSpPr/>
          <p:nvPr/>
        </p:nvSpPr>
        <p:spPr>
          <a:xfrm>
            <a:off x="32552640" y="1118717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l_robots.png"/>
          <p:cNvPicPr>
            <a:picLocks noChangeAspect="1"/>
          </p:cNvPicPr>
          <p:nvPr/>
        </p:nvPicPr>
        <p:blipFill>
          <a:blip r:embed="rId3"/>
          <a:stretch>
            <a:fillRect/>
          </a:stretch>
        </p:blipFill>
        <p:spPr>
          <a:xfrm>
            <a:off x="32552640" y="11516359"/>
            <a:ext cx="10607040" cy="2377440"/>
          </a:xfrm>
          <a:prstGeom prst="rect">
            <a:avLst/>
          </a:prstGeom>
        </p:spPr>
      </p:pic>
      <p:sp>
        <p:nvSpPr>
          <p:cNvPr id="63" name="TextBox 62"/>
          <p:cNvSpPr txBox="1"/>
          <p:nvPr/>
        </p:nvSpPr>
        <p:spPr>
          <a:xfrm>
            <a:off x="32552640" y="14003527"/>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66727E"/>
                </a:solidFill>
                <a:latin typeface="Arial"/>
              </a:rPr>
              <a:t>Figure 2.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64" name="TextBox 63"/>
          <p:cNvSpPr txBox="1"/>
          <p:nvPr/>
        </p:nvSpPr>
        <p:spPr>
          <a:xfrm>
            <a:off x="32552640" y="1527352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Nothing here is enhanced and nothing is labelled. The rectangle in the cart's down camera is a fixed work-zone overlay: it sits at the same pixels on frames with no vegetation in them at all.</a:t>
            </a:r>
          </a:p>
        </p:txBody>
      </p:sp>
      <p:sp>
        <p:nvSpPr>
          <p:cNvPr id="65" name="TextBox 64"/>
          <p:cNvSpPr txBox="1"/>
          <p:nvPr/>
        </p:nvSpPr>
        <p:spPr>
          <a:xfrm>
            <a:off x="32552640" y="1676501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Only one robot has the button</a:t>
            </a:r>
          </a:p>
        </p:txBody>
      </p:sp>
      <p:sp>
        <p:nvSpPr>
          <p:cNvPr id="66" name="Rectangle 65"/>
          <p:cNvSpPr/>
          <p:nvPr/>
        </p:nvSpPr>
        <p:spPr>
          <a:xfrm>
            <a:off x="32552640" y="1732635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552640" y="17655539"/>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68" name="TextBox 67"/>
          <p:cNvSpPr txBox="1"/>
          <p:nvPr/>
        </p:nvSpPr>
        <p:spPr>
          <a:xfrm>
            <a:off x="32552640" y="1945690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Which decisions a model makes</a:t>
            </a:r>
          </a:p>
        </p:txBody>
      </p:sp>
      <p:sp>
        <p:nvSpPr>
          <p:cNvPr id="69" name="Rectangle 68"/>
          <p:cNvSpPr/>
          <p:nvPr/>
        </p:nvSpPr>
        <p:spPr>
          <a:xfrm>
            <a:off x="32552640" y="2001824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552640" y="2034743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71" name="TextBox 70"/>
          <p:cNvSpPr txBox="1"/>
          <p:nvPr/>
        </p:nvSpPr>
        <p:spPr>
          <a:xfrm>
            <a:off x="32552640" y="2245868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Any research field is a project</a:t>
            </a:r>
          </a:p>
        </p:txBody>
      </p:sp>
      <p:sp>
        <p:nvSpPr>
          <p:cNvPr id="72" name="Rectangle 71"/>
          <p:cNvSpPr/>
          <p:nvPr/>
        </p:nvSpPr>
        <p:spPr>
          <a:xfrm>
            <a:off x="32552640" y="2302002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2552640" y="2334920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74" name="TextBox 73"/>
          <p:cNvSpPr txBox="1"/>
          <p:nvPr/>
        </p:nvSpPr>
        <p:spPr>
          <a:xfrm>
            <a:off x="32552640" y="2515057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Arial"/>
              </a:rPr>
              <a:t>Talking back to a robot</a:t>
            </a:r>
          </a:p>
        </p:txBody>
      </p:sp>
      <p:sp>
        <p:nvSpPr>
          <p:cNvPr id="75" name="Rectangle 74"/>
          <p:cNvSpPr/>
          <p:nvPr/>
        </p:nvSpPr>
        <p:spPr>
          <a:xfrm>
            <a:off x="32552640" y="2571191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2552640" y="2604109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Besides the drive relay, the platform sends a robot exactly one thing: advisory text. The rover polls for it and shows deterministic warnings about battery, current and temperature. That poll has returned 406 times. No platform code path sends an actuation command to any robot.</a:t>
            </a:r>
          </a:p>
        </p:txBody>
      </p:sp>
      <p:sp>
        <p:nvSpPr>
          <p:cNvPr id="77" name="Rectangle 76"/>
          <p:cNvSpPr/>
          <p:nvPr/>
        </p:nvSpPr>
        <p:spPr>
          <a:xfrm>
            <a:off x="731520" y="30632400"/>
            <a:ext cx="42428160" cy="20116"/>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6727E"/>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79" name="TextBox 78"/>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6727E"/>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80" name="TextBox 79"/>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6727E"/>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