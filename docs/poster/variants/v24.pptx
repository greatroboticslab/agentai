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42428160" cy="365760"/>
          </a:xfrm>
          <a:prstGeom prst="rect">
            <a:avLst/>
          </a:prstGeom>
          <a:noFill/>
        </p:spPr>
        <p:txBody>
          <a:bodyPr wrap="square" lIns="0" rIns="0" tIns="0" bIns="0">
            <a:spAutoFit/>
          </a:bodyPr>
          <a:lstStyle/>
          <a:p>
            <a:pPr algn="l">
              <a:lnSpc>
                <a:spcPct val="95000"/>
              </a:lnSpc>
              <a:spcAft>
                <a:spcPts val="0"/>
              </a:spcAft>
            </a:pPr>
            <a:r>
              <a:rPr sz="10600" b="1">
                <a:solidFill>
                  <a:srgbClr val="2B2A26"/>
                </a:solidFill>
                <a:latin typeface="Arial Narrow"/>
              </a:rPr>
              <a:t>agentAI: A Research-Data Platform for Physical and Embodied Agents</a:t>
            </a:r>
          </a:p>
        </p:txBody>
      </p:sp>
      <p:sp>
        <p:nvSpPr>
          <p:cNvPr id="4" name="TextBox 3"/>
          <p:cNvSpPr txBox="1"/>
          <p:nvPr/>
        </p:nvSpPr>
        <p:spPr>
          <a:xfrm>
            <a:off x="731520" y="2240280"/>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2B2A26"/>
                </a:solidFill>
                <a:latin typeface="Arial"/>
              </a:rPr>
              <a:t>Harry He   ·   Hongbo Zhang</a:t>
            </a:r>
          </a:p>
        </p:txBody>
      </p:sp>
      <p:sp>
        <p:nvSpPr>
          <p:cNvPr id="5" name="TextBox 4"/>
          <p:cNvSpPr txBox="1"/>
          <p:nvPr/>
        </p:nvSpPr>
        <p:spPr>
          <a:xfrm>
            <a:off x="731520" y="2880360"/>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6E6759"/>
                </a:solidFill>
                <a:latin typeface="Arial"/>
              </a:rPr>
              <a:t>Department of Engineering Technology   ·   Middle Tennessee State University, Murfreesboro, TN, USA</a:t>
            </a:r>
          </a:p>
        </p:txBody>
      </p:sp>
      <p:sp>
        <p:nvSpPr>
          <p:cNvPr id="6" name="Rectangle 5"/>
          <p:cNvSpPr/>
          <p:nvPr/>
        </p:nvSpPr>
        <p:spPr>
          <a:xfrm>
            <a:off x="731520" y="3749039"/>
            <a:ext cx="42428160" cy="41148"/>
          </a:xfrm>
          <a:prstGeom prst="rect">
            <a:avLst/>
          </a:prstGeom>
          <a:solidFill>
            <a:srgbClr val="2B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2B2A26"/>
                </a:solidFill>
                <a:latin typeface="Arial"/>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8" name="Rectangle 7"/>
          <p:cNvSpPr/>
          <p:nvPr/>
        </p:nvSpPr>
        <p:spPr>
          <a:xfrm>
            <a:off x="731520" y="5820663"/>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2,686</a:t>
            </a:r>
          </a:p>
        </p:txBody>
      </p:sp>
      <p:sp>
        <p:nvSpPr>
          <p:cNvPr id="10" name="TextBox 9"/>
          <p:cNvSpPr txBox="1"/>
          <p:nvPr/>
        </p:nvSpPr>
        <p:spPr>
          <a:xfrm>
            <a:off x="731520"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camera frames</a:t>
            </a:r>
          </a:p>
        </p:txBody>
      </p:sp>
      <p:sp>
        <p:nvSpPr>
          <p:cNvPr id="11" name="TextBox 10"/>
          <p:cNvSpPr txBox="1"/>
          <p:nvPr/>
        </p:nvSpPr>
        <p:spPr>
          <a:xfrm>
            <a:off x="731520"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26 drives, 2 robots, 0 labelled</a:t>
            </a:r>
          </a:p>
        </p:txBody>
      </p:sp>
      <p:sp>
        <p:nvSpPr>
          <p:cNvPr id="12" name="TextBox 11"/>
          <p:cNvSpPr txBox="1"/>
          <p:nvPr/>
        </p:nvSpPr>
        <p:spPr>
          <a:xfrm>
            <a:off x="9317736"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91,955</a:t>
            </a:r>
          </a:p>
        </p:txBody>
      </p:sp>
      <p:sp>
        <p:nvSpPr>
          <p:cNvPr id="13" name="TextBox 12"/>
          <p:cNvSpPr txBox="1"/>
          <p:nvPr/>
        </p:nvSpPr>
        <p:spPr>
          <a:xfrm>
            <a:off x="9317736"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telemetry rows</a:t>
            </a:r>
          </a:p>
        </p:txBody>
      </p:sp>
      <p:sp>
        <p:nvSpPr>
          <p:cNvPr id="14" name="TextBox 13"/>
          <p:cNvSpPr txBox="1"/>
          <p:nvPr/>
        </p:nvSpPr>
        <p:spPr>
          <a:xfrm>
            <a:off x="9317736"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nine streams, counted line by line</a:t>
            </a:r>
          </a:p>
        </p:txBody>
      </p:sp>
      <p:sp>
        <p:nvSpPr>
          <p:cNvPr id="15" name="TextBox 14"/>
          <p:cNvSpPr txBox="1"/>
          <p:nvPr/>
        </p:nvSpPr>
        <p:spPr>
          <a:xfrm>
            <a:off x="17903952"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342 m</a:t>
            </a:r>
          </a:p>
        </p:txBody>
      </p:sp>
      <p:sp>
        <p:nvSpPr>
          <p:cNvPr id="16" name="TextBox 15"/>
          <p:cNvSpPr txBox="1"/>
          <p:nvPr/>
        </p:nvSpPr>
        <p:spPr>
          <a:xfrm>
            <a:off x="17903952"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of GPS track</a:t>
            </a:r>
          </a:p>
        </p:txBody>
      </p:sp>
      <p:sp>
        <p:nvSpPr>
          <p:cNvPr id="17" name="TextBox 16"/>
          <p:cNvSpPr txBox="1"/>
          <p:nvPr/>
        </p:nvSpPr>
        <p:spPr>
          <a:xfrm>
            <a:off x="17903952"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1,502 fixes over 18 drives</a:t>
            </a:r>
          </a:p>
        </p:txBody>
      </p:sp>
      <p:sp>
        <p:nvSpPr>
          <p:cNvPr id="18" name="TextBox 17"/>
          <p:cNvSpPr txBox="1"/>
          <p:nvPr/>
        </p:nvSpPr>
        <p:spPr>
          <a:xfrm>
            <a:off x="26490168"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27</a:t>
            </a:r>
          </a:p>
        </p:txBody>
      </p:sp>
      <p:sp>
        <p:nvSpPr>
          <p:cNvPr id="19" name="TextBox 18"/>
          <p:cNvSpPr txBox="1"/>
          <p:nvPr/>
        </p:nvSpPr>
        <p:spPr>
          <a:xfrm>
            <a:off x="26490168"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distinct models run</a:t>
            </a:r>
          </a:p>
        </p:txBody>
      </p:sp>
      <p:sp>
        <p:nvSpPr>
          <p:cNvPr id="20" name="TextBox 19"/>
          <p:cNvSpPr txBox="1"/>
          <p:nvPr/>
        </p:nvSpPr>
        <p:spPr>
          <a:xfrm>
            <a:off x="26490168"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four families, one deployed</a:t>
            </a:r>
          </a:p>
        </p:txBody>
      </p:sp>
      <p:sp>
        <p:nvSpPr>
          <p:cNvPr id="21" name="TextBox 20"/>
          <p:cNvSpPr txBox="1"/>
          <p:nvPr/>
        </p:nvSpPr>
        <p:spPr>
          <a:xfrm>
            <a:off x="35076384"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Arial Narrow"/>
              </a:rPr>
              <a:t>0</a:t>
            </a:r>
          </a:p>
        </p:txBody>
      </p:sp>
      <p:sp>
        <p:nvSpPr>
          <p:cNvPr id="22" name="TextBox 21"/>
          <p:cNvSpPr txBox="1"/>
          <p:nvPr/>
        </p:nvSpPr>
        <p:spPr>
          <a:xfrm>
            <a:off x="35076384"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robot frames labelled</a:t>
            </a:r>
          </a:p>
        </p:txBody>
      </p:sp>
      <p:sp>
        <p:nvSpPr>
          <p:cNvPr id="23" name="TextBox 22"/>
          <p:cNvSpPr txBox="1"/>
          <p:nvPr/>
        </p:nvSpPr>
        <p:spPr>
          <a:xfrm>
            <a:off x="35076384"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the whole archive, so far</a:t>
            </a:r>
          </a:p>
        </p:txBody>
      </p:sp>
      <p:sp>
        <p:nvSpPr>
          <p:cNvPr id="24" name="Rectangle 23"/>
          <p:cNvSpPr/>
          <p:nvPr/>
        </p:nvSpPr>
        <p:spPr>
          <a:xfrm>
            <a:off x="731520" y="7440167"/>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One platform for every robot the lab owns</a:t>
            </a:r>
          </a:p>
        </p:txBody>
      </p:sp>
      <p:sp>
        <p:nvSpPr>
          <p:cNvPr id="26" name="Rectangle 25"/>
          <p:cNvSpPr/>
          <p:nvPr/>
        </p:nvSpPr>
        <p:spPr>
          <a:xfrm>
            <a:off x="731520" y="849528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8" name="TextBox 27"/>
          <p:cNvSpPr txBox="1"/>
          <p:nvPr/>
        </p:nvSpPr>
        <p:spPr>
          <a:xfrm>
            <a:off x="731520" y="109357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Ask a dataset what it is good for</a:t>
            </a:r>
          </a:p>
        </p:txBody>
      </p:sp>
      <p:sp>
        <p:nvSpPr>
          <p:cNvPr id="29" name="Rectangle 28"/>
          <p:cNvSpPr/>
          <p:nvPr/>
        </p:nvSpPr>
        <p:spPr>
          <a:xfrm>
            <a:off x="731520" y="1149705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1182623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31" name="TextBox 30"/>
          <p:cNvSpPr txBox="1"/>
          <p:nvPr/>
        </p:nvSpPr>
        <p:spPr>
          <a:xfrm>
            <a:off x="731520" y="13627607"/>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Asked something it had never seen</a:t>
            </a:r>
          </a:p>
        </p:txBody>
      </p:sp>
      <p:sp>
        <p:nvSpPr>
          <p:cNvPr id="32" name="Rectangle 31"/>
          <p:cNvSpPr/>
          <p:nvPr/>
        </p:nvSpPr>
        <p:spPr>
          <a:xfrm>
            <a:off x="731520" y="14188947"/>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14518131"/>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34" name="TextBox 33"/>
          <p:cNvSpPr txBox="1"/>
          <p:nvPr/>
        </p:nvSpPr>
        <p:spPr>
          <a:xfrm>
            <a:off x="731520" y="1631950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Adding the next robot</a:t>
            </a:r>
          </a:p>
        </p:txBody>
      </p:sp>
      <p:sp>
        <p:nvSpPr>
          <p:cNvPr id="35" name="Rectangle 34"/>
          <p:cNvSpPr/>
          <p:nvPr/>
        </p:nvSpPr>
        <p:spPr>
          <a:xfrm>
            <a:off x="731520" y="1688083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17210023"/>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new robot needs a project, an API key and a session start. The ingest contract is the same for every vehicle: start a session, post sensor batches and frames while driving, stop. The platform does not care what the robot is. The Unitree humanoid's project exists on this basis and is waiting on its first upload.</a:t>
            </a:r>
          </a:p>
        </p:txBody>
      </p:sp>
      <p:sp>
        <p:nvSpPr>
          <p:cNvPr id="37" name="TextBox 36"/>
          <p:cNvSpPr txBox="1"/>
          <p:nvPr/>
        </p:nvSpPr>
        <p:spPr>
          <a:xfrm>
            <a:off x="731520" y="1901139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Reading the loop's own artifacts</a:t>
            </a:r>
          </a:p>
        </p:txBody>
      </p:sp>
      <p:sp>
        <p:nvSpPr>
          <p:cNvPr id="38" name="Rectangle 37"/>
          <p:cNvSpPr/>
          <p:nvPr/>
        </p:nvSpPr>
        <p:spPr>
          <a:xfrm>
            <a:off x="731520" y="1957273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31520" y="1990191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corpus stopped growing at round three: the same 24 datasets and 48,752 unique images went in every time, and the apparent growth was one staging directory nobody cleared. Eight rounds collected nothing and reported success. Starting fresh instead of from the previous round's weights is worth +0.0287, 5.1 times this recipe's own seed spread.</a:t>
            </a:r>
          </a:p>
        </p:txBody>
      </p:sp>
      <p:sp>
        <p:nvSpPr>
          <p:cNvPr id="40" name="TextBox 39"/>
          <p:cNvSpPr txBox="1"/>
          <p:nvPr/>
        </p:nvSpPr>
        <p:spPr>
          <a:xfrm>
            <a:off x="731520" y="2201316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Not yet pointed at the drives</a:t>
            </a:r>
          </a:p>
        </p:txBody>
      </p:sp>
      <p:sp>
        <p:nvSpPr>
          <p:cNvPr id="41" name="Rectangle 40"/>
          <p:cNvSpPr/>
          <p:nvPr/>
        </p:nvSpPr>
        <p:spPr>
          <a:xfrm>
            <a:off x="731520" y="2257450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31520" y="22903688"/>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conversational agent has answered 92 questions, and none of them was about a live robot drive. Every one of the 26 live sessions got the fixed diagnosis; not one got a question. Pointing the agent at the drives is the next thing to do and it costs nothing but asking. This part is built and is switched off today.</a:t>
            </a:r>
          </a:p>
        </p:txBody>
      </p:sp>
      <p:sp>
        <p:nvSpPr>
          <p:cNvPr id="43" name="TextBox 42"/>
          <p:cNvSpPr txBox="1"/>
          <p:nvPr/>
        </p:nvSpPr>
        <p:spPr>
          <a:xfrm>
            <a:off x="11704320" y="7933943"/>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Robots on the platform today</a:t>
            </a:r>
          </a:p>
        </p:txBody>
      </p:sp>
      <p:sp>
        <p:nvSpPr>
          <p:cNvPr id="44" name="Rectangle 43"/>
          <p:cNvSpPr/>
          <p:nvPr/>
        </p:nvSpPr>
        <p:spPr>
          <a:xfrm>
            <a:off x="11704320" y="849528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1704320" y="8824467"/>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6" name="TextBox 45"/>
          <p:cNvSpPr txBox="1"/>
          <p:nvPr/>
        </p:nvSpPr>
        <p:spPr>
          <a:xfrm>
            <a:off x="11704320" y="10935716"/>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Four frames, as recorded</a:t>
            </a:r>
          </a:p>
        </p:txBody>
      </p:sp>
      <p:sp>
        <p:nvSpPr>
          <p:cNvPr id="47" name="Rectangle 46"/>
          <p:cNvSpPr/>
          <p:nvPr/>
        </p:nvSpPr>
        <p:spPr>
          <a:xfrm>
            <a:off x="11704320" y="11497056"/>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704320" y="11826239"/>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Nothing here is enhanced and nothing is labelled. The rectangle in the cart's down camera is a fixed work-zone overlay: it sits at the same pixels on frames with no vegetation in them at all.</a:t>
            </a:r>
          </a:p>
        </p:txBody>
      </p:sp>
      <p:sp>
        <p:nvSpPr>
          <p:cNvPr id="49" name="TextBox 48"/>
          <p:cNvSpPr txBox="1"/>
          <p:nvPr/>
        </p:nvSpPr>
        <p:spPr>
          <a:xfrm>
            <a:off x="11704320" y="13317727"/>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Which decisions a model makes</a:t>
            </a:r>
          </a:p>
        </p:txBody>
      </p:sp>
      <p:sp>
        <p:nvSpPr>
          <p:cNvPr id="50" name="Rectangle 49"/>
          <p:cNvSpPr/>
          <p:nvPr/>
        </p:nvSpPr>
        <p:spPr>
          <a:xfrm>
            <a:off x="11704320" y="13879067"/>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1704320" y="14208251"/>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52" name="TextBox 51"/>
          <p:cNvSpPr txBox="1"/>
          <p:nvPr/>
        </p:nvSpPr>
        <p:spPr>
          <a:xfrm>
            <a:off x="11704320" y="16319500"/>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213 seconds in one crop plot</a:t>
            </a:r>
          </a:p>
        </p:txBody>
      </p:sp>
      <p:sp>
        <p:nvSpPr>
          <p:cNvPr id="53" name="Rectangle 52"/>
          <p:cNvSpPr/>
          <p:nvPr/>
        </p:nvSpPr>
        <p:spPr>
          <a:xfrm>
            <a:off x="11704320" y="16880839"/>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1704320" y="17210023"/>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longest single pass the platform holds: 141 m of track from 211 fixes, with heading from the IMU over the same 213 seconds. The platform holds 18 passes that carry position.</a:t>
            </a:r>
          </a:p>
        </p:txBody>
      </p:sp>
      <p:sp>
        <p:nvSpPr>
          <p:cNvPr id="55" name="TextBox 54"/>
          <p:cNvSpPr txBox="1"/>
          <p:nvPr/>
        </p:nvSpPr>
        <p:spPr>
          <a:xfrm>
            <a:off x="11704320" y="18701512"/>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Back on our own rows</a:t>
            </a:r>
          </a:p>
        </p:txBody>
      </p:sp>
      <p:sp>
        <p:nvSpPr>
          <p:cNvPr id="56" name="Rectangle 55"/>
          <p:cNvSpPr/>
          <p:nvPr/>
        </p:nvSpPr>
        <p:spPr>
          <a:xfrm>
            <a:off x="11704320" y="19262852"/>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1704320" y="19592036"/>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deployable checkpoint draws a box on 25 of the 2,686 frames our robots recorded, and 24 of those 25 boxes are the same class. These frames carry no labels, so that is a firing rate, not recall and not precision.</a:t>
            </a:r>
          </a:p>
        </p:txBody>
      </p:sp>
      <p:sp>
        <p:nvSpPr>
          <p:cNvPr id="58" name="TextBox 57"/>
          <p:cNvSpPr txBox="1"/>
          <p:nvPr/>
        </p:nvSpPr>
        <p:spPr>
          <a:xfrm>
            <a:off x="11704320" y="21083524"/>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Who notices when it breaks</a:t>
            </a:r>
          </a:p>
        </p:txBody>
      </p:sp>
      <p:sp>
        <p:nvSpPr>
          <p:cNvPr id="59" name="Rectangle 58"/>
          <p:cNvSpPr/>
          <p:nvPr/>
        </p:nvSpPr>
        <p:spPr>
          <a:xfrm>
            <a:off x="11704320" y="2164486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1704320" y="21974048"/>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We froze 162 real failures out of this project's own engineering record and scored every kind of supervision against them. The watchdog the loop was running returned no decision on any of the 149 dev cases. A model reading the raw artifacts reaches 0.70 recall over 116 incidents.</a:t>
            </a:r>
          </a:p>
        </p:txBody>
      </p:sp>
      <p:sp>
        <p:nvSpPr>
          <p:cNvPr id="61" name="TextBox 60"/>
          <p:cNvSpPr txBox="1"/>
          <p:nvPr/>
        </p:nvSpPr>
        <p:spPr>
          <a:xfrm>
            <a:off x="22059900" y="7933943"/>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 drive becomes a dataset as it opens</a:t>
            </a:r>
          </a:p>
        </p:txBody>
      </p:sp>
      <p:sp>
        <p:nvSpPr>
          <p:cNvPr id="62" name="Rectangle 61"/>
          <p:cNvSpPr/>
          <p:nvPr/>
        </p:nvSpPr>
        <p:spPr>
          <a:xfrm>
            <a:off x="22059900" y="849528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059900" y="8824467"/>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4" name="TextBox 63"/>
          <p:cNvSpPr txBox="1"/>
          <p:nvPr/>
        </p:nvSpPr>
        <p:spPr>
          <a:xfrm>
            <a:off x="22059900" y="10935716"/>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On disk today</a:t>
            </a:r>
          </a:p>
        </p:txBody>
      </p:sp>
      <p:sp>
        <p:nvSpPr>
          <p:cNvPr id="65" name="Rectangle 64"/>
          <p:cNvSpPr/>
          <p:nvPr/>
        </p:nvSpPr>
        <p:spPr>
          <a:xfrm>
            <a:off x="22059900" y="11497056"/>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22059900" y="11826239"/>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Two robots have put 2,686 camera frames and 91,955 telemetry rows across nine streams onto the platform, over 26 drives, with 342 m of GPS track from 1,502 fixes. None of the frames is labelled.</a:t>
            </a:r>
          </a:p>
        </p:txBody>
      </p:sp>
      <p:sp>
        <p:nvSpPr>
          <p:cNvPr id="67" name="TextBox 66"/>
          <p:cNvSpPr txBox="1"/>
          <p:nvPr/>
        </p:nvSpPr>
        <p:spPr>
          <a:xfrm>
            <a:off x="22059900" y="13317727"/>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More web data, less accuracy</a:t>
            </a:r>
          </a:p>
        </p:txBody>
      </p:sp>
      <p:sp>
        <p:nvSpPr>
          <p:cNvPr id="68" name="Rectangle 67"/>
          <p:cNvSpPr/>
          <p:nvPr/>
        </p:nvSpPr>
        <p:spPr>
          <a:xfrm>
            <a:off x="22059900" y="13879067"/>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22059900" y="14208251"/>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70" name="TextBox 69"/>
          <p:cNvSpPr txBox="1"/>
          <p:nvPr/>
        </p:nvSpPr>
        <p:spPr>
          <a:xfrm>
            <a:off x="22059900" y="16009620"/>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Talking back to a robot</a:t>
            </a:r>
          </a:p>
        </p:txBody>
      </p:sp>
      <p:sp>
        <p:nvSpPr>
          <p:cNvPr id="71" name="Rectangle 70"/>
          <p:cNvSpPr/>
          <p:nvPr/>
        </p:nvSpPr>
        <p:spPr>
          <a:xfrm>
            <a:off x="22059900" y="16570959"/>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22059900" y="16900143"/>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73" name="TextBox 72"/>
          <p:cNvSpPr txBox="1"/>
          <p:nvPr/>
        </p:nvSpPr>
        <p:spPr>
          <a:xfrm>
            <a:off x="22059900" y="18701512"/>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Every drive is diagnosed on arrival</a:t>
            </a:r>
          </a:p>
        </p:txBody>
      </p:sp>
      <p:sp>
        <p:nvSpPr>
          <p:cNvPr id="74" name="Rectangle 73"/>
          <p:cNvSpPr/>
          <p:nvPr/>
        </p:nvSpPr>
        <p:spPr>
          <a:xfrm>
            <a:off x="22059900" y="19262852"/>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2059900" y="19592036"/>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platform runs a fixed diagnosis over each finished session without being asked: route, noise, cross-sensor correlation, a timeline. It has done that for 26 live robot sessions and written 45 charts. A person reads the diagnosis before deciding whether the drive is worth anything.</a:t>
            </a:r>
          </a:p>
        </p:txBody>
      </p:sp>
      <p:sp>
        <p:nvSpPr>
          <p:cNvPr id="76" name="TextBox 75"/>
          <p:cNvSpPr txBox="1"/>
          <p:nvPr/>
        </p:nvSpPr>
        <p:spPr>
          <a:xfrm>
            <a:off x="22059900" y="21393404"/>
            <a:ext cx="998982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Auditing six web sources</a:t>
            </a:r>
          </a:p>
        </p:txBody>
      </p:sp>
      <p:sp>
        <p:nvSpPr>
          <p:cNvPr id="77" name="Rectangle 76"/>
          <p:cNvSpPr/>
          <p:nvPr/>
        </p:nvSpPr>
        <p:spPr>
          <a:xfrm>
            <a:off x="22059900" y="21954744"/>
            <a:ext cx="998982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22059900" y="22283928"/>
            <a:ext cx="998982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same probe reads 1.000 on human-labelled CottonWeedDet12, so a source at 0.184 is the data and not the instrument. Only the top source clears the bar, and it supplies 3,208 of the 13,527 audited images.</a:t>
            </a:r>
          </a:p>
        </p:txBody>
      </p:sp>
      <p:sp>
        <p:nvSpPr>
          <p:cNvPr id="79" name="TextBox 78"/>
          <p:cNvSpPr txBox="1"/>
          <p:nvPr/>
        </p:nvSpPr>
        <p:spPr>
          <a:xfrm>
            <a:off x="3255264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Driving a robot from a browser</a:t>
            </a:r>
          </a:p>
        </p:txBody>
      </p:sp>
      <p:sp>
        <p:nvSpPr>
          <p:cNvPr id="80" name="Rectangle 79"/>
          <p:cNvSpPr/>
          <p:nvPr/>
        </p:nvSpPr>
        <p:spPr>
          <a:xfrm>
            <a:off x="32552640" y="849528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255264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82" name="TextBox 81"/>
          <p:cNvSpPr txBox="1"/>
          <p:nvPr/>
        </p:nvSpPr>
        <p:spPr>
          <a:xfrm>
            <a:off x="32552640" y="109357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Only one robot has the button</a:t>
            </a:r>
          </a:p>
        </p:txBody>
      </p:sp>
      <p:sp>
        <p:nvSpPr>
          <p:cNvPr id="83" name="Rectangle 82"/>
          <p:cNvSpPr/>
          <p:nvPr/>
        </p:nvSpPr>
        <p:spPr>
          <a:xfrm>
            <a:off x="32552640" y="1149705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32552640" y="1182623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85" name="TextBox 84"/>
          <p:cNvSpPr txBox="1"/>
          <p:nvPr/>
        </p:nvSpPr>
        <p:spPr>
          <a:xfrm>
            <a:off x="32552640" y="13627607"/>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Any research field is a project</a:t>
            </a:r>
          </a:p>
        </p:txBody>
      </p:sp>
      <p:sp>
        <p:nvSpPr>
          <p:cNvPr id="86" name="Rectangle 85"/>
          <p:cNvSpPr/>
          <p:nvPr/>
        </p:nvSpPr>
        <p:spPr>
          <a:xfrm>
            <a:off x="32552640" y="14188947"/>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32552640" y="14518131"/>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88" name="TextBox 87"/>
          <p:cNvSpPr txBox="1"/>
          <p:nvPr/>
        </p:nvSpPr>
        <p:spPr>
          <a:xfrm>
            <a:off x="32552640" y="1631950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Code the agent writes runs fenced in</a:t>
            </a:r>
          </a:p>
        </p:txBody>
      </p:sp>
      <p:sp>
        <p:nvSpPr>
          <p:cNvPr id="89" name="Rectangle 88"/>
          <p:cNvSpPr/>
          <p:nvPr/>
        </p:nvSpPr>
        <p:spPr>
          <a:xfrm>
            <a:off x="32552640" y="1688083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32552640" y="17210023"/>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Generated code passes an import whitelist and an AST check before it runs, with no network and no file writes, 15 seconds of CPU, 1.5 GB of memory and a 25 second wall clock. A user can edit the agent's code or paste their own and re-run it in the same fence.</a:t>
            </a:r>
          </a:p>
        </p:txBody>
      </p:sp>
      <p:sp>
        <p:nvSpPr>
          <p:cNvPr id="91" name="TextBox 90"/>
          <p:cNvSpPr txBox="1"/>
          <p:nvPr/>
        </p:nvSpPr>
        <p:spPr>
          <a:xfrm>
            <a:off x="32552640" y="1901139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Arial Narrow"/>
              </a:rPr>
              <a:t>Laser on, never once at a target</a:t>
            </a:r>
          </a:p>
        </p:txBody>
      </p:sp>
      <p:sp>
        <p:nvSpPr>
          <p:cNvPr id="92" name="Rectangle 91"/>
          <p:cNvSpPr/>
          <p:nvPr/>
        </p:nvSpPr>
        <p:spPr>
          <a:xfrm>
            <a:off x="32552640" y="1957273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2552640" y="1990191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cart's own operator switched the laser on during three of eight archived sessions. The platform recorded 3379 laser rows and 216 of them have the laser enabled. Every one of those 216 is in OBSERVATION phase, with no target. The laser has never been armed, aimed or fired by the platform.</a:t>
            </a:r>
          </a:p>
        </p:txBody>
      </p:sp>
      <p:sp>
        <p:nvSpPr>
          <p:cNvPr id="94" name="Rectangle 93"/>
          <p:cNvSpPr/>
          <p:nvPr/>
        </p:nvSpPr>
        <p:spPr>
          <a:xfrm>
            <a:off x="731520" y="30632400"/>
            <a:ext cx="42428160" cy="20116"/>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96" name="TextBox 95"/>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97" name="TextBox 96"/>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