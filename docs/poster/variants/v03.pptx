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8600" b="1">
                <a:solidFill>
                  <a:srgbClr val="24303B"/>
                </a:solidFill>
                <a:latin typeface="Times New Roman"/>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24303B"/>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66727E"/>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24303B"/>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820663"/>
            <a:ext cx="42428160" cy="4023360"/>
          </a:xfrm>
          <a:prstGeom prst="rect">
            <a:avLst/>
          </a:prstGeom>
        </p:spPr>
      </p:pic>
      <p:sp>
        <p:nvSpPr>
          <p:cNvPr id="9" name="TextBox 8"/>
          <p:cNvSpPr txBox="1"/>
          <p:nvPr/>
        </p:nvSpPr>
        <p:spPr>
          <a:xfrm>
            <a:off x="731520" y="9953751"/>
            <a:ext cx="42428160" cy="365760"/>
          </a:xfrm>
          <a:prstGeom prst="rect">
            <a:avLst/>
          </a:prstGeom>
          <a:noFill/>
        </p:spPr>
        <p:txBody>
          <a:bodyPr wrap="square" lIns="0" rIns="0" tIns="0" bIns="0">
            <a:spAutoFit/>
          </a:bodyPr>
          <a:lstStyle/>
          <a:p>
            <a:pPr algn="l">
              <a:lnSpc>
                <a:spcPct val="118000"/>
              </a:lnSpc>
              <a:spcAft>
                <a:spcPts val="0"/>
              </a:spcAft>
            </a:pPr>
            <a:r>
              <a:rPr sz="1600" b="0">
                <a:solidFill>
                  <a:srgbClr val="66727E"/>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687303"/>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2,686</a:t>
            </a:r>
          </a:p>
        </p:txBody>
      </p:sp>
      <p:sp>
        <p:nvSpPr>
          <p:cNvPr id="12" name="TextBox 11"/>
          <p:cNvSpPr txBox="1"/>
          <p:nvPr/>
        </p:nvSpPr>
        <p:spPr>
          <a:xfrm>
            <a:off x="731520"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camera frames</a:t>
            </a:r>
          </a:p>
        </p:txBody>
      </p:sp>
      <p:sp>
        <p:nvSpPr>
          <p:cNvPr id="13" name="TextBox 12"/>
          <p:cNvSpPr txBox="1"/>
          <p:nvPr/>
        </p:nvSpPr>
        <p:spPr>
          <a:xfrm>
            <a:off x="731520"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26 drives, 2 robots, 0 labelled</a:t>
            </a:r>
          </a:p>
        </p:txBody>
      </p:sp>
      <p:sp>
        <p:nvSpPr>
          <p:cNvPr id="14" name="TextBox 13"/>
          <p:cNvSpPr txBox="1"/>
          <p:nvPr/>
        </p:nvSpPr>
        <p:spPr>
          <a:xfrm>
            <a:off x="9317736"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91,955</a:t>
            </a:r>
          </a:p>
        </p:txBody>
      </p:sp>
      <p:sp>
        <p:nvSpPr>
          <p:cNvPr id="15" name="TextBox 14"/>
          <p:cNvSpPr txBox="1"/>
          <p:nvPr/>
        </p:nvSpPr>
        <p:spPr>
          <a:xfrm>
            <a:off x="9317736"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telemetry rows</a:t>
            </a:r>
          </a:p>
        </p:txBody>
      </p:sp>
      <p:sp>
        <p:nvSpPr>
          <p:cNvPr id="16" name="TextBox 15"/>
          <p:cNvSpPr txBox="1"/>
          <p:nvPr/>
        </p:nvSpPr>
        <p:spPr>
          <a:xfrm>
            <a:off x="9317736"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nine streams, counted line by line</a:t>
            </a:r>
          </a:p>
        </p:txBody>
      </p:sp>
      <p:sp>
        <p:nvSpPr>
          <p:cNvPr id="17" name="TextBox 16"/>
          <p:cNvSpPr txBox="1"/>
          <p:nvPr/>
        </p:nvSpPr>
        <p:spPr>
          <a:xfrm>
            <a:off x="17903952"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342 m</a:t>
            </a:r>
          </a:p>
        </p:txBody>
      </p:sp>
      <p:sp>
        <p:nvSpPr>
          <p:cNvPr id="18" name="TextBox 17"/>
          <p:cNvSpPr txBox="1"/>
          <p:nvPr/>
        </p:nvSpPr>
        <p:spPr>
          <a:xfrm>
            <a:off x="17903952"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of GPS track</a:t>
            </a:r>
          </a:p>
        </p:txBody>
      </p:sp>
      <p:sp>
        <p:nvSpPr>
          <p:cNvPr id="19" name="TextBox 18"/>
          <p:cNvSpPr txBox="1"/>
          <p:nvPr/>
        </p:nvSpPr>
        <p:spPr>
          <a:xfrm>
            <a:off x="17903952"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1,502 fixes over 18 drives</a:t>
            </a:r>
          </a:p>
        </p:txBody>
      </p:sp>
      <p:sp>
        <p:nvSpPr>
          <p:cNvPr id="20" name="TextBox 19"/>
          <p:cNvSpPr txBox="1"/>
          <p:nvPr/>
        </p:nvSpPr>
        <p:spPr>
          <a:xfrm>
            <a:off x="26490168"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27</a:t>
            </a:r>
          </a:p>
        </p:txBody>
      </p:sp>
      <p:sp>
        <p:nvSpPr>
          <p:cNvPr id="21" name="TextBox 20"/>
          <p:cNvSpPr txBox="1"/>
          <p:nvPr/>
        </p:nvSpPr>
        <p:spPr>
          <a:xfrm>
            <a:off x="26490168"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distinct models run</a:t>
            </a:r>
          </a:p>
        </p:txBody>
      </p:sp>
      <p:sp>
        <p:nvSpPr>
          <p:cNvPr id="22" name="TextBox 21"/>
          <p:cNvSpPr txBox="1"/>
          <p:nvPr/>
        </p:nvSpPr>
        <p:spPr>
          <a:xfrm>
            <a:off x="26490168"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four families, one deployed</a:t>
            </a:r>
          </a:p>
        </p:txBody>
      </p:sp>
      <p:sp>
        <p:nvSpPr>
          <p:cNvPr id="23" name="TextBox 22"/>
          <p:cNvSpPr txBox="1"/>
          <p:nvPr/>
        </p:nvSpPr>
        <p:spPr>
          <a:xfrm>
            <a:off x="35076384" y="1088847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Times New Roman"/>
              </a:rPr>
              <a:t>0</a:t>
            </a:r>
          </a:p>
        </p:txBody>
      </p:sp>
      <p:sp>
        <p:nvSpPr>
          <p:cNvPr id="24" name="TextBox 23"/>
          <p:cNvSpPr txBox="1"/>
          <p:nvPr/>
        </p:nvSpPr>
        <p:spPr>
          <a:xfrm>
            <a:off x="35076384" y="1161389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4303B"/>
                </a:solidFill>
                <a:latin typeface="Arial"/>
              </a:rPr>
              <a:t>robot frames labelled</a:t>
            </a:r>
          </a:p>
        </p:txBody>
      </p:sp>
      <p:sp>
        <p:nvSpPr>
          <p:cNvPr id="25" name="TextBox 24"/>
          <p:cNvSpPr txBox="1"/>
          <p:nvPr/>
        </p:nvSpPr>
        <p:spPr>
          <a:xfrm>
            <a:off x="35076384" y="1194917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6727E"/>
                </a:solidFill>
                <a:latin typeface="Arial"/>
              </a:rPr>
              <a:t>the whole archive, so far</a:t>
            </a:r>
          </a:p>
        </p:txBody>
      </p:sp>
      <p:sp>
        <p:nvSpPr>
          <p:cNvPr id="26" name="Rectangle 25"/>
          <p:cNvSpPr/>
          <p:nvPr/>
        </p:nvSpPr>
        <p:spPr>
          <a:xfrm>
            <a:off x="731520" y="12306807"/>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80058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One platform for every robot the lab owns</a:t>
            </a:r>
          </a:p>
        </p:txBody>
      </p:sp>
      <p:sp>
        <p:nvSpPr>
          <p:cNvPr id="28" name="Rectangle 27"/>
          <p:cNvSpPr/>
          <p:nvPr/>
        </p:nvSpPr>
        <p:spPr>
          <a:xfrm>
            <a:off x="731520" y="1336192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69110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5182596"/>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Times New Roman"/>
              </a:rPr>
              <a:t>1,389</a:t>
            </a:r>
          </a:p>
        </p:txBody>
      </p:sp>
      <p:sp>
        <p:nvSpPr>
          <p:cNvPr id="31" name="TextBox 30"/>
          <p:cNvSpPr txBox="1"/>
          <p:nvPr/>
        </p:nvSpPr>
        <p:spPr>
          <a:xfrm>
            <a:off x="731520" y="15985744"/>
            <a:ext cx="20482560" cy="365760"/>
          </a:xfrm>
          <a:prstGeom prst="rect">
            <a:avLst/>
          </a:prstGeom>
          <a:noFill/>
        </p:spPr>
        <p:txBody>
          <a:bodyPr wrap="square" lIns="0" rIns="0" tIns="0" bIns="0">
            <a:spAutoFit/>
          </a:bodyPr>
          <a:lstStyle/>
          <a:p>
            <a:pPr algn="l">
              <a:lnSpc>
                <a:spcPct val="122000"/>
              </a:lnSpc>
              <a:spcAft>
                <a:spcPts val="600"/>
              </a:spcAft>
            </a:pPr>
            <a:r>
              <a:rPr sz="1600" b="0">
                <a:solidFill>
                  <a:srgbClr val="66727E"/>
                </a:solidFill>
                <a:latin typeface="Arial"/>
              </a:rPr>
              <a:t>joystick commands through the platform</a:t>
            </a:r>
          </a:p>
        </p:txBody>
      </p:sp>
      <p:sp>
        <p:nvSpPr>
          <p:cNvPr id="32" name="TextBox 31"/>
          <p:cNvSpPr txBox="1"/>
          <p:nvPr/>
        </p:nvSpPr>
        <p:spPr>
          <a:xfrm>
            <a:off x="731520" y="16456152"/>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Driving a robot from a browser</a:t>
            </a:r>
          </a:p>
        </p:txBody>
      </p:sp>
      <p:sp>
        <p:nvSpPr>
          <p:cNvPr id="33" name="Rectangle 32"/>
          <p:cNvSpPr/>
          <p:nvPr/>
        </p:nvSpPr>
        <p:spPr>
          <a:xfrm>
            <a:off x="731520" y="1701749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17346676"/>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5" name="TextBox 34"/>
          <p:cNvSpPr txBox="1"/>
          <p:nvPr/>
        </p:nvSpPr>
        <p:spPr>
          <a:xfrm>
            <a:off x="731520" y="18838164"/>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Left alone for fifteen rounds</a:t>
            </a:r>
          </a:p>
        </p:txBody>
      </p:sp>
      <p:sp>
        <p:nvSpPr>
          <p:cNvPr id="36" name="Rectangle 35"/>
          <p:cNvSpPr/>
          <p:nvPr/>
        </p:nvSpPr>
        <p:spPr>
          <a:xfrm>
            <a:off x="731520" y="19399504"/>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f_rounds.png"/>
          <p:cNvPicPr>
            <a:picLocks noChangeAspect="1"/>
          </p:cNvPicPr>
          <p:nvPr/>
        </p:nvPicPr>
        <p:blipFill>
          <a:blip r:embed="rId3"/>
          <a:stretch>
            <a:fillRect/>
          </a:stretch>
        </p:blipFill>
        <p:spPr>
          <a:xfrm>
            <a:off x="731520" y="19728688"/>
            <a:ext cx="20482560" cy="4663440"/>
          </a:xfrm>
          <a:prstGeom prst="rect">
            <a:avLst/>
          </a:prstGeom>
        </p:spPr>
      </p:pic>
      <p:sp>
        <p:nvSpPr>
          <p:cNvPr id="38" name="TextBox 37"/>
          <p:cNvSpPr txBox="1"/>
          <p:nvPr/>
        </p:nvSpPr>
        <p:spPr>
          <a:xfrm>
            <a:off x="731520" y="24501856"/>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66727E"/>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9" name="TextBox 38"/>
          <p:cNvSpPr txBox="1"/>
          <p:nvPr/>
        </p:nvSpPr>
        <p:spPr>
          <a:xfrm>
            <a:off x="731520" y="25532080"/>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40" name="TextBox 39"/>
          <p:cNvSpPr txBox="1"/>
          <p:nvPr/>
        </p:nvSpPr>
        <p:spPr>
          <a:xfrm>
            <a:off x="21579840" y="1280058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Robots on the platform today</a:t>
            </a:r>
          </a:p>
        </p:txBody>
      </p:sp>
      <p:sp>
        <p:nvSpPr>
          <p:cNvPr id="41" name="Rectangle 40"/>
          <p:cNvSpPr/>
          <p:nvPr/>
        </p:nvSpPr>
        <p:spPr>
          <a:xfrm>
            <a:off x="21579840" y="1336192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579840" y="1369110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43" name="TextBox 42"/>
          <p:cNvSpPr txBox="1"/>
          <p:nvPr/>
        </p:nvSpPr>
        <p:spPr>
          <a:xfrm>
            <a:off x="21579840" y="1580235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Times New Roman"/>
              </a:rPr>
              <a:t>14</a:t>
            </a:r>
          </a:p>
        </p:txBody>
      </p:sp>
      <p:sp>
        <p:nvSpPr>
          <p:cNvPr id="44" name="TextBox 43"/>
          <p:cNvSpPr txBox="1"/>
          <p:nvPr/>
        </p:nvSpPr>
        <p:spPr>
          <a:xfrm>
            <a:off x="21579840" y="1660550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66727E"/>
                </a:solidFill>
                <a:latin typeface="Arial"/>
              </a:rPr>
              <a:t>analysis tools the planner can choose from</a:t>
            </a:r>
          </a:p>
        </p:txBody>
      </p:sp>
      <p:sp>
        <p:nvSpPr>
          <p:cNvPr id="45" name="TextBox 44"/>
          <p:cNvSpPr txBox="1"/>
          <p:nvPr/>
        </p:nvSpPr>
        <p:spPr>
          <a:xfrm>
            <a:off x="21579840" y="1707591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Ask a dataset what it is good for</a:t>
            </a:r>
          </a:p>
        </p:txBody>
      </p:sp>
      <p:sp>
        <p:nvSpPr>
          <p:cNvPr id="46" name="Rectangle 45"/>
          <p:cNvSpPr/>
          <p:nvPr/>
        </p:nvSpPr>
        <p:spPr>
          <a:xfrm>
            <a:off x="21579840" y="1763725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1579840" y="1796643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8" name="TextBox 47"/>
          <p:cNvSpPr txBox="1"/>
          <p:nvPr/>
        </p:nvSpPr>
        <p:spPr>
          <a:xfrm>
            <a:off x="21579840" y="1976780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On disk today</a:t>
            </a:r>
          </a:p>
        </p:txBody>
      </p:sp>
      <p:sp>
        <p:nvSpPr>
          <p:cNvPr id="49" name="Rectangle 48"/>
          <p:cNvSpPr/>
          <p:nvPr/>
        </p:nvSpPr>
        <p:spPr>
          <a:xfrm>
            <a:off x="21579840" y="2032914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579840" y="2065832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Two robots have put 2,686 camera frames and 91,955 telemetry rows across nine streams onto the platform, over 26 drives, with 342 m of GPS track from 1,502 fixes. None of the frames is labelled.</a:t>
            </a:r>
          </a:p>
        </p:txBody>
      </p:sp>
      <p:sp>
        <p:nvSpPr>
          <p:cNvPr id="51" name="TextBox 50"/>
          <p:cNvSpPr txBox="1"/>
          <p:nvPr/>
        </p:nvSpPr>
        <p:spPr>
          <a:xfrm>
            <a:off x="21579840" y="2214981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Times New Roman"/>
              </a:rPr>
              <a:t>92</a:t>
            </a:r>
          </a:p>
        </p:txBody>
      </p:sp>
      <p:sp>
        <p:nvSpPr>
          <p:cNvPr id="52" name="TextBox 51"/>
          <p:cNvSpPr txBox="1"/>
          <p:nvPr/>
        </p:nvSpPr>
        <p:spPr>
          <a:xfrm>
            <a:off x="21579840" y="2295296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66727E"/>
                </a:solidFill>
                <a:latin typeface="Arial"/>
              </a:rPr>
              <a:t>questions asked of a dataset so far</a:t>
            </a:r>
          </a:p>
        </p:txBody>
      </p:sp>
      <p:sp>
        <p:nvSpPr>
          <p:cNvPr id="53" name="TextBox 52"/>
          <p:cNvSpPr txBox="1"/>
          <p:nvPr/>
        </p:nvSpPr>
        <p:spPr>
          <a:xfrm>
            <a:off x="21579840" y="234233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Asked something it had never seen</a:t>
            </a:r>
          </a:p>
        </p:txBody>
      </p:sp>
      <p:sp>
        <p:nvSpPr>
          <p:cNvPr id="54" name="Rectangle 53"/>
          <p:cNvSpPr/>
          <p:nvPr/>
        </p:nvSpPr>
        <p:spPr>
          <a:xfrm>
            <a:off x="21579840" y="2398471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79840" y="243138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6" name="TextBox 55"/>
          <p:cNvSpPr txBox="1"/>
          <p:nvPr/>
        </p:nvSpPr>
        <p:spPr>
          <a:xfrm>
            <a:off x="21579840" y="2611526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More web data, less accuracy</a:t>
            </a:r>
          </a:p>
        </p:txBody>
      </p:sp>
      <p:sp>
        <p:nvSpPr>
          <p:cNvPr id="57" name="Rectangle 56"/>
          <p:cNvSpPr/>
          <p:nvPr/>
        </p:nvSpPr>
        <p:spPr>
          <a:xfrm>
            <a:off x="21579840" y="2667660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1579840" y="270057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9" name="TextBox 58"/>
          <p:cNvSpPr txBox="1"/>
          <p:nvPr/>
        </p:nvSpPr>
        <p:spPr>
          <a:xfrm>
            <a:off x="32552640" y="1280058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A drive becomes a dataset as it opens</a:t>
            </a:r>
          </a:p>
        </p:txBody>
      </p:sp>
      <p:sp>
        <p:nvSpPr>
          <p:cNvPr id="60" name="Rectangle 59"/>
          <p:cNvSpPr/>
          <p:nvPr/>
        </p:nvSpPr>
        <p:spPr>
          <a:xfrm>
            <a:off x="32552640" y="1336192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552640" y="1369110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2" name="TextBox 61"/>
          <p:cNvSpPr txBox="1"/>
          <p:nvPr/>
        </p:nvSpPr>
        <p:spPr>
          <a:xfrm>
            <a:off x="32552640" y="1549247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Four frames, as recorded</a:t>
            </a:r>
          </a:p>
        </p:txBody>
      </p:sp>
      <p:sp>
        <p:nvSpPr>
          <p:cNvPr id="63" name="Rectangle 62"/>
          <p:cNvSpPr/>
          <p:nvPr/>
        </p:nvSpPr>
        <p:spPr>
          <a:xfrm>
            <a:off x="32552640" y="1605381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l_robots.png"/>
          <p:cNvPicPr>
            <a:picLocks noChangeAspect="1"/>
          </p:cNvPicPr>
          <p:nvPr/>
        </p:nvPicPr>
        <p:blipFill>
          <a:blip r:embed="rId4"/>
          <a:stretch>
            <a:fillRect/>
          </a:stretch>
        </p:blipFill>
        <p:spPr>
          <a:xfrm>
            <a:off x="32552640" y="16382999"/>
            <a:ext cx="10607040" cy="2377440"/>
          </a:xfrm>
          <a:prstGeom prst="rect">
            <a:avLst/>
          </a:prstGeom>
        </p:spPr>
      </p:pic>
      <p:sp>
        <p:nvSpPr>
          <p:cNvPr id="65" name="TextBox 64"/>
          <p:cNvSpPr txBox="1"/>
          <p:nvPr/>
        </p:nvSpPr>
        <p:spPr>
          <a:xfrm>
            <a:off x="32552640" y="18870168"/>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66727E"/>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6" name="TextBox 65"/>
          <p:cNvSpPr txBox="1"/>
          <p:nvPr/>
        </p:nvSpPr>
        <p:spPr>
          <a:xfrm>
            <a:off x="32552640" y="2014016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Nothing here is enhanced and nothing is labelled. The rectangle in the cart's down camera is a fixed work-zone overlay: it sits at the same pixels on frames with no vegetation in them at all.</a:t>
            </a:r>
          </a:p>
        </p:txBody>
      </p:sp>
      <p:sp>
        <p:nvSpPr>
          <p:cNvPr id="67" name="TextBox 66"/>
          <p:cNvSpPr txBox="1"/>
          <p:nvPr/>
        </p:nvSpPr>
        <p:spPr>
          <a:xfrm>
            <a:off x="32552640" y="2163165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Only one robot has the button</a:t>
            </a:r>
          </a:p>
        </p:txBody>
      </p:sp>
      <p:sp>
        <p:nvSpPr>
          <p:cNvPr id="68" name="Rectangle 67"/>
          <p:cNvSpPr/>
          <p:nvPr/>
        </p:nvSpPr>
        <p:spPr>
          <a:xfrm>
            <a:off x="32552640" y="2219299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2552640" y="2252218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70" name="TextBox 69"/>
          <p:cNvSpPr txBox="1"/>
          <p:nvPr/>
        </p:nvSpPr>
        <p:spPr>
          <a:xfrm>
            <a:off x="32552640" y="2432354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Which decisions a model makes</a:t>
            </a:r>
          </a:p>
        </p:txBody>
      </p:sp>
      <p:sp>
        <p:nvSpPr>
          <p:cNvPr id="71" name="Rectangle 70"/>
          <p:cNvSpPr/>
          <p:nvPr/>
        </p:nvSpPr>
        <p:spPr>
          <a:xfrm>
            <a:off x="32552640" y="2488488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552640" y="2521407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73" name="TextBox 72"/>
          <p:cNvSpPr txBox="1"/>
          <p:nvPr/>
        </p:nvSpPr>
        <p:spPr>
          <a:xfrm>
            <a:off x="32552640" y="2732532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F3A45"/>
                </a:solidFill>
                <a:latin typeface="Times New Roman"/>
              </a:rPr>
              <a:t>Any research field is a project</a:t>
            </a:r>
          </a:p>
        </p:txBody>
      </p:sp>
      <p:sp>
        <p:nvSpPr>
          <p:cNvPr id="74" name="Rectangle 73"/>
          <p:cNvSpPr/>
          <p:nvPr/>
        </p:nvSpPr>
        <p:spPr>
          <a:xfrm>
            <a:off x="32552640" y="2788666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552640" y="2821584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4303B"/>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6" name="Rectangle 75"/>
          <p:cNvSpPr/>
          <p:nvPr/>
        </p:nvSpPr>
        <p:spPr>
          <a:xfrm>
            <a:off x="731520" y="30632400"/>
            <a:ext cx="42428160" cy="20116"/>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6727E"/>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8" name="TextBox 77"/>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6727E"/>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9" name="TextBox 78"/>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6727E"/>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