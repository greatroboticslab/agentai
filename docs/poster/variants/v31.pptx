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891200" cy="3931920"/>
          </a:xfrm>
          <a:prstGeom prst="rect">
            <a:avLst/>
          </a:prstGeom>
          <a:solidFill>
            <a:srgbClr val="2F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931920"/>
            <a:ext cx="43891200" cy="45720"/>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84048"/>
            <a:ext cx="42428160" cy="365760"/>
          </a:xfrm>
          <a:prstGeom prst="rect">
            <a:avLst/>
          </a:prstGeom>
          <a:noFill/>
        </p:spPr>
        <p:txBody>
          <a:bodyPr wrap="square" lIns="0" rIns="0" tIns="0" bIns="0">
            <a:spAutoFit/>
          </a:bodyPr>
          <a:lstStyle/>
          <a:p>
            <a:pPr algn="l">
              <a:lnSpc>
                <a:spcPct val="95000"/>
              </a:lnSpc>
              <a:spcAft>
                <a:spcPts val="0"/>
              </a:spcAft>
            </a:pPr>
            <a:r>
              <a:rPr sz="9200" b="1">
                <a:solidFill>
                  <a:srgbClr val="FFFFFF"/>
                </a:solidFill>
                <a:latin typeface="Arial"/>
              </a:rPr>
              <a:t>agentAI: A Research-Data Platform for Physical and Embodied Agents</a:t>
            </a:r>
          </a:p>
        </p:txBody>
      </p:sp>
      <p:sp>
        <p:nvSpPr>
          <p:cNvPr id="6" name="TextBox 5"/>
          <p:cNvSpPr txBox="1"/>
          <p:nvPr/>
        </p:nvSpPr>
        <p:spPr>
          <a:xfrm>
            <a:off x="731520" y="2121408"/>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FFFFFF"/>
                </a:solidFill>
                <a:latin typeface="Arial"/>
              </a:rPr>
              <a:t>Harry He   ·   Hongbo Zhang</a:t>
            </a:r>
          </a:p>
        </p:txBody>
      </p:sp>
      <p:sp>
        <p:nvSpPr>
          <p:cNvPr id="7" name="TextBox 6"/>
          <p:cNvSpPr txBox="1"/>
          <p:nvPr/>
        </p:nvSpPr>
        <p:spPr>
          <a:xfrm>
            <a:off x="731520" y="2761488"/>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CAD2DA"/>
                </a:solidFill>
                <a:latin typeface="Arial"/>
              </a:rPr>
              <a:t>Department of Engineering Technology   ·   Middle Tennessee State University, Murfreesboro, TN, USA</a:t>
            </a:r>
          </a:p>
        </p:txBody>
      </p:sp>
      <p:sp>
        <p:nvSpPr>
          <p:cNvPr id="8" name="TextBox 7"/>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600" b="0">
                <a:solidFill>
                  <a:srgbClr val="24303B"/>
                </a:solidFill>
                <a:latin typeface="Arial"/>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pic>
        <p:nvPicPr>
          <p:cNvPr id="9" name="Picture 8" descr="w_robots.png"/>
          <p:cNvPicPr>
            <a:picLocks noChangeAspect="1"/>
          </p:cNvPicPr>
          <p:nvPr/>
        </p:nvPicPr>
        <p:blipFill>
          <a:blip r:embed="rId2"/>
          <a:stretch>
            <a:fillRect/>
          </a:stretch>
        </p:blipFill>
        <p:spPr>
          <a:xfrm>
            <a:off x="731520" y="5879592"/>
            <a:ext cx="42428160" cy="4023360"/>
          </a:xfrm>
          <a:prstGeom prst="rect">
            <a:avLst/>
          </a:prstGeom>
        </p:spPr>
      </p:pic>
      <p:sp>
        <p:nvSpPr>
          <p:cNvPr id="10" name="TextBox 9"/>
          <p:cNvSpPr txBox="1"/>
          <p:nvPr/>
        </p:nvSpPr>
        <p:spPr>
          <a:xfrm>
            <a:off x="731520" y="10012680"/>
            <a:ext cx="42428160" cy="365760"/>
          </a:xfrm>
          <a:prstGeom prst="rect">
            <a:avLst/>
          </a:prstGeom>
          <a:noFill/>
        </p:spPr>
        <p:txBody>
          <a:bodyPr wrap="square" lIns="0" rIns="0" tIns="0" bIns="0">
            <a:spAutoFit/>
          </a:bodyPr>
          <a:lstStyle/>
          <a:p>
            <a:pPr algn="l">
              <a:lnSpc>
                <a:spcPct val="118000"/>
              </a:lnSpc>
              <a:spcAft>
                <a:spcPts val="0"/>
              </a:spcAft>
            </a:pPr>
            <a:r>
              <a:rPr sz="1700" b="0">
                <a:solidFill>
                  <a:srgbClr val="66727E"/>
                </a:solidFill>
                <a:latin typeface="Arial"/>
              </a:rPr>
              <a:t>Figure 1.  Four frames as recorded, unenhanced and unlabelled. The rectangle in (c) is the cart's fixed work-zone overlay. It is drawn on every frame, including the ones with no vegetation in them.</a:t>
            </a:r>
          </a:p>
        </p:txBody>
      </p:sp>
      <p:sp>
        <p:nvSpPr>
          <p:cNvPr id="11" name="Rectangle 10"/>
          <p:cNvSpPr/>
          <p:nvPr/>
        </p:nvSpPr>
        <p:spPr>
          <a:xfrm>
            <a:off x="731520" y="10761217"/>
            <a:ext cx="42428160" cy="23774"/>
          </a:xfrm>
          <a:prstGeom prst="rect">
            <a:avLst/>
          </a:prstGeom>
          <a:solidFill>
            <a:srgbClr val="CA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Arial"/>
              </a:rPr>
              <a:t>2,686</a:t>
            </a:r>
          </a:p>
        </p:txBody>
      </p:sp>
      <p:sp>
        <p:nvSpPr>
          <p:cNvPr id="13" name="TextBox 12"/>
          <p:cNvSpPr txBox="1"/>
          <p:nvPr/>
        </p:nvSpPr>
        <p:spPr>
          <a:xfrm>
            <a:off x="731520"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24303B"/>
                </a:solidFill>
                <a:latin typeface="Arial"/>
              </a:rPr>
              <a:t>camera frames</a:t>
            </a:r>
          </a:p>
        </p:txBody>
      </p:sp>
      <p:sp>
        <p:nvSpPr>
          <p:cNvPr id="14" name="TextBox 13"/>
          <p:cNvSpPr txBox="1"/>
          <p:nvPr/>
        </p:nvSpPr>
        <p:spPr>
          <a:xfrm>
            <a:off x="731520"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66727E"/>
                </a:solidFill>
                <a:latin typeface="Arial"/>
              </a:rPr>
              <a:t>26 drives, 2 robots, 0 labelled</a:t>
            </a:r>
          </a:p>
        </p:txBody>
      </p:sp>
      <p:sp>
        <p:nvSpPr>
          <p:cNvPr id="15" name="TextBox 14"/>
          <p:cNvSpPr txBox="1"/>
          <p:nvPr/>
        </p:nvSpPr>
        <p:spPr>
          <a:xfrm>
            <a:off x="9317736"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Arial"/>
              </a:rPr>
              <a:t>91,955</a:t>
            </a:r>
          </a:p>
        </p:txBody>
      </p:sp>
      <p:sp>
        <p:nvSpPr>
          <p:cNvPr id="16" name="TextBox 15"/>
          <p:cNvSpPr txBox="1"/>
          <p:nvPr/>
        </p:nvSpPr>
        <p:spPr>
          <a:xfrm>
            <a:off x="9317736"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24303B"/>
                </a:solidFill>
                <a:latin typeface="Arial"/>
              </a:rPr>
              <a:t>telemetry rows</a:t>
            </a:r>
          </a:p>
        </p:txBody>
      </p:sp>
      <p:sp>
        <p:nvSpPr>
          <p:cNvPr id="17" name="TextBox 16"/>
          <p:cNvSpPr txBox="1"/>
          <p:nvPr/>
        </p:nvSpPr>
        <p:spPr>
          <a:xfrm>
            <a:off x="9317736"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66727E"/>
                </a:solidFill>
                <a:latin typeface="Arial"/>
              </a:rPr>
              <a:t>nine streams, counted line by line</a:t>
            </a:r>
          </a:p>
        </p:txBody>
      </p:sp>
      <p:sp>
        <p:nvSpPr>
          <p:cNvPr id="18" name="TextBox 17"/>
          <p:cNvSpPr txBox="1"/>
          <p:nvPr/>
        </p:nvSpPr>
        <p:spPr>
          <a:xfrm>
            <a:off x="17903952"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Arial"/>
              </a:rPr>
              <a:t>342 m</a:t>
            </a:r>
          </a:p>
        </p:txBody>
      </p:sp>
      <p:sp>
        <p:nvSpPr>
          <p:cNvPr id="19" name="TextBox 18"/>
          <p:cNvSpPr txBox="1"/>
          <p:nvPr/>
        </p:nvSpPr>
        <p:spPr>
          <a:xfrm>
            <a:off x="17903952"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24303B"/>
                </a:solidFill>
                <a:latin typeface="Arial"/>
              </a:rPr>
              <a:t>of GPS track</a:t>
            </a:r>
          </a:p>
        </p:txBody>
      </p:sp>
      <p:sp>
        <p:nvSpPr>
          <p:cNvPr id="20" name="TextBox 19"/>
          <p:cNvSpPr txBox="1"/>
          <p:nvPr/>
        </p:nvSpPr>
        <p:spPr>
          <a:xfrm>
            <a:off x="17903952"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66727E"/>
                </a:solidFill>
                <a:latin typeface="Arial"/>
              </a:rPr>
              <a:t>1,502 fixes over 18 drives</a:t>
            </a:r>
          </a:p>
        </p:txBody>
      </p:sp>
      <p:sp>
        <p:nvSpPr>
          <p:cNvPr id="21" name="TextBox 20"/>
          <p:cNvSpPr txBox="1"/>
          <p:nvPr/>
        </p:nvSpPr>
        <p:spPr>
          <a:xfrm>
            <a:off x="26490168"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Arial"/>
              </a:rPr>
              <a:t>27</a:t>
            </a:r>
          </a:p>
        </p:txBody>
      </p:sp>
      <p:sp>
        <p:nvSpPr>
          <p:cNvPr id="22" name="TextBox 21"/>
          <p:cNvSpPr txBox="1"/>
          <p:nvPr/>
        </p:nvSpPr>
        <p:spPr>
          <a:xfrm>
            <a:off x="26490168"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24303B"/>
                </a:solidFill>
                <a:latin typeface="Arial"/>
              </a:rPr>
              <a:t>distinct models run</a:t>
            </a:r>
          </a:p>
        </p:txBody>
      </p:sp>
      <p:sp>
        <p:nvSpPr>
          <p:cNvPr id="23" name="TextBox 22"/>
          <p:cNvSpPr txBox="1"/>
          <p:nvPr/>
        </p:nvSpPr>
        <p:spPr>
          <a:xfrm>
            <a:off x="26490168"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66727E"/>
                </a:solidFill>
                <a:latin typeface="Arial"/>
              </a:rPr>
              <a:t>four families, one deployed</a:t>
            </a:r>
          </a:p>
        </p:txBody>
      </p:sp>
      <p:sp>
        <p:nvSpPr>
          <p:cNvPr id="24" name="TextBox 23"/>
          <p:cNvSpPr txBox="1"/>
          <p:nvPr/>
        </p:nvSpPr>
        <p:spPr>
          <a:xfrm>
            <a:off x="35076384"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Arial"/>
              </a:rPr>
              <a:t>0</a:t>
            </a:r>
          </a:p>
        </p:txBody>
      </p:sp>
      <p:sp>
        <p:nvSpPr>
          <p:cNvPr id="25" name="TextBox 24"/>
          <p:cNvSpPr txBox="1"/>
          <p:nvPr/>
        </p:nvSpPr>
        <p:spPr>
          <a:xfrm>
            <a:off x="35076384"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24303B"/>
                </a:solidFill>
                <a:latin typeface="Arial"/>
              </a:rPr>
              <a:t>robot frames labelled</a:t>
            </a:r>
          </a:p>
        </p:txBody>
      </p:sp>
      <p:sp>
        <p:nvSpPr>
          <p:cNvPr id="26" name="TextBox 25"/>
          <p:cNvSpPr txBox="1"/>
          <p:nvPr/>
        </p:nvSpPr>
        <p:spPr>
          <a:xfrm>
            <a:off x="35076384"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66727E"/>
                </a:solidFill>
                <a:latin typeface="Arial"/>
              </a:rPr>
              <a:t>the whole archive, so far</a:t>
            </a:r>
          </a:p>
        </p:txBody>
      </p:sp>
      <p:sp>
        <p:nvSpPr>
          <p:cNvPr id="27" name="Rectangle 26"/>
          <p:cNvSpPr/>
          <p:nvPr/>
        </p:nvSpPr>
        <p:spPr>
          <a:xfrm>
            <a:off x="731520" y="12427203"/>
            <a:ext cx="42428160" cy="23774"/>
          </a:xfrm>
          <a:prstGeom prst="rect">
            <a:avLst/>
          </a:prstGeom>
          <a:solidFill>
            <a:srgbClr val="CA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12920980"/>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2F3A45"/>
                </a:solidFill>
                <a:latin typeface="Arial"/>
              </a:rPr>
              <a:t>One platform for every robot the lab owns</a:t>
            </a:r>
          </a:p>
        </p:txBody>
      </p:sp>
      <p:sp>
        <p:nvSpPr>
          <p:cNvPr id="29" name="Rectangle 28"/>
          <p:cNvSpPr/>
          <p:nvPr/>
        </p:nvSpPr>
        <p:spPr>
          <a:xfrm>
            <a:off x="731520" y="13515340"/>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13844523"/>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24303B"/>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31" name="TextBox 30"/>
          <p:cNvSpPr txBox="1"/>
          <p:nvPr/>
        </p:nvSpPr>
        <p:spPr>
          <a:xfrm>
            <a:off x="731520" y="15611856"/>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2F3A45"/>
                </a:solidFill>
                <a:latin typeface="Arial"/>
              </a:rPr>
              <a:t>A drive becomes a dataset as it opens</a:t>
            </a:r>
          </a:p>
        </p:txBody>
      </p:sp>
      <p:sp>
        <p:nvSpPr>
          <p:cNvPr id="32" name="Rectangle 31"/>
          <p:cNvSpPr/>
          <p:nvPr/>
        </p:nvSpPr>
        <p:spPr>
          <a:xfrm>
            <a:off x="731520" y="16206216"/>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16535399"/>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24303B"/>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34" name="TextBox 33"/>
          <p:cNvSpPr txBox="1"/>
          <p:nvPr/>
        </p:nvSpPr>
        <p:spPr>
          <a:xfrm>
            <a:off x="731520" y="18302732"/>
            <a:ext cx="20482560" cy="365760"/>
          </a:xfrm>
          <a:prstGeom prst="rect">
            <a:avLst/>
          </a:prstGeom>
          <a:noFill/>
        </p:spPr>
        <p:txBody>
          <a:bodyPr wrap="square" lIns="0" rIns="0" tIns="0" bIns="0">
            <a:spAutoFit/>
          </a:bodyPr>
          <a:lstStyle/>
          <a:p>
            <a:pPr algn="l">
              <a:lnSpc>
                <a:spcPct val="95000"/>
              </a:lnSpc>
              <a:spcAft>
                <a:spcPts val="0"/>
              </a:spcAft>
            </a:pPr>
            <a:r>
              <a:rPr sz="6200" b="1">
                <a:solidFill>
                  <a:srgbClr val="B5502A"/>
                </a:solidFill>
                <a:latin typeface="Arial"/>
              </a:rPr>
              <a:t>14</a:t>
            </a:r>
          </a:p>
        </p:txBody>
      </p:sp>
      <p:sp>
        <p:nvSpPr>
          <p:cNvPr id="35" name="TextBox 34"/>
          <p:cNvSpPr txBox="1"/>
          <p:nvPr/>
        </p:nvSpPr>
        <p:spPr>
          <a:xfrm>
            <a:off x="731520" y="19105880"/>
            <a:ext cx="20482560" cy="365760"/>
          </a:xfrm>
          <a:prstGeom prst="rect">
            <a:avLst/>
          </a:prstGeom>
          <a:noFill/>
        </p:spPr>
        <p:txBody>
          <a:bodyPr wrap="square" lIns="0" rIns="0" tIns="0" bIns="0">
            <a:spAutoFit/>
          </a:bodyPr>
          <a:lstStyle/>
          <a:p>
            <a:pPr algn="l">
              <a:lnSpc>
                <a:spcPct val="122000"/>
              </a:lnSpc>
              <a:spcAft>
                <a:spcPts val="600"/>
              </a:spcAft>
            </a:pPr>
            <a:r>
              <a:rPr sz="1700" b="0">
                <a:solidFill>
                  <a:srgbClr val="66727E"/>
                </a:solidFill>
                <a:latin typeface="Arial"/>
              </a:rPr>
              <a:t>analysis tools the planner can choose from</a:t>
            </a:r>
          </a:p>
        </p:txBody>
      </p:sp>
      <p:sp>
        <p:nvSpPr>
          <p:cNvPr id="36" name="TextBox 35"/>
          <p:cNvSpPr txBox="1"/>
          <p:nvPr/>
        </p:nvSpPr>
        <p:spPr>
          <a:xfrm>
            <a:off x="731520" y="19591782"/>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2F3A45"/>
                </a:solidFill>
                <a:latin typeface="Arial"/>
              </a:rPr>
              <a:t>Ask a dataset what it is good for</a:t>
            </a:r>
          </a:p>
        </p:txBody>
      </p:sp>
      <p:sp>
        <p:nvSpPr>
          <p:cNvPr id="37" name="Rectangle 36"/>
          <p:cNvSpPr/>
          <p:nvPr/>
        </p:nvSpPr>
        <p:spPr>
          <a:xfrm>
            <a:off x="731520" y="20186142"/>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20515326"/>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24303B"/>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39" name="TextBox 38"/>
          <p:cNvSpPr txBox="1"/>
          <p:nvPr/>
        </p:nvSpPr>
        <p:spPr>
          <a:xfrm>
            <a:off x="22677120" y="12920980"/>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2F3A45"/>
                </a:solidFill>
                <a:latin typeface="Arial"/>
              </a:rPr>
              <a:t>Robots on the platform today</a:t>
            </a:r>
          </a:p>
        </p:txBody>
      </p:sp>
      <p:sp>
        <p:nvSpPr>
          <p:cNvPr id="40" name="Rectangle 39"/>
          <p:cNvSpPr/>
          <p:nvPr/>
        </p:nvSpPr>
        <p:spPr>
          <a:xfrm>
            <a:off x="22677120" y="13515340"/>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2677120" y="13844523"/>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24303B"/>
                </a:solidFill>
                <a:latin typeface="Arial"/>
              </a:rPr>
              <a:t>Robot 241 is a tracked rover that drives crop rows and streams camera, GPS and two IMUs. The laser cart carries the weeder: a galvanometer laser, a down camera over the work zone and a forward camera. Ten projects sit on the platform and two of them have a robot reporting into them. Between those two vehicles, 2,686 frames in 26 drives.</a:t>
            </a:r>
          </a:p>
        </p:txBody>
      </p:sp>
      <p:sp>
        <p:nvSpPr>
          <p:cNvPr id="42" name="TextBox 41"/>
          <p:cNvSpPr txBox="1"/>
          <p:nvPr/>
        </p:nvSpPr>
        <p:spPr>
          <a:xfrm>
            <a:off x="22677120" y="15611856"/>
            <a:ext cx="20482560" cy="365760"/>
          </a:xfrm>
          <a:prstGeom prst="rect">
            <a:avLst/>
          </a:prstGeom>
          <a:noFill/>
        </p:spPr>
        <p:txBody>
          <a:bodyPr wrap="square" lIns="0" rIns="0" tIns="0" bIns="0">
            <a:spAutoFit/>
          </a:bodyPr>
          <a:lstStyle/>
          <a:p>
            <a:pPr algn="l">
              <a:lnSpc>
                <a:spcPct val="95000"/>
              </a:lnSpc>
              <a:spcAft>
                <a:spcPts val="0"/>
              </a:spcAft>
            </a:pPr>
            <a:r>
              <a:rPr sz="6200" b="1">
                <a:solidFill>
                  <a:srgbClr val="B5502A"/>
                </a:solidFill>
                <a:latin typeface="Arial"/>
              </a:rPr>
              <a:t>1,389</a:t>
            </a:r>
          </a:p>
        </p:txBody>
      </p:sp>
      <p:sp>
        <p:nvSpPr>
          <p:cNvPr id="43" name="TextBox 42"/>
          <p:cNvSpPr txBox="1"/>
          <p:nvPr/>
        </p:nvSpPr>
        <p:spPr>
          <a:xfrm>
            <a:off x="22677120" y="16415004"/>
            <a:ext cx="20482560" cy="365760"/>
          </a:xfrm>
          <a:prstGeom prst="rect">
            <a:avLst/>
          </a:prstGeom>
          <a:noFill/>
        </p:spPr>
        <p:txBody>
          <a:bodyPr wrap="square" lIns="0" rIns="0" tIns="0" bIns="0">
            <a:spAutoFit/>
          </a:bodyPr>
          <a:lstStyle/>
          <a:p>
            <a:pPr algn="l">
              <a:lnSpc>
                <a:spcPct val="122000"/>
              </a:lnSpc>
              <a:spcAft>
                <a:spcPts val="600"/>
              </a:spcAft>
            </a:pPr>
            <a:r>
              <a:rPr sz="1700" b="0">
                <a:solidFill>
                  <a:srgbClr val="66727E"/>
                </a:solidFill>
                <a:latin typeface="Arial"/>
              </a:rPr>
              <a:t>joystick commands through the platform</a:t>
            </a:r>
          </a:p>
        </p:txBody>
      </p:sp>
      <p:sp>
        <p:nvSpPr>
          <p:cNvPr id="44" name="TextBox 43"/>
          <p:cNvSpPr txBox="1"/>
          <p:nvPr/>
        </p:nvSpPr>
        <p:spPr>
          <a:xfrm>
            <a:off x="22677120" y="16900906"/>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2F3A45"/>
                </a:solidFill>
                <a:latin typeface="Arial"/>
              </a:rPr>
              <a:t>Driving a robot from a browser</a:t>
            </a:r>
          </a:p>
        </p:txBody>
      </p:sp>
      <p:sp>
        <p:nvSpPr>
          <p:cNvPr id="45" name="Rectangle 44"/>
          <p:cNvSpPr/>
          <p:nvPr/>
        </p:nvSpPr>
        <p:spPr>
          <a:xfrm>
            <a:off x="22677120" y="17495266"/>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2677120" y="17824450"/>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24303B"/>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47" name="TextBox 46"/>
          <p:cNvSpPr txBox="1"/>
          <p:nvPr/>
        </p:nvSpPr>
        <p:spPr>
          <a:xfrm>
            <a:off x="22677120" y="19591782"/>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2F3A45"/>
                </a:solidFill>
                <a:latin typeface="Arial"/>
              </a:rPr>
              <a:t>Left alone for fifteen rounds</a:t>
            </a:r>
          </a:p>
        </p:txBody>
      </p:sp>
      <p:sp>
        <p:nvSpPr>
          <p:cNvPr id="48" name="Rectangle 47"/>
          <p:cNvSpPr/>
          <p:nvPr/>
        </p:nvSpPr>
        <p:spPr>
          <a:xfrm>
            <a:off x="22677120" y="20186142"/>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f_rounds.png"/>
          <p:cNvPicPr>
            <a:picLocks noChangeAspect="1"/>
          </p:cNvPicPr>
          <p:nvPr/>
        </p:nvPicPr>
        <p:blipFill>
          <a:blip r:embed="rId3"/>
          <a:stretch>
            <a:fillRect/>
          </a:stretch>
        </p:blipFill>
        <p:spPr>
          <a:xfrm>
            <a:off x="22677120" y="20515326"/>
            <a:ext cx="20482560" cy="4663440"/>
          </a:xfrm>
          <a:prstGeom prst="rect">
            <a:avLst/>
          </a:prstGeom>
        </p:spPr>
      </p:pic>
      <p:sp>
        <p:nvSpPr>
          <p:cNvPr id="50" name="TextBox 49"/>
          <p:cNvSpPr txBox="1"/>
          <p:nvPr/>
        </p:nvSpPr>
        <p:spPr>
          <a:xfrm>
            <a:off x="22677120" y="25288493"/>
            <a:ext cx="20482560" cy="365760"/>
          </a:xfrm>
          <a:prstGeom prst="rect">
            <a:avLst/>
          </a:prstGeom>
          <a:noFill/>
        </p:spPr>
        <p:txBody>
          <a:bodyPr wrap="square" lIns="0" rIns="0" tIns="0" bIns="0">
            <a:spAutoFit/>
          </a:bodyPr>
          <a:lstStyle/>
          <a:p>
            <a:pPr algn="l">
              <a:lnSpc>
                <a:spcPct val="118000"/>
              </a:lnSpc>
              <a:spcAft>
                <a:spcPts val="0"/>
              </a:spcAft>
            </a:pPr>
            <a:r>
              <a:rPr sz="1700" b="0">
                <a:solidFill>
                  <a:srgbClr val="66727E"/>
                </a:solidFill>
                <a:latin typeface="Arial"/>
              </a:rPr>
              <a:t>Figure 3.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51" name="TextBox 50"/>
          <p:cNvSpPr txBox="1"/>
          <p:nvPr/>
        </p:nvSpPr>
        <p:spPr>
          <a:xfrm>
            <a:off x="22677120" y="26363675"/>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24303B"/>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52" name="Rectangle 51"/>
          <p:cNvSpPr/>
          <p:nvPr/>
        </p:nvSpPr>
        <p:spPr>
          <a:xfrm>
            <a:off x="731520" y="30632400"/>
            <a:ext cx="42428160" cy="20116"/>
          </a:xfrm>
          <a:prstGeom prst="rect">
            <a:avLst/>
          </a:prstGeom>
          <a:solidFill>
            <a:srgbClr val="CA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66727E"/>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54" name="TextBox 53"/>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66727E"/>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55" name="TextBox 54"/>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66727E"/>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