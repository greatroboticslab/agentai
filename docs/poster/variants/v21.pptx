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9200" b="1">
                <a:solidFill>
                  <a:srgbClr val="111111"/>
                </a:solidFill>
                <a:latin typeface="Arial"/>
              </a:rPr>
              <a:t>agentAI: A Research-Data Platform for Physical and Embodied Agents</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11111"/>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D0D0D0"/>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111111"/>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9" name="TextBox 8"/>
          <p:cNvSpPr txBox="1"/>
          <p:nvPr/>
        </p:nvSpPr>
        <p:spPr>
          <a:xfrm>
            <a:off x="731520" y="603199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One platform for every robot the lab owns</a:t>
            </a:r>
          </a:p>
        </p:txBody>
      </p:sp>
      <p:sp>
        <p:nvSpPr>
          <p:cNvPr id="10" name="Rectangle 9"/>
          <p:cNvSpPr/>
          <p:nvPr/>
        </p:nvSpPr>
        <p:spPr>
          <a:xfrm>
            <a:off x="731520" y="656031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88949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2" name="TextBox 11"/>
          <p:cNvSpPr txBox="1"/>
          <p:nvPr/>
        </p:nvSpPr>
        <p:spPr>
          <a:xfrm>
            <a:off x="731520" y="885012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Driving a robot from a browser</a:t>
            </a:r>
          </a:p>
        </p:txBody>
      </p:sp>
      <p:sp>
        <p:nvSpPr>
          <p:cNvPr id="13" name="Rectangle 12"/>
          <p:cNvSpPr/>
          <p:nvPr/>
        </p:nvSpPr>
        <p:spPr>
          <a:xfrm>
            <a:off x="731520" y="937844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970762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15" name="TextBox 14"/>
          <p:cNvSpPr txBox="1"/>
          <p:nvPr/>
        </p:nvSpPr>
        <p:spPr>
          <a:xfrm>
            <a:off x="731520" y="1137386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On disk today</a:t>
            </a:r>
          </a:p>
        </p:txBody>
      </p:sp>
      <p:sp>
        <p:nvSpPr>
          <p:cNvPr id="16" name="Rectangle 15"/>
          <p:cNvSpPr/>
          <p:nvPr/>
        </p:nvSpPr>
        <p:spPr>
          <a:xfrm>
            <a:off x="731520" y="1190218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12231370"/>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Two robots have put 2,686 camera frames and 91,955 telemetry rows across nine streams onto the platform, over 26 drives, with 342 m of GPS track from 1,502 fixes. None of the frames is labelled.</a:t>
            </a:r>
          </a:p>
        </p:txBody>
      </p:sp>
      <p:sp>
        <p:nvSpPr>
          <p:cNvPr id="18" name="TextBox 17"/>
          <p:cNvSpPr txBox="1"/>
          <p:nvPr/>
        </p:nvSpPr>
        <p:spPr>
          <a:xfrm>
            <a:off x="731520" y="13603223"/>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Asked something it had never seen</a:t>
            </a:r>
          </a:p>
        </p:txBody>
      </p:sp>
      <p:sp>
        <p:nvSpPr>
          <p:cNvPr id="19" name="Rectangle 18"/>
          <p:cNvSpPr/>
          <p:nvPr/>
        </p:nvSpPr>
        <p:spPr>
          <a:xfrm>
            <a:off x="731520" y="1413154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14460727"/>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21" name="TextBox 20"/>
          <p:cNvSpPr txBox="1"/>
          <p:nvPr/>
        </p:nvSpPr>
        <p:spPr>
          <a:xfrm>
            <a:off x="731520" y="16126967"/>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More web data, less accuracy</a:t>
            </a:r>
          </a:p>
        </p:txBody>
      </p:sp>
      <p:sp>
        <p:nvSpPr>
          <p:cNvPr id="22" name="Rectangle 21"/>
          <p:cNvSpPr/>
          <p:nvPr/>
        </p:nvSpPr>
        <p:spPr>
          <a:xfrm>
            <a:off x="731520" y="16655287"/>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16984471"/>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24" name="TextBox 23"/>
          <p:cNvSpPr txBox="1"/>
          <p:nvPr/>
        </p:nvSpPr>
        <p:spPr>
          <a:xfrm>
            <a:off x="731520" y="1865071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Adding the next robot</a:t>
            </a:r>
          </a:p>
        </p:txBody>
      </p:sp>
      <p:sp>
        <p:nvSpPr>
          <p:cNvPr id="25" name="Rectangle 24"/>
          <p:cNvSpPr/>
          <p:nvPr/>
        </p:nvSpPr>
        <p:spPr>
          <a:xfrm>
            <a:off x="731520" y="1917903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1950821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A new robot needs a project, an API key and a session start. The ingest contract is the same for every vehicle: start a session, post sensor batches and frames while driving, stop. The platform does not care what the robot is. The Unitree humanoid's project exists on this basis and is waiting on its first upload.</a:t>
            </a:r>
          </a:p>
        </p:txBody>
      </p:sp>
      <p:sp>
        <p:nvSpPr>
          <p:cNvPr id="27" name="TextBox 26"/>
          <p:cNvSpPr txBox="1"/>
          <p:nvPr/>
        </p:nvSpPr>
        <p:spPr>
          <a:xfrm>
            <a:off x="731520" y="21174456"/>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Code the agent writes runs fenced in</a:t>
            </a:r>
          </a:p>
        </p:txBody>
      </p:sp>
      <p:sp>
        <p:nvSpPr>
          <p:cNvPr id="28" name="Rectangle 27"/>
          <p:cNvSpPr/>
          <p:nvPr/>
        </p:nvSpPr>
        <p:spPr>
          <a:xfrm>
            <a:off x="731520" y="2170277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22031960"/>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30" name="TextBox 29"/>
          <p:cNvSpPr txBox="1"/>
          <p:nvPr/>
        </p:nvSpPr>
        <p:spPr>
          <a:xfrm>
            <a:off x="731520" y="23403814"/>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Every drive is diagnosed on arrival</a:t>
            </a:r>
          </a:p>
        </p:txBody>
      </p:sp>
      <p:sp>
        <p:nvSpPr>
          <p:cNvPr id="31" name="Rectangle 30"/>
          <p:cNvSpPr/>
          <p:nvPr/>
        </p:nvSpPr>
        <p:spPr>
          <a:xfrm>
            <a:off x="731520" y="2393213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2426131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The platform runs a fixed diagnosis over each finished session without being asked: route, noise, cross-sensor correlation, a timeline. It has done that for 26 live robot sessions and written 45 charts. A person reads the diagnosis before deciding whether the drive is worth anything.</a:t>
            </a:r>
          </a:p>
        </p:txBody>
      </p:sp>
      <p:sp>
        <p:nvSpPr>
          <p:cNvPr id="33" name="TextBox 32"/>
          <p:cNvSpPr txBox="1"/>
          <p:nvPr/>
        </p:nvSpPr>
        <p:spPr>
          <a:xfrm>
            <a:off x="731520" y="25927558"/>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Who notices when it breaks</a:t>
            </a:r>
          </a:p>
        </p:txBody>
      </p:sp>
      <p:sp>
        <p:nvSpPr>
          <p:cNvPr id="34" name="Rectangle 33"/>
          <p:cNvSpPr/>
          <p:nvPr/>
        </p:nvSpPr>
        <p:spPr>
          <a:xfrm>
            <a:off x="731520" y="26455878"/>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26785062"/>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We froze 162 real failures out of this project's own engineering record and scored every kind of supervision against them. The watchdog the loop was running returned no decision on any of the 149 dev cases. A model reading the raw artifacts reaches 0.70 recall over 116 incidents.</a:t>
            </a:r>
          </a:p>
        </p:txBody>
      </p:sp>
      <p:sp>
        <p:nvSpPr>
          <p:cNvPr id="36" name="TextBox 35"/>
          <p:cNvSpPr txBox="1"/>
          <p:nvPr/>
        </p:nvSpPr>
        <p:spPr>
          <a:xfrm>
            <a:off x="11704320" y="6031992"/>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Robots on the platform today</a:t>
            </a:r>
          </a:p>
        </p:txBody>
      </p:sp>
      <p:sp>
        <p:nvSpPr>
          <p:cNvPr id="37" name="Rectangle 36"/>
          <p:cNvSpPr/>
          <p:nvPr/>
        </p:nvSpPr>
        <p:spPr>
          <a:xfrm>
            <a:off x="11704320" y="6560312"/>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704320" y="688949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39" name="TextBox 38"/>
          <p:cNvSpPr txBox="1"/>
          <p:nvPr/>
        </p:nvSpPr>
        <p:spPr>
          <a:xfrm>
            <a:off x="11704320" y="826134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Ask a dataset what it is good for</a:t>
            </a:r>
          </a:p>
        </p:txBody>
      </p:sp>
      <p:sp>
        <p:nvSpPr>
          <p:cNvPr id="40" name="Rectangle 39"/>
          <p:cNvSpPr/>
          <p:nvPr/>
        </p:nvSpPr>
        <p:spPr>
          <a:xfrm>
            <a:off x="11704320" y="8789669"/>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704320" y="911885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42" name="TextBox 41"/>
          <p:cNvSpPr txBox="1"/>
          <p:nvPr/>
        </p:nvSpPr>
        <p:spPr>
          <a:xfrm>
            <a:off x="11704320" y="10196321"/>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Left alone for fifteen rounds</a:t>
            </a:r>
          </a:p>
        </p:txBody>
      </p:sp>
      <p:sp>
        <p:nvSpPr>
          <p:cNvPr id="43" name="Rectangle 42"/>
          <p:cNvSpPr/>
          <p:nvPr/>
        </p:nvSpPr>
        <p:spPr>
          <a:xfrm>
            <a:off x="11704320" y="10724641"/>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f_rounds.png"/>
          <p:cNvPicPr>
            <a:picLocks noChangeAspect="1"/>
          </p:cNvPicPr>
          <p:nvPr/>
        </p:nvPicPr>
        <p:blipFill>
          <a:blip r:embed="rId2"/>
          <a:stretch>
            <a:fillRect/>
          </a:stretch>
        </p:blipFill>
        <p:spPr>
          <a:xfrm>
            <a:off x="11704320" y="11053825"/>
            <a:ext cx="20482560" cy="4663440"/>
          </a:xfrm>
          <a:prstGeom prst="rect">
            <a:avLst/>
          </a:prstGeom>
        </p:spPr>
      </p:pic>
      <p:sp>
        <p:nvSpPr>
          <p:cNvPr id="45" name="TextBox 44"/>
          <p:cNvSpPr txBox="1"/>
          <p:nvPr/>
        </p:nvSpPr>
        <p:spPr>
          <a:xfrm>
            <a:off x="11704320" y="15826993"/>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B5B5B"/>
                </a:solidFill>
                <a:latin typeface="Arial"/>
              </a:rPr>
              <a:t>Figure 1.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6" name="TextBox 45"/>
          <p:cNvSpPr txBox="1"/>
          <p:nvPr/>
        </p:nvSpPr>
        <p:spPr>
          <a:xfrm>
            <a:off x="11704320" y="16812260"/>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47" name="TextBox 46"/>
          <p:cNvSpPr txBox="1"/>
          <p:nvPr/>
        </p:nvSpPr>
        <p:spPr>
          <a:xfrm>
            <a:off x="11704320" y="17889728"/>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Everything we trained, ran, or rejected</a:t>
            </a:r>
          </a:p>
        </p:txBody>
      </p:sp>
      <p:sp>
        <p:nvSpPr>
          <p:cNvPr id="48" name="Rectangle 47"/>
          <p:cNvSpPr/>
          <p:nvPr/>
        </p:nvSpPr>
        <p:spPr>
          <a:xfrm>
            <a:off x="11704320" y="18418048"/>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m_ledger.png"/>
          <p:cNvPicPr>
            <a:picLocks noChangeAspect="1"/>
          </p:cNvPicPr>
          <p:nvPr/>
        </p:nvPicPr>
        <p:blipFill>
          <a:blip r:embed="rId3"/>
          <a:stretch>
            <a:fillRect/>
          </a:stretch>
        </p:blipFill>
        <p:spPr>
          <a:xfrm>
            <a:off x="11704320" y="18747232"/>
            <a:ext cx="20482560" cy="3749040"/>
          </a:xfrm>
          <a:prstGeom prst="rect">
            <a:avLst/>
          </a:prstGeom>
        </p:spPr>
      </p:pic>
      <p:sp>
        <p:nvSpPr>
          <p:cNvPr id="50" name="TextBox 49"/>
          <p:cNvSpPr txBox="1"/>
          <p:nvPr/>
        </p:nvSpPr>
        <p:spPr>
          <a:xfrm>
            <a:off x="11704320" y="22606000"/>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B5B5B"/>
                </a:solidFill>
                <a:latin typeface="Arial"/>
              </a:rPr>
              <a:t>Figure 2.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51" name="TextBox 50"/>
          <p:cNvSpPr txBox="1"/>
          <p:nvPr/>
        </p:nvSpPr>
        <p:spPr>
          <a:xfrm>
            <a:off x="11704320" y="2359126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52" name="TextBox 51"/>
          <p:cNvSpPr txBox="1"/>
          <p:nvPr/>
        </p:nvSpPr>
        <p:spPr>
          <a:xfrm>
            <a:off x="32552640" y="6031992"/>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A drive becomes a dataset as it opens</a:t>
            </a:r>
          </a:p>
        </p:txBody>
      </p:sp>
      <p:sp>
        <p:nvSpPr>
          <p:cNvPr id="53" name="Rectangle 52"/>
          <p:cNvSpPr/>
          <p:nvPr/>
        </p:nvSpPr>
        <p:spPr>
          <a:xfrm>
            <a:off x="32552640" y="656031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2552640" y="6889496"/>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5" name="TextBox 54"/>
          <p:cNvSpPr txBox="1"/>
          <p:nvPr/>
        </p:nvSpPr>
        <p:spPr>
          <a:xfrm>
            <a:off x="32552640" y="8555735"/>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Four frames, as recorded</a:t>
            </a:r>
          </a:p>
        </p:txBody>
      </p:sp>
      <p:sp>
        <p:nvSpPr>
          <p:cNvPr id="56" name="Rectangle 55"/>
          <p:cNvSpPr/>
          <p:nvPr/>
        </p:nvSpPr>
        <p:spPr>
          <a:xfrm>
            <a:off x="32552640" y="908405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l_robots.png"/>
          <p:cNvPicPr>
            <a:picLocks noChangeAspect="1"/>
          </p:cNvPicPr>
          <p:nvPr/>
        </p:nvPicPr>
        <p:blipFill>
          <a:blip r:embed="rId4"/>
          <a:stretch>
            <a:fillRect/>
          </a:stretch>
        </p:blipFill>
        <p:spPr>
          <a:xfrm>
            <a:off x="32552640" y="9413239"/>
            <a:ext cx="10607040" cy="2377440"/>
          </a:xfrm>
          <a:prstGeom prst="rect">
            <a:avLst/>
          </a:prstGeom>
        </p:spPr>
      </p:pic>
      <p:sp>
        <p:nvSpPr>
          <p:cNvPr id="58" name="TextBox 57"/>
          <p:cNvSpPr txBox="1"/>
          <p:nvPr/>
        </p:nvSpPr>
        <p:spPr>
          <a:xfrm>
            <a:off x="32552640" y="11900407"/>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5B5B5B"/>
                </a:solidFill>
                <a:latin typeface="Arial"/>
              </a:rPr>
              <a:t>Figure 3.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59" name="TextBox 58"/>
          <p:cNvSpPr txBox="1"/>
          <p:nvPr/>
        </p:nvSpPr>
        <p:spPr>
          <a:xfrm>
            <a:off x="32552640" y="13110463"/>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Nothing here is enhanced and nothing is labelled. The rectangle in the cart's down camera is a fixed work-zone overlay: it sits at the same pixels on frames with no vegetation in them at all.</a:t>
            </a:r>
          </a:p>
        </p:txBody>
      </p:sp>
      <p:sp>
        <p:nvSpPr>
          <p:cNvPr id="60" name="TextBox 59"/>
          <p:cNvSpPr txBox="1"/>
          <p:nvPr/>
        </p:nvSpPr>
        <p:spPr>
          <a:xfrm>
            <a:off x="32552640" y="14482317"/>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Only one robot has the button</a:t>
            </a:r>
          </a:p>
        </p:txBody>
      </p:sp>
      <p:sp>
        <p:nvSpPr>
          <p:cNvPr id="61" name="Rectangle 60"/>
          <p:cNvSpPr/>
          <p:nvPr/>
        </p:nvSpPr>
        <p:spPr>
          <a:xfrm>
            <a:off x="32552640" y="15010637"/>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2552640" y="15339821"/>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63" name="TextBox 62"/>
          <p:cNvSpPr txBox="1"/>
          <p:nvPr/>
        </p:nvSpPr>
        <p:spPr>
          <a:xfrm>
            <a:off x="32552640" y="17006061"/>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Which decisions a model makes</a:t>
            </a:r>
          </a:p>
        </p:txBody>
      </p:sp>
      <p:sp>
        <p:nvSpPr>
          <p:cNvPr id="64" name="Rectangle 63"/>
          <p:cNvSpPr/>
          <p:nvPr/>
        </p:nvSpPr>
        <p:spPr>
          <a:xfrm>
            <a:off x="32552640" y="17534381"/>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2552640" y="17863565"/>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66" name="TextBox 65"/>
          <p:cNvSpPr txBox="1"/>
          <p:nvPr/>
        </p:nvSpPr>
        <p:spPr>
          <a:xfrm>
            <a:off x="32552640" y="19529805"/>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Any research field is a project</a:t>
            </a:r>
          </a:p>
        </p:txBody>
      </p:sp>
      <p:sp>
        <p:nvSpPr>
          <p:cNvPr id="67" name="Rectangle 66"/>
          <p:cNvSpPr/>
          <p:nvPr/>
        </p:nvSpPr>
        <p:spPr>
          <a:xfrm>
            <a:off x="32552640" y="2005812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552640" y="20387309"/>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69" name="TextBox 68"/>
          <p:cNvSpPr txBox="1"/>
          <p:nvPr/>
        </p:nvSpPr>
        <p:spPr>
          <a:xfrm>
            <a:off x="32552640" y="22053550"/>
            <a:ext cx="10607040" cy="365760"/>
          </a:xfrm>
          <a:prstGeom prst="rect">
            <a:avLst/>
          </a:prstGeom>
          <a:noFill/>
        </p:spPr>
        <p:txBody>
          <a:bodyPr wrap="square" lIns="0" rIns="0" tIns="0" bIns="0">
            <a:spAutoFit/>
          </a:bodyPr>
          <a:lstStyle/>
          <a:p>
            <a:pPr algn="l">
              <a:lnSpc>
                <a:spcPct val="95000"/>
              </a:lnSpc>
              <a:spcAft>
                <a:spcPts val="0"/>
              </a:spcAft>
            </a:pPr>
            <a:r>
              <a:rPr sz="3200" b="1">
                <a:solidFill>
                  <a:srgbClr val="FFFFFF"/>
                </a:solidFill>
                <a:latin typeface="Arial"/>
              </a:rPr>
              <a:t>213 seconds in one crop plot</a:t>
            </a:r>
          </a:p>
        </p:txBody>
      </p:sp>
      <p:sp>
        <p:nvSpPr>
          <p:cNvPr id="70" name="Rectangle 69"/>
          <p:cNvSpPr/>
          <p:nvPr/>
        </p:nvSpPr>
        <p:spPr>
          <a:xfrm>
            <a:off x="32552640" y="2258187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1" name="Picture 70" descr="h_drive.png"/>
          <p:cNvPicPr>
            <a:picLocks noChangeAspect="1"/>
          </p:cNvPicPr>
          <p:nvPr/>
        </p:nvPicPr>
        <p:blipFill>
          <a:blip r:embed="rId5"/>
          <a:stretch>
            <a:fillRect/>
          </a:stretch>
        </p:blipFill>
        <p:spPr>
          <a:xfrm>
            <a:off x="32552640" y="22911054"/>
            <a:ext cx="10607040" cy="4023360"/>
          </a:xfrm>
          <a:prstGeom prst="rect">
            <a:avLst/>
          </a:prstGeom>
        </p:spPr>
      </p:pic>
      <p:sp>
        <p:nvSpPr>
          <p:cNvPr id="72" name="TextBox 71"/>
          <p:cNvSpPr txBox="1"/>
          <p:nvPr/>
        </p:nvSpPr>
        <p:spPr>
          <a:xfrm>
            <a:off x="32552640" y="27044142"/>
            <a:ext cx="10607040" cy="365760"/>
          </a:xfrm>
          <a:prstGeom prst="rect">
            <a:avLst/>
          </a:prstGeom>
          <a:noFill/>
        </p:spPr>
        <p:txBody>
          <a:bodyPr wrap="square" lIns="0" rIns="0" tIns="0" bIns="0">
            <a:spAutoFit/>
          </a:bodyPr>
          <a:lstStyle/>
          <a:p>
            <a:pPr algn="l">
              <a:lnSpc>
                <a:spcPct val="118000"/>
              </a:lnSpc>
              <a:spcAft>
                <a:spcPts val="0"/>
              </a:spcAft>
            </a:pPr>
            <a:r>
              <a:rPr sz="1500" b="0">
                <a:solidFill>
                  <a:srgbClr val="5B5B5B"/>
                </a:solidFill>
                <a:latin typeface="Arial"/>
              </a:rPr>
              <a:t>Figure 4.  Robot 241, 2026-08-29: one 213 s pass through a crop plot. (h) GPS track from the board fix. (i) IMU heading over the same pass.</a:t>
            </a:r>
          </a:p>
        </p:txBody>
      </p:sp>
      <p:sp>
        <p:nvSpPr>
          <p:cNvPr id="73" name="TextBox 72"/>
          <p:cNvSpPr txBox="1"/>
          <p:nvPr/>
        </p:nvSpPr>
        <p:spPr>
          <a:xfrm>
            <a:off x="32552640" y="27804618"/>
            <a:ext cx="10607040" cy="365760"/>
          </a:xfrm>
          <a:prstGeom prst="rect">
            <a:avLst/>
          </a:prstGeom>
          <a:noFill/>
        </p:spPr>
        <p:txBody>
          <a:bodyPr wrap="square" lIns="0" rIns="0" tIns="0" bIns="0">
            <a:spAutoFit/>
          </a:bodyPr>
          <a:lstStyle/>
          <a:p>
            <a:pPr algn="l">
              <a:lnSpc>
                <a:spcPct val="122000"/>
              </a:lnSpc>
              <a:spcAft>
                <a:spcPts val="1400"/>
              </a:spcAft>
            </a:pPr>
            <a:r>
              <a:rPr sz="1900" b="0">
                <a:solidFill>
                  <a:srgbClr val="111111"/>
                </a:solidFill>
                <a:latin typeface="Arial"/>
              </a:rPr>
              <a:t>The longest single pass the platform holds: 141 m of track from 211 fixes, with heading from the IMU over the same 213 seconds. The platform holds 18 passes that carry position.</a:t>
            </a:r>
          </a:p>
        </p:txBody>
      </p:sp>
      <p:sp>
        <p:nvSpPr>
          <p:cNvPr id="74" name="Rectangle 73"/>
          <p:cNvSpPr/>
          <p:nvPr/>
        </p:nvSpPr>
        <p:spPr>
          <a:xfrm>
            <a:off x="731520" y="30632400"/>
            <a:ext cx="42428160" cy="20116"/>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B5B5B"/>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76" name="TextBox 75"/>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B5B5B"/>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77" name="TextBox 76"/>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B5B5B"/>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