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3931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43891200" cy="45720"/>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84048"/>
            <a:ext cx="42428160" cy="365760"/>
          </a:xfrm>
          <a:prstGeom prst="rect">
            <a:avLst/>
          </a:prstGeom>
          <a:noFill/>
        </p:spPr>
        <p:txBody>
          <a:bodyPr wrap="square" lIns="0" rIns="0" tIns="0" bIns="0">
            <a:spAutoFit/>
          </a:bodyPr>
          <a:lstStyle/>
          <a:p>
            <a:pPr algn="l">
              <a:lnSpc>
                <a:spcPct val="95000"/>
              </a:lnSpc>
              <a:spcAft>
                <a:spcPts val="0"/>
              </a:spcAft>
            </a:pPr>
            <a:r>
              <a:rPr sz="9200" b="1">
                <a:solidFill>
                  <a:srgbClr val="111111"/>
                </a:solidFill>
                <a:latin typeface="Arial"/>
              </a:rPr>
              <a:t>agentAI: A Research-Data Platform for Physical and Embodied Agents</a:t>
            </a:r>
          </a:p>
        </p:txBody>
      </p:sp>
      <p:sp>
        <p:nvSpPr>
          <p:cNvPr id="6" name="TextBox 5"/>
          <p:cNvSpPr txBox="1"/>
          <p:nvPr/>
        </p:nvSpPr>
        <p:spPr>
          <a:xfrm>
            <a:off x="731520" y="2121408"/>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11111"/>
                </a:solidFill>
                <a:latin typeface="Arial"/>
              </a:rPr>
              <a:t>Harry He   ·   Hongbo Zhang</a:t>
            </a:r>
          </a:p>
        </p:txBody>
      </p:sp>
      <p:sp>
        <p:nvSpPr>
          <p:cNvPr id="7" name="TextBox 6"/>
          <p:cNvSpPr txBox="1"/>
          <p:nvPr/>
        </p:nvSpPr>
        <p:spPr>
          <a:xfrm>
            <a:off x="731520" y="2761488"/>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D0D0D0"/>
                </a:solidFill>
                <a:latin typeface="Arial"/>
              </a:rPr>
              <a:t>Department of Engineering Technology   ·   Middle Tennessee State University, Murfreesboro, TN, USA</a:t>
            </a:r>
          </a:p>
        </p:txBody>
      </p:sp>
      <p:sp>
        <p:nvSpPr>
          <p:cNvPr id="8" name="TextBox 7"/>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000" b="0">
                <a:solidFill>
                  <a:srgbClr val="111111"/>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9" name="TextBox 8"/>
          <p:cNvSpPr txBox="1"/>
          <p:nvPr/>
        </p:nvSpPr>
        <p:spPr>
          <a:xfrm>
            <a:off x="731520" y="6031992"/>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One platform for every robot the lab owns</a:t>
            </a:r>
          </a:p>
        </p:txBody>
      </p:sp>
      <p:sp>
        <p:nvSpPr>
          <p:cNvPr id="10" name="Rectangle 9"/>
          <p:cNvSpPr/>
          <p:nvPr/>
        </p:nvSpPr>
        <p:spPr>
          <a:xfrm>
            <a:off x="731520" y="656031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88949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2" name="TextBox 11"/>
          <p:cNvSpPr txBox="1"/>
          <p:nvPr/>
        </p:nvSpPr>
        <p:spPr>
          <a:xfrm>
            <a:off x="731520" y="8850122"/>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a:rPr>
              <a:t>1,389</a:t>
            </a:r>
          </a:p>
        </p:txBody>
      </p:sp>
      <p:sp>
        <p:nvSpPr>
          <p:cNvPr id="13" name="TextBox 12"/>
          <p:cNvSpPr txBox="1"/>
          <p:nvPr/>
        </p:nvSpPr>
        <p:spPr>
          <a:xfrm>
            <a:off x="731520" y="9653270"/>
            <a:ext cx="10607040" cy="365760"/>
          </a:xfrm>
          <a:prstGeom prst="rect">
            <a:avLst/>
          </a:prstGeom>
          <a:noFill/>
        </p:spPr>
        <p:txBody>
          <a:bodyPr wrap="square" lIns="0" rIns="0" tIns="0" bIns="0">
            <a:spAutoFit/>
          </a:bodyPr>
          <a:lstStyle/>
          <a:p>
            <a:pPr algn="l">
              <a:lnSpc>
                <a:spcPct val="122000"/>
              </a:lnSpc>
              <a:spcAft>
                <a:spcPts val="600"/>
              </a:spcAft>
            </a:pPr>
            <a:r>
              <a:rPr sz="1500" b="0">
                <a:solidFill>
                  <a:srgbClr val="5B5B5B"/>
                </a:solidFill>
                <a:latin typeface="Arial"/>
              </a:rPr>
              <a:t>joystick commands through the platform</a:t>
            </a:r>
          </a:p>
        </p:txBody>
      </p:sp>
      <p:sp>
        <p:nvSpPr>
          <p:cNvPr id="14" name="TextBox 13"/>
          <p:cNvSpPr txBox="1"/>
          <p:nvPr/>
        </p:nvSpPr>
        <p:spPr>
          <a:xfrm>
            <a:off x="731520" y="1010818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Driving a robot from a browser</a:t>
            </a:r>
          </a:p>
        </p:txBody>
      </p:sp>
      <p:sp>
        <p:nvSpPr>
          <p:cNvPr id="15" name="Rectangle 14"/>
          <p:cNvSpPr/>
          <p:nvPr/>
        </p:nvSpPr>
        <p:spPr>
          <a:xfrm>
            <a:off x="731520" y="1063650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096568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17" name="TextBox 16"/>
          <p:cNvSpPr txBox="1"/>
          <p:nvPr/>
        </p:nvSpPr>
        <p:spPr>
          <a:xfrm>
            <a:off x="731520" y="12631928"/>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On disk today</a:t>
            </a:r>
          </a:p>
        </p:txBody>
      </p:sp>
      <p:sp>
        <p:nvSpPr>
          <p:cNvPr id="18" name="Rectangle 17"/>
          <p:cNvSpPr/>
          <p:nvPr/>
        </p:nvSpPr>
        <p:spPr>
          <a:xfrm>
            <a:off x="731520" y="1316024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13489431"/>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Two robots have put 2,686 camera frames and 91,955 telemetry rows across nine streams onto the platform, over 26 drives, with 342 m of GPS track from 1,502 fixes. None of the frames is labelled.</a:t>
            </a:r>
          </a:p>
        </p:txBody>
      </p:sp>
      <p:sp>
        <p:nvSpPr>
          <p:cNvPr id="20" name="TextBox 19"/>
          <p:cNvSpPr txBox="1"/>
          <p:nvPr/>
        </p:nvSpPr>
        <p:spPr>
          <a:xfrm>
            <a:off x="731520" y="14861285"/>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a:rPr>
              <a:t>92</a:t>
            </a:r>
          </a:p>
        </p:txBody>
      </p:sp>
      <p:sp>
        <p:nvSpPr>
          <p:cNvPr id="21" name="TextBox 20"/>
          <p:cNvSpPr txBox="1"/>
          <p:nvPr/>
        </p:nvSpPr>
        <p:spPr>
          <a:xfrm>
            <a:off x="731520" y="15664433"/>
            <a:ext cx="10607040" cy="365760"/>
          </a:xfrm>
          <a:prstGeom prst="rect">
            <a:avLst/>
          </a:prstGeom>
          <a:noFill/>
        </p:spPr>
        <p:txBody>
          <a:bodyPr wrap="square" lIns="0" rIns="0" tIns="0" bIns="0">
            <a:spAutoFit/>
          </a:bodyPr>
          <a:lstStyle/>
          <a:p>
            <a:pPr algn="l">
              <a:lnSpc>
                <a:spcPct val="122000"/>
              </a:lnSpc>
              <a:spcAft>
                <a:spcPts val="600"/>
              </a:spcAft>
            </a:pPr>
            <a:r>
              <a:rPr sz="1500" b="0">
                <a:solidFill>
                  <a:srgbClr val="5B5B5B"/>
                </a:solidFill>
                <a:latin typeface="Arial"/>
              </a:rPr>
              <a:t>questions asked of a dataset so far</a:t>
            </a:r>
          </a:p>
        </p:txBody>
      </p:sp>
      <p:sp>
        <p:nvSpPr>
          <p:cNvPr id="22" name="TextBox 21"/>
          <p:cNvSpPr txBox="1"/>
          <p:nvPr/>
        </p:nvSpPr>
        <p:spPr>
          <a:xfrm>
            <a:off x="731520" y="16119347"/>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Asked something it had never seen</a:t>
            </a:r>
          </a:p>
        </p:txBody>
      </p:sp>
      <p:sp>
        <p:nvSpPr>
          <p:cNvPr id="23" name="Rectangle 22"/>
          <p:cNvSpPr/>
          <p:nvPr/>
        </p:nvSpPr>
        <p:spPr>
          <a:xfrm>
            <a:off x="731520" y="16647667"/>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16976851"/>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25" name="TextBox 24"/>
          <p:cNvSpPr txBox="1"/>
          <p:nvPr/>
        </p:nvSpPr>
        <p:spPr>
          <a:xfrm>
            <a:off x="731520" y="18643092"/>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More web data, less accuracy</a:t>
            </a:r>
          </a:p>
        </p:txBody>
      </p:sp>
      <p:sp>
        <p:nvSpPr>
          <p:cNvPr id="26" name="Rectangle 25"/>
          <p:cNvSpPr/>
          <p:nvPr/>
        </p:nvSpPr>
        <p:spPr>
          <a:xfrm>
            <a:off x="731520" y="1917141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1950059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28" name="TextBox 27"/>
          <p:cNvSpPr txBox="1"/>
          <p:nvPr/>
        </p:nvSpPr>
        <p:spPr>
          <a:xfrm>
            <a:off x="731520" y="21166836"/>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Adding the next robot</a:t>
            </a:r>
          </a:p>
        </p:txBody>
      </p:sp>
      <p:sp>
        <p:nvSpPr>
          <p:cNvPr id="29" name="Rectangle 28"/>
          <p:cNvSpPr/>
          <p:nvPr/>
        </p:nvSpPr>
        <p:spPr>
          <a:xfrm>
            <a:off x="731520" y="21695156"/>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22024340"/>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A new robot needs a project, an API key and a session start. The ingest contract is the same for every vehicle: open a session, post sensor batches and frames while driving, stop. The platform does not care what the robot is. Empty projects for a mobile robot and a humanoid already sit on it, waiting for a first upload.</a:t>
            </a:r>
          </a:p>
        </p:txBody>
      </p:sp>
      <p:sp>
        <p:nvSpPr>
          <p:cNvPr id="31" name="TextBox 30"/>
          <p:cNvSpPr txBox="1"/>
          <p:nvPr/>
        </p:nvSpPr>
        <p:spPr>
          <a:xfrm>
            <a:off x="731520" y="2369058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Code the agent writes runs fenced in</a:t>
            </a:r>
          </a:p>
        </p:txBody>
      </p:sp>
      <p:sp>
        <p:nvSpPr>
          <p:cNvPr id="32" name="Rectangle 31"/>
          <p:cNvSpPr/>
          <p:nvPr/>
        </p:nvSpPr>
        <p:spPr>
          <a:xfrm>
            <a:off x="731520" y="2421890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2454808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34" name="TextBox 33"/>
          <p:cNvSpPr txBox="1"/>
          <p:nvPr/>
        </p:nvSpPr>
        <p:spPr>
          <a:xfrm>
            <a:off x="731520" y="25919938"/>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a:rPr>
              <a:t>26</a:t>
            </a:r>
          </a:p>
        </p:txBody>
      </p:sp>
      <p:sp>
        <p:nvSpPr>
          <p:cNvPr id="35" name="TextBox 34"/>
          <p:cNvSpPr txBox="1"/>
          <p:nvPr/>
        </p:nvSpPr>
        <p:spPr>
          <a:xfrm>
            <a:off x="731520" y="26723086"/>
            <a:ext cx="10607040" cy="365760"/>
          </a:xfrm>
          <a:prstGeom prst="rect">
            <a:avLst/>
          </a:prstGeom>
          <a:noFill/>
        </p:spPr>
        <p:txBody>
          <a:bodyPr wrap="square" lIns="0" rIns="0" tIns="0" bIns="0">
            <a:spAutoFit/>
          </a:bodyPr>
          <a:lstStyle/>
          <a:p>
            <a:pPr algn="l">
              <a:lnSpc>
                <a:spcPct val="122000"/>
              </a:lnSpc>
              <a:spcAft>
                <a:spcPts val="600"/>
              </a:spcAft>
            </a:pPr>
            <a:r>
              <a:rPr sz="1500" b="0">
                <a:solidFill>
                  <a:srgbClr val="5B5B5B"/>
                </a:solidFill>
                <a:latin typeface="Arial"/>
              </a:rPr>
              <a:t>live drives diagnosed without being asked</a:t>
            </a:r>
          </a:p>
        </p:txBody>
      </p:sp>
      <p:sp>
        <p:nvSpPr>
          <p:cNvPr id="36" name="TextBox 35"/>
          <p:cNvSpPr txBox="1"/>
          <p:nvPr/>
        </p:nvSpPr>
        <p:spPr>
          <a:xfrm>
            <a:off x="731520" y="2717800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Every drive is diagnosed on arrival</a:t>
            </a:r>
          </a:p>
        </p:txBody>
      </p:sp>
      <p:sp>
        <p:nvSpPr>
          <p:cNvPr id="37" name="Rectangle 36"/>
          <p:cNvSpPr/>
          <p:nvPr/>
        </p:nvSpPr>
        <p:spPr>
          <a:xfrm>
            <a:off x="731520" y="2770632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2803550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The platform runs a fixed diagnosis over each finished session without being asked: route, noise, cross-sensor correlation, a timeline. It has done that for 26 live robot sessions and written 45 charts. A person reads the diagnosis before deciding whether the drive is worth anything.</a:t>
            </a:r>
          </a:p>
        </p:txBody>
      </p:sp>
      <p:sp>
        <p:nvSpPr>
          <p:cNvPr id="39" name="TextBox 38"/>
          <p:cNvSpPr txBox="1"/>
          <p:nvPr/>
        </p:nvSpPr>
        <p:spPr>
          <a:xfrm>
            <a:off x="11704320" y="6031992"/>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Robots on the platform today</a:t>
            </a:r>
          </a:p>
        </p:txBody>
      </p:sp>
      <p:sp>
        <p:nvSpPr>
          <p:cNvPr id="40" name="Rectangle 39"/>
          <p:cNvSpPr/>
          <p:nvPr/>
        </p:nvSpPr>
        <p:spPr>
          <a:xfrm>
            <a:off x="11704320" y="6560312"/>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704320" y="688949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Robot 241 is a tracked rover that drives crop rows and streams camera, GPS and two IMUs. The laser cart carries the weeder: a galvanometer laser, a down camera over the work zone and a forward camera. Ten projects sit on the platform and two of them have a robot reporting into them. Between those two vehicles, 2,686 frames in 26 drives.</a:t>
            </a:r>
          </a:p>
        </p:txBody>
      </p:sp>
      <p:sp>
        <p:nvSpPr>
          <p:cNvPr id="42" name="TextBox 41"/>
          <p:cNvSpPr txBox="1"/>
          <p:nvPr/>
        </p:nvSpPr>
        <p:spPr>
          <a:xfrm>
            <a:off x="11704320" y="7966964"/>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a:rPr>
              <a:t>14</a:t>
            </a:r>
          </a:p>
        </p:txBody>
      </p:sp>
      <p:sp>
        <p:nvSpPr>
          <p:cNvPr id="43" name="TextBox 42"/>
          <p:cNvSpPr txBox="1"/>
          <p:nvPr/>
        </p:nvSpPr>
        <p:spPr>
          <a:xfrm>
            <a:off x="11704320" y="8770112"/>
            <a:ext cx="20482560" cy="365760"/>
          </a:xfrm>
          <a:prstGeom prst="rect">
            <a:avLst/>
          </a:prstGeom>
          <a:noFill/>
        </p:spPr>
        <p:txBody>
          <a:bodyPr wrap="square" lIns="0" rIns="0" tIns="0" bIns="0">
            <a:spAutoFit/>
          </a:bodyPr>
          <a:lstStyle/>
          <a:p>
            <a:pPr algn="l">
              <a:lnSpc>
                <a:spcPct val="122000"/>
              </a:lnSpc>
              <a:spcAft>
                <a:spcPts val="600"/>
              </a:spcAft>
            </a:pPr>
            <a:r>
              <a:rPr sz="1500" b="0">
                <a:solidFill>
                  <a:srgbClr val="5B5B5B"/>
                </a:solidFill>
                <a:latin typeface="Arial"/>
              </a:rPr>
              <a:t>analysis tools the planner can choose from</a:t>
            </a:r>
          </a:p>
        </p:txBody>
      </p:sp>
      <p:sp>
        <p:nvSpPr>
          <p:cNvPr id="44" name="TextBox 43"/>
          <p:cNvSpPr txBox="1"/>
          <p:nvPr/>
        </p:nvSpPr>
        <p:spPr>
          <a:xfrm>
            <a:off x="11704320" y="9225026"/>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Ask a dataset what it is good for</a:t>
            </a:r>
          </a:p>
        </p:txBody>
      </p:sp>
      <p:sp>
        <p:nvSpPr>
          <p:cNvPr id="45" name="Rectangle 44"/>
          <p:cNvSpPr/>
          <p:nvPr/>
        </p:nvSpPr>
        <p:spPr>
          <a:xfrm>
            <a:off x="11704320" y="9753346"/>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704320" y="10082530"/>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47" name="TextBox 46"/>
          <p:cNvSpPr txBox="1"/>
          <p:nvPr/>
        </p:nvSpPr>
        <p:spPr>
          <a:xfrm>
            <a:off x="11704320" y="11159998"/>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Left alone for fifteen rounds</a:t>
            </a:r>
          </a:p>
        </p:txBody>
      </p:sp>
      <p:sp>
        <p:nvSpPr>
          <p:cNvPr id="48" name="Rectangle 47"/>
          <p:cNvSpPr/>
          <p:nvPr/>
        </p:nvSpPr>
        <p:spPr>
          <a:xfrm>
            <a:off x="11704320" y="11688317"/>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f_rounds.png"/>
          <p:cNvPicPr>
            <a:picLocks noChangeAspect="1"/>
          </p:cNvPicPr>
          <p:nvPr/>
        </p:nvPicPr>
        <p:blipFill>
          <a:blip r:embed="rId2"/>
          <a:stretch>
            <a:fillRect/>
          </a:stretch>
        </p:blipFill>
        <p:spPr>
          <a:xfrm>
            <a:off x="11704320" y="12017501"/>
            <a:ext cx="20482560" cy="4663440"/>
          </a:xfrm>
          <a:prstGeom prst="rect">
            <a:avLst/>
          </a:prstGeom>
        </p:spPr>
      </p:pic>
      <p:sp>
        <p:nvSpPr>
          <p:cNvPr id="50" name="TextBox 49"/>
          <p:cNvSpPr txBox="1"/>
          <p:nvPr/>
        </p:nvSpPr>
        <p:spPr>
          <a:xfrm>
            <a:off x="11704320" y="16790670"/>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5B5B5B"/>
                </a:solidFill>
                <a:latin typeface="Arial"/>
              </a:rPr>
              <a:t>Figure 1.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51" name="TextBox 50"/>
          <p:cNvSpPr txBox="1"/>
          <p:nvPr/>
        </p:nvSpPr>
        <p:spPr>
          <a:xfrm>
            <a:off x="11704320" y="1777593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52" name="TextBox 51"/>
          <p:cNvSpPr txBox="1"/>
          <p:nvPr/>
        </p:nvSpPr>
        <p:spPr>
          <a:xfrm>
            <a:off x="11704320" y="18853404"/>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a:rPr>
              <a:t>27</a:t>
            </a:r>
          </a:p>
        </p:txBody>
      </p:sp>
      <p:sp>
        <p:nvSpPr>
          <p:cNvPr id="53" name="TextBox 52"/>
          <p:cNvSpPr txBox="1"/>
          <p:nvPr/>
        </p:nvSpPr>
        <p:spPr>
          <a:xfrm>
            <a:off x="11704320" y="19656552"/>
            <a:ext cx="20482560" cy="365760"/>
          </a:xfrm>
          <a:prstGeom prst="rect">
            <a:avLst/>
          </a:prstGeom>
          <a:noFill/>
        </p:spPr>
        <p:txBody>
          <a:bodyPr wrap="square" lIns="0" rIns="0" tIns="0" bIns="0">
            <a:spAutoFit/>
          </a:bodyPr>
          <a:lstStyle/>
          <a:p>
            <a:pPr algn="l">
              <a:lnSpc>
                <a:spcPct val="122000"/>
              </a:lnSpc>
              <a:spcAft>
                <a:spcPts val="600"/>
              </a:spcAft>
            </a:pPr>
            <a:r>
              <a:rPr sz="1500" b="0">
                <a:solidFill>
                  <a:srgbClr val="5B5B5B"/>
                </a:solidFill>
                <a:latin typeface="Arial"/>
              </a:rPr>
              <a:t>distinct models trained, run, or rejected</a:t>
            </a:r>
          </a:p>
        </p:txBody>
      </p:sp>
      <p:sp>
        <p:nvSpPr>
          <p:cNvPr id="54" name="TextBox 53"/>
          <p:cNvSpPr txBox="1"/>
          <p:nvPr/>
        </p:nvSpPr>
        <p:spPr>
          <a:xfrm>
            <a:off x="11704320" y="20111466"/>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Everything we trained, ran, or rejected</a:t>
            </a:r>
          </a:p>
        </p:txBody>
      </p:sp>
      <p:sp>
        <p:nvSpPr>
          <p:cNvPr id="55" name="Rectangle 54"/>
          <p:cNvSpPr/>
          <p:nvPr/>
        </p:nvSpPr>
        <p:spPr>
          <a:xfrm>
            <a:off x="11704320" y="20639786"/>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m_ledger.png"/>
          <p:cNvPicPr>
            <a:picLocks noChangeAspect="1"/>
          </p:cNvPicPr>
          <p:nvPr/>
        </p:nvPicPr>
        <p:blipFill>
          <a:blip r:embed="rId3"/>
          <a:stretch>
            <a:fillRect/>
          </a:stretch>
        </p:blipFill>
        <p:spPr>
          <a:xfrm>
            <a:off x="11704320" y="20968970"/>
            <a:ext cx="20482560" cy="3749040"/>
          </a:xfrm>
          <a:prstGeom prst="rect">
            <a:avLst/>
          </a:prstGeom>
        </p:spPr>
      </p:pic>
      <p:sp>
        <p:nvSpPr>
          <p:cNvPr id="57" name="TextBox 56"/>
          <p:cNvSpPr txBox="1"/>
          <p:nvPr/>
        </p:nvSpPr>
        <p:spPr>
          <a:xfrm>
            <a:off x="11704320" y="24827738"/>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5B5B5B"/>
                </a:solidFill>
                <a:latin typeface="Arial"/>
              </a:rPr>
              <a:t>Figure 2.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58" name="TextBox 57"/>
          <p:cNvSpPr txBox="1"/>
          <p:nvPr/>
        </p:nvSpPr>
        <p:spPr>
          <a:xfrm>
            <a:off x="11704320" y="25813004"/>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59" name="TextBox 58"/>
          <p:cNvSpPr txBox="1"/>
          <p:nvPr/>
        </p:nvSpPr>
        <p:spPr>
          <a:xfrm>
            <a:off x="32552640" y="6031992"/>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A drive becomes a dataset as it opens</a:t>
            </a:r>
          </a:p>
        </p:txBody>
      </p:sp>
      <p:sp>
        <p:nvSpPr>
          <p:cNvPr id="60" name="Rectangle 59"/>
          <p:cNvSpPr/>
          <p:nvPr/>
        </p:nvSpPr>
        <p:spPr>
          <a:xfrm>
            <a:off x="32552640" y="656031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552640" y="688949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62" name="TextBox 61"/>
          <p:cNvSpPr txBox="1"/>
          <p:nvPr/>
        </p:nvSpPr>
        <p:spPr>
          <a:xfrm>
            <a:off x="32552640" y="8555735"/>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Four frames, as recorded</a:t>
            </a:r>
          </a:p>
        </p:txBody>
      </p:sp>
      <p:sp>
        <p:nvSpPr>
          <p:cNvPr id="63" name="Rectangle 62"/>
          <p:cNvSpPr/>
          <p:nvPr/>
        </p:nvSpPr>
        <p:spPr>
          <a:xfrm>
            <a:off x="32552640" y="908405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l_robots.png"/>
          <p:cNvPicPr>
            <a:picLocks noChangeAspect="1"/>
          </p:cNvPicPr>
          <p:nvPr/>
        </p:nvPicPr>
        <p:blipFill>
          <a:blip r:embed="rId4"/>
          <a:stretch>
            <a:fillRect/>
          </a:stretch>
        </p:blipFill>
        <p:spPr>
          <a:xfrm>
            <a:off x="32552640" y="9413239"/>
            <a:ext cx="10607040" cy="2377440"/>
          </a:xfrm>
          <a:prstGeom prst="rect">
            <a:avLst/>
          </a:prstGeom>
        </p:spPr>
      </p:pic>
      <p:sp>
        <p:nvSpPr>
          <p:cNvPr id="65" name="TextBox 64"/>
          <p:cNvSpPr txBox="1"/>
          <p:nvPr/>
        </p:nvSpPr>
        <p:spPr>
          <a:xfrm>
            <a:off x="32552640" y="11900407"/>
            <a:ext cx="10607040" cy="365760"/>
          </a:xfrm>
          <a:prstGeom prst="rect">
            <a:avLst/>
          </a:prstGeom>
          <a:noFill/>
        </p:spPr>
        <p:txBody>
          <a:bodyPr wrap="square" lIns="0" rIns="0" tIns="0" bIns="0">
            <a:spAutoFit/>
          </a:bodyPr>
          <a:lstStyle/>
          <a:p>
            <a:pPr algn="l">
              <a:lnSpc>
                <a:spcPct val="118000"/>
              </a:lnSpc>
              <a:spcAft>
                <a:spcPts val="0"/>
              </a:spcAft>
            </a:pPr>
            <a:r>
              <a:rPr sz="1500" b="0">
                <a:solidFill>
                  <a:srgbClr val="5B5B5B"/>
                </a:solidFill>
                <a:latin typeface="Arial"/>
              </a:rPr>
              <a:t>Figure 3.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66" name="TextBox 65"/>
          <p:cNvSpPr txBox="1"/>
          <p:nvPr/>
        </p:nvSpPr>
        <p:spPr>
          <a:xfrm>
            <a:off x="32552640" y="1311046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Nothing here is enhanced and nothing is labelled. The rectangle in the cart's down camera is a fixed work-zone overlay: it sits at the same pixels on frames with no vegetation in them at all.</a:t>
            </a:r>
          </a:p>
        </p:txBody>
      </p:sp>
      <p:sp>
        <p:nvSpPr>
          <p:cNvPr id="67" name="TextBox 66"/>
          <p:cNvSpPr txBox="1"/>
          <p:nvPr/>
        </p:nvSpPr>
        <p:spPr>
          <a:xfrm>
            <a:off x="32552640" y="14482317"/>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Only one robot has the button</a:t>
            </a:r>
          </a:p>
        </p:txBody>
      </p:sp>
      <p:sp>
        <p:nvSpPr>
          <p:cNvPr id="68" name="Rectangle 67"/>
          <p:cNvSpPr/>
          <p:nvPr/>
        </p:nvSpPr>
        <p:spPr>
          <a:xfrm>
            <a:off x="32552640" y="15010637"/>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552640" y="15339821"/>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70" name="TextBox 69"/>
          <p:cNvSpPr txBox="1"/>
          <p:nvPr/>
        </p:nvSpPr>
        <p:spPr>
          <a:xfrm>
            <a:off x="32552640" y="17006061"/>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Which decisions a model makes</a:t>
            </a:r>
          </a:p>
        </p:txBody>
      </p:sp>
      <p:sp>
        <p:nvSpPr>
          <p:cNvPr id="71" name="Rectangle 70"/>
          <p:cNvSpPr/>
          <p:nvPr/>
        </p:nvSpPr>
        <p:spPr>
          <a:xfrm>
            <a:off x="32552640" y="17534381"/>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2552640" y="17863565"/>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73" name="TextBox 72"/>
          <p:cNvSpPr txBox="1"/>
          <p:nvPr/>
        </p:nvSpPr>
        <p:spPr>
          <a:xfrm>
            <a:off x="32552640" y="19529805"/>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Any research field is a project</a:t>
            </a:r>
          </a:p>
        </p:txBody>
      </p:sp>
      <p:sp>
        <p:nvSpPr>
          <p:cNvPr id="74" name="Rectangle 73"/>
          <p:cNvSpPr/>
          <p:nvPr/>
        </p:nvSpPr>
        <p:spPr>
          <a:xfrm>
            <a:off x="32552640" y="20058126"/>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2552640" y="20387309"/>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76" name="TextBox 75"/>
          <p:cNvSpPr txBox="1"/>
          <p:nvPr/>
        </p:nvSpPr>
        <p:spPr>
          <a:xfrm>
            <a:off x="32552640" y="2205355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FFFFFF"/>
                </a:solidFill>
                <a:latin typeface="Arial"/>
              </a:rPr>
              <a:t>213 seconds in one crop plot</a:t>
            </a:r>
          </a:p>
        </p:txBody>
      </p:sp>
      <p:sp>
        <p:nvSpPr>
          <p:cNvPr id="77" name="Rectangle 76"/>
          <p:cNvSpPr/>
          <p:nvPr/>
        </p:nvSpPr>
        <p:spPr>
          <a:xfrm>
            <a:off x="32552640" y="2258187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Picture 77" descr="h_drive.png"/>
          <p:cNvPicPr>
            <a:picLocks noChangeAspect="1"/>
          </p:cNvPicPr>
          <p:nvPr/>
        </p:nvPicPr>
        <p:blipFill>
          <a:blip r:embed="rId5"/>
          <a:stretch>
            <a:fillRect/>
          </a:stretch>
        </p:blipFill>
        <p:spPr>
          <a:xfrm>
            <a:off x="32552640" y="22911054"/>
            <a:ext cx="10607040" cy="4023360"/>
          </a:xfrm>
          <a:prstGeom prst="rect">
            <a:avLst/>
          </a:prstGeom>
        </p:spPr>
      </p:pic>
      <p:sp>
        <p:nvSpPr>
          <p:cNvPr id="79" name="TextBox 78"/>
          <p:cNvSpPr txBox="1"/>
          <p:nvPr/>
        </p:nvSpPr>
        <p:spPr>
          <a:xfrm>
            <a:off x="32552640" y="27044142"/>
            <a:ext cx="10607040" cy="365760"/>
          </a:xfrm>
          <a:prstGeom prst="rect">
            <a:avLst/>
          </a:prstGeom>
          <a:noFill/>
        </p:spPr>
        <p:txBody>
          <a:bodyPr wrap="square" lIns="0" rIns="0" tIns="0" bIns="0">
            <a:spAutoFit/>
          </a:bodyPr>
          <a:lstStyle/>
          <a:p>
            <a:pPr algn="l">
              <a:lnSpc>
                <a:spcPct val="118000"/>
              </a:lnSpc>
              <a:spcAft>
                <a:spcPts val="0"/>
              </a:spcAft>
            </a:pPr>
            <a:r>
              <a:rPr sz="1500" b="0">
                <a:solidFill>
                  <a:srgbClr val="5B5B5B"/>
                </a:solidFill>
                <a:latin typeface="Arial"/>
              </a:rPr>
              <a:t>Figure 4.  Robot 241, 2026-08-29: one 213 s pass through a crop plot. (h) GPS track from the board fix. (i) IMU heading over the same pass.</a:t>
            </a:r>
          </a:p>
        </p:txBody>
      </p:sp>
      <p:sp>
        <p:nvSpPr>
          <p:cNvPr id="80" name="TextBox 79"/>
          <p:cNvSpPr txBox="1"/>
          <p:nvPr/>
        </p:nvSpPr>
        <p:spPr>
          <a:xfrm>
            <a:off x="32552640" y="2780461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11111"/>
                </a:solidFill>
                <a:latin typeface="Arial"/>
              </a:rPr>
              <a:t>The longest single pass the platform holds: 141 m of track from 211 fixes, with heading from the IMU over the same 213 seconds. The platform holds 18 passes that carry position.</a:t>
            </a:r>
          </a:p>
        </p:txBody>
      </p:sp>
      <p:sp>
        <p:nvSpPr>
          <p:cNvPr id="81" name="Rectangle 80"/>
          <p:cNvSpPr/>
          <p:nvPr/>
        </p:nvSpPr>
        <p:spPr>
          <a:xfrm>
            <a:off x="731520" y="30632400"/>
            <a:ext cx="42428160" cy="20116"/>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B5B5B"/>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83" name="TextBox 82"/>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B5B5B"/>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84" name="TextBox 83"/>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B5B5B"/>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