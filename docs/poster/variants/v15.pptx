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3891200" cy="393192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931920"/>
            <a:ext cx="43891200" cy="45720"/>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84048"/>
            <a:ext cx="42428160" cy="365760"/>
          </a:xfrm>
          <a:prstGeom prst="rect">
            <a:avLst/>
          </a:prstGeom>
          <a:noFill/>
        </p:spPr>
        <p:txBody>
          <a:bodyPr wrap="square" lIns="0" rIns="0" tIns="0" bIns="0">
            <a:spAutoFit/>
          </a:bodyPr>
          <a:lstStyle/>
          <a:p>
            <a:pPr algn="l">
              <a:lnSpc>
                <a:spcPct val="95000"/>
              </a:lnSpc>
              <a:spcAft>
                <a:spcPts val="0"/>
              </a:spcAft>
            </a:pPr>
            <a:r>
              <a:rPr sz="9000" b="1">
                <a:solidFill>
                  <a:srgbClr val="FFFFFF"/>
                </a:solidFill>
                <a:latin typeface="Times New Roman"/>
              </a:rPr>
              <a:t>agentAI: A Research-Data Platform for Physical and Embodied Agents</a:t>
            </a:r>
          </a:p>
        </p:txBody>
      </p:sp>
      <p:sp>
        <p:nvSpPr>
          <p:cNvPr id="6" name="TextBox 5"/>
          <p:cNvSpPr txBox="1"/>
          <p:nvPr/>
        </p:nvSpPr>
        <p:spPr>
          <a:xfrm>
            <a:off x="731520" y="2121408"/>
            <a:ext cx="42428160" cy="365760"/>
          </a:xfrm>
          <a:prstGeom prst="rect">
            <a:avLst/>
          </a:prstGeom>
          <a:noFill/>
        </p:spPr>
        <p:txBody>
          <a:bodyPr wrap="square" lIns="0" rIns="0" tIns="0" bIns="0">
            <a:spAutoFit/>
          </a:bodyPr>
          <a:lstStyle/>
          <a:p>
            <a:pPr algn="l">
              <a:lnSpc>
                <a:spcPct val="100000"/>
              </a:lnSpc>
              <a:spcAft>
                <a:spcPts val="0"/>
              </a:spcAft>
            </a:pPr>
            <a:r>
              <a:rPr sz="4000" b="1">
                <a:solidFill>
                  <a:srgbClr val="FFFFFF"/>
                </a:solidFill>
                <a:latin typeface="Arial"/>
              </a:rPr>
              <a:t>Harry He   ·   Hongbo Zhang</a:t>
            </a:r>
          </a:p>
        </p:txBody>
      </p:sp>
      <p:sp>
        <p:nvSpPr>
          <p:cNvPr id="7" name="TextBox 6"/>
          <p:cNvSpPr txBox="1"/>
          <p:nvPr/>
        </p:nvSpPr>
        <p:spPr>
          <a:xfrm>
            <a:off x="731520" y="2761488"/>
            <a:ext cx="42428160" cy="365760"/>
          </a:xfrm>
          <a:prstGeom prst="rect">
            <a:avLst/>
          </a:prstGeom>
          <a:noFill/>
        </p:spPr>
        <p:txBody>
          <a:bodyPr wrap="square" lIns="0" rIns="0" tIns="0" bIns="0">
            <a:spAutoFit/>
          </a:bodyPr>
          <a:lstStyle/>
          <a:p>
            <a:pPr algn="l">
              <a:lnSpc>
                <a:spcPct val="100000"/>
              </a:lnSpc>
              <a:spcAft>
                <a:spcPts val="0"/>
              </a:spcAft>
            </a:pPr>
            <a:r>
              <a:rPr sz="2400" b="0">
                <a:solidFill>
                  <a:srgbClr val="D5D5D5"/>
                </a:solidFill>
                <a:latin typeface="Arial"/>
              </a:rPr>
              <a:t>Department of Engineering Technology   ·   Middle Tennessee State University, Murfreesboro, TN, USA</a:t>
            </a:r>
          </a:p>
        </p:txBody>
      </p:sp>
      <p:sp>
        <p:nvSpPr>
          <p:cNvPr id="8" name="TextBox 7"/>
          <p:cNvSpPr txBox="1"/>
          <p:nvPr/>
        </p:nvSpPr>
        <p:spPr>
          <a:xfrm>
            <a:off x="731520" y="4315968"/>
            <a:ext cx="42428160" cy="365760"/>
          </a:xfrm>
          <a:prstGeom prst="rect">
            <a:avLst/>
          </a:prstGeom>
          <a:noFill/>
        </p:spPr>
        <p:txBody>
          <a:bodyPr wrap="square" lIns="0" rIns="0" tIns="0" bIns="0">
            <a:spAutoFit/>
          </a:bodyPr>
          <a:lstStyle/>
          <a:p>
            <a:pPr algn="l">
              <a:lnSpc>
                <a:spcPct val="116000"/>
              </a:lnSpc>
              <a:spcAft>
                <a:spcPts val="0"/>
              </a:spcAft>
            </a:pPr>
            <a:r>
              <a:rPr sz="3600" b="0">
                <a:solidFill>
                  <a:srgbClr val="1A1A1A"/>
                </a:solidFill>
                <a:latin typeface="Times New Roman"/>
              </a:rPr>
              <a:t>Built at the MTSU Great Robotics Lab. Every robot the lab owns reports into one platform; agents on it harvest, filter, label and train; a third agent watches the other two. This is what runs today, what the robots have recorded, and what six months of running it taught us.</a:t>
            </a:r>
          </a:p>
        </p:txBody>
      </p:sp>
      <p:sp>
        <p:nvSpPr>
          <p:cNvPr id="9" name="TextBox 8"/>
          <p:cNvSpPr txBox="1"/>
          <p:nvPr/>
        </p:nvSpPr>
        <p:spPr>
          <a:xfrm>
            <a:off x="731520" y="6208776"/>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Times New Roman"/>
              </a:rPr>
              <a:t>One platform for every robot the lab owns</a:t>
            </a:r>
          </a:p>
        </p:txBody>
      </p:sp>
      <p:sp>
        <p:nvSpPr>
          <p:cNvPr id="10" name="Rectangle 9"/>
          <p:cNvSpPr/>
          <p:nvPr/>
        </p:nvSpPr>
        <p:spPr>
          <a:xfrm>
            <a:off x="731520" y="6803136"/>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7132320"/>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agentAI is a research-data platform for physical and embodied agents, built at the MTSU Great Robotics Lab. A robot, a drone or a sensor rig is a project. A project owns its keys, its people and a locked dataset registry. Agents on the platform harvest, filter, label and train against that registry. Adding a robot is a configuration, not a migration.</a:t>
            </a:r>
          </a:p>
        </p:txBody>
      </p:sp>
      <p:sp>
        <p:nvSpPr>
          <p:cNvPr id="12" name="TextBox 11"/>
          <p:cNvSpPr txBox="1"/>
          <p:nvPr/>
        </p:nvSpPr>
        <p:spPr>
          <a:xfrm>
            <a:off x="731520" y="9581388"/>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Times New Roman"/>
              </a:rPr>
              <a:t>Ask a dataset what it is good for</a:t>
            </a:r>
          </a:p>
        </p:txBody>
      </p:sp>
      <p:sp>
        <p:nvSpPr>
          <p:cNvPr id="13" name="Rectangle 12"/>
          <p:cNvSpPr/>
          <p:nvPr/>
        </p:nvSpPr>
        <p:spPr>
          <a:xfrm>
            <a:off x="731520" y="10175748"/>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0504932"/>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Every dataset page carries a chat box. A user types or speaks a plain question about that dataset. A planner reads the question and the dataset's real column profile, then picks from 14 fixed analysis tools or writes new code. The answer comes back with the chart and the code that produced it.</a:t>
            </a:r>
          </a:p>
        </p:txBody>
      </p:sp>
      <p:sp>
        <p:nvSpPr>
          <p:cNvPr id="15" name="TextBox 14"/>
          <p:cNvSpPr txBox="1"/>
          <p:nvPr/>
        </p:nvSpPr>
        <p:spPr>
          <a:xfrm>
            <a:off x="731520" y="12613132"/>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Times New Roman"/>
              </a:rPr>
              <a:t>Asked something it had never seen</a:t>
            </a:r>
          </a:p>
        </p:txBody>
      </p:sp>
      <p:sp>
        <p:nvSpPr>
          <p:cNvPr id="16" name="Rectangle 15"/>
          <p:cNvSpPr/>
          <p:nvPr/>
        </p:nvSpPr>
        <p:spPr>
          <a:xfrm>
            <a:off x="731520" y="13207492"/>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13536676"/>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Asked to plot a histogram of the heading change rate on the 241 field drive, the agent wrote the code and returned the plot on the first attempt. A fixed template cannot do that, because nothing in the platform knew that question would be asked. Across the platform, 9 datasets carry 92 turns of that conversation.</a:t>
            </a:r>
          </a:p>
        </p:txBody>
      </p:sp>
      <p:sp>
        <p:nvSpPr>
          <p:cNvPr id="18" name="TextBox 17"/>
          <p:cNvSpPr txBox="1"/>
          <p:nvPr/>
        </p:nvSpPr>
        <p:spPr>
          <a:xfrm>
            <a:off x="731520" y="15985744"/>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Times New Roman"/>
              </a:rPr>
              <a:t>Adding the next robot</a:t>
            </a:r>
          </a:p>
        </p:txBody>
      </p:sp>
      <p:sp>
        <p:nvSpPr>
          <p:cNvPr id="19" name="Rectangle 18"/>
          <p:cNvSpPr/>
          <p:nvPr/>
        </p:nvSpPr>
        <p:spPr>
          <a:xfrm>
            <a:off x="731520" y="16580104"/>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16909288"/>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A new robot needs a project, an API key and a session start. The ingest contract is the same for every vehicle: start a session, post sensor batches and frames while driving, stop. The platform does not care what the robot is. The Unitree humanoid's project exists on this basis and is waiting on its first upload.</a:t>
            </a:r>
          </a:p>
        </p:txBody>
      </p:sp>
      <p:sp>
        <p:nvSpPr>
          <p:cNvPr id="21" name="TextBox 20"/>
          <p:cNvSpPr txBox="1"/>
          <p:nvPr/>
        </p:nvSpPr>
        <p:spPr>
          <a:xfrm>
            <a:off x="731520" y="19358356"/>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Times New Roman"/>
              </a:rPr>
              <a:t>Reading the loop's own artifacts</a:t>
            </a:r>
          </a:p>
        </p:txBody>
      </p:sp>
      <p:sp>
        <p:nvSpPr>
          <p:cNvPr id="22" name="Rectangle 21"/>
          <p:cNvSpPr/>
          <p:nvPr/>
        </p:nvSpPr>
        <p:spPr>
          <a:xfrm>
            <a:off x="731520" y="19952716"/>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20281900"/>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The corpus stopped growing at round three: the same 24 datasets and 48,752 unique images went in every time, and the apparent growth was one staging directory nobody cleared. Eight rounds collected nothing and reported success. Starting fresh instead of from the previous round's weights is worth +0.0287, 5.1 times this recipe's own seed spread.</a:t>
            </a:r>
          </a:p>
        </p:txBody>
      </p:sp>
      <p:sp>
        <p:nvSpPr>
          <p:cNvPr id="24" name="TextBox 23"/>
          <p:cNvSpPr txBox="1"/>
          <p:nvPr/>
        </p:nvSpPr>
        <p:spPr>
          <a:xfrm>
            <a:off x="731520" y="22730968"/>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Times New Roman"/>
              </a:rPr>
              <a:t>Not yet pointed at the drives</a:t>
            </a:r>
          </a:p>
        </p:txBody>
      </p:sp>
      <p:sp>
        <p:nvSpPr>
          <p:cNvPr id="25" name="Rectangle 24"/>
          <p:cNvSpPr/>
          <p:nvPr/>
        </p:nvSpPr>
        <p:spPr>
          <a:xfrm>
            <a:off x="731520" y="23325327"/>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23654511"/>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The conversational agent has answered 92 questions, and none of them was about a live robot drive. Every one of the 26 live sessions got the fixed diagnosis; not one got a question. Pointing the agent at the drives is the next thing to do and it costs nothing but asking. This part is built and is switched off today.</a:t>
            </a:r>
          </a:p>
        </p:txBody>
      </p:sp>
      <p:sp>
        <p:nvSpPr>
          <p:cNvPr id="27" name="TextBox 26"/>
          <p:cNvSpPr txBox="1"/>
          <p:nvPr/>
        </p:nvSpPr>
        <p:spPr>
          <a:xfrm>
            <a:off x="11704320" y="6208776"/>
            <a:ext cx="998982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Times New Roman"/>
              </a:rPr>
              <a:t>Robots on the platform today</a:t>
            </a:r>
          </a:p>
        </p:txBody>
      </p:sp>
      <p:sp>
        <p:nvSpPr>
          <p:cNvPr id="28" name="Rectangle 27"/>
          <p:cNvSpPr/>
          <p:nvPr/>
        </p:nvSpPr>
        <p:spPr>
          <a:xfrm>
            <a:off x="11704320" y="6803136"/>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704320" y="7132320"/>
            <a:ext cx="998982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Robot 241 is a tracked rover that drives crop rows and streams camera, GPS and two IMUs. The laser cart carries the weeder: a galvanometer laser, a down camera over the work zone and a forward camera. A Unitree humanoid has a project and has uploaded nothing yet. Between them the two ground vehicles have recorded 2,686 frames in 26 drives.</a:t>
            </a:r>
          </a:p>
        </p:txBody>
      </p:sp>
      <p:sp>
        <p:nvSpPr>
          <p:cNvPr id="30" name="TextBox 29"/>
          <p:cNvSpPr txBox="1"/>
          <p:nvPr/>
        </p:nvSpPr>
        <p:spPr>
          <a:xfrm>
            <a:off x="11704320" y="9581388"/>
            <a:ext cx="998982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Times New Roman"/>
              </a:rPr>
              <a:t>Four frames, as recorded</a:t>
            </a:r>
          </a:p>
        </p:txBody>
      </p:sp>
      <p:sp>
        <p:nvSpPr>
          <p:cNvPr id="31" name="Rectangle 30"/>
          <p:cNvSpPr/>
          <p:nvPr/>
        </p:nvSpPr>
        <p:spPr>
          <a:xfrm>
            <a:off x="11704320" y="10175748"/>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704320" y="10504932"/>
            <a:ext cx="998982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Nothing here is enhanced and nothing is labelled. The rectangle in the cart's down camera is a fixed work-zone overlay: it sits at the same pixels on frames with no vegetation in them at all.</a:t>
            </a:r>
          </a:p>
        </p:txBody>
      </p:sp>
      <p:sp>
        <p:nvSpPr>
          <p:cNvPr id="33" name="TextBox 32"/>
          <p:cNvSpPr txBox="1"/>
          <p:nvPr/>
        </p:nvSpPr>
        <p:spPr>
          <a:xfrm>
            <a:off x="11704320" y="12272263"/>
            <a:ext cx="998982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Times New Roman"/>
              </a:rPr>
              <a:t>Which decisions a model makes</a:t>
            </a:r>
          </a:p>
        </p:txBody>
      </p:sp>
      <p:sp>
        <p:nvSpPr>
          <p:cNvPr id="34" name="Rectangle 33"/>
          <p:cNvSpPr/>
          <p:nvPr/>
        </p:nvSpPr>
        <p:spPr>
          <a:xfrm>
            <a:off x="11704320" y="12866623"/>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704320" y="13195807"/>
            <a:ext cx="998982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A language model decides what the collector goes after next, judges whether a candidate dataset is on topic, and reviews a finished step. Those run on the cluster, as batch jobs, on open weights. The lab box hosts only the small guide model, and a verdict produced there is marked in its own record as a draft that may not be reported.</a:t>
            </a:r>
          </a:p>
        </p:txBody>
      </p:sp>
      <p:sp>
        <p:nvSpPr>
          <p:cNvPr id="36" name="TextBox 35"/>
          <p:cNvSpPr txBox="1"/>
          <p:nvPr/>
        </p:nvSpPr>
        <p:spPr>
          <a:xfrm>
            <a:off x="11704320" y="15644875"/>
            <a:ext cx="998982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Times New Roman"/>
              </a:rPr>
              <a:t>213 seconds in one crop plot</a:t>
            </a:r>
          </a:p>
        </p:txBody>
      </p:sp>
      <p:sp>
        <p:nvSpPr>
          <p:cNvPr id="37" name="Rectangle 36"/>
          <p:cNvSpPr/>
          <p:nvPr/>
        </p:nvSpPr>
        <p:spPr>
          <a:xfrm>
            <a:off x="11704320" y="16239235"/>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704320" y="16568419"/>
            <a:ext cx="998982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The longest single pass the platform holds: 141 m of track from 211 fixes, with heading from the IMU over the same 213 seconds. The platform holds 18 passes that carry position.</a:t>
            </a:r>
          </a:p>
        </p:txBody>
      </p:sp>
      <p:sp>
        <p:nvSpPr>
          <p:cNvPr id="39" name="TextBox 38"/>
          <p:cNvSpPr txBox="1"/>
          <p:nvPr/>
        </p:nvSpPr>
        <p:spPr>
          <a:xfrm>
            <a:off x="11704320" y="18335751"/>
            <a:ext cx="998982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Times New Roman"/>
              </a:rPr>
              <a:t>Back on our own rows</a:t>
            </a:r>
          </a:p>
        </p:txBody>
      </p:sp>
      <p:sp>
        <p:nvSpPr>
          <p:cNvPr id="40" name="Rectangle 39"/>
          <p:cNvSpPr/>
          <p:nvPr/>
        </p:nvSpPr>
        <p:spPr>
          <a:xfrm>
            <a:off x="11704320" y="18930111"/>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1704320" y="19259295"/>
            <a:ext cx="998982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The deployable checkpoint draws a box on 25 of the 2,686 frames our robots recorded, and 24 of those 25 boxes are the same class. These frames carry no labels, so that is a firing rate, not recall and not precision.</a:t>
            </a:r>
          </a:p>
        </p:txBody>
      </p:sp>
      <p:sp>
        <p:nvSpPr>
          <p:cNvPr id="42" name="TextBox 41"/>
          <p:cNvSpPr txBox="1"/>
          <p:nvPr/>
        </p:nvSpPr>
        <p:spPr>
          <a:xfrm>
            <a:off x="11704320" y="21367495"/>
            <a:ext cx="998982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Times New Roman"/>
              </a:rPr>
              <a:t>Who notices when it breaks</a:t>
            </a:r>
          </a:p>
        </p:txBody>
      </p:sp>
      <p:sp>
        <p:nvSpPr>
          <p:cNvPr id="43" name="Rectangle 42"/>
          <p:cNvSpPr/>
          <p:nvPr/>
        </p:nvSpPr>
        <p:spPr>
          <a:xfrm>
            <a:off x="11704320" y="21961855"/>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1704320" y="22291039"/>
            <a:ext cx="998982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We froze 162 real failures out of this project's own engineering record and scored every kind of supervision against them. The watchdog the loop was running returned no decision on any of the 149 dev cases. A model reading the raw artifacts reaches 0.70 recall over 116 incidents.</a:t>
            </a:r>
          </a:p>
        </p:txBody>
      </p:sp>
      <p:sp>
        <p:nvSpPr>
          <p:cNvPr id="45" name="TextBox 44"/>
          <p:cNvSpPr txBox="1"/>
          <p:nvPr/>
        </p:nvSpPr>
        <p:spPr>
          <a:xfrm>
            <a:off x="22059900" y="6208776"/>
            <a:ext cx="998982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Times New Roman"/>
              </a:rPr>
              <a:t>A drive becomes a dataset as it opens</a:t>
            </a:r>
          </a:p>
        </p:txBody>
      </p:sp>
      <p:sp>
        <p:nvSpPr>
          <p:cNvPr id="46" name="Rectangle 45"/>
          <p:cNvSpPr/>
          <p:nvPr/>
        </p:nvSpPr>
        <p:spPr>
          <a:xfrm>
            <a:off x="22059900" y="6803136"/>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2059900" y="7132320"/>
            <a:ext cx="998982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A vehicle opens a session and the platform registers it as a governed dataset at that moment, not after the drive ends. Frames and sensor batches arrive over one API key. Robot 241 sends camera, GPS and two IMUs; the laser cart sends camera, laser state, vehicle telemetry and its own detections, and no position at all.</a:t>
            </a:r>
          </a:p>
        </p:txBody>
      </p:sp>
      <p:sp>
        <p:nvSpPr>
          <p:cNvPr id="48" name="TextBox 47"/>
          <p:cNvSpPr txBox="1"/>
          <p:nvPr/>
        </p:nvSpPr>
        <p:spPr>
          <a:xfrm>
            <a:off x="22059900" y="9581388"/>
            <a:ext cx="998982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Times New Roman"/>
              </a:rPr>
              <a:t>On disk today</a:t>
            </a:r>
          </a:p>
        </p:txBody>
      </p:sp>
      <p:sp>
        <p:nvSpPr>
          <p:cNvPr id="49" name="Rectangle 48"/>
          <p:cNvSpPr/>
          <p:nvPr/>
        </p:nvSpPr>
        <p:spPr>
          <a:xfrm>
            <a:off x="22059900" y="10175748"/>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2059900" y="10504932"/>
            <a:ext cx="998982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Two robots have put 2,686 camera frames and 91,955 telemetry rows across nine streams onto the platform, over 26 drives, with 342 m of GPS track from 1,502 fixes. None of the frames is labelled.</a:t>
            </a:r>
          </a:p>
        </p:txBody>
      </p:sp>
      <p:sp>
        <p:nvSpPr>
          <p:cNvPr id="51" name="TextBox 50"/>
          <p:cNvSpPr txBox="1"/>
          <p:nvPr/>
        </p:nvSpPr>
        <p:spPr>
          <a:xfrm>
            <a:off x="22059900" y="12272263"/>
            <a:ext cx="998982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Times New Roman"/>
              </a:rPr>
              <a:t>More web data, less accuracy</a:t>
            </a:r>
          </a:p>
        </p:txBody>
      </p:sp>
      <p:sp>
        <p:nvSpPr>
          <p:cNvPr id="52" name="Rectangle 51"/>
          <p:cNvSpPr/>
          <p:nvPr/>
        </p:nvSpPr>
        <p:spPr>
          <a:xfrm>
            <a:off x="22059900" y="12866623"/>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2059900" y="13195807"/>
            <a:ext cx="998982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Twelve times the training data costs 0.0189 on our own 1,977-image holdout, three seeds at every rung, which is 8.2 times the seed spread. The same eight checkpoints fall on a second weed dataset too. One of six audited web sources reaches a 0.90 label-precision bar.</a:t>
            </a:r>
          </a:p>
        </p:txBody>
      </p:sp>
      <p:sp>
        <p:nvSpPr>
          <p:cNvPr id="54" name="TextBox 53"/>
          <p:cNvSpPr txBox="1"/>
          <p:nvPr/>
        </p:nvSpPr>
        <p:spPr>
          <a:xfrm>
            <a:off x="22059900" y="15304007"/>
            <a:ext cx="998982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Times New Roman"/>
              </a:rPr>
              <a:t>Talking back to a robot</a:t>
            </a:r>
          </a:p>
        </p:txBody>
      </p:sp>
      <p:sp>
        <p:nvSpPr>
          <p:cNvPr id="55" name="Rectangle 54"/>
          <p:cNvSpPr/>
          <p:nvPr/>
        </p:nvSpPr>
        <p:spPr>
          <a:xfrm>
            <a:off x="22059900" y="15898367"/>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2059900" y="16227551"/>
            <a:ext cx="998982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Besides the drive relay, the platform sends a robot exactly one thing: advisory text. The rover polls for it and shows deterministic warnings about battery, current and temperature. That poll has returned 406 times. No platform code path sends an actuation command to any robot.</a:t>
            </a:r>
          </a:p>
        </p:txBody>
      </p:sp>
      <p:sp>
        <p:nvSpPr>
          <p:cNvPr id="57" name="TextBox 56"/>
          <p:cNvSpPr txBox="1"/>
          <p:nvPr/>
        </p:nvSpPr>
        <p:spPr>
          <a:xfrm>
            <a:off x="22059900" y="18335751"/>
            <a:ext cx="998982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Times New Roman"/>
              </a:rPr>
              <a:t>Every drive is diagnosed on arrival</a:t>
            </a:r>
          </a:p>
        </p:txBody>
      </p:sp>
      <p:sp>
        <p:nvSpPr>
          <p:cNvPr id="58" name="Rectangle 57"/>
          <p:cNvSpPr/>
          <p:nvPr/>
        </p:nvSpPr>
        <p:spPr>
          <a:xfrm>
            <a:off x="22059900" y="18930111"/>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2059900" y="19259295"/>
            <a:ext cx="998982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The platform runs a fixed diagnosis over each finished session without being asked: route, noise, cross-sensor correlation, a timeline. It has done that for 26 live robot sessions and written 45 charts. A person reads the diagnosis before deciding whether the drive is worth anything.</a:t>
            </a:r>
          </a:p>
        </p:txBody>
      </p:sp>
      <p:sp>
        <p:nvSpPr>
          <p:cNvPr id="60" name="TextBox 59"/>
          <p:cNvSpPr txBox="1"/>
          <p:nvPr/>
        </p:nvSpPr>
        <p:spPr>
          <a:xfrm>
            <a:off x="22059900" y="21367495"/>
            <a:ext cx="998982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Times New Roman"/>
              </a:rPr>
              <a:t>Auditing six web sources</a:t>
            </a:r>
          </a:p>
        </p:txBody>
      </p:sp>
      <p:sp>
        <p:nvSpPr>
          <p:cNvPr id="61" name="Rectangle 60"/>
          <p:cNvSpPr/>
          <p:nvPr/>
        </p:nvSpPr>
        <p:spPr>
          <a:xfrm>
            <a:off x="22059900" y="21961855"/>
            <a:ext cx="998982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2059900" y="22291039"/>
            <a:ext cx="998982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The same probe reads 1.000 on human-labelled CottonWeedDet12, so a source at 0.184 is the data and not the instrument. Only the top source clears the bar, and it supplies 3,208 of the 13,527 audited images.</a:t>
            </a:r>
          </a:p>
        </p:txBody>
      </p:sp>
      <p:sp>
        <p:nvSpPr>
          <p:cNvPr id="63" name="TextBox 62"/>
          <p:cNvSpPr txBox="1"/>
          <p:nvPr/>
        </p:nvSpPr>
        <p:spPr>
          <a:xfrm>
            <a:off x="32552640" y="6208776"/>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Times New Roman"/>
              </a:rPr>
              <a:t>Driving a robot from a browser</a:t>
            </a:r>
          </a:p>
        </p:txBody>
      </p:sp>
      <p:sp>
        <p:nvSpPr>
          <p:cNvPr id="64" name="Rectangle 63"/>
          <p:cNvSpPr/>
          <p:nvPr/>
        </p:nvSpPr>
        <p:spPr>
          <a:xfrm>
            <a:off x="32552640" y="6803136"/>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2552640" y="7132320"/>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A signed-in user opens the 241 project and clicks Drive. The platform reverse-proxies the robot's own console over the lab tailnet, so the rover is driven from a plain browser with no VPN client. 1,389 joystick commands have gone through that path. Two gates sit in front of it: the platform's Google login, then the robot's own password.</a:t>
            </a:r>
          </a:p>
        </p:txBody>
      </p:sp>
      <p:sp>
        <p:nvSpPr>
          <p:cNvPr id="66" name="TextBox 65"/>
          <p:cNvSpPr txBox="1"/>
          <p:nvPr/>
        </p:nvSpPr>
        <p:spPr>
          <a:xfrm>
            <a:off x="32552640" y="9581388"/>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Times New Roman"/>
              </a:rPr>
              <a:t>Only one robot has the button</a:t>
            </a:r>
          </a:p>
        </p:txBody>
      </p:sp>
      <p:sp>
        <p:nvSpPr>
          <p:cNvPr id="67" name="Rectangle 66"/>
          <p:cNvSpPr/>
          <p:nvPr/>
        </p:nvSpPr>
        <p:spPr>
          <a:xfrm>
            <a:off x="32552640" y="10175748"/>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2552640" y="10504932"/>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The Drive button appears on the 241 project and not on the laser cart's, because the allow-list holds one target. The rover has been dark since 2026-08-28: the platform answers a drive request today with its own offline page. The cart has never been drivable from the platform.</a:t>
            </a:r>
          </a:p>
        </p:txBody>
      </p:sp>
      <p:sp>
        <p:nvSpPr>
          <p:cNvPr id="69" name="TextBox 68"/>
          <p:cNvSpPr txBox="1"/>
          <p:nvPr/>
        </p:nvSpPr>
        <p:spPr>
          <a:xfrm>
            <a:off x="32552640" y="12613132"/>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Times New Roman"/>
              </a:rPr>
              <a:t>Any research field is a project</a:t>
            </a:r>
          </a:p>
        </p:txBody>
      </p:sp>
      <p:sp>
        <p:nvSpPr>
          <p:cNvPr id="70" name="Rectangle 69"/>
          <p:cNvSpPr/>
          <p:nvPr/>
        </p:nvSpPr>
        <p:spPr>
          <a:xfrm>
            <a:off x="32552640" y="13207492"/>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2552640" y="13536676"/>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A lab member opens a project for any data type and any field, uploads images, video or sensor logs, and gets an automatic diagnosis before choosing what to do next. Weed detection is one project on this platform. The 241 rover, the laser cart and a Unitree humanoid each have their own.</a:t>
            </a:r>
          </a:p>
        </p:txBody>
      </p:sp>
      <p:sp>
        <p:nvSpPr>
          <p:cNvPr id="72" name="TextBox 71"/>
          <p:cNvSpPr txBox="1"/>
          <p:nvPr/>
        </p:nvSpPr>
        <p:spPr>
          <a:xfrm>
            <a:off x="32552640" y="15644876"/>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Times New Roman"/>
              </a:rPr>
              <a:t>Code the agent writes runs fenced in</a:t>
            </a:r>
          </a:p>
        </p:txBody>
      </p:sp>
      <p:sp>
        <p:nvSpPr>
          <p:cNvPr id="73" name="Rectangle 72"/>
          <p:cNvSpPr/>
          <p:nvPr/>
        </p:nvSpPr>
        <p:spPr>
          <a:xfrm>
            <a:off x="32552640" y="16239236"/>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2552640" y="16568420"/>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Generated code passes an import whitelist and an AST check before it runs, with no network and no file writes, 15 seconds of CPU, 1.5 GB of memory and a 25 second wall clock. A user can edit the agent's code or paste their own and re-run it in the same fence.</a:t>
            </a:r>
          </a:p>
        </p:txBody>
      </p:sp>
      <p:sp>
        <p:nvSpPr>
          <p:cNvPr id="75" name="TextBox 74"/>
          <p:cNvSpPr txBox="1"/>
          <p:nvPr/>
        </p:nvSpPr>
        <p:spPr>
          <a:xfrm>
            <a:off x="32552640" y="18676620"/>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A1A1A"/>
                </a:solidFill>
                <a:latin typeface="Times New Roman"/>
              </a:rPr>
              <a:t>Laser on, never once at a target</a:t>
            </a:r>
          </a:p>
        </p:txBody>
      </p:sp>
      <p:sp>
        <p:nvSpPr>
          <p:cNvPr id="76" name="Rectangle 75"/>
          <p:cNvSpPr/>
          <p:nvPr/>
        </p:nvSpPr>
        <p:spPr>
          <a:xfrm>
            <a:off x="32552640" y="19270980"/>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32552640" y="19600164"/>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A1A1A"/>
                </a:solidFill>
                <a:latin typeface="Arial"/>
              </a:rPr>
              <a:t>The cart's own operator switched the laser on during three of eight archived sessions. The platform recorded 3379 laser rows and 216 of them have the laser enabled. Every one of those 216 is in OBSERVATION phase, with no target. The laser has never been armed, aimed or fired by the platform.</a:t>
            </a:r>
          </a:p>
        </p:txBody>
      </p:sp>
      <p:sp>
        <p:nvSpPr>
          <p:cNvPr id="78" name="Rectangle 77"/>
          <p:cNvSpPr/>
          <p:nvPr/>
        </p:nvSpPr>
        <p:spPr>
          <a:xfrm>
            <a:off x="731520" y="30632400"/>
            <a:ext cx="42428160" cy="20116"/>
          </a:xfrm>
          <a:prstGeom prst="rect">
            <a:avLst/>
          </a:prstGeom>
          <a:solidFill>
            <a:srgbClr val="D5D5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31520" y="30861000"/>
            <a:ext cx="13837920" cy="365760"/>
          </a:xfrm>
          <a:prstGeom prst="rect">
            <a:avLst/>
          </a:prstGeom>
          <a:noFill/>
        </p:spPr>
        <p:txBody>
          <a:bodyPr wrap="square" lIns="0" rIns="0" tIns="0" bIns="0">
            <a:spAutoFit/>
          </a:bodyPr>
          <a:lstStyle/>
          <a:p>
            <a:pPr algn="l">
              <a:lnSpc>
                <a:spcPct val="122000"/>
              </a:lnSpc>
              <a:spcAft>
                <a:spcPts val="1200"/>
              </a:spcAft>
            </a:pPr>
            <a:r>
              <a:rPr sz="1700" b="0">
                <a:solidFill>
                  <a:srgbClr val="6A6A6A"/>
                </a:solidFill>
                <a:latin typeface="Arial"/>
              </a:rPr>
              <a:t>Standing today. The collector and trainer are paused after a stop-loss on 2026-08-29. The rover has been off the tailnet since then and the platform answers a drive request with its offline page. The supervisor is advisory. None of the 2,686 frames is labelled.</a:t>
            </a:r>
          </a:p>
        </p:txBody>
      </p:sp>
      <p:sp>
        <p:nvSpPr>
          <p:cNvPr id="80" name="TextBox 79"/>
          <p:cNvSpPr txBox="1"/>
          <p:nvPr/>
        </p:nvSpPr>
        <p:spPr>
          <a:xfrm>
            <a:off x="15026640" y="30861000"/>
            <a:ext cx="13837920" cy="365760"/>
          </a:xfrm>
          <a:prstGeom prst="rect">
            <a:avLst/>
          </a:prstGeom>
          <a:noFill/>
        </p:spPr>
        <p:txBody>
          <a:bodyPr wrap="square" lIns="0" rIns="0" tIns="0" bIns="0">
            <a:spAutoFit/>
          </a:bodyPr>
          <a:lstStyle/>
          <a:p>
            <a:pPr algn="l">
              <a:lnSpc>
                <a:spcPct val="122000"/>
              </a:lnSpc>
              <a:spcAft>
                <a:spcPts val="1200"/>
              </a:spcAft>
            </a:pPr>
            <a:r>
              <a:rPr sz="1700" b="0">
                <a:solidFill>
                  <a:srgbClr val="6A6A6A"/>
                </a:solidFill>
                <a:latin typeface="Arial"/>
              </a:rPr>
              <a:t>How the numbers were made. Most in-domain numbers are mAP50-95 on the same 1,977 images under Ultralytics. RF-DETR is pycocotools and the zero-shot column is mAP50 on the 848-image split; neither is differenced against the rest. That holdout is also the validation set during training, so every mAP here is a run's best epoch.</a:t>
            </a:r>
          </a:p>
        </p:txBody>
      </p:sp>
      <p:sp>
        <p:nvSpPr>
          <p:cNvPr id="81" name="TextBox 80"/>
          <p:cNvSpPr txBox="1"/>
          <p:nvPr/>
        </p:nvSpPr>
        <p:spPr>
          <a:xfrm>
            <a:off x="29321759" y="30861000"/>
            <a:ext cx="13837920" cy="365760"/>
          </a:xfrm>
          <a:prstGeom prst="rect">
            <a:avLst/>
          </a:prstGeom>
          <a:noFill/>
        </p:spPr>
        <p:txBody>
          <a:bodyPr wrap="square" lIns="0" rIns="0" tIns="0" bIns="0">
            <a:spAutoFit/>
          </a:bodyPr>
          <a:lstStyle/>
          <a:p>
            <a:pPr algn="l">
              <a:lnSpc>
                <a:spcPct val="122000"/>
              </a:lnSpc>
              <a:spcAft>
                <a:spcPts val="1200"/>
              </a:spcAft>
            </a:pPr>
            <a:r>
              <a:rPr sz="1700" b="0">
                <a:solidFill>
                  <a:srgbClr val="6A6A6A"/>
                </a:solidFill>
                <a:latin typeface="Arial"/>
              </a:rPr>
              <a:t>Numbers we withdrew. 0.910 was a data leak, found by a content-level check we built after publishing it. 0.9033 is the best of four unseeded runs and only one of the four crossed 0.90. An earlier reading of the ladder as a flat curve is retracted.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Middle Tennessee State University, Murfreesboro, TN, USA</dc:title>
  <dc:subject/>
  <dc:creator>Harry He</dc:creator>
  <cp:keywords/>
  <dc:description>generated using python-pptx</dc:description>
  <cp:lastModifiedBy>Harry He</cp:lastModifiedBy>
  <cp:revision>1</cp:revision>
  <dcterms:created xsi:type="dcterms:W3CDTF">2013-01-27T09:14:16Z</dcterms:created>
  <dcterms:modified xsi:type="dcterms:W3CDTF">2013-01-27T09:15:58Z</dcterms:modified>
  <cp:category/>
</cp:coreProperties>
</file>