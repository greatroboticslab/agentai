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FFFFFF"/>
                </a:solidFill>
                <a:latin typeface="Times New Roman"/>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5D5D5"/>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A1A1A"/>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9" name="TextBox 8"/>
          <p:cNvSpPr txBox="1"/>
          <p:nvPr/>
        </p:nvSpPr>
        <p:spPr>
          <a:xfrm>
            <a:off x="731520" y="620877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One platform for every robot the lab owns</a:t>
            </a:r>
          </a:p>
        </p:txBody>
      </p:sp>
      <p:sp>
        <p:nvSpPr>
          <p:cNvPr id="10" name="Rectangle 9"/>
          <p:cNvSpPr/>
          <p:nvPr/>
        </p:nvSpPr>
        <p:spPr>
          <a:xfrm>
            <a:off x="731520" y="680313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713232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2" name="TextBox 11"/>
          <p:cNvSpPr txBox="1"/>
          <p:nvPr/>
        </p:nvSpPr>
        <p:spPr>
          <a:xfrm>
            <a:off x="731520" y="958138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14</a:t>
            </a:r>
          </a:p>
        </p:txBody>
      </p:sp>
      <p:sp>
        <p:nvSpPr>
          <p:cNvPr id="13" name="TextBox 12"/>
          <p:cNvSpPr txBox="1"/>
          <p:nvPr/>
        </p:nvSpPr>
        <p:spPr>
          <a:xfrm>
            <a:off x="731520" y="10384536"/>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analysis tools the planner can choose from</a:t>
            </a:r>
          </a:p>
        </p:txBody>
      </p:sp>
      <p:sp>
        <p:nvSpPr>
          <p:cNvPr id="14" name="TextBox 13"/>
          <p:cNvSpPr txBox="1"/>
          <p:nvPr/>
        </p:nvSpPr>
        <p:spPr>
          <a:xfrm>
            <a:off x="731520" y="1087043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Ask a dataset what it is good for</a:t>
            </a:r>
          </a:p>
        </p:txBody>
      </p:sp>
      <p:sp>
        <p:nvSpPr>
          <p:cNvPr id="15" name="Rectangle 14"/>
          <p:cNvSpPr/>
          <p:nvPr/>
        </p:nvSpPr>
        <p:spPr>
          <a:xfrm>
            <a:off x="731520" y="1146479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1793982"/>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17" name="TextBox 16"/>
          <p:cNvSpPr txBox="1"/>
          <p:nvPr/>
        </p:nvSpPr>
        <p:spPr>
          <a:xfrm>
            <a:off x="731520" y="1390218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92</a:t>
            </a:r>
          </a:p>
        </p:txBody>
      </p:sp>
      <p:sp>
        <p:nvSpPr>
          <p:cNvPr id="18" name="TextBox 17"/>
          <p:cNvSpPr txBox="1"/>
          <p:nvPr/>
        </p:nvSpPr>
        <p:spPr>
          <a:xfrm>
            <a:off x="731520" y="14705330"/>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questions asked of a dataset so far</a:t>
            </a:r>
          </a:p>
        </p:txBody>
      </p:sp>
      <p:sp>
        <p:nvSpPr>
          <p:cNvPr id="19" name="TextBox 18"/>
          <p:cNvSpPr txBox="1"/>
          <p:nvPr/>
        </p:nvSpPr>
        <p:spPr>
          <a:xfrm>
            <a:off x="731520" y="1519123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Asked something it had never seen</a:t>
            </a:r>
          </a:p>
        </p:txBody>
      </p:sp>
      <p:sp>
        <p:nvSpPr>
          <p:cNvPr id="20" name="Rectangle 19"/>
          <p:cNvSpPr/>
          <p:nvPr/>
        </p:nvSpPr>
        <p:spPr>
          <a:xfrm>
            <a:off x="731520" y="1578559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1611477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2" name="TextBox 21"/>
          <p:cNvSpPr txBox="1"/>
          <p:nvPr/>
        </p:nvSpPr>
        <p:spPr>
          <a:xfrm>
            <a:off x="731520" y="1856384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Adding the next robot</a:t>
            </a:r>
          </a:p>
        </p:txBody>
      </p:sp>
      <p:sp>
        <p:nvSpPr>
          <p:cNvPr id="23" name="Rectangle 22"/>
          <p:cNvSpPr/>
          <p:nvPr/>
        </p:nvSpPr>
        <p:spPr>
          <a:xfrm>
            <a:off x="731520" y="1915820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1948738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25" name="TextBox 24"/>
          <p:cNvSpPr txBox="1"/>
          <p:nvPr/>
        </p:nvSpPr>
        <p:spPr>
          <a:xfrm>
            <a:off x="731520" y="2193645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Reading the loop's own artifacts</a:t>
            </a:r>
          </a:p>
        </p:txBody>
      </p:sp>
      <p:sp>
        <p:nvSpPr>
          <p:cNvPr id="26" name="Rectangle 25"/>
          <p:cNvSpPr/>
          <p:nvPr/>
        </p:nvSpPr>
        <p:spPr>
          <a:xfrm>
            <a:off x="731520" y="2253081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285999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28" name="TextBox 27"/>
          <p:cNvSpPr txBox="1"/>
          <p:nvPr/>
        </p:nvSpPr>
        <p:spPr>
          <a:xfrm>
            <a:off x="731520" y="25309067"/>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Not yet pointed at the drives</a:t>
            </a:r>
          </a:p>
        </p:txBody>
      </p:sp>
      <p:sp>
        <p:nvSpPr>
          <p:cNvPr id="29" name="Rectangle 28"/>
          <p:cNvSpPr/>
          <p:nvPr/>
        </p:nvSpPr>
        <p:spPr>
          <a:xfrm>
            <a:off x="731520" y="2590342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623261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conversational agent has answered 92 questions, and none of them was about a live robot drive. Every one of the 26 live sessions got the fixed diagnosis; not one got a question. Pointing the agent at the drives is the next thing to do and it costs nothing but asking. This part is built and is switched off today.</a:t>
            </a:r>
          </a:p>
        </p:txBody>
      </p:sp>
      <p:sp>
        <p:nvSpPr>
          <p:cNvPr id="31" name="TextBox 30"/>
          <p:cNvSpPr txBox="1"/>
          <p:nvPr/>
        </p:nvSpPr>
        <p:spPr>
          <a:xfrm>
            <a:off x="11704320" y="6208776"/>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Robots on the platform today</a:t>
            </a:r>
          </a:p>
        </p:txBody>
      </p:sp>
      <p:sp>
        <p:nvSpPr>
          <p:cNvPr id="32" name="Rectangle 31"/>
          <p:cNvSpPr/>
          <p:nvPr/>
        </p:nvSpPr>
        <p:spPr>
          <a:xfrm>
            <a:off x="11704320" y="6803136"/>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704320" y="7132320"/>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4" name="TextBox 33"/>
          <p:cNvSpPr txBox="1"/>
          <p:nvPr/>
        </p:nvSpPr>
        <p:spPr>
          <a:xfrm>
            <a:off x="11704320" y="9581388"/>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Four frames, as recorded</a:t>
            </a:r>
          </a:p>
        </p:txBody>
      </p:sp>
      <p:sp>
        <p:nvSpPr>
          <p:cNvPr id="35" name="Rectangle 34"/>
          <p:cNvSpPr/>
          <p:nvPr/>
        </p:nvSpPr>
        <p:spPr>
          <a:xfrm>
            <a:off x="11704320" y="10175748"/>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0" y="10504932"/>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Nothing here is enhanced and nothing is labelled. The rectangle in the cart's down camera is a fixed work-zone overlay: it sits at the same pixels on frames with no vegetation in them at all.</a:t>
            </a:r>
          </a:p>
        </p:txBody>
      </p:sp>
      <p:sp>
        <p:nvSpPr>
          <p:cNvPr id="37" name="TextBox 36"/>
          <p:cNvSpPr txBox="1"/>
          <p:nvPr/>
        </p:nvSpPr>
        <p:spPr>
          <a:xfrm>
            <a:off x="11704320" y="1227226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Which decisions a model makes</a:t>
            </a:r>
          </a:p>
        </p:txBody>
      </p:sp>
      <p:sp>
        <p:nvSpPr>
          <p:cNvPr id="38" name="Rectangle 37"/>
          <p:cNvSpPr/>
          <p:nvPr/>
        </p:nvSpPr>
        <p:spPr>
          <a:xfrm>
            <a:off x="11704320" y="1286662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704320" y="1319580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40" name="TextBox 39"/>
          <p:cNvSpPr txBox="1"/>
          <p:nvPr/>
        </p:nvSpPr>
        <p:spPr>
          <a:xfrm>
            <a:off x="11704320" y="1564487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213 seconds in one crop plot</a:t>
            </a:r>
          </a:p>
        </p:txBody>
      </p:sp>
      <p:sp>
        <p:nvSpPr>
          <p:cNvPr id="41" name="Rectangle 40"/>
          <p:cNvSpPr/>
          <p:nvPr/>
        </p:nvSpPr>
        <p:spPr>
          <a:xfrm>
            <a:off x="11704320" y="1623923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04320" y="1656841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longest single pass the platform holds: 141 m of track from 211 fixes, with heading from the IMU over the same 213 seconds. The platform holds 18 passes that carry position.</a:t>
            </a:r>
          </a:p>
        </p:txBody>
      </p:sp>
      <p:sp>
        <p:nvSpPr>
          <p:cNvPr id="43" name="TextBox 42"/>
          <p:cNvSpPr txBox="1"/>
          <p:nvPr/>
        </p:nvSpPr>
        <p:spPr>
          <a:xfrm>
            <a:off x="11704320" y="18335751"/>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Back on our own rows</a:t>
            </a:r>
          </a:p>
        </p:txBody>
      </p:sp>
      <p:sp>
        <p:nvSpPr>
          <p:cNvPr id="44" name="Rectangle 43"/>
          <p:cNvSpPr/>
          <p:nvPr/>
        </p:nvSpPr>
        <p:spPr>
          <a:xfrm>
            <a:off x="11704320" y="1893011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04320" y="19259295"/>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46" name="TextBox 45"/>
          <p:cNvSpPr txBox="1"/>
          <p:nvPr/>
        </p:nvSpPr>
        <p:spPr>
          <a:xfrm>
            <a:off x="11704320" y="21367495"/>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162</a:t>
            </a:r>
          </a:p>
        </p:txBody>
      </p:sp>
      <p:sp>
        <p:nvSpPr>
          <p:cNvPr id="47" name="TextBox 46"/>
          <p:cNvSpPr txBox="1"/>
          <p:nvPr/>
        </p:nvSpPr>
        <p:spPr>
          <a:xfrm>
            <a:off x="11704320" y="22170643"/>
            <a:ext cx="998982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real failures frozen as a benchmark</a:t>
            </a:r>
          </a:p>
        </p:txBody>
      </p:sp>
      <p:sp>
        <p:nvSpPr>
          <p:cNvPr id="48" name="TextBox 47"/>
          <p:cNvSpPr txBox="1"/>
          <p:nvPr/>
        </p:nvSpPr>
        <p:spPr>
          <a:xfrm>
            <a:off x="11704320" y="2265654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Who notices when it breaks</a:t>
            </a:r>
          </a:p>
        </p:txBody>
      </p:sp>
      <p:sp>
        <p:nvSpPr>
          <p:cNvPr id="49" name="Rectangle 48"/>
          <p:cNvSpPr/>
          <p:nvPr/>
        </p:nvSpPr>
        <p:spPr>
          <a:xfrm>
            <a:off x="11704320" y="2325090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704320" y="2358008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51" name="TextBox 50"/>
          <p:cNvSpPr txBox="1"/>
          <p:nvPr/>
        </p:nvSpPr>
        <p:spPr>
          <a:xfrm>
            <a:off x="22059900" y="6208776"/>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A drive becomes a dataset as it opens</a:t>
            </a:r>
          </a:p>
        </p:txBody>
      </p:sp>
      <p:sp>
        <p:nvSpPr>
          <p:cNvPr id="52" name="Rectangle 51"/>
          <p:cNvSpPr/>
          <p:nvPr/>
        </p:nvSpPr>
        <p:spPr>
          <a:xfrm>
            <a:off x="22059900" y="6803136"/>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2059900" y="7132320"/>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4" name="TextBox 53"/>
          <p:cNvSpPr txBox="1"/>
          <p:nvPr/>
        </p:nvSpPr>
        <p:spPr>
          <a:xfrm>
            <a:off x="22059900" y="9581388"/>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On disk today</a:t>
            </a:r>
          </a:p>
        </p:txBody>
      </p:sp>
      <p:sp>
        <p:nvSpPr>
          <p:cNvPr id="55" name="Rectangle 54"/>
          <p:cNvSpPr/>
          <p:nvPr/>
        </p:nvSpPr>
        <p:spPr>
          <a:xfrm>
            <a:off x="22059900" y="10175748"/>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2059900" y="10504932"/>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Two robots have put 2,686 camera frames and 91,955 telemetry rows across nine streams onto the platform, over 26 drives, with 342 m of GPS track from 1,502 fixes. None of the frames is labelled.</a:t>
            </a:r>
          </a:p>
        </p:txBody>
      </p:sp>
      <p:sp>
        <p:nvSpPr>
          <p:cNvPr id="57" name="TextBox 56"/>
          <p:cNvSpPr txBox="1"/>
          <p:nvPr/>
        </p:nvSpPr>
        <p:spPr>
          <a:xfrm>
            <a:off x="22059900" y="1227226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More web data, less accuracy</a:t>
            </a:r>
          </a:p>
        </p:txBody>
      </p:sp>
      <p:sp>
        <p:nvSpPr>
          <p:cNvPr id="58" name="Rectangle 57"/>
          <p:cNvSpPr/>
          <p:nvPr/>
        </p:nvSpPr>
        <p:spPr>
          <a:xfrm>
            <a:off x="22059900" y="1286662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059900" y="1319580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60" name="TextBox 59"/>
          <p:cNvSpPr txBox="1"/>
          <p:nvPr/>
        </p:nvSpPr>
        <p:spPr>
          <a:xfrm>
            <a:off x="22059900" y="15304007"/>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Talking back to a robot</a:t>
            </a:r>
          </a:p>
        </p:txBody>
      </p:sp>
      <p:sp>
        <p:nvSpPr>
          <p:cNvPr id="61" name="Rectangle 60"/>
          <p:cNvSpPr/>
          <p:nvPr/>
        </p:nvSpPr>
        <p:spPr>
          <a:xfrm>
            <a:off x="22059900" y="15898367"/>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059900" y="16227551"/>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63" name="TextBox 62"/>
          <p:cNvSpPr txBox="1"/>
          <p:nvPr/>
        </p:nvSpPr>
        <p:spPr>
          <a:xfrm>
            <a:off x="22059900" y="18335751"/>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26</a:t>
            </a:r>
          </a:p>
        </p:txBody>
      </p:sp>
      <p:sp>
        <p:nvSpPr>
          <p:cNvPr id="64" name="TextBox 63"/>
          <p:cNvSpPr txBox="1"/>
          <p:nvPr/>
        </p:nvSpPr>
        <p:spPr>
          <a:xfrm>
            <a:off x="22059900" y="19138900"/>
            <a:ext cx="998982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live drives diagnosed without being asked</a:t>
            </a:r>
          </a:p>
        </p:txBody>
      </p:sp>
      <p:sp>
        <p:nvSpPr>
          <p:cNvPr id="65" name="TextBox 64"/>
          <p:cNvSpPr txBox="1"/>
          <p:nvPr/>
        </p:nvSpPr>
        <p:spPr>
          <a:xfrm>
            <a:off x="22059900" y="19624801"/>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Every drive is diagnosed on arrival</a:t>
            </a:r>
          </a:p>
        </p:txBody>
      </p:sp>
      <p:sp>
        <p:nvSpPr>
          <p:cNvPr id="66" name="Rectangle 65"/>
          <p:cNvSpPr/>
          <p:nvPr/>
        </p:nvSpPr>
        <p:spPr>
          <a:xfrm>
            <a:off x="22059900" y="2021916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059900" y="20548345"/>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68" name="TextBox 67"/>
          <p:cNvSpPr txBox="1"/>
          <p:nvPr/>
        </p:nvSpPr>
        <p:spPr>
          <a:xfrm>
            <a:off x="22059900" y="2265654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Auditing six web sources</a:t>
            </a:r>
          </a:p>
        </p:txBody>
      </p:sp>
      <p:sp>
        <p:nvSpPr>
          <p:cNvPr id="69" name="Rectangle 68"/>
          <p:cNvSpPr/>
          <p:nvPr/>
        </p:nvSpPr>
        <p:spPr>
          <a:xfrm>
            <a:off x="22059900" y="2325090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2059900" y="2358008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same probe reads 1.000 on human-labelled CottonWeedDet12, so a source at 0.184 is the data and not the instrument. Only the top source clears the bar, and it supplies 3,208 of the 13,527 audited images.</a:t>
            </a:r>
          </a:p>
        </p:txBody>
      </p:sp>
      <p:sp>
        <p:nvSpPr>
          <p:cNvPr id="71" name="TextBox 70"/>
          <p:cNvSpPr txBox="1"/>
          <p:nvPr/>
        </p:nvSpPr>
        <p:spPr>
          <a:xfrm>
            <a:off x="32552640" y="620877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1,389</a:t>
            </a:r>
          </a:p>
        </p:txBody>
      </p:sp>
      <p:sp>
        <p:nvSpPr>
          <p:cNvPr id="72" name="TextBox 71"/>
          <p:cNvSpPr txBox="1"/>
          <p:nvPr/>
        </p:nvSpPr>
        <p:spPr>
          <a:xfrm>
            <a:off x="32552640" y="7011924"/>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joystick commands through the platform</a:t>
            </a:r>
          </a:p>
        </p:txBody>
      </p:sp>
      <p:sp>
        <p:nvSpPr>
          <p:cNvPr id="73" name="TextBox 72"/>
          <p:cNvSpPr txBox="1"/>
          <p:nvPr/>
        </p:nvSpPr>
        <p:spPr>
          <a:xfrm>
            <a:off x="32552640" y="749782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Driving a robot from a browser</a:t>
            </a:r>
          </a:p>
        </p:txBody>
      </p:sp>
      <p:sp>
        <p:nvSpPr>
          <p:cNvPr id="74" name="Rectangle 73"/>
          <p:cNvSpPr/>
          <p:nvPr/>
        </p:nvSpPr>
        <p:spPr>
          <a:xfrm>
            <a:off x="32552640" y="809218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842137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76" name="TextBox 75"/>
          <p:cNvSpPr txBox="1"/>
          <p:nvPr/>
        </p:nvSpPr>
        <p:spPr>
          <a:xfrm>
            <a:off x="32552640" y="1087043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Only one robot has the button</a:t>
            </a:r>
          </a:p>
        </p:txBody>
      </p:sp>
      <p:sp>
        <p:nvSpPr>
          <p:cNvPr id="77" name="Rectangle 76"/>
          <p:cNvSpPr/>
          <p:nvPr/>
        </p:nvSpPr>
        <p:spPr>
          <a:xfrm>
            <a:off x="32552640" y="1146479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2552640" y="11793982"/>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9" name="TextBox 78"/>
          <p:cNvSpPr txBox="1"/>
          <p:nvPr/>
        </p:nvSpPr>
        <p:spPr>
          <a:xfrm>
            <a:off x="32552640" y="13902181"/>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Any research field is a project</a:t>
            </a:r>
          </a:p>
        </p:txBody>
      </p:sp>
      <p:sp>
        <p:nvSpPr>
          <p:cNvPr id="80" name="Rectangle 79"/>
          <p:cNvSpPr/>
          <p:nvPr/>
        </p:nvSpPr>
        <p:spPr>
          <a:xfrm>
            <a:off x="32552640" y="1449654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2552640" y="1482572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82" name="TextBox 81"/>
          <p:cNvSpPr txBox="1"/>
          <p:nvPr/>
        </p:nvSpPr>
        <p:spPr>
          <a:xfrm>
            <a:off x="32552640" y="1693392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Code the agent writes runs fenced in</a:t>
            </a:r>
          </a:p>
        </p:txBody>
      </p:sp>
      <p:sp>
        <p:nvSpPr>
          <p:cNvPr id="83" name="Rectangle 82"/>
          <p:cNvSpPr/>
          <p:nvPr/>
        </p:nvSpPr>
        <p:spPr>
          <a:xfrm>
            <a:off x="32552640" y="1752828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2552640" y="1785747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85" name="TextBox 84"/>
          <p:cNvSpPr txBox="1"/>
          <p:nvPr/>
        </p:nvSpPr>
        <p:spPr>
          <a:xfrm>
            <a:off x="32552640" y="19965670"/>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0</a:t>
            </a:r>
          </a:p>
        </p:txBody>
      </p:sp>
      <p:sp>
        <p:nvSpPr>
          <p:cNvPr id="86" name="TextBox 85"/>
          <p:cNvSpPr txBox="1"/>
          <p:nvPr/>
        </p:nvSpPr>
        <p:spPr>
          <a:xfrm>
            <a:off x="32552640" y="20768818"/>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times the laser has been fired by the platform</a:t>
            </a:r>
          </a:p>
        </p:txBody>
      </p:sp>
      <p:sp>
        <p:nvSpPr>
          <p:cNvPr id="87" name="TextBox 86"/>
          <p:cNvSpPr txBox="1"/>
          <p:nvPr/>
        </p:nvSpPr>
        <p:spPr>
          <a:xfrm>
            <a:off x="32552640" y="2125472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Times New Roman"/>
              </a:rPr>
              <a:t>Laser on, never once at a target</a:t>
            </a:r>
          </a:p>
        </p:txBody>
      </p:sp>
      <p:sp>
        <p:nvSpPr>
          <p:cNvPr id="88" name="Rectangle 87"/>
          <p:cNvSpPr/>
          <p:nvPr/>
        </p:nvSpPr>
        <p:spPr>
          <a:xfrm>
            <a:off x="32552640" y="2184907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2552640" y="2217826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90" name="Rectangle 89"/>
          <p:cNvSpPr/>
          <p:nvPr/>
        </p:nvSpPr>
        <p:spPr>
          <a:xfrm>
            <a:off x="731520" y="30632400"/>
            <a:ext cx="42428160" cy="20116"/>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92" name="TextBox 9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93" name="TextBox 9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