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2B2A26"/>
                </a:solidFill>
                <a:latin typeface="Times New Roman"/>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2B2A26"/>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6E6759"/>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2B2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2B2A26"/>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TextBox 7"/>
          <p:cNvSpPr txBox="1"/>
          <p:nvPr/>
        </p:nvSpPr>
        <p:spPr>
          <a:xfrm>
            <a:off x="731520" y="620877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One platform for every robot the lab owns</a:t>
            </a:r>
          </a:p>
        </p:txBody>
      </p:sp>
      <p:sp>
        <p:nvSpPr>
          <p:cNvPr id="9" name="Rectangle 8"/>
          <p:cNvSpPr/>
          <p:nvPr/>
        </p:nvSpPr>
        <p:spPr>
          <a:xfrm>
            <a:off x="731520" y="680313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713232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1" name="TextBox 10"/>
          <p:cNvSpPr txBox="1"/>
          <p:nvPr/>
        </p:nvSpPr>
        <p:spPr>
          <a:xfrm>
            <a:off x="731520" y="9581388"/>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Times New Roman"/>
              </a:rPr>
              <a:t>1,389</a:t>
            </a:r>
          </a:p>
        </p:txBody>
      </p:sp>
      <p:sp>
        <p:nvSpPr>
          <p:cNvPr id="12" name="TextBox 11"/>
          <p:cNvSpPr txBox="1"/>
          <p:nvPr/>
        </p:nvSpPr>
        <p:spPr>
          <a:xfrm>
            <a:off x="731520" y="10384536"/>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E6759"/>
                </a:solidFill>
                <a:latin typeface="Arial"/>
              </a:rPr>
              <a:t>joystick commands through the platform</a:t>
            </a:r>
          </a:p>
        </p:txBody>
      </p:sp>
      <p:sp>
        <p:nvSpPr>
          <p:cNvPr id="13" name="TextBox 12"/>
          <p:cNvSpPr txBox="1"/>
          <p:nvPr/>
        </p:nvSpPr>
        <p:spPr>
          <a:xfrm>
            <a:off x="731520" y="1087043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Driving a robot from a browser</a:t>
            </a:r>
          </a:p>
        </p:txBody>
      </p:sp>
      <p:sp>
        <p:nvSpPr>
          <p:cNvPr id="14" name="Rectangle 13"/>
          <p:cNvSpPr/>
          <p:nvPr/>
        </p:nvSpPr>
        <p:spPr>
          <a:xfrm>
            <a:off x="731520" y="11464798"/>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1793982"/>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16" name="TextBox 15"/>
          <p:cNvSpPr txBox="1"/>
          <p:nvPr/>
        </p:nvSpPr>
        <p:spPr>
          <a:xfrm>
            <a:off x="731520" y="1424305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On disk today</a:t>
            </a:r>
          </a:p>
        </p:txBody>
      </p:sp>
      <p:sp>
        <p:nvSpPr>
          <p:cNvPr id="17" name="Rectangle 16"/>
          <p:cNvSpPr/>
          <p:nvPr/>
        </p:nvSpPr>
        <p:spPr>
          <a:xfrm>
            <a:off x="731520" y="14837409"/>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516659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Two robots have put 2,686 camera frames and 91,955 telemetry rows across nine streams onto the platform, over 26 drives, with 342 m of GPS track from 1,502 fixes. None of the frames is labelled.</a:t>
            </a:r>
          </a:p>
        </p:txBody>
      </p:sp>
      <p:sp>
        <p:nvSpPr>
          <p:cNvPr id="19" name="TextBox 18"/>
          <p:cNvSpPr txBox="1"/>
          <p:nvPr/>
        </p:nvSpPr>
        <p:spPr>
          <a:xfrm>
            <a:off x="731520" y="1693392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Times New Roman"/>
              </a:rPr>
              <a:t>92</a:t>
            </a:r>
          </a:p>
        </p:txBody>
      </p:sp>
      <p:sp>
        <p:nvSpPr>
          <p:cNvPr id="20" name="TextBox 19"/>
          <p:cNvSpPr txBox="1"/>
          <p:nvPr/>
        </p:nvSpPr>
        <p:spPr>
          <a:xfrm>
            <a:off x="731520" y="17737074"/>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E6759"/>
                </a:solidFill>
                <a:latin typeface="Arial"/>
              </a:rPr>
              <a:t>questions asked of a dataset so far</a:t>
            </a:r>
          </a:p>
        </p:txBody>
      </p:sp>
      <p:sp>
        <p:nvSpPr>
          <p:cNvPr id="21" name="TextBox 20"/>
          <p:cNvSpPr txBox="1"/>
          <p:nvPr/>
        </p:nvSpPr>
        <p:spPr>
          <a:xfrm>
            <a:off x="731520" y="1822297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Asked something it had never seen</a:t>
            </a:r>
          </a:p>
        </p:txBody>
      </p:sp>
      <p:sp>
        <p:nvSpPr>
          <p:cNvPr id="22" name="Rectangle 21"/>
          <p:cNvSpPr/>
          <p:nvPr/>
        </p:nvSpPr>
        <p:spPr>
          <a:xfrm>
            <a:off x="731520" y="1881733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1914651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24" name="TextBox 23"/>
          <p:cNvSpPr txBox="1"/>
          <p:nvPr/>
        </p:nvSpPr>
        <p:spPr>
          <a:xfrm>
            <a:off x="731520" y="2159558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More web data, less accuracy</a:t>
            </a:r>
          </a:p>
        </p:txBody>
      </p:sp>
      <p:sp>
        <p:nvSpPr>
          <p:cNvPr id="25" name="Rectangle 24"/>
          <p:cNvSpPr/>
          <p:nvPr/>
        </p:nvSpPr>
        <p:spPr>
          <a:xfrm>
            <a:off x="731520" y="22189947"/>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22519131"/>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27" name="TextBox 26"/>
          <p:cNvSpPr txBox="1"/>
          <p:nvPr/>
        </p:nvSpPr>
        <p:spPr>
          <a:xfrm>
            <a:off x="731520" y="2462733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Adding the next robot</a:t>
            </a:r>
          </a:p>
        </p:txBody>
      </p:sp>
      <p:sp>
        <p:nvSpPr>
          <p:cNvPr id="28" name="Rectangle 27"/>
          <p:cNvSpPr/>
          <p:nvPr/>
        </p:nvSpPr>
        <p:spPr>
          <a:xfrm>
            <a:off x="731520" y="25221691"/>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555087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30" name="TextBox 29"/>
          <p:cNvSpPr txBox="1"/>
          <p:nvPr/>
        </p:nvSpPr>
        <p:spPr>
          <a:xfrm>
            <a:off x="11704320" y="620877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Robots on the platform today</a:t>
            </a:r>
          </a:p>
        </p:txBody>
      </p:sp>
      <p:sp>
        <p:nvSpPr>
          <p:cNvPr id="31" name="Rectangle 30"/>
          <p:cNvSpPr/>
          <p:nvPr/>
        </p:nvSpPr>
        <p:spPr>
          <a:xfrm>
            <a:off x="11704320" y="6803136"/>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04320" y="7132320"/>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33" name="TextBox 32"/>
          <p:cNvSpPr txBox="1"/>
          <p:nvPr/>
        </p:nvSpPr>
        <p:spPr>
          <a:xfrm>
            <a:off x="11704320" y="8899652"/>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Times New Roman"/>
              </a:rPr>
              <a:t>14</a:t>
            </a:r>
          </a:p>
        </p:txBody>
      </p:sp>
      <p:sp>
        <p:nvSpPr>
          <p:cNvPr id="34" name="TextBox 33"/>
          <p:cNvSpPr txBox="1"/>
          <p:nvPr/>
        </p:nvSpPr>
        <p:spPr>
          <a:xfrm>
            <a:off x="11704320" y="9702800"/>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6E6759"/>
                </a:solidFill>
                <a:latin typeface="Arial"/>
              </a:rPr>
              <a:t>analysis tools the planner can choose from</a:t>
            </a:r>
          </a:p>
        </p:txBody>
      </p:sp>
      <p:sp>
        <p:nvSpPr>
          <p:cNvPr id="35" name="TextBox 34"/>
          <p:cNvSpPr txBox="1"/>
          <p:nvPr/>
        </p:nvSpPr>
        <p:spPr>
          <a:xfrm>
            <a:off x="11704320" y="1018870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Ask a dataset what it is good for</a:t>
            </a:r>
          </a:p>
        </p:txBody>
      </p:sp>
      <p:sp>
        <p:nvSpPr>
          <p:cNvPr id="36" name="Rectangle 35"/>
          <p:cNvSpPr/>
          <p:nvPr/>
        </p:nvSpPr>
        <p:spPr>
          <a:xfrm>
            <a:off x="11704320" y="10783062"/>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704320" y="11112246"/>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8" name="TextBox 37"/>
          <p:cNvSpPr txBox="1"/>
          <p:nvPr/>
        </p:nvSpPr>
        <p:spPr>
          <a:xfrm>
            <a:off x="11704320" y="12879577"/>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Left alone for fifteen rounds</a:t>
            </a:r>
          </a:p>
        </p:txBody>
      </p:sp>
      <p:sp>
        <p:nvSpPr>
          <p:cNvPr id="39" name="Rectangle 38"/>
          <p:cNvSpPr/>
          <p:nvPr/>
        </p:nvSpPr>
        <p:spPr>
          <a:xfrm>
            <a:off x="11704320" y="13473937"/>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f_rounds.png"/>
          <p:cNvPicPr>
            <a:picLocks noChangeAspect="1"/>
          </p:cNvPicPr>
          <p:nvPr/>
        </p:nvPicPr>
        <p:blipFill>
          <a:blip r:embed="rId2"/>
          <a:stretch>
            <a:fillRect/>
          </a:stretch>
        </p:blipFill>
        <p:spPr>
          <a:xfrm>
            <a:off x="11704320" y="13803121"/>
            <a:ext cx="20482560" cy="4663440"/>
          </a:xfrm>
          <a:prstGeom prst="rect">
            <a:avLst/>
          </a:prstGeom>
        </p:spPr>
      </p:pic>
      <p:sp>
        <p:nvSpPr>
          <p:cNvPr id="41" name="TextBox 40"/>
          <p:cNvSpPr txBox="1"/>
          <p:nvPr/>
        </p:nvSpPr>
        <p:spPr>
          <a:xfrm>
            <a:off x="11704320" y="18576290"/>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6E6759"/>
                </a:solidFill>
                <a:latin typeface="Arial"/>
              </a:rPr>
              <a:t>Figure 1.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2" name="TextBox 41"/>
          <p:cNvSpPr txBox="1"/>
          <p:nvPr/>
        </p:nvSpPr>
        <p:spPr>
          <a:xfrm>
            <a:off x="11704320" y="19651472"/>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3" name="TextBox 42"/>
          <p:cNvSpPr txBox="1"/>
          <p:nvPr/>
        </p:nvSpPr>
        <p:spPr>
          <a:xfrm>
            <a:off x="11704320" y="21418804"/>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Times New Roman"/>
              </a:rPr>
              <a:t>27</a:t>
            </a:r>
          </a:p>
        </p:txBody>
      </p:sp>
      <p:sp>
        <p:nvSpPr>
          <p:cNvPr id="44" name="TextBox 43"/>
          <p:cNvSpPr txBox="1"/>
          <p:nvPr/>
        </p:nvSpPr>
        <p:spPr>
          <a:xfrm>
            <a:off x="11704320" y="22221952"/>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6E6759"/>
                </a:solidFill>
                <a:latin typeface="Arial"/>
              </a:rPr>
              <a:t>distinct models trained, run, or rejected</a:t>
            </a:r>
          </a:p>
        </p:txBody>
      </p:sp>
      <p:sp>
        <p:nvSpPr>
          <p:cNvPr id="45" name="TextBox 44"/>
          <p:cNvSpPr txBox="1"/>
          <p:nvPr/>
        </p:nvSpPr>
        <p:spPr>
          <a:xfrm>
            <a:off x="11704320" y="22707854"/>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Everything we trained, ran, or rejected</a:t>
            </a:r>
          </a:p>
        </p:txBody>
      </p:sp>
      <p:sp>
        <p:nvSpPr>
          <p:cNvPr id="46" name="Rectangle 45"/>
          <p:cNvSpPr/>
          <p:nvPr/>
        </p:nvSpPr>
        <p:spPr>
          <a:xfrm>
            <a:off x="11704320" y="23302214"/>
            <a:ext cx="2048256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m_ledger.png"/>
          <p:cNvPicPr>
            <a:picLocks noChangeAspect="1"/>
          </p:cNvPicPr>
          <p:nvPr/>
        </p:nvPicPr>
        <p:blipFill>
          <a:blip r:embed="rId3"/>
          <a:stretch>
            <a:fillRect/>
          </a:stretch>
        </p:blipFill>
        <p:spPr>
          <a:xfrm>
            <a:off x="11704320" y="23631397"/>
            <a:ext cx="20482560" cy="3749040"/>
          </a:xfrm>
          <a:prstGeom prst="rect">
            <a:avLst/>
          </a:prstGeom>
        </p:spPr>
      </p:pic>
      <p:sp>
        <p:nvSpPr>
          <p:cNvPr id="48" name="TextBox 47"/>
          <p:cNvSpPr txBox="1"/>
          <p:nvPr/>
        </p:nvSpPr>
        <p:spPr>
          <a:xfrm>
            <a:off x="11704320" y="27490166"/>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6E6759"/>
                </a:solidFill>
                <a:latin typeface="Arial"/>
              </a:rPr>
              <a:t>Figure 2.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49" name="TextBox 48"/>
          <p:cNvSpPr txBox="1"/>
          <p:nvPr/>
        </p:nvSpPr>
        <p:spPr>
          <a:xfrm>
            <a:off x="11704320" y="28565348"/>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50" name="TextBox 49"/>
          <p:cNvSpPr txBox="1"/>
          <p:nvPr/>
        </p:nvSpPr>
        <p:spPr>
          <a:xfrm>
            <a:off x="32552640" y="620877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A drive becomes a dataset as it opens</a:t>
            </a:r>
          </a:p>
        </p:txBody>
      </p:sp>
      <p:sp>
        <p:nvSpPr>
          <p:cNvPr id="51" name="Rectangle 50"/>
          <p:cNvSpPr/>
          <p:nvPr/>
        </p:nvSpPr>
        <p:spPr>
          <a:xfrm>
            <a:off x="32552640" y="680313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552640" y="713232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3" name="TextBox 52"/>
          <p:cNvSpPr txBox="1"/>
          <p:nvPr/>
        </p:nvSpPr>
        <p:spPr>
          <a:xfrm>
            <a:off x="32552640" y="958138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Four frames, as recorded</a:t>
            </a:r>
          </a:p>
        </p:txBody>
      </p:sp>
      <p:sp>
        <p:nvSpPr>
          <p:cNvPr id="54" name="Rectangle 53"/>
          <p:cNvSpPr/>
          <p:nvPr/>
        </p:nvSpPr>
        <p:spPr>
          <a:xfrm>
            <a:off x="32552640" y="10175748"/>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l_robots.png"/>
          <p:cNvPicPr>
            <a:picLocks noChangeAspect="1"/>
          </p:cNvPicPr>
          <p:nvPr/>
        </p:nvPicPr>
        <p:blipFill>
          <a:blip r:embed="rId4"/>
          <a:stretch>
            <a:fillRect/>
          </a:stretch>
        </p:blipFill>
        <p:spPr>
          <a:xfrm>
            <a:off x="32552640" y="10504932"/>
            <a:ext cx="10607040" cy="2377440"/>
          </a:xfrm>
          <a:prstGeom prst="rect">
            <a:avLst/>
          </a:prstGeom>
        </p:spPr>
      </p:pic>
      <p:sp>
        <p:nvSpPr>
          <p:cNvPr id="56" name="TextBox 55"/>
          <p:cNvSpPr txBox="1"/>
          <p:nvPr/>
        </p:nvSpPr>
        <p:spPr>
          <a:xfrm>
            <a:off x="32552640" y="12992099"/>
            <a:ext cx="10607040" cy="365760"/>
          </a:xfrm>
          <a:prstGeom prst="rect">
            <a:avLst/>
          </a:prstGeom>
          <a:noFill/>
        </p:spPr>
        <p:txBody>
          <a:bodyPr wrap="square" lIns="0" rIns="0" tIns="0" bIns="0">
            <a:spAutoFit/>
          </a:bodyPr>
          <a:lstStyle/>
          <a:p>
            <a:pPr algn="l">
              <a:lnSpc>
                <a:spcPct val="118000"/>
              </a:lnSpc>
              <a:spcAft>
                <a:spcPts val="0"/>
              </a:spcAft>
            </a:pPr>
            <a:r>
              <a:rPr sz="1700" b="0">
                <a:solidFill>
                  <a:srgbClr val="6E6759"/>
                </a:solidFill>
                <a:latin typeface="Arial"/>
              </a:rPr>
              <a:t>Figure 3.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57" name="TextBox 56"/>
          <p:cNvSpPr txBox="1"/>
          <p:nvPr/>
        </p:nvSpPr>
        <p:spPr>
          <a:xfrm>
            <a:off x="32552640" y="1432204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Nothing here is enhanced and nothing is labelled. The rectangle in the cart's down camera is a fixed work-zone overlay: it sits at the same pixels on frames with no vegetation in them at all.</a:t>
            </a:r>
          </a:p>
        </p:txBody>
      </p:sp>
      <p:sp>
        <p:nvSpPr>
          <p:cNvPr id="58" name="TextBox 57"/>
          <p:cNvSpPr txBox="1"/>
          <p:nvPr/>
        </p:nvSpPr>
        <p:spPr>
          <a:xfrm>
            <a:off x="32552640" y="1608937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Only one robot has the button</a:t>
            </a:r>
          </a:p>
        </p:txBody>
      </p:sp>
      <p:sp>
        <p:nvSpPr>
          <p:cNvPr id="59" name="Rectangle 58"/>
          <p:cNvSpPr/>
          <p:nvPr/>
        </p:nvSpPr>
        <p:spPr>
          <a:xfrm>
            <a:off x="32552640" y="1668373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2552640" y="1701292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61" name="TextBox 60"/>
          <p:cNvSpPr txBox="1"/>
          <p:nvPr/>
        </p:nvSpPr>
        <p:spPr>
          <a:xfrm>
            <a:off x="32552640" y="1912112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Which decisions a model makes</a:t>
            </a:r>
          </a:p>
        </p:txBody>
      </p:sp>
      <p:sp>
        <p:nvSpPr>
          <p:cNvPr id="62" name="Rectangle 61"/>
          <p:cNvSpPr/>
          <p:nvPr/>
        </p:nvSpPr>
        <p:spPr>
          <a:xfrm>
            <a:off x="32552640" y="1971548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2552640" y="20044664"/>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64" name="TextBox 63"/>
          <p:cNvSpPr txBox="1"/>
          <p:nvPr/>
        </p:nvSpPr>
        <p:spPr>
          <a:xfrm>
            <a:off x="32552640" y="2249373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B2A26"/>
                </a:solidFill>
                <a:latin typeface="Times New Roman"/>
              </a:rPr>
              <a:t>Any research field is a project</a:t>
            </a:r>
          </a:p>
        </p:txBody>
      </p:sp>
      <p:sp>
        <p:nvSpPr>
          <p:cNvPr id="65" name="Rectangle 64"/>
          <p:cNvSpPr/>
          <p:nvPr/>
        </p:nvSpPr>
        <p:spPr>
          <a:xfrm>
            <a:off x="32552640" y="2308809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2552640" y="2341727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B2A26"/>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67" name="Rectangle 66"/>
          <p:cNvSpPr/>
          <p:nvPr/>
        </p:nvSpPr>
        <p:spPr>
          <a:xfrm>
            <a:off x="731520" y="30632400"/>
            <a:ext cx="42428160" cy="20116"/>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E6759"/>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69" name="TextBox 68"/>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E6759"/>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0" name="TextBox 69"/>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E6759"/>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