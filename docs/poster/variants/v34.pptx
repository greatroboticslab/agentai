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9000" b="1">
                <a:solidFill>
                  <a:srgbClr val="2B2A26"/>
                </a:solidFill>
                <a:latin typeface="Times New Roman"/>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2B2A26"/>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6E6759"/>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600" b="0">
                <a:solidFill>
                  <a:srgbClr val="2B2A26"/>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TextBox 7"/>
          <p:cNvSpPr txBox="1"/>
          <p:nvPr/>
        </p:nvSpPr>
        <p:spPr>
          <a:xfrm>
            <a:off x="731520" y="62087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One platform for every robot the lab owns</a:t>
            </a:r>
          </a:p>
        </p:txBody>
      </p:sp>
      <p:sp>
        <p:nvSpPr>
          <p:cNvPr id="9" name="Rectangle 8"/>
          <p:cNvSpPr/>
          <p:nvPr/>
        </p:nvSpPr>
        <p:spPr>
          <a:xfrm>
            <a:off x="731520" y="680313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71323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1" name="TextBox 10"/>
          <p:cNvSpPr txBox="1"/>
          <p:nvPr/>
        </p:nvSpPr>
        <p:spPr>
          <a:xfrm>
            <a:off x="731520" y="958138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Driving a robot from a browser</a:t>
            </a:r>
          </a:p>
        </p:txBody>
      </p:sp>
      <p:sp>
        <p:nvSpPr>
          <p:cNvPr id="12" name="Rectangle 11"/>
          <p:cNvSpPr/>
          <p:nvPr/>
        </p:nvSpPr>
        <p:spPr>
          <a:xfrm>
            <a:off x="731520" y="10175748"/>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0504932"/>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14" name="TextBox 13"/>
          <p:cNvSpPr txBox="1"/>
          <p:nvPr/>
        </p:nvSpPr>
        <p:spPr>
          <a:xfrm>
            <a:off x="731520" y="1295400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On disk today</a:t>
            </a:r>
          </a:p>
        </p:txBody>
      </p:sp>
      <p:sp>
        <p:nvSpPr>
          <p:cNvPr id="15" name="Rectangle 14"/>
          <p:cNvSpPr/>
          <p:nvPr/>
        </p:nvSpPr>
        <p:spPr>
          <a:xfrm>
            <a:off x="731520" y="13548360"/>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3877544"/>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Two robots have put 2,686 camera frames and 91,955 telemetry rows across nine streams onto the platform, over 26 drives, with 342 m of GPS track from 1,502 fixes. None of the frames is labelled.</a:t>
            </a:r>
          </a:p>
        </p:txBody>
      </p:sp>
      <p:sp>
        <p:nvSpPr>
          <p:cNvPr id="17" name="TextBox 16"/>
          <p:cNvSpPr txBox="1"/>
          <p:nvPr/>
        </p:nvSpPr>
        <p:spPr>
          <a:xfrm>
            <a:off x="731520" y="156448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Asked something it had never seen</a:t>
            </a:r>
          </a:p>
        </p:txBody>
      </p:sp>
      <p:sp>
        <p:nvSpPr>
          <p:cNvPr id="18" name="Rectangle 17"/>
          <p:cNvSpPr/>
          <p:nvPr/>
        </p:nvSpPr>
        <p:spPr>
          <a:xfrm>
            <a:off x="731520" y="1623923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165684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20" name="TextBox 19"/>
          <p:cNvSpPr txBox="1"/>
          <p:nvPr/>
        </p:nvSpPr>
        <p:spPr>
          <a:xfrm>
            <a:off x="731520" y="1901748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More web data, less accuracy</a:t>
            </a:r>
          </a:p>
        </p:txBody>
      </p:sp>
      <p:sp>
        <p:nvSpPr>
          <p:cNvPr id="21" name="Rectangle 20"/>
          <p:cNvSpPr/>
          <p:nvPr/>
        </p:nvSpPr>
        <p:spPr>
          <a:xfrm>
            <a:off x="731520" y="19611848"/>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19941032"/>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23" name="TextBox 22"/>
          <p:cNvSpPr txBox="1"/>
          <p:nvPr/>
        </p:nvSpPr>
        <p:spPr>
          <a:xfrm>
            <a:off x="731520" y="2204923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Adding the next robot</a:t>
            </a:r>
          </a:p>
        </p:txBody>
      </p:sp>
      <p:sp>
        <p:nvSpPr>
          <p:cNvPr id="24" name="Rectangle 23"/>
          <p:cNvSpPr/>
          <p:nvPr/>
        </p:nvSpPr>
        <p:spPr>
          <a:xfrm>
            <a:off x="731520" y="2264359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2972776"/>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26" name="TextBox 25"/>
          <p:cNvSpPr txBox="1"/>
          <p:nvPr/>
        </p:nvSpPr>
        <p:spPr>
          <a:xfrm>
            <a:off x="731520" y="25421844"/>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Code the agent writes runs fenced in</a:t>
            </a:r>
          </a:p>
        </p:txBody>
      </p:sp>
      <p:sp>
        <p:nvSpPr>
          <p:cNvPr id="27" name="Rectangle 26"/>
          <p:cNvSpPr/>
          <p:nvPr/>
        </p:nvSpPr>
        <p:spPr>
          <a:xfrm>
            <a:off x="731520" y="26016203"/>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26345387"/>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29" name="TextBox 28"/>
          <p:cNvSpPr txBox="1"/>
          <p:nvPr/>
        </p:nvSpPr>
        <p:spPr>
          <a:xfrm>
            <a:off x="11704320" y="6208776"/>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Robots on the platform today</a:t>
            </a:r>
          </a:p>
        </p:txBody>
      </p:sp>
      <p:sp>
        <p:nvSpPr>
          <p:cNvPr id="30" name="Rectangle 29"/>
          <p:cNvSpPr/>
          <p:nvPr/>
        </p:nvSpPr>
        <p:spPr>
          <a:xfrm>
            <a:off x="11704320" y="6803136"/>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704320" y="7132320"/>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32" name="TextBox 31"/>
          <p:cNvSpPr txBox="1"/>
          <p:nvPr/>
        </p:nvSpPr>
        <p:spPr>
          <a:xfrm>
            <a:off x="11704320" y="8899652"/>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Ask a dataset what it is good for</a:t>
            </a:r>
          </a:p>
        </p:txBody>
      </p:sp>
      <p:sp>
        <p:nvSpPr>
          <p:cNvPr id="33" name="Rectangle 32"/>
          <p:cNvSpPr/>
          <p:nvPr/>
        </p:nvSpPr>
        <p:spPr>
          <a:xfrm>
            <a:off x="11704320" y="9494012"/>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704320" y="9823195"/>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5" name="TextBox 34"/>
          <p:cNvSpPr txBox="1"/>
          <p:nvPr/>
        </p:nvSpPr>
        <p:spPr>
          <a:xfrm>
            <a:off x="11704320" y="11590527"/>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Left alone for fifteen rounds</a:t>
            </a:r>
          </a:p>
        </p:txBody>
      </p:sp>
      <p:sp>
        <p:nvSpPr>
          <p:cNvPr id="36" name="Rectangle 35"/>
          <p:cNvSpPr/>
          <p:nvPr/>
        </p:nvSpPr>
        <p:spPr>
          <a:xfrm>
            <a:off x="11704320" y="12184887"/>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f_rounds.png"/>
          <p:cNvPicPr>
            <a:picLocks noChangeAspect="1"/>
          </p:cNvPicPr>
          <p:nvPr/>
        </p:nvPicPr>
        <p:blipFill>
          <a:blip r:embed="rId2"/>
          <a:stretch>
            <a:fillRect/>
          </a:stretch>
        </p:blipFill>
        <p:spPr>
          <a:xfrm>
            <a:off x="11704320" y="12514071"/>
            <a:ext cx="20482560" cy="4663440"/>
          </a:xfrm>
          <a:prstGeom prst="rect">
            <a:avLst/>
          </a:prstGeom>
        </p:spPr>
      </p:pic>
      <p:sp>
        <p:nvSpPr>
          <p:cNvPr id="38" name="TextBox 37"/>
          <p:cNvSpPr txBox="1"/>
          <p:nvPr/>
        </p:nvSpPr>
        <p:spPr>
          <a:xfrm>
            <a:off x="11704320" y="17287240"/>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6E6759"/>
                </a:solidFill>
                <a:latin typeface="Arial"/>
              </a:rPr>
              <a:t>Figure 1.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39" name="TextBox 38"/>
          <p:cNvSpPr txBox="1"/>
          <p:nvPr/>
        </p:nvSpPr>
        <p:spPr>
          <a:xfrm>
            <a:off x="11704320" y="18362422"/>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40" name="TextBox 39"/>
          <p:cNvSpPr txBox="1"/>
          <p:nvPr/>
        </p:nvSpPr>
        <p:spPr>
          <a:xfrm>
            <a:off x="11704320" y="20129754"/>
            <a:ext cx="2048256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Everything we trained, ran, or rejected</a:t>
            </a:r>
          </a:p>
        </p:txBody>
      </p:sp>
      <p:sp>
        <p:nvSpPr>
          <p:cNvPr id="41" name="Rectangle 40"/>
          <p:cNvSpPr/>
          <p:nvPr/>
        </p:nvSpPr>
        <p:spPr>
          <a:xfrm>
            <a:off x="11704320" y="20724114"/>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m_ledger.png"/>
          <p:cNvPicPr>
            <a:picLocks noChangeAspect="1"/>
          </p:cNvPicPr>
          <p:nvPr/>
        </p:nvPicPr>
        <p:blipFill>
          <a:blip r:embed="rId3"/>
          <a:stretch>
            <a:fillRect/>
          </a:stretch>
        </p:blipFill>
        <p:spPr>
          <a:xfrm>
            <a:off x="11704320" y="21053298"/>
            <a:ext cx="20482560" cy="3749040"/>
          </a:xfrm>
          <a:prstGeom prst="rect">
            <a:avLst/>
          </a:prstGeom>
        </p:spPr>
      </p:pic>
      <p:sp>
        <p:nvSpPr>
          <p:cNvPr id="43" name="TextBox 42"/>
          <p:cNvSpPr txBox="1"/>
          <p:nvPr/>
        </p:nvSpPr>
        <p:spPr>
          <a:xfrm>
            <a:off x="11704320" y="24912066"/>
            <a:ext cx="20482560" cy="365760"/>
          </a:xfrm>
          <a:prstGeom prst="rect">
            <a:avLst/>
          </a:prstGeom>
          <a:noFill/>
        </p:spPr>
        <p:txBody>
          <a:bodyPr wrap="square" lIns="0" rIns="0" tIns="0" bIns="0">
            <a:spAutoFit/>
          </a:bodyPr>
          <a:lstStyle/>
          <a:p>
            <a:pPr algn="l">
              <a:lnSpc>
                <a:spcPct val="118000"/>
              </a:lnSpc>
              <a:spcAft>
                <a:spcPts val="0"/>
              </a:spcAft>
            </a:pPr>
            <a:r>
              <a:rPr sz="1700" b="0">
                <a:solidFill>
                  <a:srgbClr val="6E6759"/>
                </a:solidFill>
                <a:latin typeface="Arial"/>
              </a:rPr>
              <a:t>Figure 2.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44" name="TextBox 43"/>
          <p:cNvSpPr txBox="1"/>
          <p:nvPr/>
        </p:nvSpPr>
        <p:spPr>
          <a:xfrm>
            <a:off x="11704320" y="25987248"/>
            <a:ext cx="2048256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45" name="TextBox 44"/>
          <p:cNvSpPr txBox="1"/>
          <p:nvPr/>
        </p:nvSpPr>
        <p:spPr>
          <a:xfrm>
            <a:off x="32552640" y="62087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A drive becomes a dataset as it opens</a:t>
            </a:r>
          </a:p>
        </p:txBody>
      </p:sp>
      <p:sp>
        <p:nvSpPr>
          <p:cNvPr id="46" name="Rectangle 45"/>
          <p:cNvSpPr/>
          <p:nvPr/>
        </p:nvSpPr>
        <p:spPr>
          <a:xfrm>
            <a:off x="32552640" y="680313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552640" y="71323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48" name="TextBox 47"/>
          <p:cNvSpPr txBox="1"/>
          <p:nvPr/>
        </p:nvSpPr>
        <p:spPr>
          <a:xfrm>
            <a:off x="32552640" y="9581388"/>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Four frames, as recorded</a:t>
            </a:r>
          </a:p>
        </p:txBody>
      </p:sp>
      <p:sp>
        <p:nvSpPr>
          <p:cNvPr id="49" name="Rectangle 48"/>
          <p:cNvSpPr/>
          <p:nvPr/>
        </p:nvSpPr>
        <p:spPr>
          <a:xfrm>
            <a:off x="32552640" y="10175748"/>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l_robots.png"/>
          <p:cNvPicPr>
            <a:picLocks noChangeAspect="1"/>
          </p:cNvPicPr>
          <p:nvPr/>
        </p:nvPicPr>
        <p:blipFill>
          <a:blip r:embed="rId4"/>
          <a:stretch>
            <a:fillRect/>
          </a:stretch>
        </p:blipFill>
        <p:spPr>
          <a:xfrm>
            <a:off x="32552640" y="10504932"/>
            <a:ext cx="10607040" cy="2377440"/>
          </a:xfrm>
          <a:prstGeom prst="rect">
            <a:avLst/>
          </a:prstGeom>
        </p:spPr>
      </p:pic>
      <p:sp>
        <p:nvSpPr>
          <p:cNvPr id="51" name="TextBox 50"/>
          <p:cNvSpPr txBox="1"/>
          <p:nvPr/>
        </p:nvSpPr>
        <p:spPr>
          <a:xfrm>
            <a:off x="32552640" y="12992099"/>
            <a:ext cx="10607040" cy="365760"/>
          </a:xfrm>
          <a:prstGeom prst="rect">
            <a:avLst/>
          </a:prstGeom>
          <a:noFill/>
        </p:spPr>
        <p:txBody>
          <a:bodyPr wrap="square" lIns="0" rIns="0" tIns="0" bIns="0">
            <a:spAutoFit/>
          </a:bodyPr>
          <a:lstStyle/>
          <a:p>
            <a:pPr algn="l">
              <a:lnSpc>
                <a:spcPct val="118000"/>
              </a:lnSpc>
              <a:spcAft>
                <a:spcPts val="0"/>
              </a:spcAft>
            </a:pPr>
            <a:r>
              <a:rPr sz="1700" b="0">
                <a:solidFill>
                  <a:srgbClr val="6E6759"/>
                </a:solidFill>
                <a:latin typeface="Arial"/>
              </a:rPr>
              <a:t>Figure 3.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52" name="TextBox 51"/>
          <p:cNvSpPr txBox="1"/>
          <p:nvPr/>
        </p:nvSpPr>
        <p:spPr>
          <a:xfrm>
            <a:off x="32552640" y="14322043"/>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Nothing here is enhanced and nothing is labelled. The rectangle in the cart's down camera is a fixed work-zone overlay: it sits at the same pixels on frames with no vegetation in them at all.</a:t>
            </a:r>
          </a:p>
        </p:txBody>
      </p:sp>
      <p:sp>
        <p:nvSpPr>
          <p:cNvPr id="53" name="TextBox 52"/>
          <p:cNvSpPr txBox="1"/>
          <p:nvPr/>
        </p:nvSpPr>
        <p:spPr>
          <a:xfrm>
            <a:off x="32552640" y="16089376"/>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Only one robot has the button</a:t>
            </a:r>
          </a:p>
        </p:txBody>
      </p:sp>
      <p:sp>
        <p:nvSpPr>
          <p:cNvPr id="54" name="Rectangle 53"/>
          <p:cNvSpPr/>
          <p:nvPr/>
        </p:nvSpPr>
        <p:spPr>
          <a:xfrm>
            <a:off x="32552640" y="1668373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552640" y="17012920"/>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56" name="TextBox 55"/>
          <p:cNvSpPr txBox="1"/>
          <p:nvPr/>
        </p:nvSpPr>
        <p:spPr>
          <a:xfrm>
            <a:off x="32552640" y="19121120"/>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Which decisions a model makes</a:t>
            </a:r>
          </a:p>
        </p:txBody>
      </p:sp>
      <p:sp>
        <p:nvSpPr>
          <p:cNvPr id="57" name="Rectangle 56"/>
          <p:cNvSpPr/>
          <p:nvPr/>
        </p:nvSpPr>
        <p:spPr>
          <a:xfrm>
            <a:off x="32552640" y="19715480"/>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552640" y="20044664"/>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59" name="TextBox 58"/>
          <p:cNvSpPr txBox="1"/>
          <p:nvPr/>
        </p:nvSpPr>
        <p:spPr>
          <a:xfrm>
            <a:off x="32552640" y="22493732"/>
            <a:ext cx="10607040" cy="365760"/>
          </a:xfrm>
          <a:prstGeom prst="rect">
            <a:avLst/>
          </a:prstGeom>
          <a:noFill/>
        </p:spPr>
        <p:txBody>
          <a:bodyPr wrap="square" lIns="0" rIns="0" tIns="0" bIns="0">
            <a:spAutoFit/>
          </a:bodyPr>
          <a:lstStyle/>
          <a:p>
            <a:pPr algn="l">
              <a:lnSpc>
                <a:spcPct val="95000"/>
              </a:lnSpc>
              <a:spcAft>
                <a:spcPts val="0"/>
              </a:spcAft>
            </a:pPr>
            <a:r>
              <a:rPr sz="3600" b="1">
                <a:solidFill>
                  <a:srgbClr val="2B2A26"/>
                </a:solidFill>
                <a:latin typeface="Times New Roman"/>
              </a:rPr>
              <a:t>Any research field is a project</a:t>
            </a:r>
          </a:p>
        </p:txBody>
      </p:sp>
      <p:sp>
        <p:nvSpPr>
          <p:cNvPr id="60" name="Rectangle 59"/>
          <p:cNvSpPr/>
          <p:nvPr/>
        </p:nvSpPr>
        <p:spPr>
          <a:xfrm>
            <a:off x="32552640" y="2308809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2552640" y="23417275"/>
            <a:ext cx="10607040" cy="365760"/>
          </a:xfrm>
          <a:prstGeom prst="rect">
            <a:avLst/>
          </a:prstGeom>
          <a:noFill/>
        </p:spPr>
        <p:txBody>
          <a:bodyPr wrap="square" lIns="0" rIns="0" tIns="0" bIns="0">
            <a:spAutoFit/>
          </a:bodyPr>
          <a:lstStyle/>
          <a:p>
            <a:pPr algn="l">
              <a:lnSpc>
                <a:spcPct val="122000"/>
              </a:lnSpc>
              <a:spcAft>
                <a:spcPts val="1400"/>
              </a:spcAft>
            </a:pPr>
            <a:r>
              <a:rPr sz="2200" b="0">
                <a:solidFill>
                  <a:srgbClr val="2B2A26"/>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62" name="Rectangle 61"/>
          <p:cNvSpPr/>
          <p:nvPr/>
        </p:nvSpPr>
        <p:spPr>
          <a:xfrm>
            <a:off x="731520" y="30632400"/>
            <a:ext cx="42428160" cy="20116"/>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E6759"/>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4" name="TextBox 63"/>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E6759"/>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65" name="TextBox 64"/>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700" b="0">
                <a:solidFill>
                  <a:srgbClr val="6E6759"/>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