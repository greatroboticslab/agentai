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8000" b="1">
                <a:solidFill>
                  <a:srgbClr val="2B2A26"/>
                </a:solidFill>
                <a:latin typeface="Georgia"/>
              </a:rPr>
              <a:t>agentAI: A Research-Data Platform for Physical and Embodied Agents</a:t>
            </a:r>
          </a:p>
        </p:txBody>
      </p:sp>
      <p:sp>
        <p:nvSpPr>
          <p:cNvPr id="4" name="TextBox 3"/>
          <p:cNvSpPr txBox="1"/>
          <p:nvPr/>
        </p:nvSpPr>
        <p:spPr>
          <a:xfrm>
            <a:off x="731520" y="22402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2B2A26"/>
                </a:solidFill>
                <a:latin typeface="Arial"/>
              </a:rPr>
              <a:t>Harry He   ·   Hongbo Zhang</a:t>
            </a:r>
          </a:p>
        </p:txBody>
      </p:sp>
      <p:sp>
        <p:nvSpPr>
          <p:cNvPr id="5" name="TextBox 4"/>
          <p:cNvSpPr txBox="1"/>
          <p:nvPr/>
        </p:nvSpPr>
        <p:spPr>
          <a:xfrm>
            <a:off x="731520" y="28803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6E6759"/>
                </a:solidFill>
                <a:latin typeface="Arial"/>
              </a:rPr>
              <a:t>Department of Engineering Technology   ·   Middle Tennessee State University, Murfreesboro, TN, USA</a:t>
            </a:r>
          </a:p>
        </p:txBody>
      </p:sp>
      <p:sp>
        <p:nvSpPr>
          <p:cNvPr id="6" name="Rectangle 5"/>
          <p:cNvSpPr/>
          <p:nvPr/>
        </p:nvSpPr>
        <p:spPr>
          <a:xfrm>
            <a:off x="731520" y="3749039"/>
            <a:ext cx="42428160" cy="41148"/>
          </a:xfrm>
          <a:prstGeom prst="rect">
            <a:avLst/>
          </a:prstGeom>
          <a:solidFill>
            <a:srgbClr val="2B2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2B2A26"/>
                </a:solidFill>
                <a:latin typeface="Georgia"/>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n_system.png"/>
          <p:cNvPicPr>
            <a:picLocks noChangeAspect="1"/>
          </p:cNvPicPr>
          <p:nvPr/>
        </p:nvPicPr>
        <p:blipFill>
          <a:blip r:embed="rId2"/>
          <a:stretch>
            <a:fillRect/>
          </a:stretch>
        </p:blipFill>
        <p:spPr>
          <a:xfrm>
            <a:off x="11704320" y="5702808"/>
            <a:ext cx="20482560" cy="3383280"/>
          </a:xfrm>
          <a:prstGeom prst="rect">
            <a:avLst/>
          </a:prstGeom>
        </p:spPr>
      </p:pic>
      <p:sp>
        <p:nvSpPr>
          <p:cNvPr id="9" name="TextBox 8"/>
          <p:cNvSpPr txBox="1"/>
          <p:nvPr/>
        </p:nvSpPr>
        <p:spPr>
          <a:xfrm>
            <a:off x="11704320" y="9195816"/>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E6759"/>
                </a:solidFill>
                <a:latin typeface="Arial"/>
              </a:rPr>
              <a:t>Figure 1.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10" name="TextBox 9"/>
          <p:cNvSpPr txBox="1"/>
          <p:nvPr/>
        </p:nvSpPr>
        <p:spPr>
          <a:xfrm>
            <a:off x="731520" y="1028547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One platform for every robot the lab owns</a:t>
            </a:r>
          </a:p>
        </p:txBody>
      </p:sp>
      <p:sp>
        <p:nvSpPr>
          <p:cNvPr id="11" name="Rectangle 10"/>
          <p:cNvSpPr/>
          <p:nvPr/>
        </p:nvSpPr>
        <p:spPr>
          <a:xfrm>
            <a:off x="731520" y="1081379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1142979"/>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3" name="TextBox 12"/>
          <p:cNvSpPr txBox="1"/>
          <p:nvPr/>
        </p:nvSpPr>
        <p:spPr>
          <a:xfrm>
            <a:off x="731520" y="1310360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Georgia"/>
              </a:rPr>
              <a:t>1,389</a:t>
            </a:r>
          </a:p>
        </p:txBody>
      </p:sp>
      <p:sp>
        <p:nvSpPr>
          <p:cNvPr id="14" name="TextBox 13"/>
          <p:cNvSpPr txBox="1"/>
          <p:nvPr/>
        </p:nvSpPr>
        <p:spPr>
          <a:xfrm>
            <a:off x="731520" y="13906754"/>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E6759"/>
                </a:solidFill>
                <a:latin typeface="Arial"/>
              </a:rPr>
              <a:t>joystick commands through the platform</a:t>
            </a:r>
          </a:p>
        </p:txBody>
      </p:sp>
      <p:sp>
        <p:nvSpPr>
          <p:cNvPr id="15" name="TextBox 14"/>
          <p:cNvSpPr txBox="1"/>
          <p:nvPr/>
        </p:nvSpPr>
        <p:spPr>
          <a:xfrm>
            <a:off x="731520" y="14361668"/>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Driving a robot from a browser</a:t>
            </a:r>
          </a:p>
        </p:txBody>
      </p:sp>
      <p:sp>
        <p:nvSpPr>
          <p:cNvPr id="16" name="Rectangle 15"/>
          <p:cNvSpPr/>
          <p:nvPr/>
        </p:nvSpPr>
        <p:spPr>
          <a:xfrm>
            <a:off x="731520" y="14889988"/>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15219172"/>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18" name="TextBox 17"/>
          <p:cNvSpPr txBox="1"/>
          <p:nvPr/>
        </p:nvSpPr>
        <p:spPr>
          <a:xfrm>
            <a:off x="731520" y="1688541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On disk today</a:t>
            </a:r>
          </a:p>
        </p:txBody>
      </p:sp>
      <p:sp>
        <p:nvSpPr>
          <p:cNvPr id="19" name="Rectangle 18"/>
          <p:cNvSpPr/>
          <p:nvPr/>
        </p:nvSpPr>
        <p:spPr>
          <a:xfrm>
            <a:off x="731520" y="1741373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1774291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Two robots have put 2,686 camera frames and 91,955 telemetry rows across nine streams onto the platform, over 26 drives, with 342 m of GPS track from 1,502 fixes. None of the frames is labelled.</a:t>
            </a:r>
          </a:p>
        </p:txBody>
      </p:sp>
      <p:sp>
        <p:nvSpPr>
          <p:cNvPr id="21" name="TextBox 20"/>
          <p:cNvSpPr txBox="1"/>
          <p:nvPr/>
        </p:nvSpPr>
        <p:spPr>
          <a:xfrm>
            <a:off x="731520" y="19114770"/>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Georgia"/>
              </a:rPr>
              <a:t>92</a:t>
            </a:r>
          </a:p>
        </p:txBody>
      </p:sp>
      <p:sp>
        <p:nvSpPr>
          <p:cNvPr id="22" name="TextBox 21"/>
          <p:cNvSpPr txBox="1"/>
          <p:nvPr/>
        </p:nvSpPr>
        <p:spPr>
          <a:xfrm>
            <a:off x="731520" y="19917918"/>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E6759"/>
                </a:solidFill>
                <a:latin typeface="Arial"/>
              </a:rPr>
              <a:t>questions asked of a dataset so far</a:t>
            </a:r>
          </a:p>
        </p:txBody>
      </p:sp>
      <p:sp>
        <p:nvSpPr>
          <p:cNvPr id="23" name="TextBox 22"/>
          <p:cNvSpPr txBox="1"/>
          <p:nvPr/>
        </p:nvSpPr>
        <p:spPr>
          <a:xfrm>
            <a:off x="731520" y="2037283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Asked something it had never seen</a:t>
            </a:r>
          </a:p>
        </p:txBody>
      </p:sp>
      <p:sp>
        <p:nvSpPr>
          <p:cNvPr id="24" name="Rectangle 23"/>
          <p:cNvSpPr/>
          <p:nvPr/>
        </p:nvSpPr>
        <p:spPr>
          <a:xfrm>
            <a:off x="731520" y="2090115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123033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26" name="TextBox 25"/>
          <p:cNvSpPr txBox="1"/>
          <p:nvPr/>
        </p:nvSpPr>
        <p:spPr>
          <a:xfrm>
            <a:off x="731520" y="2289657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More web data, less accuracy</a:t>
            </a:r>
          </a:p>
        </p:txBody>
      </p:sp>
      <p:sp>
        <p:nvSpPr>
          <p:cNvPr id="27" name="Rectangle 26"/>
          <p:cNvSpPr/>
          <p:nvPr/>
        </p:nvSpPr>
        <p:spPr>
          <a:xfrm>
            <a:off x="731520" y="2342489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23754080"/>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29" name="TextBox 28"/>
          <p:cNvSpPr txBox="1"/>
          <p:nvPr/>
        </p:nvSpPr>
        <p:spPr>
          <a:xfrm>
            <a:off x="731520" y="2542032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Adding the next robot</a:t>
            </a:r>
          </a:p>
        </p:txBody>
      </p:sp>
      <p:sp>
        <p:nvSpPr>
          <p:cNvPr id="30" name="Rectangle 29"/>
          <p:cNvSpPr/>
          <p:nvPr/>
        </p:nvSpPr>
        <p:spPr>
          <a:xfrm>
            <a:off x="731520" y="2594864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2627782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32" name="TextBox 31"/>
          <p:cNvSpPr txBox="1"/>
          <p:nvPr/>
        </p:nvSpPr>
        <p:spPr>
          <a:xfrm>
            <a:off x="731520" y="2794406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Code the agent writes runs fenced in</a:t>
            </a:r>
          </a:p>
        </p:txBody>
      </p:sp>
      <p:sp>
        <p:nvSpPr>
          <p:cNvPr id="33" name="Rectangle 32"/>
          <p:cNvSpPr/>
          <p:nvPr/>
        </p:nvSpPr>
        <p:spPr>
          <a:xfrm>
            <a:off x="731520" y="2847238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2880156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35" name="TextBox 34"/>
          <p:cNvSpPr txBox="1"/>
          <p:nvPr/>
        </p:nvSpPr>
        <p:spPr>
          <a:xfrm>
            <a:off x="11704320" y="10285476"/>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Robots on the platform today</a:t>
            </a:r>
          </a:p>
        </p:txBody>
      </p:sp>
      <p:sp>
        <p:nvSpPr>
          <p:cNvPr id="36" name="Rectangle 35"/>
          <p:cNvSpPr/>
          <p:nvPr/>
        </p:nvSpPr>
        <p:spPr>
          <a:xfrm>
            <a:off x="11704320" y="10813796"/>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704320" y="11142979"/>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38" name="TextBox 37"/>
          <p:cNvSpPr txBox="1"/>
          <p:nvPr/>
        </p:nvSpPr>
        <p:spPr>
          <a:xfrm>
            <a:off x="11704320" y="12220447"/>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Georgia"/>
              </a:rPr>
              <a:t>14</a:t>
            </a:r>
          </a:p>
        </p:txBody>
      </p:sp>
      <p:sp>
        <p:nvSpPr>
          <p:cNvPr id="39" name="TextBox 38"/>
          <p:cNvSpPr txBox="1"/>
          <p:nvPr/>
        </p:nvSpPr>
        <p:spPr>
          <a:xfrm>
            <a:off x="11704320" y="13023595"/>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6E6759"/>
                </a:solidFill>
                <a:latin typeface="Arial"/>
              </a:rPr>
              <a:t>analysis tools the planner can choose from</a:t>
            </a:r>
          </a:p>
        </p:txBody>
      </p:sp>
      <p:sp>
        <p:nvSpPr>
          <p:cNvPr id="40" name="TextBox 39"/>
          <p:cNvSpPr txBox="1"/>
          <p:nvPr/>
        </p:nvSpPr>
        <p:spPr>
          <a:xfrm>
            <a:off x="11704320" y="13478510"/>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Ask a dataset what it is good for</a:t>
            </a:r>
          </a:p>
        </p:txBody>
      </p:sp>
      <p:sp>
        <p:nvSpPr>
          <p:cNvPr id="41" name="Rectangle 40"/>
          <p:cNvSpPr/>
          <p:nvPr/>
        </p:nvSpPr>
        <p:spPr>
          <a:xfrm>
            <a:off x="11704320" y="14006830"/>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04320" y="1433601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43" name="TextBox 42"/>
          <p:cNvSpPr txBox="1"/>
          <p:nvPr/>
        </p:nvSpPr>
        <p:spPr>
          <a:xfrm>
            <a:off x="11704320" y="15413481"/>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Left alone for fifteen rounds</a:t>
            </a:r>
          </a:p>
        </p:txBody>
      </p:sp>
      <p:sp>
        <p:nvSpPr>
          <p:cNvPr id="44" name="Rectangle 43"/>
          <p:cNvSpPr/>
          <p:nvPr/>
        </p:nvSpPr>
        <p:spPr>
          <a:xfrm>
            <a:off x="11704320" y="15941802"/>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f_rounds.png"/>
          <p:cNvPicPr>
            <a:picLocks noChangeAspect="1"/>
          </p:cNvPicPr>
          <p:nvPr/>
        </p:nvPicPr>
        <p:blipFill>
          <a:blip r:embed="rId3"/>
          <a:stretch>
            <a:fillRect/>
          </a:stretch>
        </p:blipFill>
        <p:spPr>
          <a:xfrm>
            <a:off x="11704320" y="16270985"/>
            <a:ext cx="20482560" cy="4663440"/>
          </a:xfrm>
          <a:prstGeom prst="rect">
            <a:avLst/>
          </a:prstGeom>
        </p:spPr>
      </p:pic>
      <p:sp>
        <p:nvSpPr>
          <p:cNvPr id="46" name="TextBox 45"/>
          <p:cNvSpPr txBox="1"/>
          <p:nvPr/>
        </p:nvSpPr>
        <p:spPr>
          <a:xfrm>
            <a:off x="11704320" y="21044153"/>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E6759"/>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7" name="TextBox 46"/>
          <p:cNvSpPr txBox="1"/>
          <p:nvPr/>
        </p:nvSpPr>
        <p:spPr>
          <a:xfrm>
            <a:off x="11704320" y="22029420"/>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48" name="TextBox 47"/>
          <p:cNvSpPr txBox="1"/>
          <p:nvPr/>
        </p:nvSpPr>
        <p:spPr>
          <a:xfrm>
            <a:off x="32552640" y="1028547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A drive becomes a dataset as it opens</a:t>
            </a:r>
          </a:p>
        </p:txBody>
      </p:sp>
      <p:sp>
        <p:nvSpPr>
          <p:cNvPr id="49" name="Rectangle 48"/>
          <p:cNvSpPr/>
          <p:nvPr/>
        </p:nvSpPr>
        <p:spPr>
          <a:xfrm>
            <a:off x="32552640" y="1081379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552640" y="11142979"/>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1" name="TextBox 50"/>
          <p:cNvSpPr txBox="1"/>
          <p:nvPr/>
        </p:nvSpPr>
        <p:spPr>
          <a:xfrm>
            <a:off x="32552640" y="1280922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Four frames, as recorded</a:t>
            </a:r>
          </a:p>
        </p:txBody>
      </p:sp>
      <p:sp>
        <p:nvSpPr>
          <p:cNvPr id="52" name="Rectangle 51"/>
          <p:cNvSpPr/>
          <p:nvPr/>
        </p:nvSpPr>
        <p:spPr>
          <a:xfrm>
            <a:off x="32552640" y="1333754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l_robots.png"/>
          <p:cNvPicPr>
            <a:picLocks noChangeAspect="1"/>
          </p:cNvPicPr>
          <p:nvPr/>
        </p:nvPicPr>
        <p:blipFill>
          <a:blip r:embed="rId4"/>
          <a:stretch>
            <a:fillRect/>
          </a:stretch>
        </p:blipFill>
        <p:spPr>
          <a:xfrm>
            <a:off x="32552640" y="13666723"/>
            <a:ext cx="10607040" cy="2377440"/>
          </a:xfrm>
          <a:prstGeom prst="rect">
            <a:avLst/>
          </a:prstGeom>
        </p:spPr>
      </p:pic>
      <p:sp>
        <p:nvSpPr>
          <p:cNvPr id="54" name="TextBox 53"/>
          <p:cNvSpPr txBox="1"/>
          <p:nvPr/>
        </p:nvSpPr>
        <p:spPr>
          <a:xfrm>
            <a:off x="32552640" y="16153892"/>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6E6759"/>
                </a:solidFill>
                <a:latin typeface="Arial"/>
              </a:rPr>
              <a:t>Figure 4.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55" name="TextBox 54"/>
          <p:cNvSpPr txBox="1"/>
          <p:nvPr/>
        </p:nvSpPr>
        <p:spPr>
          <a:xfrm>
            <a:off x="32552640" y="1736394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Nothing here is enhanced and nothing is labelled. The rectangle in the cart's down camera is a fixed work-zone overlay: it sits at the same pixels on frames with no vegetation in them at all.</a:t>
            </a:r>
          </a:p>
        </p:txBody>
      </p:sp>
      <p:sp>
        <p:nvSpPr>
          <p:cNvPr id="56" name="TextBox 55"/>
          <p:cNvSpPr txBox="1"/>
          <p:nvPr/>
        </p:nvSpPr>
        <p:spPr>
          <a:xfrm>
            <a:off x="32552640" y="1873580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Only one robot has the button</a:t>
            </a:r>
          </a:p>
        </p:txBody>
      </p:sp>
      <p:sp>
        <p:nvSpPr>
          <p:cNvPr id="57" name="Rectangle 56"/>
          <p:cNvSpPr/>
          <p:nvPr/>
        </p:nvSpPr>
        <p:spPr>
          <a:xfrm>
            <a:off x="32552640" y="1926412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2552640" y="1959330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59" name="TextBox 58"/>
          <p:cNvSpPr txBox="1"/>
          <p:nvPr/>
        </p:nvSpPr>
        <p:spPr>
          <a:xfrm>
            <a:off x="32552640" y="2125954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Which decisions a model makes</a:t>
            </a:r>
          </a:p>
        </p:txBody>
      </p:sp>
      <p:sp>
        <p:nvSpPr>
          <p:cNvPr id="60" name="Rectangle 59"/>
          <p:cNvSpPr/>
          <p:nvPr/>
        </p:nvSpPr>
        <p:spPr>
          <a:xfrm>
            <a:off x="32552640" y="2178786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552640" y="22117050"/>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62" name="TextBox 61"/>
          <p:cNvSpPr txBox="1"/>
          <p:nvPr/>
        </p:nvSpPr>
        <p:spPr>
          <a:xfrm>
            <a:off x="32552640" y="2378329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Any research field is a project</a:t>
            </a:r>
          </a:p>
        </p:txBody>
      </p:sp>
      <p:sp>
        <p:nvSpPr>
          <p:cNvPr id="63" name="Rectangle 62"/>
          <p:cNvSpPr/>
          <p:nvPr/>
        </p:nvSpPr>
        <p:spPr>
          <a:xfrm>
            <a:off x="32552640" y="2431161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552640" y="2464079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65" name="Rectangle 64"/>
          <p:cNvSpPr/>
          <p:nvPr/>
        </p:nvSpPr>
        <p:spPr>
          <a:xfrm>
            <a:off x="731520" y="30632400"/>
            <a:ext cx="42428160" cy="20116"/>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E6759"/>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67" name="TextBox 66"/>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E6759"/>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68" name="TextBox 67"/>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E6759"/>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