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8000" b="1">
                <a:solidFill>
                  <a:srgbClr val="2B2A26"/>
                </a:solidFill>
                <a:latin typeface="Georgia"/>
              </a:rPr>
              <a:t>agentAI: A Research-Data Platform for Physical and Embodied Agents</a:t>
            </a:r>
          </a:p>
        </p:txBody>
      </p:sp>
      <p:sp>
        <p:nvSpPr>
          <p:cNvPr id="4" name="TextBox 3"/>
          <p:cNvSpPr txBox="1"/>
          <p:nvPr/>
        </p:nvSpPr>
        <p:spPr>
          <a:xfrm>
            <a:off x="731520" y="22402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2B2A26"/>
                </a:solidFill>
                <a:latin typeface="Arial"/>
              </a:rPr>
              <a:t>Harry He   ·   Hongbo Zhang</a:t>
            </a:r>
          </a:p>
        </p:txBody>
      </p:sp>
      <p:sp>
        <p:nvSpPr>
          <p:cNvPr id="5" name="TextBox 4"/>
          <p:cNvSpPr txBox="1"/>
          <p:nvPr/>
        </p:nvSpPr>
        <p:spPr>
          <a:xfrm>
            <a:off x="731520" y="28803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6E6759"/>
                </a:solidFill>
                <a:latin typeface="Arial"/>
              </a:rPr>
              <a:t>Department of Engineering Technology   ·   Middle Tennessee State University, Murfreesboro, TN, USA</a:t>
            </a:r>
          </a:p>
        </p:txBody>
      </p:sp>
      <p:sp>
        <p:nvSpPr>
          <p:cNvPr id="6" name="Rectangle 5"/>
          <p:cNvSpPr/>
          <p:nvPr/>
        </p:nvSpPr>
        <p:spPr>
          <a:xfrm>
            <a:off x="731520" y="3749039"/>
            <a:ext cx="42428160" cy="41148"/>
          </a:xfrm>
          <a:prstGeom prst="rect">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2B2A26"/>
                </a:solidFill>
                <a:latin typeface="Georgia"/>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n_system.png"/>
          <p:cNvPicPr>
            <a:picLocks noChangeAspect="1"/>
          </p:cNvPicPr>
          <p:nvPr/>
        </p:nvPicPr>
        <p:blipFill>
          <a:blip r:embed="rId2"/>
          <a:stretch>
            <a:fillRect/>
          </a:stretch>
        </p:blipFill>
        <p:spPr>
          <a:xfrm>
            <a:off x="11704320" y="5702808"/>
            <a:ext cx="20482560" cy="3383280"/>
          </a:xfrm>
          <a:prstGeom prst="rect">
            <a:avLst/>
          </a:prstGeom>
        </p:spPr>
      </p:pic>
      <p:sp>
        <p:nvSpPr>
          <p:cNvPr id="9" name="TextBox 8"/>
          <p:cNvSpPr txBox="1"/>
          <p:nvPr/>
        </p:nvSpPr>
        <p:spPr>
          <a:xfrm>
            <a:off x="11704320" y="9195816"/>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E6759"/>
                </a:solidFill>
                <a:latin typeface="Arial"/>
              </a:rPr>
              <a:t>Figure 1.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10" name="TextBox 9"/>
          <p:cNvSpPr txBox="1"/>
          <p:nvPr/>
        </p:nvSpPr>
        <p:spPr>
          <a:xfrm>
            <a:off x="731520" y="10285476"/>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One platform for every robot the lab owns</a:t>
            </a:r>
          </a:p>
        </p:txBody>
      </p:sp>
      <p:sp>
        <p:nvSpPr>
          <p:cNvPr id="11" name="Rectangle 10"/>
          <p:cNvSpPr/>
          <p:nvPr/>
        </p:nvSpPr>
        <p:spPr>
          <a:xfrm>
            <a:off x="731520" y="1081379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142979"/>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3" name="TextBox 12"/>
          <p:cNvSpPr txBox="1"/>
          <p:nvPr/>
        </p:nvSpPr>
        <p:spPr>
          <a:xfrm>
            <a:off x="731520" y="13103606"/>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Driving a robot from a browser</a:t>
            </a:r>
          </a:p>
        </p:txBody>
      </p:sp>
      <p:sp>
        <p:nvSpPr>
          <p:cNvPr id="14" name="Rectangle 13"/>
          <p:cNvSpPr/>
          <p:nvPr/>
        </p:nvSpPr>
        <p:spPr>
          <a:xfrm>
            <a:off x="731520" y="13631925"/>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3961109"/>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16" name="TextBox 15"/>
          <p:cNvSpPr txBox="1"/>
          <p:nvPr/>
        </p:nvSpPr>
        <p:spPr>
          <a:xfrm>
            <a:off x="731520" y="1562734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On disk today</a:t>
            </a:r>
          </a:p>
        </p:txBody>
      </p:sp>
      <p:sp>
        <p:nvSpPr>
          <p:cNvPr id="17" name="Rectangle 16"/>
          <p:cNvSpPr/>
          <p:nvPr/>
        </p:nvSpPr>
        <p:spPr>
          <a:xfrm>
            <a:off x="731520" y="16155669"/>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1648485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Two robots have put 2,686 camera frames and 91,955 telemetry rows across nine streams onto the platform, over 26 drives, with 342 m of GPS track from 1,502 fixes. None of the frames is labelled.</a:t>
            </a:r>
          </a:p>
        </p:txBody>
      </p:sp>
      <p:sp>
        <p:nvSpPr>
          <p:cNvPr id="19" name="TextBox 18"/>
          <p:cNvSpPr txBox="1"/>
          <p:nvPr/>
        </p:nvSpPr>
        <p:spPr>
          <a:xfrm>
            <a:off x="731520" y="17856708"/>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Asked something it had never seen</a:t>
            </a:r>
          </a:p>
        </p:txBody>
      </p:sp>
      <p:sp>
        <p:nvSpPr>
          <p:cNvPr id="20" name="Rectangle 19"/>
          <p:cNvSpPr/>
          <p:nvPr/>
        </p:nvSpPr>
        <p:spPr>
          <a:xfrm>
            <a:off x="731520" y="18385028"/>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8714212"/>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22" name="TextBox 21"/>
          <p:cNvSpPr txBox="1"/>
          <p:nvPr/>
        </p:nvSpPr>
        <p:spPr>
          <a:xfrm>
            <a:off x="731520" y="2038045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More web data, less accuracy</a:t>
            </a:r>
          </a:p>
        </p:txBody>
      </p:sp>
      <p:sp>
        <p:nvSpPr>
          <p:cNvPr id="23" name="Rectangle 22"/>
          <p:cNvSpPr/>
          <p:nvPr/>
        </p:nvSpPr>
        <p:spPr>
          <a:xfrm>
            <a:off x="731520" y="20908772"/>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123795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25" name="TextBox 24"/>
          <p:cNvSpPr txBox="1"/>
          <p:nvPr/>
        </p:nvSpPr>
        <p:spPr>
          <a:xfrm>
            <a:off x="731520" y="22904196"/>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Adding the next robot</a:t>
            </a:r>
          </a:p>
        </p:txBody>
      </p:sp>
      <p:sp>
        <p:nvSpPr>
          <p:cNvPr id="26" name="Rectangle 25"/>
          <p:cNvSpPr/>
          <p:nvPr/>
        </p:nvSpPr>
        <p:spPr>
          <a:xfrm>
            <a:off x="731520" y="2343251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23761700"/>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28" name="TextBox 27"/>
          <p:cNvSpPr txBox="1"/>
          <p:nvPr/>
        </p:nvSpPr>
        <p:spPr>
          <a:xfrm>
            <a:off x="731520" y="2542794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Code the agent writes runs fenced in</a:t>
            </a:r>
          </a:p>
        </p:txBody>
      </p:sp>
      <p:sp>
        <p:nvSpPr>
          <p:cNvPr id="29" name="Rectangle 28"/>
          <p:cNvSpPr/>
          <p:nvPr/>
        </p:nvSpPr>
        <p:spPr>
          <a:xfrm>
            <a:off x="731520" y="25956260"/>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628544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31" name="TextBox 30"/>
          <p:cNvSpPr txBox="1"/>
          <p:nvPr/>
        </p:nvSpPr>
        <p:spPr>
          <a:xfrm>
            <a:off x="731520" y="27657298"/>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Every drive is diagnosed on arrival</a:t>
            </a:r>
          </a:p>
        </p:txBody>
      </p:sp>
      <p:sp>
        <p:nvSpPr>
          <p:cNvPr id="32" name="Rectangle 31"/>
          <p:cNvSpPr/>
          <p:nvPr/>
        </p:nvSpPr>
        <p:spPr>
          <a:xfrm>
            <a:off x="731520" y="28185618"/>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28514802"/>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The platform runs a fixed diagnosis over each finished session without being asked: route, noise, cross-sensor correlation, a timeline. It has done that for 26 live robot sessions and written 45 charts. A person reads the diagnosis before deciding whether the drive is worth anything.</a:t>
            </a:r>
          </a:p>
        </p:txBody>
      </p:sp>
      <p:sp>
        <p:nvSpPr>
          <p:cNvPr id="34" name="TextBox 33"/>
          <p:cNvSpPr txBox="1"/>
          <p:nvPr/>
        </p:nvSpPr>
        <p:spPr>
          <a:xfrm>
            <a:off x="11704320" y="10285476"/>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Robots on the platform today</a:t>
            </a:r>
          </a:p>
        </p:txBody>
      </p:sp>
      <p:sp>
        <p:nvSpPr>
          <p:cNvPr id="35" name="Rectangle 34"/>
          <p:cNvSpPr/>
          <p:nvPr/>
        </p:nvSpPr>
        <p:spPr>
          <a:xfrm>
            <a:off x="11704320" y="10813796"/>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704320" y="11142979"/>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37" name="TextBox 36"/>
          <p:cNvSpPr txBox="1"/>
          <p:nvPr/>
        </p:nvSpPr>
        <p:spPr>
          <a:xfrm>
            <a:off x="11704320" y="12514833"/>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Ask a dataset what it is good for</a:t>
            </a:r>
          </a:p>
        </p:txBody>
      </p:sp>
      <p:sp>
        <p:nvSpPr>
          <p:cNvPr id="38" name="Rectangle 37"/>
          <p:cNvSpPr/>
          <p:nvPr/>
        </p:nvSpPr>
        <p:spPr>
          <a:xfrm>
            <a:off x="11704320" y="13043153"/>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704320" y="13372337"/>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40" name="TextBox 39"/>
          <p:cNvSpPr txBox="1"/>
          <p:nvPr/>
        </p:nvSpPr>
        <p:spPr>
          <a:xfrm>
            <a:off x="11704320" y="14449805"/>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Left alone for fifteen rounds</a:t>
            </a:r>
          </a:p>
        </p:txBody>
      </p:sp>
      <p:sp>
        <p:nvSpPr>
          <p:cNvPr id="41" name="Rectangle 40"/>
          <p:cNvSpPr/>
          <p:nvPr/>
        </p:nvSpPr>
        <p:spPr>
          <a:xfrm>
            <a:off x="11704320" y="14978125"/>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f_rounds.png"/>
          <p:cNvPicPr>
            <a:picLocks noChangeAspect="1"/>
          </p:cNvPicPr>
          <p:nvPr/>
        </p:nvPicPr>
        <p:blipFill>
          <a:blip r:embed="rId3"/>
          <a:stretch>
            <a:fillRect/>
          </a:stretch>
        </p:blipFill>
        <p:spPr>
          <a:xfrm>
            <a:off x="11704320" y="15307309"/>
            <a:ext cx="20482560" cy="4663440"/>
          </a:xfrm>
          <a:prstGeom prst="rect">
            <a:avLst/>
          </a:prstGeom>
        </p:spPr>
      </p:pic>
      <p:sp>
        <p:nvSpPr>
          <p:cNvPr id="43" name="TextBox 42"/>
          <p:cNvSpPr txBox="1"/>
          <p:nvPr/>
        </p:nvSpPr>
        <p:spPr>
          <a:xfrm>
            <a:off x="11704320" y="20080477"/>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E6759"/>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44" name="TextBox 43"/>
          <p:cNvSpPr txBox="1"/>
          <p:nvPr/>
        </p:nvSpPr>
        <p:spPr>
          <a:xfrm>
            <a:off x="11704320" y="21065743"/>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45" name="TextBox 44"/>
          <p:cNvSpPr txBox="1"/>
          <p:nvPr/>
        </p:nvSpPr>
        <p:spPr>
          <a:xfrm>
            <a:off x="11704320" y="22143211"/>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Everything we trained, ran, or rejected</a:t>
            </a:r>
          </a:p>
        </p:txBody>
      </p:sp>
      <p:sp>
        <p:nvSpPr>
          <p:cNvPr id="46" name="Rectangle 45"/>
          <p:cNvSpPr/>
          <p:nvPr/>
        </p:nvSpPr>
        <p:spPr>
          <a:xfrm>
            <a:off x="11704320" y="22671532"/>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m_ledger.png"/>
          <p:cNvPicPr>
            <a:picLocks noChangeAspect="1"/>
          </p:cNvPicPr>
          <p:nvPr/>
        </p:nvPicPr>
        <p:blipFill>
          <a:blip r:embed="rId4"/>
          <a:stretch>
            <a:fillRect/>
          </a:stretch>
        </p:blipFill>
        <p:spPr>
          <a:xfrm>
            <a:off x="11704320" y="23000715"/>
            <a:ext cx="20482560" cy="3749040"/>
          </a:xfrm>
          <a:prstGeom prst="rect">
            <a:avLst/>
          </a:prstGeom>
        </p:spPr>
      </p:pic>
      <p:sp>
        <p:nvSpPr>
          <p:cNvPr id="48" name="TextBox 47"/>
          <p:cNvSpPr txBox="1"/>
          <p:nvPr/>
        </p:nvSpPr>
        <p:spPr>
          <a:xfrm>
            <a:off x="11704320" y="26859484"/>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E6759"/>
                </a:solidFill>
                <a:latin typeface="Arial"/>
              </a:rPr>
              <a:t>Figure 4.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49" name="TextBox 48"/>
          <p:cNvSpPr txBox="1"/>
          <p:nvPr/>
        </p:nvSpPr>
        <p:spPr>
          <a:xfrm>
            <a:off x="11704320" y="27844750"/>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50" name="TextBox 49"/>
          <p:cNvSpPr txBox="1"/>
          <p:nvPr/>
        </p:nvSpPr>
        <p:spPr>
          <a:xfrm>
            <a:off x="32552640" y="10285476"/>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A drive becomes a dataset as it opens</a:t>
            </a:r>
          </a:p>
        </p:txBody>
      </p:sp>
      <p:sp>
        <p:nvSpPr>
          <p:cNvPr id="51" name="Rectangle 50"/>
          <p:cNvSpPr/>
          <p:nvPr/>
        </p:nvSpPr>
        <p:spPr>
          <a:xfrm>
            <a:off x="32552640" y="1081379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552640" y="11142979"/>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53" name="TextBox 52"/>
          <p:cNvSpPr txBox="1"/>
          <p:nvPr/>
        </p:nvSpPr>
        <p:spPr>
          <a:xfrm>
            <a:off x="32552640" y="1280922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Four frames, as recorded</a:t>
            </a:r>
          </a:p>
        </p:txBody>
      </p:sp>
      <p:sp>
        <p:nvSpPr>
          <p:cNvPr id="54" name="Rectangle 53"/>
          <p:cNvSpPr/>
          <p:nvPr/>
        </p:nvSpPr>
        <p:spPr>
          <a:xfrm>
            <a:off x="32552640" y="13337540"/>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l_robots.png"/>
          <p:cNvPicPr>
            <a:picLocks noChangeAspect="1"/>
          </p:cNvPicPr>
          <p:nvPr/>
        </p:nvPicPr>
        <p:blipFill>
          <a:blip r:embed="rId5"/>
          <a:stretch>
            <a:fillRect/>
          </a:stretch>
        </p:blipFill>
        <p:spPr>
          <a:xfrm>
            <a:off x="32552640" y="13666723"/>
            <a:ext cx="10607040" cy="2377440"/>
          </a:xfrm>
          <a:prstGeom prst="rect">
            <a:avLst/>
          </a:prstGeom>
        </p:spPr>
      </p:pic>
      <p:sp>
        <p:nvSpPr>
          <p:cNvPr id="56" name="TextBox 55"/>
          <p:cNvSpPr txBox="1"/>
          <p:nvPr/>
        </p:nvSpPr>
        <p:spPr>
          <a:xfrm>
            <a:off x="32552640" y="16153892"/>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6E6759"/>
                </a:solidFill>
                <a:latin typeface="Arial"/>
              </a:rPr>
              <a:t>Figure 5.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57" name="TextBox 56"/>
          <p:cNvSpPr txBox="1"/>
          <p:nvPr/>
        </p:nvSpPr>
        <p:spPr>
          <a:xfrm>
            <a:off x="32552640" y="1736394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Nothing here is enhanced and nothing is labelled. The rectangle in the cart's down camera is a fixed work-zone overlay: it sits at the same pixels on frames with no vegetation in them at all.</a:t>
            </a:r>
          </a:p>
        </p:txBody>
      </p:sp>
      <p:sp>
        <p:nvSpPr>
          <p:cNvPr id="58" name="TextBox 57"/>
          <p:cNvSpPr txBox="1"/>
          <p:nvPr/>
        </p:nvSpPr>
        <p:spPr>
          <a:xfrm>
            <a:off x="32552640" y="1873580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Only one robot has the button</a:t>
            </a:r>
          </a:p>
        </p:txBody>
      </p:sp>
      <p:sp>
        <p:nvSpPr>
          <p:cNvPr id="59" name="Rectangle 58"/>
          <p:cNvSpPr/>
          <p:nvPr/>
        </p:nvSpPr>
        <p:spPr>
          <a:xfrm>
            <a:off x="32552640" y="19264122"/>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2552640" y="1959330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61" name="TextBox 60"/>
          <p:cNvSpPr txBox="1"/>
          <p:nvPr/>
        </p:nvSpPr>
        <p:spPr>
          <a:xfrm>
            <a:off x="32552640" y="21259546"/>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Which decisions a model makes</a:t>
            </a:r>
          </a:p>
        </p:txBody>
      </p:sp>
      <p:sp>
        <p:nvSpPr>
          <p:cNvPr id="62" name="Rectangle 61"/>
          <p:cNvSpPr/>
          <p:nvPr/>
        </p:nvSpPr>
        <p:spPr>
          <a:xfrm>
            <a:off x="32552640" y="2178786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552640" y="22117050"/>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64" name="TextBox 63"/>
          <p:cNvSpPr txBox="1"/>
          <p:nvPr/>
        </p:nvSpPr>
        <p:spPr>
          <a:xfrm>
            <a:off x="32552640" y="2378329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B2A26"/>
                </a:solidFill>
                <a:latin typeface="Georgia"/>
              </a:rPr>
              <a:t>Any research field is a project</a:t>
            </a:r>
          </a:p>
        </p:txBody>
      </p:sp>
      <p:sp>
        <p:nvSpPr>
          <p:cNvPr id="65" name="Rectangle 64"/>
          <p:cNvSpPr/>
          <p:nvPr/>
        </p:nvSpPr>
        <p:spPr>
          <a:xfrm>
            <a:off x="32552640" y="24311610"/>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552640" y="2464079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B2A26"/>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67" name="Rectangle 66"/>
          <p:cNvSpPr/>
          <p:nvPr/>
        </p:nvSpPr>
        <p:spPr>
          <a:xfrm>
            <a:off x="731520" y="30632400"/>
            <a:ext cx="42428160" cy="20116"/>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E6759"/>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69" name="TextBox 68"/>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E6759"/>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70" name="TextBox 69"/>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E6759"/>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