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42428160" cy="365760"/>
          </a:xfrm>
          <a:prstGeom prst="rect">
            <a:avLst/>
          </a:prstGeom>
          <a:noFill/>
        </p:spPr>
        <p:txBody>
          <a:bodyPr wrap="square" lIns="0" rIns="0" tIns="0" bIns="0">
            <a:spAutoFit/>
          </a:bodyPr>
          <a:lstStyle/>
          <a:p>
            <a:pPr algn="l">
              <a:lnSpc>
                <a:spcPct val="95000"/>
              </a:lnSpc>
              <a:spcAft>
                <a:spcPts val="0"/>
              </a:spcAft>
            </a:pPr>
            <a:r>
              <a:rPr sz="10600" b="1">
                <a:solidFill>
                  <a:srgbClr val="1C2A22"/>
                </a:solidFill>
                <a:latin typeface="Arial Narrow"/>
              </a:rPr>
              <a:t>agentAI: A Research-Data Platform for Physical and Embodied Agents</a:t>
            </a:r>
          </a:p>
        </p:txBody>
      </p:sp>
      <p:sp>
        <p:nvSpPr>
          <p:cNvPr id="4" name="Rectangle 3"/>
          <p:cNvSpPr/>
          <p:nvPr/>
        </p:nvSpPr>
        <p:spPr>
          <a:xfrm>
            <a:off x="731520" y="2103120"/>
            <a:ext cx="41759124" cy="146304"/>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468880"/>
            <a:ext cx="42428160" cy="365760"/>
          </a:xfrm>
          <a:prstGeom prst="rect">
            <a:avLst/>
          </a:prstGeom>
          <a:noFill/>
        </p:spPr>
        <p:txBody>
          <a:bodyPr wrap="square" lIns="0" rIns="0" tIns="0" bIns="0">
            <a:spAutoFit/>
          </a:bodyPr>
          <a:lstStyle/>
          <a:p>
            <a:pPr algn="l">
              <a:lnSpc>
                <a:spcPct val="100000"/>
              </a:lnSpc>
              <a:spcAft>
                <a:spcPts val="0"/>
              </a:spcAft>
            </a:pPr>
            <a:r>
              <a:rPr sz="4000" b="1">
                <a:solidFill>
                  <a:srgbClr val="1C2A22"/>
                </a:solidFill>
                <a:latin typeface="Arial"/>
              </a:rPr>
              <a:t>Harry He   ·   Hongbo Zhang</a:t>
            </a:r>
          </a:p>
        </p:txBody>
      </p:sp>
      <p:sp>
        <p:nvSpPr>
          <p:cNvPr id="6" name="TextBox 5"/>
          <p:cNvSpPr txBox="1"/>
          <p:nvPr/>
        </p:nvSpPr>
        <p:spPr>
          <a:xfrm>
            <a:off x="731520" y="3108960"/>
            <a:ext cx="42428160" cy="365760"/>
          </a:xfrm>
          <a:prstGeom prst="rect">
            <a:avLst/>
          </a:prstGeom>
          <a:noFill/>
        </p:spPr>
        <p:txBody>
          <a:bodyPr wrap="square" lIns="0" rIns="0" tIns="0" bIns="0">
            <a:spAutoFit/>
          </a:bodyPr>
          <a:lstStyle/>
          <a:p>
            <a:pPr algn="l">
              <a:lnSpc>
                <a:spcPct val="100000"/>
              </a:lnSpc>
              <a:spcAft>
                <a:spcPts val="0"/>
              </a:spcAft>
            </a:pPr>
            <a:r>
              <a:rPr sz="2400" b="0">
                <a:solidFill>
                  <a:srgbClr val="5C6B62"/>
                </a:solidFill>
                <a:latin typeface="Arial"/>
              </a:rPr>
              <a:t>Department of Engineering Technology   ·   Middle Tennessee State University, Murfreesboro, TN, USA</a:t>
            </a:r>
          </a:p>
        </p:txBody>
      </p:sp>
      <p:sp>
        <p:nvSpPr>
          <p:cNvPr id="7" name="TextBox 6"/>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000" b="0">
                <a:solidFill>
                  <a:srgbClr val="1C2A22"/>
                </a:solidFill>
                <a:latin typeface="Arial"/>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pic>
        <p:nvPicPr>
          <p:cNvPr id="8" name="Picture 7" descr="w_robots.png"/>
          <p:cNvPicPr>
            <a:picLocks noChangeAspect="1"/>
          </p:cNvPicPr>
          <p:nvPr/>
        </p:nvPicPr>
        <p:blipFill>
          <a:blip r:embed="rId2"/>
          <a:stretch>
            <a:fillRect/>
          </a:stretch>
        </p:blipFill>
        <p:spPr>
          <a:xfrm>
            <a:off x="731520" y="5702808"/>
            <a:ext cx="42428160" cy="4023360"/>
          </a:xfrm>
          <a:prstGeom prst="rect">
            <a:avLst/>
          </a:prstGeom>
        </p:spPr>
      </p:pic>
      <p:sp>
        <p:nvSpPr>
          <p:cNvPr id="9" name="TextBox 8"/>
          <p:cNvSpPr txBox="1"/>
          <p:nvPr/>
        </p:nvSpPr>
        <p:spPr>
          <a:xfrm>
            <a:off x="731520" y="9835896"/>
            <a:ext cx="42428160" cy="365760"/>
          </a:xfrm>
          <a:prstGeom prst="rect">
            <a:avLst/>
          </a:prstGeom>
          <a:noFill/>
        </p:spPr>
        <p:txBody>
          <a:bodyPr wrap="square" lIns="0" rIns="0" tIns="0" bIns="0">
            <a:spAutoFit/>
          </a:bodyPr>
          <a:lstStyle/>
          <a:p>
            <a:pPr algn="l">
              <a:lnSpc>
                <a:spcPct val="118000"/>
              </a:lnSpc>
              <a:spcAft>
                <a:spcPts val="0"/>
              </a:spcAft>
            </a:pPr>
            <a:r>
              <a:rPr sz="1500" b="0">
                <a:solidFill>
                  <a:srgbClr val="5C6B62"/>
                </a:solidFill>
                <a:latin typeface="Arial"/>
              </a:rPr>
              <a:t>Figure 1.  Four frames as recorded, unenhanced and unlabelled. The rectangle in (c) is the cart's fixed work-zone overlay. It is drawn on every frame, including the ones with no vegetation in them.</a:t>
            </a:r>
          </a:p>
        </p:txBody>
      </p:sp>
      <p:sp>
        <p:nvSpPr>
          <p:cNvPr id="10" name="Rectangle 9"/>
          <p:cNvSpPr/>
          <p:nvPr/>
        </p:nvSpPr>
        <p:spPr>
          <a:xfrm>
            <a:off x="731520" y="10554461"/>
            <a:ext cx="42428160" cy="23774"/>
          </a:xfrm>
          <a:prstGeom prst="rect">
            <a:avLst/>
          </a:prstGeom>
          <a:solidFill>
            <a:srgbClr val="CB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0755630"/>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B7A55"/>
                </a:solidFill>
                <a:latin typeface="Arial Narrow"/>
              </a:rPr>
              <a:t>2,686</a:t>
            </a:r>
          </a:p>
        </p:txBody>
      </p:sp>
      <p:sp>
        <p:nvSpPr>
          <p:cNvPr id="12" name="TextBox 11"/>
          <p:cNvSpPr txBox="1"/>
          <p:nvPr/>
        </p:nvSpPr>
        <p:spPr>
          <a:xfrm>
            <a:off x="731520" y="11481053"/>
            <a:ext cx="8083296" cy="365760"/>
          </a:xfrm>
          <a:prstGeom prst="rect">
            <a:avLst/>
          </a:prstGeom>
          <a:noFill/>
        </p:spPr>
        <p:txBody>
          <a:bodyPr wrap="square" lIns="0" rIns="0" tIns="0" bIns="0">
            <a:spAutoFit/>
          </a:bodyPr>
          <a:lstStyle/>
          <a:p>
            <a:pPr algn="l">
              <a:lnSpc>
                <a:spcPct val="122000"/>
              </a:lnSpc>
              <a:spcAft>
                <a:spcPts val="200"/>
              </a:spcAft>
            </a:pPr>
            <a:r>
              <a:rPr sz="1900" b="0">
                <a:solidFill>
                  <a:srgbClr val="1C2A22"/>
                </a:solidFill>
                <a:latin typeface="Arial"/>
              </a:rPr>
              <a:t>camera frames</a:t>
            </a:r>
          </a:p>
        </p:txBody>
      </p:sp>
      <p:sp>
        <p:nvSpPr>
          <p:cNvPr id="13" name="TextBox 12"/>
          <p:cNvSpPr txBox="1"/>
          <p:nvPr/>
        </p:nvSpPr>
        <p:spPr>
          <a:xfrm>
            <a:off x="731520" y="11800840"/>
            <a:ext cx="8083296" cy="365760"/>
          </a:xfrm>
          <a:prstGeom prst="rect">
            <a:avLst/>
          </a:prstGeom>
          <a:noFill/>
        </p:spPr>
        <p:txBody>
          <a:bodyPr wrap="square" lIns="0" rIns="0" tIns="0" bIns="0">
            <a:spAutoFit/>
          </a:bodyPr>
          <a:lstStyle/>
          <a:p>
            <a:pPr algn="l">
              <a:lnSpc>
                <a:spcPct val="122000"/>
              </a:lnSpc>
              <a:spcAft>
                <a:spcPts val="0"/>
              </a:spcAft>
            </a:pPr>
            <a:r>
              <a:rPr sz="1500" b="0">
                <a:solidFill>
                  <a:srgbClr val="5C6B62"/>
                </a:solidFill>
                <a:latin typeface="Arial"/>
              </a:rPr>
              <a:t>26 drives, 2 robots, 0 labelled</a:t>
            </a:r>
          </a:p>
        </p:txBody>
      </p:sp>
      <p:sp>
        <p:nvSpPr>
          <p:cNvPr id="14" name="TextBox 13"/>
          <p:cNvSpPr txBox="1"/>
          <p:nvPr/>
        </p:nvSpPr>
        <p:spPr>
          <a:xfrm>
            <a:off x="9317736" y="10755630"/>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B7A55"/>
                </a:solidFill>
                <a:latin typeface="Arial Narrow"/>
              </a:rPr>
              <a:t>91,955</a:t>
            </a:r>
          </a:p>
        </p:txBody>
      </p:sp>
      <p:sp>
        <p:nvSpPr>
          <p:cNvPr id="15" name="TextBox 14"/>
          <p:cNvSpPr txBox="1"/>
          <p:nvPr/>
        </p:nvSpPr>
        <p:spPr>
          <a:xfrm>
            <a:off x="9317736" y="11481053"/>
            <a:ext cx="8083296" cy="365760"/>
          </a:xfrm>
          <a:prstGeom prst="rect">
            <a:avLst/>
          </a:prstGeom>
          <a:noFill/>
        </p:spPr>
        <p:txBody>
          <a:bodyPr wrap="square" lIns="0" rIns="0" tIns="0" bIns="0">
            <a:spAutoFit/>
          </a:bodyPr>
          <a:lstStyle/>
          <a:p>
            <a:pPr algn="l">
              <a:lnSpc>
                <a:spcPct val="122000"/>
              </a:lnSpc>
              <a:spcAft>
                <a:spcPts val="200"/>
              </a:spcAft>
            </a:pPr>
            <a:r>
              <a:rPr sz="1900" b="0">
                <a:solidFill>
                  <a:srgbClr val="1C2A22"/>
                </a:solidFill>
                <a:latin typeface="Arial"/>
              </a:rPr>
              <a:t>telemetry rows</a:t>
            </a:r>
          </a:p>
        </p:txBody>
      </p:sp>
      <p:sp>
        <p:nvSpPr>
          <p:cNvPr id="16" name="TextBox 15"/>
          <p:cNvSpPr txBox="1"/>
          <p:nvPr/>
        </p:nvSpPr>
        <p:spPr>
          <a:xfrm>
            <a:off x="9317736" y="11800840"/>
            <a:ext cx="8083296" cy="365760"/>
          </a:xfrm>
          <a:prstGeom prst="rect">
            <a:avLst/>
          </a:prstGeom>
          <a:noFill/>
        </p:spPr>
        <p:txBody>
          <a:bodyPr wrap="square" lIns="0" rIns="0" tIns="0" bIns="0">
            <a:spAutoFit/>
          </a:bodyPr>
          <a:lstStyle/>
          <a:p>
            <a:pPr algn="l">
              <a:lnSpc>
                <a:spcPct val="122000"/>
              </a:lnSpc>
              <a:spcAft>
                <a:spcPts val="0"/>
              </a:spcAft>
            </a:pPr>
            <a:r>
              <a:rPr sz="1500" b="0">
                <a:solidFill>
                  <a:srgbClr val="5C6B62"/>
                </a:solidFill>
                <a:latin typeface="Arial"/>
              </a:rPr>
              <a:t>nine streams, counted line by line</a:t>
            </a:r>
          </a:p>
        </p:txBody>
      </p:sp>
      <p:sp>
        <p:nvSpPr>
          <p:cNvPr id="17" name="TextBox 16"/>
          <p:cNvSpPr txBox="1"/>
          <p:nvPr/>
        </p:nvSpPr>
        <p:spPr>
          <a:xfrm>
            <a:off x="17903952" y="10755630"/>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B7A55"/>
                </a:solidFill>
                <a:latin typeface="Arial Narrow"/>
              </a:rPr>
              <a:t>342 m</a:t>
            </a:r>
          </a:p>
        </p:txBody>
      </p:sp>
      <p:sp>
        <p:nvSpPr>
          <p:cNvPr id="18" name="TextBox 17"/>
          <p:cNvSpPr txBox="1"/>
          <p:nvPr/>
        </p:nvSpPr>
        <p:spPr>
          <a:xfrm>
            <a:off x="17903952" y="11481053"/>
            <a:ext cx="8083296" cy="365760"/>
          </a:xfrm>
          <a:prstGeom prst="rect">
            <a:avLst/>
          </a:prstGeom>
          <a:noFill/>
        </p:spPr>
        <p:txBody>
          <a:bodyPr wrap="square" lIns="0" rIns="0" tIns="0" bIns="0">
            <a:spAutoFit/>
          </a:bodyPr>
          <a:lstStyle/>
          <a:p>
            <a:pPr algn="l">
              <a:lnSpc>
                <a:spcPct val="122000"/>
              </a:lnSpc>
              <a:spcAft>
                <a:spcPts val="200"/>
              </a:spcAft>
            </a:pPr>
            <a:r>
              <a:rPr sz="1900" b="0">
                <a:solidFill>
                  <a:srgbClr val="1C2A22"/>
                </a:solidFill>
                <a:latin typeface="Arial"/>
              </a:rPr>
              <a:t>of GPS track</a:t>
            </a:r>
          </a:p>
        </p:txBody>
      </p:sp>
      <p:sp>
        <p:nvSpPr>
          <p:cNvPr id="19" name="TextBox 18"/>
          <p:cNvSpPr txBox="1"/>
          <p:nvPr/>
        </p:nvSpPr>
        <p:spPr>
          <a:xfrm>
            <a:off x="17903952" y="11800840"/>
            <a:ext cx="8083296" cy="365760"/>
          </a:xfrm>
          <a:prstGeom prst="rect">
            <a:avLst/>
          </a:prstGeom>
          <a:noFill/>
        </p:spPr>
        <p:txBody>
          <a:bodyPr wrap="square" lIns="0" rIns="0" tIns="0" bIns="0">
            <a:spAutoFit/>
          </a:bodyPr>
          <a:lstStyle/>
          <a:p>
            <a:pPr algn="l">
              <a:lnSpc>
                <a:spcPct val="122000"/>
              </a:lnSpc>
              <a:spcAft>
                <a:spcPts val="0"/>
              </a:spcAft>
            </a:pPr>
            <a:r>
              <a:rPr sz="1500" b="0">
                <a:solidFill>
                  <a:srgbClr val="5C6B62"/>
                </a:solidFill>
                <a:latin typeface="Arial"/>
              </a:rPr>
              <a:t>1,502 fixes over 18 drives</a:t>
            </a:r>
          </a:p>
        </p:txBody>
      </p:sp>
      <p:sp>
        <p:nvSpPr>
          <p:cNvPr id="20" name="TextBox 19"/>
          <p:cNvSpPr txBox="1"/>
          <p:nvPr/>
        </p:nvSpPr>
        <p:spPr>
          <a:xfrm>
            <a:off x="26490168" y="10755630"/>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B7A55"/>
                </a:solidFill>
                <a:latin typeface="Arial Narrow"/>
              </a:rPr>
              <a:t>27</a:t>
            </a:r>
          </a:p>
        </p:txBody>
      </p:sp>
      <p:sp>
        <p:nvSpPr>
          <p:cNvPr id="21" name="TextBox 20"/>
          <p:cNvSpPr txBox="1"/>
          <p:nvPr/>
        </p:nvSpPr>
        <p:spPr>
          <a:xfrm>
            <a:off x="26490168" y="11481053"/>
            <a:ext cx="8083296" cy="365760"/>
          </a:xfrm>
          <a:prstGeom prst="rect">
            <a:avLst/>
          </a:prstGeom>
          <a:noFill/>
        </p:spPr>
        <p:txBody>
          <a:bodyPr wrap="square" lIns="0" rIns="0" tIns="0" bIns="0">
            <a:spAutoFit/>
          </a:bodyPr>
          <a:lstStyle/>
          <a:p>
            <a:pPr algn="l">
              <a:lnSpc>
                <a:spcPct val="122000"/>
              </a:lnSpc>
              <a:spcAft>
                <a:spcPts val="200"/>
              </a:spcAft>
            </a:pPr>
            <a:r>
              <a:rPr sz="1900" b="0">
                <a:solidFill>
                  <a:srgbClr val="1C2A22"/>
                </a:solidFill>
                <a:latin typeface="Arial"/>
              </a:rPr>
              <a:t>distinct models run</a:t>
            </a:r>
          </a:p>
        </p:txBody>
      </p:sp>
      <p:sp>
        <p:nvSpPr>
          <p:cNvPr id="22" name="TextBox 21"/>
          <p:cNvSpPr txBox="1"/>
          <p:nvPr/>
        </p:nvSpPr>
        <p:spPr>
          <a:xfrm>
            <a:off x="26490168" y="11800840"/>
            <a:ext cx="8083296" cy="365760"/>
          </a:xfrm>
          <a:prstGeom prst="rect">
            <a:avLst/>
          </a:prstGeom>
          <a:noFill/>
        </p:spPr>
        <p:txBody>
          <a:bodyPr wrap="square" lIns="0" rIns="0" tIns="0" bIns="0">
            <a:spAutoFit/>
          </a:bodyPr>
          <a:lstStyle/>
          <a:p>
            <a:pPr algn="l">
              <a:lnSpc>
                <a:spcPct val="122000"/>
              </a:lnSpc>
              <a:spcAft>
                <a:spcPts val="0"/>
              </a:spcAft>
            </a:pPr>
            <a:r>
              <a:rPr sz="1500" b="0">
                <a:solidFill>
                  <a:srgbClr val="5C6B62"/>
                </a:solidFill>
                <a:latin typeface="Arial"/>
              </a:rPr>
              <a:t>four families, one deployed</a:t>
            </a:r>
          </a:p>
        </p:txBody>
      </p:sp>
      <p:sp>
        <p:nvSpPr>
          <p:cNvPr id="23" name="TextBox 22"/>
          <p:cNvSpPr txBox="1"/>
          <p:nvPr/>
        </p:nvSpPr>
        <p:spPr>
          <a:xfrm>
            <a:off x="35076384" y="10755630"/>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B7A55"/>
                </a:solidFill>
                <a:latin typeface="Arial Narrow"/>
              </a:rPr>
              <a:t>0</a:t>
            </a:r>
          </a:p>
        </p:txBody>
      </p:sp>
      <p:sp>
        <p:nvSpPr>
          <p:cNvPr id="24" name="TextBox 23"/>
          <p:cNvSpPr txBox="1"/>
          <p:nvPr/>
        </p:nvSpPr>
        <p:spPr>
          <a:xfrm>
            <a:off x="35076384" y="11481053"/>
            <a:ext cx="8083296" cy="365760"/>
          </a:xfrm>
          <a:prstGeom prst="rect">
            <a:avLst/>
          </a:prstGeom>
          <a:noFill/>
        </p:spPr>
        <p:txBody>
          <a:bodyPr wrap="square" lIns="0" rIns="0" tIns="0" bIns="0">
            <a:spAutoFit/>
          </a:bodyPr>
          <a:lstStyle/>
          <a:p>
            <a:pPr algn="l">
              <a:lnSpc>
                <a:spcPct val="122000"/>
              </a:lnSpc>
              <a:spcAft>
                <a:spcPts val="200"/>
              </a:spcAft>
            </a:pPr>
            <a:r>
              <a:rPr sz="1900" b="0">
                <a:solidFill>
                  <a:srgbClr val="1C2A22"/>
                </a:solidFill>
                <a:latin typeface="Arial"/>
              </a:rPr>
              <a:t>robot frames labelled</a:t>
            </a:r>
          </a:p>
        </p:txBody>
      </p:sp>
      <p:sp>
        <p:nvSpPr>
          <p:cNvPr id="25" name="TextBox 24"/>
          <p:cNvSpPr txBox="1"/>
          <p:nvPr/>
        </p:nvSpPr>
        <p:spPr>
          <a:xfrm>
            <a:off x="35076384" y="11800840"/>
            <a:ext cx="8083296" cy="365760"/>
          </a:xfrm>
          <a:prstGeom prst="rect">
            <a:avLst/>
          </a:prstGeom>
          <a:noFill/>
        </p:spPr>
        <p:txBody>
          <a:bodyPr wrap="square" lIns="0" rIns="0" tIns="0" bIns="0">
            <a:spAutoFit/>
          </a:bodyPr>
          <a:lstStyle/>
          <a:p>
            <a:pPr algn="l">
              <a:lnSpc>
                <a:spcPct val="122000"/>
              </a:lnSpc>
              <a:spcAft>
                <a:spcPts val="0"/>
              </a:spcAft>
            </a:pPr>
            <a:r>
              <a:rPr sz="1500" b="0">
                <a:solidFill>
                  <a:srgbClr val="5C6B62"/>
                </a:solidFill>
                <a:latin typeface="Arial"/>
              </a:rPr>
              <a:t>the whole archive, so far</a:t>
            </a:r>
          </a:p>
        </p:txBody>
      </p:sp>
      <p:sp>
        <p:nvSpPr>
          <p:cNvPr id="26" name="Rectangle 25"/>
          <p:cNvSpPr/>
          <p:nvPr/>
        </p:nvSpPr>
        <p:spPr>
          <a:xfrm>
            <a:off x="731520" y="12142977"/>
            <a:ext cx="42428160" cy="23774"/>
          </a:xfrm>
          <a:prstGeom prst="rect">
            <a:avLst/>
          </a:prstGeom>
          <a:solidFill>
            <a:srgbClr val="CB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12636754"/>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Arial Narrow"/>
              </a:rPr>
              <a:t>One platform for every robot the lab owns</a:t>
            </a:r>
          </a:p>
        </p:txBody>
      </p:sp>
      <p:sp>
        <p:nvSpPr>
          <p:cNvPr id="28" name="Rectangle 27"/>
          <p:cNvSpPr/>
          <p:nvPr/>
        </p:nvSpPr>
        <p:spPr>
          <a:xfrm>
            <a:off x="731520" y="13165074"/>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13494257"/>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30" name="TextBox 29"/>
          <p:cNvSpPr txBox="1"/>
          <p:nvPr/>
        </p:nvSpPr>
        <p:spPr>
          <a:xfrm>
            <a:off x="731520" y="14866111"/>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Arial Narrow"/>
              </a:rPr>
              <a:t>Driving a robot from a browser</a:t>
            </a:r>
          </a:p>
        </p:txBody>
      </p:sp>
      <p:sp>
        <p:nvSpPr>
          <p:cNvPr id="31" name="Rectangle 30"/>
          <p:cNvSpPr/>
          <p:nvPr/>
        </p:nvSpPr>
        <p:spPr>
          <a:xfrm>
            <a:off x="731520" y="15394432"/>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15723615"/>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33" name="TextBox 32"/>
          <p:cNvSpPr txBox="1"/>
          <p:nvPr/>
        </p:nvSpPr>
        <p:spPr>
          <a:xfrm>
            <a:off x="731520" y="16801084"/>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Arial Narrow"/>
              </a:rPr>
              <a:t>Left alone for fifteen rounds</a:t>
            </a:r>
          </a:p>
        </p:txBody>
      </p:sp>
      <p:sp>
        <p:nvSpPr>
          <p:cNvPr id="34" name="Rectangle 33"/>
          <p:cNvSpPr/>
          <p:nvPr/>
        </p:nvSpPr>
        <p:spPr>
          <a:xfrm>
            <a:off x="731520" y="17329404"/>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f_rounds.png"/>
          <p:cNvPicPr>
            <a:picLocks noChangeAspect="1"/>
          </p:cNvPicPr>
          <p:nvPr/>
        </p:nvPicPr>
        <p:blipFill>
          <a:blip r:embed="rId3"/>
          <a:stretch>
            <a:fillRect/>
          </a:stretch>
        </p:blipFill>
        <p:spPr>
          <a:xfrm>
            <a:off x="731520" y="17658588"/>
            <a:ext cx="20482560" cy="4663440"/>
          </a:xfrm>
          <a:prstGeom prst="rect">
            <a:avLst/>
          </a:prstGeom>
        </p:spPr>
      </p:pic>
      <p:sp>
        <p:nvSpPr>
          <p:cNvPr id="36" name="TextBox 35"/>
          <p:cNvSpPr txBox="1"/>
          <p:nvPr/>
        </p:nvSpPr>
        <p:spPr>
          <a:xfrm>
            <a:off x="731520" y="22431756"/>
            <a:ext cx="20482560" cy="365760"/>
          </a:xfrm>
          <a:prstGeom prst="rect">
            <a:avLst/>
          </a:prstGeom>
          <a:noFill/>
        </p:spPr>
        <p:txBody>
          <a:bodyPr wrap="square" lIns="0" rIns="0" tIns="0" bIns="0">
            <a:spAutoFit/>
          </a:bodyPr>
          <a:lstStyle/>
          <a:p>
            <a:pPr algn="l">
              <a:lnSpc>
                <a:spcPct val="118000"/>
              </a:lnSpc>
              <a:spcAft>
                <a:spcPts val="0"/>
              </a:spcAft>
            </a:pPr>
            <a:r>
              <a:rPr sz="1500" b="0">
                <a:solidFill>
                  <a:srgbClr val="5C6B62"/>
                </a:solidFill>
                <a:latin typeface="Arial"/>
              </a:rPr>
              <a:t>Figure 3.  (f) Fifteen unattended rounds on a fixed holdout. (g) Round 15's exact dataset, three ways. The first two marks differ only in the starting weights, so their gap is the warm-start chain; the third is the recipe the campaign ran, whose wall-clock cap truncates the cosine, with its three seeds drawn behind it. Sigma throughout is that recipe's own seed spread, 0.0040 over three seeds, propagated to the difference being quoted. Completing the schedule is not the fix -- the second mark sits below the third.</a:t>
            </a:r>
          </a:p>
        </p:txBody>
      </p:sp>
      <p:sp>
        <p:nvSpPr>
          <p:cNvPr id="37" name="TextBox 36"/>
          <p:cNvSpPr txBox="1"/>
          <p:nvPr/>
        </p:nvSpPr>
        <p:spPr>
          <a:xfrm>
            <a:off x="731520" y="23417022"/>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Two cluster jobs, one collecting and one training, ran fifteen rounds against the locked registry with nobody in the room. Each round searched public sources, filtered what it found, merged, trained and evaluated. Every round reported success. Accuracy fell for fifteen rounds. This part is built and is switched off today.</a:t>
            </a:r>
          </a:p>
        </p:txBody>
      </p:sp>
      <p:sp>
        <p:nvSpPr>
          <p:cNvPr id="38" name="TextBox 37"/>
          <p:cNvSpPr txBox="1"/>
          <p:nvPr/>
        </p:nvSpPr>
        <p:spPr>
          <a:xfrm>
            <a:off x="21579840" y="12636754"/>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Arial Narrow"/>
              </a:rPr>
              <a:t>Robots on the platform today</a:t>
            </a:r>
          </a:p>
        </p:txBody>
      </p:sp>
      <p:sp>
        <p:nvSpPr>
          <p:cNvPr id="39" name="Rectangle 38"/>
          <p:cNvSpPr/>
          <p:nvPr/>
        </p:nvSpPr>
        <p:spPr>
          <a:xfrm>
            <a:off x="21579840" y="13165074"/>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579840" y="13494257"/>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Robot 241 is a tracked rover that drives crop rows and streams camera, GPS and two IMUs. The laser cart carries the weeder: a galvanometer laser, a down camera over the work zone and a forward camera. A Unitree humanoid has a project and has uploaded nothing yet. Between them the two ground vehicles have recorded 2,686 frames in 26 drives.</a:t>
            </a:r>
          </a:p>
        </p:txBody>
      </p:sp>
      <p:sp>
        <p:nvSpPr>
          <p:cNvPr id="41" name="TextBox 40"/>
          <p:cNvSpPr txBox="1"/>
          <p:nvPr/>
        </p:nvSpPr>
        <p:spPr>
          <a:xfrm>
            <a:off x="21579840" y="15160497"/>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Arial Narrow"/>
              </a:rPr>
              <a:t>Ask a dataset what it is good for</a:t>
            </a:r>
          </a:p>
        </p:txBody>
      </p:sp>
      <p:sp>
        <p:nvSpPr>
          <p:cNvPr id="42" name="Rectangle 41"/>
          <p:cNvSpPr/>
          <p:nvPr/>
        </p:nvSpPr>
        <p:spPr>
          <a:xfrm>
            <a:off x="21579840" y="15688817"/>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1579840" y="16018001"/>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44" name="TextBox 43"/>
          <p:cNvSpPr txBox="1"/>
          <p:nvPr/>
        </p:nvSpPr>
        <p:spPr>
          <a:xfrm>
            <a:off x="21579840" y="17684242"/>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Arial Narrow"/>
              </a:rPr>
              <a:t>On disk today</a:t>
            </a:r>
          </a:p>
        </p:txBody>
      </p:sp>
      <p:sp>
        <p:nvSpPr>
          <p:cNvPr id="45" name="Rectangle 44"/>
          <p:cNvSpPr/>
          <p:nvPr/>
        </p:nvSpPr>
        <p:spPr>
          <a:xfrm>
            <a:off x="21579840" y="18212562"/>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1579840" y="18541746"/>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Two robots have put 2,686 camera frames and 91,955 telemetry rows across nine streams onto the platform, over 26 drives, with 342 m of GPS track from 1,502 fixes. None of the frames is labelled.</a:t>
            </a:r>
          </a:p>
        </p:txBody>
      </p:sp>
      <p:sp>
        <p:nvSpPr>
          <p:cNvPr id="47" name="TextBox 46"/>
          <p:cNvSpPr txBox="1"/>
          <p:nvPr/>
        </p:nvSpPr>
        <p:spPr>
          <a:xfrm>
            <a:off x="21579840" y="19913600"/>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Arial Narrow"/>
              </a:rPr>
              <a:t>Asked something it had never seen</a:t>
            </a:r>
          </a:p>
        </p:txBody>
      </p:sp>
      <p:sp>
        <p:nvSpPr>
          <p:cNvPr id="48" name="Rectangle 47"/>
          <p:cNvSpPr/>
          <p:nvPr/>
        </p:nvSpPr>
        <p:spPr>
          <a:xfrm>
            <a:off x="21579840" y="20441920"/>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1579840" y="20771104"/>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Asked to plot a histogram of the heading change rate on the 241 field drive, the agent wrote the code and returned the plot on the first attempt. A fixed template cannot do that, because nothing in the platform knew that question would be asked. Across the platform, 9 datasets carry 92 turns of that conversation.</a:t>
            </a:r>
          </a:p>
        </p:txBody>
      </p:sp>
      <p:sp>
        <p:nvSpPr>
          <p:cNvPr id="50" name="TextBox 49"/>
          <p:cNvSpPr txBox="1"/>
          <p:nvPr/>
        </p:nvSpPr>
        <p:spPr>
          <a:xfrm>
            <a:off x="21579840" y="22437344"/>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Arial Narrow"/>
              </a:rPr>
              <a:t>More web data, less accuracy</a:t>
            </a:r>
          </a:p>
        </p:txBody>
      </p:sp>
      <p:sp>
        <p:nvSpPr>
          <p:cNvPr id="51" name="Rectangle 50"/>
          <p:cNvSpPr/>
          <p:nvPr/>
        </p:nvSpPr>
        <p:spPr>
          <a:xfrm>
            <a:off x="21579840" y="22965664"/>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1579840" y="23294848"/>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Twelve times the training data costs 0.0189 on our own 1,977-image holdout, three seeds at every rung, which is 8.2 times the seed spread. The same eight checkpoints fall on a second weed dataset too. One of six audited web sources reaches a 0.90 label-precision bar.</a:t>
            </a:r>
          </a:p>
        </p:txBody>
      </p:sp>
      <p:sp>
        <p:nvSpPr>
          <p:cNvPr id="53" name="TextBox 52"/>
          <p:cNvSpPr txBox="1"/>
          <p:nvPr/>
        </p:nvSpPr>
        <p:spPr>
          <a:xfrm>
            <a:off x="32552640" y="12636754"/>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Arial Narrow"/>
              </a:rPr>
              <a:t>A drive becomes a dataset as it opens</a:t>
            </a:r>
          </a:p>
        </p:txBody>
      </p:sp>
      <p:sp>
        <p:nvSpPr>
          <p:cNvPr id="54" name="Rectangle 53"/>
          <p:cNvSpPr/>
          <p:nvPr/>
        </p:nvSpPr>
        <p:spPr>
          <a:xfrm>
            <a:off x="32552640" y="13165074"/>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552640" y="13494257"/>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56" name="TextBox 55"/>
          <p:cNvSpPr txBox="1"/>
          <p:nvPr/>
        </p:nvSpPr>
        <p:spPr>
          <a:xfrm>
            <a:off x="32552640" y="15160497"/>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Arial Narrow"/>
              </a:rPr>
              <a:t>Four frames, as recorded</a:t>
            </a:r>
          </a:p>
        </p:txBody>
      </p:sp>
      <p:sp>
        <p:nvSpPr>
          <p:cNvPr id="57" name="Rectangle 56"/>
          <p:cNvSpPr/>
          <p:nvPr/>
        </p:nvSpPr>
        <p:spPr>
          <a:xfrm>
            <a:off x="32552640" y="15688817"/>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8" name="Picture 57" descr="l_robots.png"/>
          <p:cNvPicPr>
            <a:picLocks noChangeAspect="1"/>
          </p:cNvPicPr>
          <p:nvPr/>
        </p:nvPicPr>
        <p:blipFill>
          <a:blip r:embed="rId4"/>
          <a:stretch>
            <a:fillRect/>
          </a:stretch>
        </p:blipFill>
        <p:spPr>
          <a:xfrm>
            <a:off x="32552640" y="16018001"/>
            <a:ext cx="10607040" cy="2377440"/>
          </a:xfrm>
          <a:prstGeom prst="rect">
            <a:avLst/>
          </a:prstGeom>
        </p:spPr>
      </p:pic>
      <p:sp>
        <p:nvSpPr>
          <p:cNvPr id="59" name="TextBox 58"/>
          <p:cNvSpPr txBox="1"/>
          <p:nvPr/>
        </p:nvSpPr>
        <p:spPr>
          <a:xfrm>
            <a:off x="32552640" y="18505170"/>
            <a:ext cx="10607040" cy="365760"/>
          </a:xfrm>
          <a:prstGeom prst="rect">
            <a:avLst/>
          </a:prstGeom>
          <a:noFill/>
        </p:spPr>
        <p:txBody>
          <a:bodyPr wrap="square" lIns="0" rIns="0" tIns="0" bIns="0">
            <a:spAutoFit/>
          </a:bodyPr>
          <a:lstStyle/>
          <a:p>
            <a:pPr algn="l">
              <a:lnSpc>
                <a:spcPct val="118000"/>
              </a:lnSpc>
              <a:spcAft>
                <a:spcPts val="0"/>
              </a:spcAft>
            </a:pPr>
            <a:r>
              <a:rPr sz="1500" b="0">
                <a:solidFill>
                  <a:srgbClr val="5C6B62"/>
                </a:solidFill>
                <a:latin typeface="Arial"/>
              </a:rPr>
              <a:t>Figure 4.  Frames as recorded, unenhanced. Robot 241 has sent 2,238 frames at 640 x 360 and 1 Hz, the laser cart 427, and 75 of the cart's were taken in a field. None of the 2,686 is labelled. The rectangle in the down camera is the cart's fixed work-zone overlay. It is drawn on every frame, including the ones with no vegetation in them.</a:t>
            </a:r>
          </a:p>
        </p:txBody>
      </p:sp>
      <p:sp>
        <p:nvSpPr>
          <p:cNvPr id="60" name="TextBox 59"/>
          <p:cNvSpPr txBox="1"/>
          <p:nvPr/>
        </p:nvSpPr>
        <p:spPr>
          <a:xfrm>
            <a:off x="32552640" y="19715226"/>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Nothing here is enhanced and nothing is labelled. The rectangle in the cart's down camera is a fixed work-zone overlay: it sits at the same pixels on frames with no vegetation in them at all.</a:t>
            </a:r>
          </a:p>
        </p:txBody>
      </p:sp>
      <p:sp>
        <p:nvSpPr>
          <p:cNvPr id="61" name="TextBox 60"/>
          <p:cNvSpPr txBox="1"/>
          <p:nvPr/>
        </p:nvSpPr>
        <p:spPr>
          <a:xfrm>
            <a:off x="32552640" y="21087080"/>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Arial Narrow"/>
              </a:rPr>
              <a:t>Only one robot has the button</a:t>
            </a:r>
          </a:p>
        </p:txBody>
      </p:sp>
      <p:sp>
        <p:nvSpPr>
          <p:cNvPr id="62" name="Rectangle 61"/>
          <p:cNvSpPr/>
          <p:nvPr/>
        </p:nvSpPr>
        <p:spPr>
          <a:xfrm>
            <a:off x="32552640" y="21615400"/>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2552640" y="21944584"/>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The Drive button appears on the 241 project and not on the laser cart's, because the allow-list holds one target. The rover has been dark since 2026-08-28: the platform answers a drive request today with its own offline page. The cart has never been drivable from the platform.</a:t>
            </a:r>
          </a:p>
        </p:txBody>
      </p:sp>
      <p:sp>
        <p:nvSpPr>
          <p:cNvPr id="64" name="TextBox 63"/>
          <p:cNvSpPr txBox="1"/>
          <p:nvPr/>
        </p:nvSpPr>
        <p:spPr>
          <a:xfrm>
            <a:off x="32552640" y="23610824"/>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Arial Narrow"/>
              </a:rPr>
              <a:t>Which decisions a model makes</a:t>
            </a:r>
          </a:p>
        </p:txBody>
      </p:sp>
      <p:sp>
        <p:nvSpPr>
          <p:cNvPr id="65" name="Rectangle 64"/>
          <p:cNvSpPr/>
          <p:nvPr/>
        </p:nvSpPr>
        <p:spPr>
          <a:xfrm>
            <a:off x="32552640" y="24139144"/>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2552640" y="24468328"/>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A language model decides what the collector goes after next, judges whether a candidate dataset is on topic, and reviews a finished step. Those run on the cluster, as batch jobs, on open weights. The lab box hosts only the small guide model, and a verdict produced there is marked in its own record as a draft that may not be reported.</a:t>
            </a:r>
          </a:p>
        </p:txBody>
      </p:sp>
      <p:sp>
        <p:nvSpPr>
          <p:cNvPr id="67" name="TextBox 66"/>
          <p:cNvSpPr txBox="1"/>
          <p:nvPr/>
        </p:nvSpPr>
        <p:spPr>
          <a:xfrm>
            <a:off x="32552640" y="26134568"/>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Arial Narrow"/>
              </a:rPr>
              <a:t>Any research field is a project</a:t>
            </a:r>
          </a:p>
        </p:txBody>
      </p:sp>
      <p:sp>
        <p:nvSpPr>
          <p:cNvPr id="68" name="Rectangle 67"/>
          <p:cNvSpPr/>
          <p:nvPr/>
        </p:nvSpPr>
        <p:spPr>
          <a:xfrm>
            <a:off x="32552640" y="26662888"/>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2552640" y="26992072"/>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A lab member opens a project for any data type and any field, uploads images, video or sensor logs, and gets an automatic diagnosis before choosing what to do next. Weed detection is one project on this platform. The 241 rover, the laser cart and a Unitree humanoid each have their own.</a:t>
            </a:r>
          </a:p>
        </p:txBody>
      </p:sp>
      <p:sp>
        <p:nvSpPr>
          <p:cNvPr id="70" name="Rectangle 69"/>
          <p:cNvSpPr/>
          <p:nvPr/>
        </p:nvSpPr>
        <p:spPr>
          <a:xfrm>
            <a:off x="731520" y="30632400"/>
            <a:ext cx="42428160" cy="20116"/>
          </a:xfrm>
          <a:prstGeom prst="rect">
            <a:avLst/>
          </a:prstGeom>
          <a:solidFill>
            <a:srgbClr val="CB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5C6B62"/>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72" name="TextBox 71"/>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5C6B62"/>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73" name="TextBox 72"/>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5C6B62"/>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