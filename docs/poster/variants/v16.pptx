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384048" cy="3108960"/>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737360" y="384048"/>
            <a:ext cx="41422320" cy="365760"/>
          </a:xfrm>
          <a:prstGeom prst="rect">
            <a:avLst/>
          </a:prstGeom>
          <a:noFill/>
        </p:spPr>
        <p:txBody>
          <a:bodyPr wrap="square" lIns="0" rIns="0" tIns="0" bIns="0">
            <a:spAutoFit/>
          </a:bodyPr>
          <a:lstStyle/>
          <a:p>
            <a:pPr algn="l">
              <a:lnSpc>
                <a:spcPct val="95000"/>
              </a:lnSpc>
              <a:spcAft>
                <a:spcPts val="0"/>
              </a:spcAft>
            </a:pPr>
            <a:r>
              <a:rPr sz="10200" b="1">
                <a:solidFill>
                  <a:srgbClr val="24303B"/>
                </a:solidFill>
                <a:latin typeface="Arial Narrow"/>
              </a:rPr>
              <a:t>agentAI: A Research-Data Platform for Physical and Embodied Agents</a:t>
            </a:r>
          </a:p>
        </p:txBody>
      </p:sp>
      <p:sp>
        <p:nvSpPr>
          <p:cNvPr id="5" name="TextBox 4"/>
          <p:cNvSpPr txBox="1"/>
          <p:nvPr/>
        </p:nvSpPr>
        <p:spPr>
          <a:xfrm>
            <a:off x="1737360" y="2121408"/>
            <a:ext cx="41422320" cy="365760"/>
          </a:xfrm>
          <a:prstGeom prst="rect">
            <a:avLst/>
          </a:prstGeom>
          <a:noFill/>
        </p:spPr>
        <p:txBody>
          <a:bodyPr wrap="square" lIns="0" rIns="0" tIns="0" bIns="0">
            <a:spAutoFit/>
          </a:bodyPr>
          <a:lstStyle/>
          <a:p>
            <a:pPr algn="l">
              <a:lnSpc>
                <a:spcPct val="100000"/>
              </a:lnSpc>
              <a:spcAft>
                <a:spcPts val="0"/>
              </a:spcAft>
            </a:pPr>
            <a:r>
              <a:rPr sz="4000" b="1">
                <a:solidFill>
                  <a:srgbClr val="24303B"/>
                </a:solidFill>
                <a:latin typeface="Arial"/>
              </a:rPr>
              <a:t>Harry He   ·   Hongbo Zhang</a:t>
            </a:r>
          </a:p>
        </p:txBody>
      </p:sp>
      <p:sp>
        <p:nvSpPr>
          <p:cNvPr id="6" name="TextBox 5"/>
          <p:cNvSpPr txBox="1"/>
          <p:nvPr/>
        </p:nvSpPr>
        <p:spPr>
          <a:xfrm>
            <a:off x="1737360" y="2761488"/>
            <a:ext cx="41422320" cy="365760"/>
          </a:xfrm>
          <a:prstGeom prst="rect">
            <a:avLst/>
          </a:prstGeom>
          <a:noFill/>
        </p:spPr>
        <p:txBody>
          <a:bodyPr wrap="square" lIns="0" rIns="0" tIns="0" bIns="0">
            <a:spAutoFit/>
          </a:bodyPr>
          <a:lstStyle/>
          <a:p>
            <a:pPr algn="l">
              <a:lnSpc>
                <a:spcPct val="100000"/>
              </a:lnSpc>
              <a:spcAft>
                <a:spcPts val="0"/>
              </a:spcAft>
            </a:pPr>
            <a:r>
              <a:rPr sz="2400" b="0">
                <a:solidFill>
                  <a:srgbClr val="66727E"/>
                </a:solidFill>
                <a:latin typeface="Arial"/>
              </a:rPr>
              <a:t>Department of Engineering Technology   ·   Middle Tennessee State University, Murfreesboro, TN, USA</a:t>
            </a: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000" b="0">
                <a:solidFill>
                  <a:srgbClr val="24303B"/>
                </a:solidFill>
                <a:latin typeface="Arial"/>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pic>
        <p:nvPicPr>
          <p:cNvPr id="8" name="Picture 7" descr="w_robots.png"/>
          <p:cNvPicPr>
            <a:picLocks noChangeAspect="1"/>
          </p:cNvPicPr>
          <p:nvPr/>
        </p:nvPicPr>
        <p:blipFill>
          <a:blip r:embed="rId2"/>
          <a:stretch>
            <a:fillRect/>
          </a:stretch>
        </p:blipFill>
        <p:spPr>
          <a:xfrm>
            <a:off x="731520" y="5702808"/>
            <a:ext cx="42428160" cy="4023360"/>
          </a:xfrm>
          <a:prstGeom prst="rect">
            <a:avLst/>
          </a:prstGeom>
        </p:spPr>
      </p:pic>
      <p:sp>
        <p:nvSpPr>
          <p:cNvPr id="9" name="TextBox 8"/>
          <p:cNvSpPr txBox="1"/>
          <p:nvPr/>
        </p:nvSpPr>
        <p:spPr>
          <a:xfrm>
            <a:off x="731520" y="9835896"/>
            <a:ext cx="42428160" cy="365760"/>
          </a:xfrm>
          <a:prstGeom prst="rect">
            <a:avLst/>
          </a:prstGeom>
          <a:noFill/>
        </p:spPr>
        <p:txBody>
          <a:bodyPr wrap="square" lIns="0" rIns="0" tIns="0" bIns="0">
            <a:spAutoFit/>
          </a:bodyPr>
          <a:lstStyle/>
          <a:p>
            <a:pPr algn="l">
              <a:lnSpc>
                <a:spcPct val="118000"/>
              </a:lnSpc>
              <a:spcAft>
                <a:spcPts val="0"/>
              </a:spcAft>
            </a:pPr>
            <a:r>
              <a:rPr sz="1500" b="0">
                <a:solidFill>
                  <a:srgbClr val="66727E"/>
                </a:solidFill>
                <a:latin typeface="Arial"/>
              </a:rPr>
              <a:t>Figure 1.  Four frames as recorded, unenhanced and unlabelled. The rectangle in (c) is the cart's fixed work-zone overlay. It is drawn on every frame, including the ones with no vegetation in them.</a:t>
            </a:r>
          </a:p>
        </p:txBody>
      </p:sp>
      <p:sp>
        <p:nvSpPr>
          <p:cNvPr id="10" name="Rectangle 9"/>
          <p:cNvSpPr/>
          <p:nvPr/>
        </p:nvSpPr>
        <p:spPr>
          <a:xfrm>
            <a:off x="731520" y="10554461"/>
            <a:ext cx="42428160" cy="23774"/>
          </a:xfrm>
          <a:prstGeom prst="rect">
            <a:avLst/>
          </a:prstGeom>
          <a:solidFill>
            <a:srgbClr val="CA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0755630"/>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Arial Narrow"/>
              </a:rPr>
              <a:t>2,686</a:t>
            </a:r>
          </a:p>
        </p:txBody>
      </p:sp>
      <p:sp>
        <p:nvSpPr>
          <p:cNvPr id="12" name="TextBox 11"/>
          <p:cNvSpPr txBox="1"/>
          <p:nvPr/>
        </p:nvSpPr>
        <p:spPr>
          <a:xfrm>
            <a:off x="731520" y="11481053"/>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24303B"/>
                </a:solidFill>
                <a:latin typeface="Arial"/>
              </a:rPr>
              <a:t>camera frames</a:t>
            </a:r>
          </a:p>
        </p:txBody>
      </p:sp>
      <p:sp>
        <p:nvSpPr>
          <p:cNvPr id="13" name="TextBox 12"/>
          <p:cNvSpPr txBox="1"/>
          <p:nvPr/>
        </p:nvSpPr>
        <p:spPr>
          <a:xfrm>
            <a:off x="731520" y="11800840"/>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6727E"/>
                </a:solidFill>
                <a:latin typeface="Arial"/>
              </a:rPr>
              <a:t>26 drives, 2 robots, 0 labelled</a:t>
            </a:r>
          </a:p>
        </p:txBody>
      </p:sp>
      <p:sp>
        <p:nvSpPr>
          <p:cNvPr id="14" name="TextBox 13"/>
          <p:cNvSpPr txBox="1"/>
          <p:nvPr/>
        </p:nvSpPr>
        <p:spPr>
          <a:xfrm>
            <a:off x="9317736" y="10755630"/>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Arial Narrow"/>
              </a:rPr>
              <a:t>91,955</a:t>
            </a:r>
          </a:p>
        </p:txBody>
      </p:sp>
      <p:sp>
        <p:nvSpPr>
          <p:cNvPr id="15" name="TextBox 14"/>
          <p:cNvSpPr txBox="1"/>
          <p:nvPr/>
        </p:nvSpPr>
        <p:spPr>
          <a:xfrm>
            <a:off x="9317736" y="11481053"/>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24303B"/>
                </a:solidFill>
                <a:latin typeface="Arial"/>
              </a:rPr>
              <a:t>telemetry rows</a:t>
            </a:r>
          </a:p>
        </p:txBody>
      </p:sp>
      <p:sp>
        <p:nvSpPr>
          <p:cNvPr id="16" name="TextBox 15"/>
          <p:cNvSpPr txBox="1"/>
          <p:nvPr/>
        </p:nvSpPr>
        <p:spPr>
          <a:xfrm>
            <a:off x="9317736" y="11800840"/>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6727E"/>
                </a:solidFill>
                <a:latin typeface="Arial"/>
              </a:rPr>
              <a:t>nine streams, counted line by line</a:t>
            </a:r>
          </a:p>
        </p:txBody>
      </p:sp>
      <p:sp>
        <p:nvSpPr>
          <p:cNvPr id="17" name="TextBox 16"/>
          <p:cNvSpPr txBox="1"/>
          <p:nvPr/>
        </p:nvSpPr>
        <p:spPr>
          <a:xfrm>
            <a:off x="17903952" y="10755630"/>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Arial Narrow"/>
              </a:rPr>
              <a:t>342 m</a:t>
            </a:r>
          </a:p>
        </p:txBody>
      </p:sp>
      <p:sp>
        <p:nvSpPr>
          <p:cNvPr id="18" name="TextBox 17"/>
          <p:cNvSpPr txBox="1"/>
          <p:nvPr/>
        </p:nvSpPr>
        <p:spPr>
          <a:xfrm>
            <a:off x="17903952" y="11481053"/>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24303B"/>
                </a:solidFill>
                <a:latin typeface="Arial"/>
              </a:rPr>
              <a:t>of GPS track</a:t>
            </a:r>
          </a:p>
        </p:txBody>
      </p:sp>
      <p:sp>
        <p:nvSpPr>
          <p:cNvPr id="19" name="TextBox 18"/>
          <p:cNvSpPr txBox="1"/>
          <p:nvPr/>
        </p:nvSpPr>
        <p:spPr>
          <a:xfrm>
            <a:off x="17903952" y="11800840"/>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6727E"/>
                </a:solidFill>
                <a:latin typeface="Arial"/>
              </a:rPr>
              <a:t>1,502 fixes over 18 drives</a:t>
            </a:r>
          </a:p>
        </p:txBody>
      </p:sp>
      <p:sp>
        <p:nvSpPr>
          <p:cNvPr id="20" name="TextBox 19"/>
          <p:cNvSpPr txBox="1"/>
          <p:nvPr/>
        </p:nvSpPr>
        <p:spPr>
          <a:xfrm>
            <a:off x="26490168" y="10755630"/>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Arial Narrow"/>
              </a:rPr>
              <a:t>27</a:t>
            </a:r>
          </a:p>
        </p:txBody>
      </p:sp>
      <p:sp>
        <p:nvSpPr>
          <p:cNvPr id="21" name="TextBox 20"/>
          <p:cNvSpPr txBox="1"/>
          <p:nvPr/>
        </p:nvSpPr>
        <p:spPr>
          <a:xfrm>
            <a:off x="26490168" y="11481053"/>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24303B"/>
                </a:solidFill>
                <a:latin typeface="Arial"/>
              </a:rPr>
              <a:t>distinct models run</a:t>
            </a:r>
          </a:p>
        </p:txBody>
      </p:sp>
      <p:sp>
        <p:nvSpPr>
          <p:cNvPr id="22" name="TextBox 21"/>
          <p:cNvSpPr txBox="1"/>
          <p:nvPr/>
        </p:nvSpPr>
        <p:spPr>
          <a:xfrm>
            <a:off x="26490168" y="11800840"/>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6727E"/>
                </a:solidFill>
                <a:latin typeface="Arial"/>
              </a:rPr>
              <a:t>four families, one deployed</a:t>
            </a:r>
          </a:p>
        </p:txBody>
      </p:sp>
      <p:sp>
        <p:nvSpPr>
          <p:cNvPr id="23" name="TextBox 22"/>
          <p:cNvSpPr txBox="1"/>
          <p:nvPr/>
        </p:nvSpPr>
        <p:spPr>
          <a:xfrm>
            <a:off x="35076384" y="10755630"/>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Arial Narrow"/>
              </a:rPr>
              <a:t>0</a:t>
            </a:r>
          </a:p>
        </p:txBody>
      </p:sp>
      <p:sp>
        <p:nvSpPr>
          <p:cNvPr id="24" name="TextBox 23"/>
          <p:cNvSpPr txBox="1"/>
          <p:nvPr/>
        </p:nvSpPr>
        <p:spPr>
          <a:xfrm>
            <a:off x="35076384" y="11481053"/>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24303B"/>
                </a:solidFill>
                <a:latin typeface="Arial"/>
              </a:rPr>
              <a:t>robot frames labelled</a:t>
            </a:r>
          </a:p>
        </p:txBody>
      </p:sp>
      <p:sp>
        <p:nvSpPr>
          <p:cNvPr id="25" name="TextBox 24"/>
          <p:cNvSpPr txBox="1"/>
          <p:nvPr/>
        </p:nvSpPr>
        <p:spPr>
          <a:xfrm>
            <a:off x="35076384" y="11800840"/>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6727E"/>
                </a:solidFill>
                <a:latin typeface="Arial"/>
              </a:rPr>
              <a:t>the whole archive, so far</a:t>
            </a:r>
          </a:p>
        </p:txBody>
      </p:sp>
      <p:sp>
        <p:nvSpPr>
          <p:cNvPr id="26" name="Rectangle 25"/>
          <p:cNvSpPr/>
          <p:nvPr/>
        </p:nvSpPr>
        <p:spPr>
          <a:xfrm>
            <a:off x="731520" y="12142977"/>
            <a:ext cx="42428160" cy="23774"/>
          </a:xfrm>
          <a:prstGeom prst="rect">
            <a:avLst/>
          </a:prstGeom>
          <a:solidFill>
            <a:srgbClr val="CA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12636754"/>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One platform for every robot the lab owns</a:t>
            </a:r>
          </a:p>
        </p:txBody>
      </p:sp>
      <p:sp>
        <p:nvSpPr>
          <p:cNvPr id="28" name="Rectangle 27"/>
          <p:cNvSpPr/>
          <p:nvPr/>
        </p:nvSpPr>
        <p:spPr>
          <a:xfrm>
            <a:off x="731520" y="13165074"/>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13494257"/>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30" name="TextBox 29"/>
          <p:cNvSpPr txBox="1"/>
          <p:nvPr/>
        </p:nvSpPr>
        <p:spPr>
          <a:xfrm>
            <a:off x="731520" y="15454883"/>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Driving a robot from a browser</a:t>
            </a:r>
          </a:p>
        </p:txBody>
      </p:sp>
      <p:sp>
        <p:nvSpPr>
          <p:cNvPr id="31" name="Rectangle 30"/>
          <p:cNvSpPr/>
          <p:nvPr/>
        </p:nvSpPr>
        <p:spPr>
          <a:xfrm>
            <a:off x="731520" y="15983203"/>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16312387"/>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33" name="TextBox 32"/>
          <p:cNvSpPr txBox="1"/>
          <p:nvPr/>
        </p:nvSpPr>
        <p:spPr>
          <a:xfrm>
            <a:off x="731520" y="17978628"/>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Four frames, as recorded</a:t>
            </a:r>
          </a:p>
        </p:txBody>
      </p:sp>
      <p:sp>
        <p:nvSpPr>
          <p:cNvPr id="34" name="Rectangle 33"/>
          <p:cNvSpPr/>
          <p:nvPr/>
        </p:nvSpPr>
        <p:spPr>
          <a:xfrm>
            <a:off x="731520" y="18506948"/>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l_robots.png"/>
          <p:cNvPicPr>
            <a:picLocks noChangeAspect="1"/>
          </p:cNvPicPr>
          <p:nvPr/>
        </p:nvPicPr>
        <p:blipFill>
          <a:blip r:embed="rId3"/>
          <a:stretch>
            <a:fillRect/>
          </a:stretch>
        </p:blipFill>
        <p:spPr>
          <a:xfrm>
            <a:off x="731520" y="18836132"/>
            <a:ext cx="10607040" cy="2377440"/>
          </a:xfrm>
          <a:prstGeom prst="rect">
            <a:avLst/>
          </a:prstGeom>
        </p:spPr>
      </p:pic>
      <p:sp>
        <p:nvSpPr>
          <p:cNvPr id="36" name="TextBox 35"/>
          <p:cNvSpPr txBox="1"/>
          <p:nvPr/>
        </p:nvSpPr>
        <p:spPr>
          <a:xfrm>
            <a:off x="731520" y="21323300"/>
            <a:ext cx="10607040" cy="365760"/>
          </a:xfrm>
          <a:prstGeom prst="rect">
            <a:avLst/>
          </a:prstGeom>
          <a:noFill/>
        </p:spPr>
        <p:txBody>
          <a:bodyPr wrap="square" lIns="0" rIns="0" tIns="0" bIns="0">
            <a:spAutoFit/>
          </a:bodyPr>
          <a:lstStyle/>
          <a:p>
            <a:pPr algn="l">
              <a:lnSpc>
                <a:spcPct val="118000"/>
              </a:lnSpc>
              <a:spcAft>
                <a:spcPts val="0"/>
              </a:spcAft>
            </a:pPr>
            <a:r>
              <a:rPr sz="1500" b="0">
                <a:solidFill>
                  <a:srgbClr val="66727E"/>
                </a:solidFill>
                <a:latin typeface="Arial"/>
              </a:rPr>
              <a:t>Figure 3.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37" name="TextBox 36"/>
          <p:cNvSpPr txBox="1"/>
          <p:nvPr/>
        </p:nvSpPr>
        <p:spPr>
          <a:xfrm>
            <a:off x="731520" y="22533356"/>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Nothing here is enhanced and nothing is labelled. The rectangle in the cart's down camera is a fixed work-zone overlay: it sits at the same pixels on frames with no vegetation in them at all.</a:t>
            </a:r>
          </a:p>
        </p:txBody>
      </p:sp>
      <p:sp>
        <p:nvSpPr>
          <p:cNvPr id="38" name="TextBox 37"/>
          <p:cNvSpPr txBox="1"/>
          <p:nvPr/>
        </p:nvSpPr>
        <p:spPr>
          <a:xfrm>
            <a:off x="731520" y="23905210"/>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Only one robot has the button</a:t>
            </a:r>
          </a:p>
        </p:txBody>
      </p:sp>
      <p:sp>
        <p:nvSpPr>
          <p:cNvPr id="39" name="Rectangle 38"/>
          <p:cNvSpPr/>
          <p:nvPr/>
        </p:nvSpPr>
        <p:spPr>
          <a:xfrm>
            <a:off x="731520" y="24433530"/>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24762714"/>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41" name="TextBox 40"/>
          <p:cNvSpPr txBox="1"/>
          <p:nvPr/>
        </p:nvSpPr>
        <p:spPr>
          <a:xfrm>
            <a:off x="731520" y="26428954"/>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Which decisions a model makes</a:t>
            </a:r>
          </a:p>
        </p:txBody>
      </p:sp>
      <p:sp>
        <p:nvSpPr>
          <p:cNvPr id="42" name="Rectangle 41"/>
          <p:cNvSpPr/>
          <p:nvPr/>
        </p:nvSpPr>
        <p:spPr>
          <a:xfrm>
            <a:off x="731520" y="26957274"/>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27286458"/>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44" name="TextBox 43"/>
          <p:cNvSpPr txBox="1"/>
          <p:nvPr/>
        </p:nvSpPr>
        <p:spPr>
          <a:xfrm>
            <a:off x="11704320" y="12636754"/>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Robots on the platform today</a:t>
            </a:r>
          </a:p>
        </p:txBody>
      </p:sp>
      <p:sp>
        <p:nvSpPr>
          <p:cNvPr id="45" name="Rectangle 44"/>
          <p:cNvSpPr/>
          <p:nvPr/>
        </p:nvSpPr>
        <p:spPr>
          <a:xfrm>
            <a:off x="11704320" y="13165074"/>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704320" y="13494257"/>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47" name="TextBox 46"/>
          <p:cNvSpPr txBox="1"/>
          <p:nvPr/>
        </p:nvSpPr>
        <p:spPr>
          <a:xfrm>
            <a:off x="11704320" y="15160497"/>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Ask a dataset what it is good for</a:t>
            </a:r>
          </a:p>
        </p:txBody>
      </p:sp>
      <p:sp>
        <p:nvSpPr>
          <p:cNvPr id="48" name="Rectangle 47"/>
          <p:cNvSpPr/>
          <p:nvPr/>
        </p:nvSpPr>
        <p:spPr>
          <a:xfrm>
            <a:off x="11704320" y="15688817"/>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1704320" y="16018001"/>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50" name="TextBox 49"/>
          <p:cNvSpPr txBox="1"/>
          <p:nvPr/>
        </p:nvSpPr>
        <p:spPr>
          <a:xfrm>
            <a:off x="11704320" y="17684242"/>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On disk today</a:t>
            </a:r>
          </a:p>
        </p:txBody>
      </p:sp>
      <p:sp>
        <p:nvSpPr>
          <p:cNvPr id="51" name="Rectangle 50"/>
          <p:cNvSpPr/>
          <p:nvPr/>
        </p:nvSpPr>
        <p:spPr>
          <a:xfrm>
            <a:off x="11704320" y="18212562"/>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704320" y="18541746"/>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Two robots have put 2,686 camera frames and 91,955 telemetry rows across nine streams onto the platform, over 26 drives, with 342 m of GPS track from 1,502 fixes. None of the frames is labelled.</a:t>
            </a:r>
          </a:p>
        </p:txBody>
      </p:sp>
      <p:sp>
        <p:nvSpPr>
          <p:cNvPr id="53" name="TextBox 52"/>
          <p:cNvSpPr txBox="1"/>
          <p:nvPr/>
        </p:nvSpPr>
        <p:spPr>
          <a:xfrm>
            <a:off x="11704320" y="19913600"/>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Asked something it had never seen</a:t>
            </a:r>
          </a:p>
        </p:txBody>
      </p:sp>
      <p:sp>
        <p:nvSpPr>
          <p:cNvPr id="54" name="Rectangle 53"/>
          <p:cNvSpPr/>
          <p:nvPr/>
        </p:nvSpPr>
        <p:spPr>
          <a:xfrm>
            <a:off x="11704320" y="20441920"/>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1704320" y="20771104"/>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56" name="TextBox 55"/>
          <p:cNvSpPr txBox="1"/>
          <p:nvPr/>
        </p:nvSpPr>
        <p:spPr>
          <a:xfrm>
            <a:off x="11704320" y="22437344"/>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More web data, less accuracy</a:t>
            </a:r>
          </a:p>
        </p:txBody>
      </p:sp>
      <p:sp>
        <p:nvSpPr>
          <p:cNvPr id="57" name="Rectangle 56"/>
          <p:cNvSpPr/>
          <p:nvPr/>
        </p:nvSpPr>
        <p:spPr>
          <a:xfrm>
            <a:off x="11704320" y="22965664"/>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1704320" y="23294848"/>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59" name="TextBox 58"/>
          <p:cNvSpPr txBox="1"/>
          <p:nvPr/>
        </p:nvSpPr>
        <p:spPr>
          <a:xfrm>
            <a:off x="22677120" y="12636754"/>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A drive becomes a dataset as it opens</a:t>
            </a:r>
          </a:p>
        </p:txBody>
      </p:sp>
      <p:sp>
        <p:nvSpPr>
          <p:cNvPr id="60" name="Rectangle 59"/>
          <p:cNvSpPr/>
          <p:nvPr/>
        </p:nvSpPr>
        <p:spPr>
          <a:xfrm>
            <a:off x="22677120" y="13165074"/>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2677120" y="13494257"/>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62" name="TextBox 61"/>
          <p:cNvSpPr txBox="1"/>
          <p:nvPr/>
        </p:nvSpPr>
        <p:spPr>
          <a:xfrm>
            <a:off x="22677120" y="14571725"/>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Left alone for fifteen rounds</a:t>
            </a:r>
          </a:p>
        </p:txBody>
      </p:sp>
      <p:sp>
        <p:nvSpPr>
          <p:cNvPr id="63" name="Rectangle 62"/>
          <p:cNvSpPr/>
          <p:nvPr/>
        </p:nvSpPr>
        <p:spPr>
          <a:xfrm>
            <a:off x="22677120" y="15100046"/>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f_rounds.png"/>
          <p:cNvPicPr>
            <a:picLocks noChangeAspect="1"/>
          </p:cNvPicPr>
          <p:nvPr/>
        </p:nvPicPr>
        <p:blipFill>
          <a:blip r:embed="rId4"/>
          <a:stretch>
            <a:fillRect/>
          </a:stretch>
        </p:blipFill>
        <p:spPr>
          <a:xfrm>
            <a:off x="22677120" y="15429229"/>
            <a:ext cx="20482560" cy="4663440"/>
          </a:xfrm>
          <a:prstGeom prst="rect">
            <a:avLst/>
          </a:prstGeom>
        </p:spPr>
      </p:pic>
      <p:sp>
        <p:nvSpPr>
          <p:cNvPr id="65" name="TextBox 64"/>
          <p:cNvSpPr txBox="1"/>
          <p:nvPr/>
        </p:nvSpPr>
        <p:spPr>
          <a:xfrm>
            <a:off x="22677120" y="20202398"/>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66727E"/>
                </a:solidFill>
                <a:latin typeface="Arial"/>
              </a:rPr>
              <a:t>Figure 4.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66" name="TextBox 65"/>
          <p:cNvSpPr txBox="1"/>
          <p:nvPr/>
        </p:nvSpPr>
        <p:spPr>
          <a:xfrm>
            <a:off x="22677120" y="21187664"/>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67" name="TextBox 66"/>
          <p:cNvSpPr txBox="1"/>
          <p:nvPr/>
        </p:nvSpPr>
        <p:spPr>
          <a:xfrm>
            <a:off x="22677120" y="22265132"/>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Everything we trained, ran, or rejected</a:t>
            </a:r>
          </a:p>
        </p:txBody>
      </p:sp>
      <p:sp>
        <p:nvSpPr>
          <p:cNvPr id="68" name="Rectangle 67"/>
          <p:cNvSpPr/>
          <p:nvPr/>
        </p:nvSpPr>
        <p:spPr>
          <a:xfrm>
            <a:off x="22677120" y="22793452"/>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9" name="Picture 68" descr="m_ledger.png"/>
          <p:cNvPicPr>
            <a:picLocks noChangeAspect="1"/>
          </p:cNvPicPr>
          <p:nvPr/>
        </p:nvPicPr>
        <p:blipFill>
          <a:blip r:embed="rId5"/>
          <a:stretch>
            <a:fillRect/>
          </a:stretch>
        </p:blipFill>
        <p:spPr>
          <a:xfrm>
            <a:off x="22677120" y="23122636"/>
            <a:ext cx="20482560" cy="3749040"/>
          </a:xfrm>
          <a:prstGeom prst="rect">
            <a:avLst/>
          </a:prstGeom>
        </p:spPr>
      </p:pic>
      <p:sp>
        <p:nvSpPr>
          <p:cNvPr id="70" name="TextBox 69"/>
          <p:cNvSpPr txBox="1"/>
          <p:nvPr/>
        </p:nvSpPr>
        <p:spPr>
          <a:xfrm>
            <a:off x="22677120" y="26981404"/>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66727E"/>
                </a:solidFill>
                <a:latin typeface="Arial"/>
              </a:rPr>
              <a:t>Figure 5.  30 rows in four families, which is 27 distinct models: OWLv2-large and Qwen2.5-7B each appear twice because each does two jobs here. One model is deployed. The zero-shot column is a single deterministic pass per model with no repeats, scored as mAP50 on the 848-image split; the reviewer column is the 149-case dev split, and two of its arms are still running. RF-DETR's score is on a third scale and is never differenced against the rows above it: the one measured offset between two of our evaluators, 0.0239, is larger than the gap on display.</a:t>
            </a:r>
          </a:p>
        </p:txBody>
      </p:sp>
      <p:sp>
        <p:nvSpPr>
          <p:cNvPr id="71" name="TextBox 70"/>
          <p:cNvSpPr txBox="1"/>
          <p:nvPr/>
        </p:nvSpPr>
        <p:spPr>
          <a:xfrm>
            <a:off x="22677120" y="27966670"/>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Thirty rows in four families, which is 27 distinct models. Five detectors trained on our own holdout, two vision models inside the loop, fourteen vision-language models zero-shot, and nine language models as reviewers. One is deployed.</a:t>
            </a:r>
          </a:p>
        </p:txBody>
      </p:sp>
      <p:sp>
        <p:nvSpPr>
          <p:cNvPr id="72" name="Rectangle 71"/>
          <p:cNvSpPr/>
          <p:nvPr/>
        </p:nvSpPr>
        <p:spPr>
          <a:xfrm>
            <a:off x="731520" y="30632400"/>
            <a:ext cx="42428160" cy="20116"/>
          </a:xfrm>
          <a:prstGeom prst="rect">
            <a:avLst/>
          </a:prstGeom>
          <a:solidFill>
            <a:srgbClr val="CA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66727E"/>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74" name="TextBox 73"/>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66727E"/>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75" name="TextBox 74"/>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66727E"/>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