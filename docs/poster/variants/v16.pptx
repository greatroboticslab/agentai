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10200" b="1">
                <a:solidFill>
                  <a:srgbClr val="24303B"/>
                </a:solidFill>
                <a:latin typeface="Arial Narrow"/>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24303B"/>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6727E"/>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2430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702808"/>
            <a:ext cx="42428160" cy="4023360"/>
          </a:xfrm>
          <a:prstGeom prst="rect">
            <a:avLst/>
          </a:prstGeom>
        </p:spPr>
      </p:pic>
      <p:sp>
        <p:nvSpPr>
          <p:cNvPr id="9" name="TextBox 8"/>
          <p:cNvSpPr txBox="1"/>
          <p:nvPr/>
        </p:nvSpPr>
        <p:spPr>
          <a:xfrm>
            <a:off x="731520" y="9835896"/>
            <a:ext cx="4242816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554461"/>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2,686</a:t>
            </a:r>
          </a:p>
        </p:txBody>
      </p:sp>
      <p:sp>
        <p:nvSpPr>
          <p:cNvPr id="12" name="TextBox 11"/>
          <p:cNvSpPr txBox="1"/>
          <p:nvPr/>
        </p:nvSpPr>
        <p:spPr>
          <a:xfrm>
            <a:off x="731520"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camera frames</a:t>
            </a:r>
          </a:p>
        </p:txBody>
      </p:sp>
      <p:sp>
        <p:nvSpPr>
          <p:cNvPr id="13" name="TextBox 12"/>
          <p:cNvSpPr txBox="1"/>
          <p:nvPr/>
        </p:nvSpPr>
        <p:spPr>
          <a:xfrm>
            <a:off x="731520"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26 drives, 2 robots, 0 labelled</a:t>
            </a:r>
          </a:p>
        </p:txBody>
      </p:sp>
      <p:sp>
        <p:nvSpPr>
          <p:cNvPr id="14" name="TextBox 13"/>
          <p:cNvSpPr txBox="1"/>
          <p:nvPr/>
        </p:nvSpPr>
        <p:spPr>
          <a:xfrm>
            <a:off x="9317736"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91,955</a:t>
            </a:r>
          </a:p>
        </p:txBody>
      </p:sp>
      <p:sp>
        <p:nvSpPr>
          <p:cNvPr id="15" name="TextBox 14"/>
          <p:cNvSpPr txBox="1"/>
          <p:nvPr/>
        </p:nvSpPr>
        <p:spPr>
          <a:xfrm>
            <a:off x="9317736"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telemetry rows</a:t>
            </a:r>
          </a:p>
        </p:txBody>
      </p:sp>
      <p:sp>
        <p:nvSpPr>
          <p:cNvPr id="16" name="TextBox 15"/>
          <p:cNvSpPr txBox="1"/>
          <p:nvPr/>
        </p:nvSpPr>
        <p:spPr>
          <a:xfrm>
            <a:off x="9317736"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nine streams, counted line by line</a:t>
            </a:r>
          </a:p>
        </p:txBody>
      </p:sp>
      <p:sp>
        <p:nvSpPr>
          <p:cNvPr id="17" name="TextBox 16"/>
          <p:cNvSpPr txBox="1"/>
          <p:nvPr/>
        </p:nvSpPr>
        <p:spPr>
          <a:xfrm>
            <a:off x="17903952"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342 m</a:t>
            </a:r>
          </a:p>
        </p:txBody>
      </p:sp>
      <p:sp>
        <p:nvSpPr>
          <p:cNvPr id="18" name="TextBox 17"/>
          <p:cNvSpPr txBox="1"/>
          <p:nvPr/>
        </p:nvSpPr>
        <p:spPr>
          <a:xfrm>
            <a:off x="17903952"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of GPS track</a:t>
            </a:r>
          </a:p>
        </p:txBody>
      </p:sp>
      <p:sp>
        <p:nvSpPr>
          <p:cNvPr id="19" name="TextBox 18"/>
          <p:cNvSpPr txBox="1"/>
          <p:nvPr/>
        </p:nvSpPr>
        <p:spPr>
          <a:xfrm>
            <a:off x="17903952"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1,502 fixes over 18 drives</a:t>
            </a:r>
          </a:p>
        </p:txBody>
      </p:sp>
      <p:sp>
        <p:nvSpPr>
          <p:cNvPr id="20" name="TextBox 19"/>
          <p:cNvSpPr txBox="1"/>
          <p:nvPr/>
        </p:nvSpPr>
        <p:spPr>
          <a:xfrm>
            <a:off x="26490168"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27</a:t>
            </a:r>
          </a:p>
        </p:txBody>
      </p:sp>
      <p:sp>
        <p:nvSpPr>
          <p:cNvPr id="21" name="TextBox 20"/>
          <p:cNvSpPr txBox="1"/>
          <p:nvPr/>
        </p:nvSpPr>
        <p:spPr>
          <a:xfrm>
            <a:off x="26490168"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distinct models run</a:t>
            </a:r>
          </a:p>
        </p:txBody>
      </p:sp>
      <p:sp>
        <p:nvSpPr>
          <p:cNvPr id="22" name="TextBox 21"/>
          <p:cNvSpPr txBox="1"/>
          <p:nvPr/>
        </p:nvSpPr>
        <p:spPr>
          <a:xfrm>
            <a:off x="26490168"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four families, one deployed</a:t>
            </a:r>
          </a:p>
        </p:txBody>
      </p:sp>
      <p:sp>
        <p:nvSpPr>
          <p:cNvPr id="23" name="TextBox 22"/>
          <p:cNvSpPr txBox="1"/>
          <p:nvPr/>
        </p:nvSpPr>
        <p:spPr>
          <a:xfrm>
            <a:off x="35076384"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0</a:t>
            </a:r>
          </a:p>
        </p:txBody>
      </p:sp>
      <p:sp>
        <p:nvSpPr>
          <p:cNvPr id="24" name="TextBox 23"/>
          <p:cNvSpPr txBox="1"/>
          <p:nvPr/>
        </p:nvSpPr>
        <p:spPr>
          <a:xfrm>
            <a:off x="35076384"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robot frames labelled</a:t>
            </a:r>
          </a:p>
        </p:txBody>
      </p:sp>
      <p:sp>
        <p:nvSpPr>
          <p:cNvPr id="25" name="TextBox 24"/>
          <p:cNvSpPr txBox="1"/>
          <p:nvPr/>
        </p:nvSpPr>
        <p:spPr>
          <a:xfrm>
            <a:off x="35076384"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the whole archive, so far</a:t>
            </a:r>
          </a:p>
        </p:txBody>
      </p:sp>
      <p:sp>
        <p:nvSpPr>
          <p:cNvPr id="26" name="Rectangle 25"/>
          <p:cNvSpPr/>
          <p:nvPr/>
        </p:nvSpPr>
        <p:spPr>
          <a:xfrm>
            <a:off x="731520" y="12142977"/>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63675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One platform for every robot the lab owns</a:t>
            </a:r>
          </a:p>
        </p:txBody>
      </p:sp>
      <p:sp>
        <p:nvSpPr>
          <p:cNvPr id="28" name="Rectangle 27"/>
          <p:cNvSpPr/>
          <p:nvPr/>
        </p:nvSpPr>
        <p:spPr>
          <a:xfrm>
            <a:off x="731520" y="1316507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494257"/>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5454883"/>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Narrow"/>
              </a:rPr>
              <a:t>1,389</a:t>
            </a:r>
          </a:p>
        </p:txBody>
      </p:sp>
      <p:sp>
        <p:nvSpPr>
          <p:cNvPr id="31" name="TextBox 30"/>
          <p:cNvSpPr txBox="1"/>
          <p:nvPr/>
        </p:nvSpPr>
        <p:spPr>
          <a:xfrm>
            <a:off x="731520" y="16258031"/>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6727E"/>
                </a:solidFill>
                <a:latin typeface="Arial"/>
              </a:rPr>
              <a:t>joystick commands through the platform</a:t>
            </a:r>
          </a:p>
        </p:txBody>
      </p:sp>
      <p:sp>
        <p:nvSpPr>
          <p:cNvPr id="32" name="TextBox 31"/>
          <p:cNvSpPr txBox="1"/>
          <p:nvPr/>
        </p:nvSpPr>
        <p:spPr>
          <a:xfrm>
            <a:off x="731520" y="1671294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Driving a robot from a browser</a:t>
            </a:r>
          </a:p>
        </p:txBody>
      </p:sp>
      <p:sp>
        <p:nvSpPr>
          <p:cNvPr id="33" name="Rectangle 32"/>
          <p:cNvSpPr/>
          <p:nvPr/>
        </p:nvSpPr>
        <p:spPr>
          <a:xfrm>
            <a:off x="731520" y="1724126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1757044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5" name="TextBox 34"/>
          <p:cNvSpPr txBox="1"/>
          <p:nvPr/>
        </p:nvSpPr>
        <p:spPr>
          <a:xfrm>
            <a:off x="731520" y="1923668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Four frames, as recorded</a:t>
            </a:r>
          </a:p>
        </p:txBody>
      </p:sp>
      <p:sp>
        <p:nvSpPr>
          <p:cNvPr id="36" name="Rectangle 35"/>
          <p:cNvSpPr/>
          <p:nvPr/>
        </p:nvSpPr>
        <p:spPr>
          <a:xfrm>
            <a:off x="731520" y="1976501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l_robots.png"/>
          <p:cNvPicPr>
            <a:picLocks noChangeAspect="1"/>
          </p:cNvPicPr>
          <p:nvPr/>
        </p:nvPicPr>
        <p:blipFill>
          <a:blip r:embed="rId3"/>
          <a:stretch>
            <a:fillRect/>
          </a:stretch>
        </p:blipFill>
        <p:spPr>
          <a:xfrm>
            <a:off x="731520" y="20094194"/>
            <a:ext cx="10607040" cy="2377440"/>
          </a:xfrm>
          <a:prstGeom prst="rect">
            <a:avLst/>
          </a:prstGeom>
        </p:spPr>
      </p:pic>
      <p:sp>
        <p:nvSpPr>
          <p:cNvPr id="38" name="TextBox 37"/>
          <p:cNvSpPr txBox="1"/>
          <p:nvPr/>
        </p:nvSpPr>
        <p:spPr>
          <a:xfrm>
            <a:off x="731520" y="22581362"/>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39" name="TextBox 38"/>
          <p:cNvSpPr txBox="1"/>
          <p:nvPr/>
        </p:nvSpPr>
        <p:spPr>
          <a:xfrm>
            <a:off x="731520" y="237914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Nothing here is enhanced and nothing is labelled. The rectangle in the cart's down camera is a fixed work-zone overlay: it sits at the same pixels on frames with no vegetation in them at all.</a:t>
            </a:r>
          </a:p>
        </p:txBody>
      </p:sp>
      <p:sp>
        <p:nvSpPr>
          <p:cNvPr id="40" name="TextBox 39"/>
          <p:cNvSpPr txBox="1"/>
          <p:nvPr/>
        </p:nvSpPr>
        <p:spPr>
          <a:xfrm>
            <a:off x="731520" y="2516327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Only one robot has the button</a:t>
            </a:r>
          </a:p>
        </p:txBody>
      </p:sp>
      <p:sp>
        <p:nvSpPr>
          <p:cNvPr id="41" name="Rectangle 40"/>
          <p:cNvSpPr/>
          <p:nvPr/>
        </p:nvSpPr>
        <p:spPr>
          <a:xfrm>
            <a:off x="731520" y="2569159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2602077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43" name="TextBox 42"/>
          <p:cNvSpPr txBox="1"/>
          <p:nvPr/>
        </p:nvSpPr>
        <p:spPr>
          <a:xfrm>
            <a:off x="731520" y="2768701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Which decisions a model makes</a:t>
            </a:r>
          </a:p>
        </p:txBody>
      </p:sp>
      <p:sp>
        <p:nvSpPr>
          <p:cNvPr id="44" name="Rectangle 43"/>
          <p:cNvSpPr/>
          <p:nvPr/>
        </p:nvSpPr>
        <p:spPr>
          <a:xfrm>
            <a:off x="731520" y="2821533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2854452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46" name="TextBox 45"/>
          <p:cNvSpPr txBox="1"/>
          <p:nvPr/>
        </p:nvSpPr>
        <p:spPr>
          <a:xfrm>
            <a:off x="11704320" y="1263675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Robots on the platform today</a:t>
            </a:r>
          </a:p>
        </p:txBody>
      </p:sp>
      <p:sp>
        <p:nvSpPr>
          <p:cNvPr id="47" name="Rectangle 46"/>
          <p:cNvSpPr/>
          <p:nvPr/>
        </p:nvSpPr>
        <p:spPr>
          <a:xfrm>
            <a:off x="11704320" y="1316507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704320" y="13494257"/>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9" name="TextBox 48"/>
          <p:cNvSpPr txBox="1"/>
          <p:nvPr/>
        </p:nvSpPr>
        <p:spPr>
          <a:xfrm>
            <a:off x="11704320" y="15160497"/>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Narrow"/>
              </a:rPr>
              <a:t>14</a:t>
            </a:r>
          </a:p>
        </p:txBody>
      </p:sp>
      <p:sp>
        <p:nvSpPr>
          <p:cNvPr id="50" name="TextBox 49"/>
          <p:cNvSpPr txBox="1"/>
          <p:nvPr/>
        </p:nvSpPr>
        <p:spPr>
          <a:xfrm>
            <a:off x="11704320" y="15963645"/>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6727E"/>
                </a:solidFill>
                <a:latin typeface="Arial"/>
              </a:rPr>
              <a:t>analysis tools the planner can choose from</a:t>
            </a:r>
          </a:p>
        </p:txBody>
      </p:sp>
      <p:sp>
        <p:nvSpPr>
          <p:cNvPr id="51" name="TextBox 50"/>
          <p:cNvSpPr txBox="1"/>
          <p:nvPr/>
        </p:nvSpPr>
        <p:spPr>
          <a:xfrm>
            <a:off x="11704320" y="1641855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Ask a dataset what it is good for</a:t>
            </a:r>
          </a:p>
        </p:txBody>
      </p:sp>
      <p:sp>
        <p:nvSpPr>
          <p:cNvPr id="52" name="Rectangle 51"/>
          <p:cNvSpPr/>
          <p:nvPr/>
        </p:nvSpPr>
        <p:spPr>
          <a:xfrm>
            <a:off x="11704320" y="1694688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04320" y="1727606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4" name="TextBox 53"/>
          <p:cNvSpPr txBox="1"/>
          <p:nvPr/>
        </p:nvSpPr>
        <p:spPr>
          <a:xfrm>
            <a:off x="11704320" y="1894230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On disk today</a:t>
            </a:r>
          </a:p>
        </p:txBody>
      </p:sp>
      <p:sp>
        <p:nvSpPr>
          <p:cNvPr id="55" name="Rectangle 54"/>
          <p:cNvSpPr/>
          <p:nvPr/>
        </p:nvSpPr>
        <p:spPr>
          <a:xfrm>
            <a:off x="11704320" y="1947062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704320" y="1979980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Two robots have put 2,686 camera frames and 91,955 telemetry rows across nine streams onto the platform, over 26 drives, with 342 m of GPS track from 1,502 fixes. None of the frames is labelled.</a:t>
            </a:r>
          </a:p>
        </p:txBody>
      </p:sp>
      <p:sp>
        <p:nvSpPr>
          <p:cNvPr id="57" name="TextBox 56"/>
          <p:cNvSpPr txBox="1"/>
          <p:nvPr/>
        </p:nvSpPr>
        <p:spPr>
          <a:xfrm>
            <a:off x="11704320" y="2117166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Narrow"/>
              </a:rPr>
              <a:t>92</a:t>
            </a:r>
          </a:p>
        </p:txBody>
      </p:sp>
      <p:sp>
        <p:nvSpPr>
          <p:cNvPr id="58" name="TextBox 57"/>
          <p:cNvSpPr txBox="1"/>
          <p:nvPr/>
        </p:nvSpPr>
        <p:spPr>
          <a:xfrm>
            <a:off x="11704320" y="21974810"/>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6727E"/>
                </a:solidFill>
                <a:latin typeface="Arial"/>
              </a:rPr>
              <a:t>questions asked of a dataset so far</a:t>
            </a:r>
          </a:p>
        </p:txBody>
      </p:sp>
      <p:sp>
        <p:nvSpPr>
          <p:cNvPr id="59" name="TextBox 58"/>
          <p:cNvSpPr txBox="1"/>
          <p:nvPr/>
        </p:nvSpPr>
        <p:spPr>
          <a:xfrm>
            <a:off x="11704320" y="2242972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Asked something it had never seen</a:t>
            </a:r>
          </a:p>
        </p:txBody>
      </p:sp>
      <p:sp>
        <p:nvSpPr>
          <p:cNvPr id="60" name="Rectangle 59"/>
          <p:cNvSpPr/>
          <p:nvPr/>
        </p:nvSpPr>
        <p:spPr>
          <a:xfrm>
            <a:off x="11704320" y="2295804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704320" y="2328722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62" name="TextBox 61"/>
          <p:cNvSpPr txBox="1"/>
          <p:nvPr/>
        </p:nvSpPr>
        <p:spPr>
          <a:xfrm>
            <a:off x="11704320" y="2495346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More web data, less accuracy</a:t>
            </a:r>
          </a:p>
        </p:txBody>
      </p:sp>
      <p:sp>
        <p:nvSpPr>
          <p:cNvPr id="63" name="Rectangle 62"/>
          <p:cNvSpPr/>
          <p:nvPr/>
        </p:nvSpPr>
        <p:spPr>
          <a:xfrm>
            <a:off x="11704320" y="2548178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704320" y="2581097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65" name="TextBox 64"/>
          <p:cNvSpPr txBox="1"/>
          <p:nvPr/>
        </p:nvSpPr>
        <p:spPr>
          <a:xfrm>
            <a:off x="22677120" y="1263675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 drive becomes a dataset as it opens</a:t>
            </a:r>
          </a:p>
        </p:txBody>
      </p:sp>
      <p:sp>
        <p:nvSpPr>
          <p:cNvPr id="66" name="Rectangle 65"/>
          <p:cNvSpPr/>
          <p:nvPr/>
        </p:nvSpPr>
        <p:spPr>
          <a:xfrm>
            <a:off x="22677120" y="13165074"/>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677120" y="13494257"/>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8" name="TextBox 67"/>
          <p:cNvSpPr txBox="1"/>
          <p:nvPr/>
        </p:nvSpPr>
        <p:spPr>
          <a:xfrm>
            <a:off x="22677120" y="14571725"/>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Left alone for fifteen rounds</a:t>
            </a:r>
          </a:p>
        </p:txBody>
      </p:sp>
      <p:sp>
        <p:nvSpPr>
          <p:cNvPr id="69" name="Rectangle 68"/>
          <p:cNvSpPr/>
          <p:nvPr/>
        </p:nvSpPr>
        <p:spPr>
          <a:xfrm>
            <a:off x="22677120" y="1510004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f_rounds.png"/>
          <p:cNvPicPr>
            <a:picLocks noChangeAspect="1"/>
          </p:cNvPicPr>
          <p:nvPr/>
        </p:nvPicPr>
        <p:blipFill>
          <a:blip r:embed="rId4"/>
          <a:stretch>
            <a:fillRect/>
          </a:stretch>
        </p:blipFill>
        <p:spPr>
          <a:xfrm>
            <a:off x="22677120" y="15429229"/>
            <a:ext cx="20482560" cy="4663440"/>
          </a:xfrm>
          <a:prstGeom prst="rect">
            <a:avLst/>
          </a:prstGeom>
        </p:spPr>
      </p:pic>
      <p:sp>
        <p:nvSpPr>
          <p:cNvPr id="71" name="TextBox 70"/>
          <p:cNvSpPr txBox="1"/>
          <p:nvPr/>
        </p:nvSpPr>
        <p:spPr>
          <a:xfrm>
            <a:off x="22677120" y="20202398"/>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72" name="TextBox 71"/>
          <p:cNvSpPr txBox="1"/>
          <p:nvPr/>
        </p:nvSpPr>
        <p:spPr>
          <a:xfrm>
            <a:off x="22677120" y="2118766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73" name="TextBox 72"/>
          <p:cNvSpPr txBox="1"/>
          <p:nvPr/>
        </p:nvSpPr>
        <p:spPr>
          <a:xfrm>
            <a:off x="22677120" y="22265132"/>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Narrow"/>
              </a:rPr>
              <a:t>27</a:t>
            </a:r>
          </a:p>
        </p:txBody>
      </p:sp>
      <p:sp>
        <p:nvSpPr>
          <p:cNvPr id="74" name="TextBox 73"/>
          <p:cNvSpPr txBox="1"/>
          <p:nvPr/>
        </p:nvSpPr>
        <p:spPr>
          <a:xfrm>
            <a:off x="22677120" y="23068280"/>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66727E"/>
                </a:solidFill>
                <a:latin typeface="Arial"/>
              </a:rPr>
              <a:t>distinct models trained, run, or rejected</a:t>
            </a:r>
          </a:p>
        </p:txBody>
      </p:sp>
      <p:sp>
        <p:nvSpPr>
          <p:cNvPr id="75" name="TextBox 74"/>
          <p:cNvSpPr txBox="1"/>
          <p:nvPr/>
        </p:nvSpPr>
        <p:spPr>
          <a:xfrm>
            <a:off x="22677120" y="2352319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Everything we trained, ran, or rejected</a:t>
            </a:r>
          </a:p>
        </p:txBody>
      </p:sp>
      <p:sp>
        <p:nvSpPr>
          <p:cNvPr id="76" name="Rectangle 75"/>
          <p:cNvSpPr/>
          <p:nvPr/>
        </p:nvSpPr>
        <p:spPr>
          <a:xfrm>
            <a:off x="22677120" y="24051514"/>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m_ledger.png"/>
          <p:cNvPicPr>
            <a:picLocks noChangeAspect="1"/>
          </p:cNvPicPr>
          <p:nvPr/>
        </p:nvPicPr>
        <p:blipFill>
          <a:blip r:embed="rId5"/>
          <a:stretch>
            <a:fillRect/>
          </a:stretch>
        </p:blipFill>
        <p:spPr>
          <a:xfrm>
            <a:off x="22677120" y="24380698"/>
            <a:ext cx="20482560" cy="3749040"/>
          </a:xfrm>
          <a:prstGeom prst="rect">
            <a:avLst/>
          </a:prstGeom>
        </p:spPr>
      </p:pic>
      <p:sp>
        <p:nvSpPr>
          <p:cNvPr id="78" name="TextBox 77"/>
          <p:cNvSpPr txBox="1"/>
          <p:nvPr/>
        </p:nvSpPr>
        <p:spPr>
          <a:xfrm>
            <a:off x="22677120" y="28239466"/>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5.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79" name="TextBox 78"/>
          <p:cNvSpPr txBox="1"/>
          <p:nvPr/>
        </p:nvSpPr>
        <p:spPr>
          <a:xfrm>
            <a:off x="22677120" y="2922473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80" name="Rectangle 79"/>
          <p:cNvSpPr/>
          <p:nvPr/>
        </p:nvSpPr>
        <p:spPr>
          <a:xfrm>
            <a:off x="731520" y="30632400"/>
            <a:ext cx="42428160" cy="20116"/>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6727E"/>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82" name="TextBox 8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6727E"/>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3" name="TextBox 8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6727E"/>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