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8000" b="1">
                <a:solidFill>
                  <a:srgbClr val="1C2A22"/>
                </a:solidFill>
                <a:latin typeface="Georgia"/>
              </a:rPr>
              <a:t>agentAI: A Research-Data Platform for Physical and Embodied Agents</a:t>
            </a:r>
          </a:p>
        </p:txBody>
      </p:sp>
      <p:sp>
        <p:nvSpPr>
          <p:cNvPr id="4" name="Rectangle 3"/>
          <p:cNvSpPr/>
          <p:nvPr/>
        </p:nvSpPr>
        <p:spPr>
          <a:xfrm>
            <a:off x="731520" y="2103120"/>
            <a:ext cx="41574720" cy="146304"/>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4688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C2A22"/>
                </a:solidFill>
                <a:latin typeface="Arial"/>
              </a:rPr>
              <a:t>Harry He   ·   Hongbo Zhang</a:t>
            </a:r>
          </a:p>
        </p:txBody>
      </p:sp>
      <p:sp>
        <p:nvSpPr>
          <p:cNvPr id="6" name="TextBox 5"/>
          <p:cNvSpPr txBox="1"/>
          <p:nvPr/>
        </p:nvSpPr>
        <p:spPr>
          <a:xfrm>
            <a:off x="731520" y="31089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C6B62"/>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1C2A22"/>
                </a:solidFill>
                <a:latin typeface="Georgia"/>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Rectangle 7"/>
          <p:cNvSpPr/>
          <p:nvPr/>
        </p:nvSpPr>
        <p:spPr>
          <a:xfrm>
            <a:off x="731520" y="5702808"/>
            <a:ext cx="42428160" cy="23774"/>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Georgia"/>
              </a:rPr>
              <a:t>2,686</a:t>
            </a:r>
          </a:p>
        </p:txBody>
      </p:sp>
      <p:sp>
        <p:nvSpPr>
          <p:cNvPr id="10" name="TextBox 9"/>
          <p:cNvSpPr txBox="1"/>
          <p:nvPr/>
        </p:nvSpPr>
        <p:spPr>
          <a:xfrm>
            <a:off x="731520"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C2A22"/>
                </a:solidFill>
                <a:latin typeface="Arial"/>
              </a:rPr>
              <a:t>camera frames</a:t>
            </a:r>
          </a:p>
        </p:txBody>
      </p:sp>
      <p:sp>
        <p:nvSpPr>
          <p:cNvPr id="11" name="TextBox 10"/>
          <p:cNvSpPr txBox="1"/>
          <p:nvPr/>
        </p:nvSpPr>
        <p:spPr>
          <a:xfrm>
            <a:off x="731520"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5C6B62"/>
                </a:solidFill>
                <a:latin typeface="Arial"/>
              </a:rPr>
              <a:t>26 drives, 2 robots, 0 labelled</a:t>
            </a:r>
          </a:p>
        </p:txBody>
      </p:sp>
      <p:sp>
        <p:nvSpPr>
          <p:cNvPr id="12" name="TextBox 11"/>
          <p:cNvSpPr txBox="1"/>
          <p:nvPr/>
        </p:nvSpPr>
        <p:spPr>
          <a:xfrm>
            <a:off x="9317736"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Georgia"/>
              </a:rPr>
              <a:t>91,955</a:t>
            </a:r>
          </a:p>
        </p:txBody>
      </p:sp>
      <p:sp>
        <p:nvSpPr>
          <p:cNvPr id="13" name="TextBox 12"/>
          <p:cNvSpPr txBox="1"/>
          <p:nvPr/>
        </p:nvSpPr>
        <p:spPr>
          <a:xfrm>
            <a:off x="9317736"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C2A22"/>
                </a:solidFill>
                <a:latin typeface="Arial"/>
              </a:rPr>
              <a:t>telemetry rows</a:t>
            </a:r>
          </a:p>
        </p:txBody>
      </p:sp>
      <p:sp>
        <p:nvSpPr>
          <p:cNvPr id="14" name="TextBox 13"/>
          <p:cNvSpPr txBox="1"/>
          <p:nvPr/>
        </p:nvSpPr>
        <p:spPr>
          <a:xfrm>
            <a:off x="9317736"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5C6B62"/>
                </a:solidFill>
                <a:latin typeface="Arial"/>
              </a:rPr>
              <a:t>nine streams, counted line by line</a:t>
            </a:r>
          </a:p>
        </p:txBody>
      </p:sp>
      <p:sp>
        <p:nvSpPr>
          <p:cNvPr id="15" name="TextBox 14"/>
          <p:cNvSpPr txBox="1"/>
          <p:nvPr/>
        </p:nvSpPr>
        <p:spPr>
          <a:xfrm>
            <a:off x="17903952"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Georgia"/>
              </a:rPr>
              <a:t>342 m</a:t>
            </a:r>
          </a:p>
        </p:txBody>
      </p:sp>
      <p:sp>
        <p:nvSpPr>
          <p:cNvPr id="16" name="TextBox 15"/>
          <p:cNvSpPr txBox="1"/>
          <p:nvPr/>
        </p:nvSpPr>
        <p:spPr>
          <a:xfrm>
            <a:off x="17903952"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C2A22"/>
                </a:solidFill>
                <a:latin typeface="Arial"/>
              </a:rPr>
              <a:t>of GPS track</a:t>
            </a:r>
          </a:p>
        </p:txBody>
      </p:sp>
      <p:sp>
        <p:nvSpPr>
          <p:cNvPr id="17" name="TextBox 16"/>
          <p:cNvSpPr txBox="1"/>
          <p:nvPr/>
        </p:nvSpPr>
        <p:spPr>
          <a:xfrm>
            <a:off x="17903952"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5C6B62"/>
                </a:solidFill>
                <a:latin typeface="Arial"/>
              </a:rPr>
              <a:t>1,502 fixes over 18 drives</a:t>
            </a:r>
          </a:p>
        </p:txBody>
      </p:sp>
      <p:sp>
        <p:nvSpPr>
          <p:cNvPr id="18" name="TextBox 17"/>
          <p:cNvSpPr txBox="1"/>
          <p:nvPr/>
        </p:nvSpPr>
        <p:spPr>
          <a:xfrm>
            <a:off x="26490168"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Georgia"/>
              </a:rPr>
              <a:t>27</a:t>
            </a:r>
          </a:p>
        </p:txBody>
      </p:sp>
      <p:sp>
        <p:nvSpPr>
          <p:cNvPr id="19" name="TextBox 18"/>
          <p:cNvSpPr txBox="1"/>
          <p:nvPr/>
        </p:nvSpPr>
        <p:spPr>
          <a:xfrm>
            <a:off x="26490168"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C2A22"/>
                </a:solidFill>
                <a:latin typeface="Arial"/>
              </a:rPr>
              <a:t>distinct models run</a:t>
            </a:r>
          </a:p>
        </p:txBody>
      </p:sp>
      <p:sp>
        <p:nvSpPr>
          <p:cNvPr id="20" name="TextBox 19"/>
          <p:cNvSpPr txBox="1"/>
          <p:nvPr/>
        </p:nvSpPr>
        <p:spPr>
          <a:xfrm>
            <a:off x="26490168"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5C6B62"/>
                </a:solidFill>
                <a:latin typeface="Arial"/>
              </a:rPr>
              <a:t>four families, one deployed</a:t>
            </a:r>
          </a:p>
        </p:txBody>
      </p:sp>
      <p:sp>
        <p:nvSpPr>
          <p:cNvPr id="21" name="TextBox 20"/>
          <p:cNvSpPr txBox="1"/>
          <p:nvPr/>
        </p:nvSpPr>
        <p:spPr>
          <a:xfrm>
            <a:off x="35076384"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Georgia"/>
              </a:rPr>
              <a:t>0</a:t>
            </a:r>
          </a:p>
        </p:txBody>
      </p:sp>
      <p:sp>
        <p:nvSpPr>
          <p:cNvPr id="22" name="TextBox 21"/>
          <p:cNvSpPr txBox="1"/>
          <p:nvPr/>
        </p:nvSpPr>
        <p:spPr>
          <a:xfrm>
            <a:off x="35076384"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1C2A22"/>
                </a:solidFill>
                <a:latin typeface="Arial"/>
              </a:rPr>
              <a:t>robot frames labelled</a:t>
            </a:r>
          </a:p>
        </p:txBody>
      </p:sp>
      <p:sp>
        <p:nvSpPr>
          <p:cNvPr id="23" name="TextBox 22"/>
          <p:cNvSpPr txBox="1"/>
          <p:nvPr/>
        </p:nvSpPr>
        <p:spPr>
          <a:xfrm>
            <a:off x="35076384"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5C6B62"/>
                </a:solidFill>
                <a:latin typeface="Arial"/>
              </a:rPr>
              <a:t>the whole archive, so far</a:t>
            </a:r>
          </a:p>
        </p:txBody>
      </p:sp>
      <p:sp>
        <p:nvSpPr>
          <p:cNvPr id="24" name="Rectangle 23"/>
          <p:cNvSpPr/>
          <p:nvPr/>
        </p:nvSpPr>
        <p:spPr>
          <a:xfrm>
            <a:off x="731520" y="7291323"/>
            <a:ext cx="42428160" cy="23774"/>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7785099"/>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One platform for every robot the lab owns</a:t>
            </a:r>
          </a:p>
        </p:txBody>
      </p:sp>
      <p:sp>
        <p:nvSpPr>
          <p:cNvPr id="26" name="Rectangle 25"/>
          <p:cNvSpPr/>
          <p:nvPr/>
        </p:nvSpPr>
        <p:spPr>
          <a:xfrm>
            <a:off x="731520" y="8313419"/>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8642603"/>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8" name="TextBox 27"/>
          <p:cNvSpPr txBox="1"/>
          <p:nvPr/>
        </p:nvSpPr>
        <p:spPr>
          <a:xfrm>
            <a:off x="731520" y="10014457"/>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A drive becomes a dataset as it opens</a:t>
            </a:r>
          </a:p>
        </p:txBody>
      </p:sp>
      <p:sp>
        <p:nvSpPr>
          <p:cNvPr id="29" name="Rectangle 28"/>
          <p:cNvSpPr/>
          <p:nvPr/>
        </p:nvSpPr>
        <p:spPr>
          <a:xfrm>
            <a:off x="731520" y="10542777"/>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10871961"/>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31" name="TextBox 30"/>
          <p:cNvSpPr txBox="1"/>
          <p:nvPr/>
        </p:nvSpPr>
        <p:spPr>
          <a:xfrm>
            <a:off x="731520" y="11949429"/>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Ask a dataset what it is good for</a:t>
            </a:r>
          </a:p>
        </p:txBody>
      </p:sp>
      <p:sp>
        <p:nvSpPr>
          <p:cNvPr id="32" name="Rectangle 31"/>
          <p:cNvSpPr/>
          <p:nvPr/>
        </p:nvSpPr>
        <p:spPr>
          <a:xfrm>
            <a:off x="731520" y="12477749"/>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12806933"/>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34" name="TextBox 33"/>
          <p:cNvSpPr txBox="1"/>
          <p:nvPr/>
        </p:nvSpPr>
        <p:spPr>
          <a:xfrm>
            <a:off x="731520" y="13884401"/>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Everything we trained, ran, or rejected</a:t>
            </a:r>
          </a:p>
        </p:txBody>
      </p:sp>
      <p:sp>
        <p:nvSpPr>
          <p:cNvPr id="35" name="Rectangle 34"/>
          <p:cNvSpPr/>
          <p:nvPr/>
        </p:nvSpPr>
        <p:spPr>
          <a:xfrm>
            <a:off x="731520" y="14412721"/>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m_ledger.png"/>
          <p:cNvPicPr>
            <a:picLocks noChangeAspect="1"/>
          </p:cNvPicPr>
          <p:nvPr/>
        </p:nvPicPr>
        <p:blipFill>
          <a:blip r:embed="rId2"/>
          <a:stretch>
            <a:fillRect/>
          </a:stretch>
        </p:blipFill>
        <p:spPr>
          <a:xfrm>
            <a:off x="731520" y="14741905"/>
            <a:ext cx="20482560" cy="3749040"/>
          </a:xfrm>
          <a:prstGeom prst="rect">
            <a:avLst/>
          </a:prstGeom>
        </p:spPr>
      </p:pic>
      <p:sp>
        <p:nvSpPr>
          <p:cNvPr id="37" name="TextBox 36"/>
          <p:cNvSpPr txBox="1"/>
          <p:nvPr/>
        </p:nvSpPr>
        <p:spPr>
          <a:xfrm>
            <a:off x="731520" y="18600673"/>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C6B62"/>
                </a:solidFill>
                <a:latin typeface="Arial"/>
              </a:rPr>
              <a:t>Figure 1.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38" name="TextBox 37"/>
          <p:cNvSpPr txBox="1"/>
          <p:nvPr/>
        </p:nvSpPr>
        <p:spPr>
          <a:xfrm>
            <a:off x="731520" y="19585939"/>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39" name="TextBox 38"/>
          <p:cNvSpPr txBox="1"/>
          <p:nvPr/>
        </p:nvSpPr>
        <p:spPr>
          <a:xfrm>
            <a:off x="731520" y="20663407"/>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On disk today</a:t>
            </a:r>
          </a:p>
        </p:txBody>
      </p:sp>
      <p:sp>
        <p:nvSpPr>
          <p:cNvPr id="40" name="Rectangle 39"/>
          <p:cNvSpPr/>
          <p:nvPr/>
        </p:nvSpPr>
        <p:spPr>
          <a:xfrm>
            <a:off x="731520" y="21191728"/>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21520912"/>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Two robots have put 2,686 camera frames and 91,955 telemetry rows across nine streams onto the platform, over 26 drives, with 342 m of GPS track from 1,502 fixes. None of the frames is labelled.</a:t>
            </a:r>
          </a:p>
        </p:txBody>
      </p:sp>
      <p:sp>
        <p:nvSpPr>
          <p:cNvPr id="42" name="TextBox 41"/>
          <p:cNvSpPr txBox="1"/>
          <p:nvPr/>
        </p:nvSpPr>
        <p:spPr>
          <a:xfrm>
            <a:off x="731520" y="22598380"/>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Asked something it had never seen</a:t>
            </a:r>
          </a:p>
        </p:txBody>
      </p:sp>
      <p:sp>
        <p:nvSpPr>
          <p:cNvPr id="43" name="Rectangle 42"/>
          <p:cNvSpPr/>
          <p:nvPr/>
        </p:nvSpPr>
        <p:spPr>
          <a:xfrm>
            <a:off x="731520" y="23126700"/>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23455884"/>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45" name="TextBox 44"/>
          <p:cNvSpPr txBox="1"/>
          <p:nvPr/>
        </p:nvSpPr>
        <p:spPr>
          <a:xfrm>
            <a:off x="731520" y="24533352"/>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More web data, less accuracy</a:t>
            </a:r>
          </a:p>
        </p:txBody>
      </p:sp>
      <p:sp>
        <p:nvSpPr>
          <p:cNvPr id="46" name="Rectangle 45"/>
          <p:cNvSpPr/>
          <p:nvPr/>
        </p:nvSpPr>
        <p:spPr>
          <a:xfrm>
            <a:off x="731520" y="25061672"/>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2539085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48" name="TextBox 47"/>
          <p:cNvSpPr txBox="1"/>
          <p:nvPr/>
        </p:nvSpPr>
        <p:spPr>
          <a:xfrm>
            <a:off x="731520" y="26468324"/>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Adding the next robot</a:t>
            </a:r>
          </a:p>
        </p:txBody>
      </p:sp>
      <p:sp>
        <p:nvSpPr>
          <p:cNvPr id="49" name="Rectangle 48"/>
          <p:cNvSpPr/>
          <p:nvPr/>
        </p:nvSpPr>
        <p:spPr>
          <a:xfrm>
            <a:off x="731520" y="26996644"/>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 y="27325828"/>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51" name="TextBox 50"/>
          <p:cNvSpPr txBox="1"/>
          <p:nvPr/>
        </p:nvSpPr>
        <p:spPr>
          <a:xfrm>
            <a:off x="22677120" y="7785099"/>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Robots on the platform today</a:t>
            </a:r>
          </a:p>
        </p:txBody>
      </p:sp>
      <p:sp>
        <p:nvSpPr>
          <p:cNvPr id="52" name="Rectangle 51"/>
          <p:cNvSpPr/>
          <p:nvPr/>
        </p:nvSpPr>
        <p:spPr>
          <a:xfrm>
            <a:off x="22677120" y="8313419"/>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2677120" y="8642603"/>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54" name="TextBox 53"/>
          <p:cNvSpPr txBox="1"/>
          <p:nvPr/>
        </p:nvSpPr>
        <p:spPr>
          <a:xfrm>
            <a:off x="22677120" y="10014457"/>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Driving a robot from a browser</a:t>
            </a:r>
          </a:p>
        </p:txBody>
      </p:sp>
      <p:sp>
        <p:nvSpPr>
          <p:cNvPr id="55" name="Rectangle 54"/>
          <p:cNvSpPr/>
          <p:nvPr/>
        </p:nvSpPr>
        <p:spPr>
          <a:xfrm>
            <a:off x="22677120" y="10542777"/>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2677120" y="10871961"/>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57" name="TextBox 56"/>
          <p:cNvSpPr txBox="1"/>
          <p:nvPr/>
        </p:nvSpPr>
        <p:spPr>
          <a:xfrm>
            <a:off x="22677120" y="11949429"/>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Left alone for fifteen rounds</a:t>
            </a:r>
          </a:p>
        </p:txBody>
      </p:sp>
      <p:sp>
        <p:nvSpPr>
          <p:cNvPr id="58" name="Rectangle 57"/>
          <p:cNvSpPr/>
          <p:nvPr/>
        </p:nvSpPr>
        <p:spPr>
          <a:xfrm>
            <a:off x="22677120" y="12477749"/>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f_rounds.png"/>
          <p:cNvPicPr>
            <a:picLocks noChangeAspect="1"/>
          </p:cNvPicPr>
          <p:nvPr/>
        </p:nvPicPr>
        <p:blipFill>
          <a:blip r:embed="rId3"/>
          <a:stretch>
            <a:fillRect/>
          </a:stretch>
        </p:blipFill>
        <p:spPr>
          <a:xfrm>
            <a:off x="22677120" y="12806933"/>
            <a:ext cx="20482560" cy="4663440"/>
          </a:xfrm>
          <a:prstGeom prst="rect">
            <a:avLst/>
          </a:prstGeom>
        </p:spPr>
      </p:pic>
      <p:sp>
        <p:nvSpPr>
          <p:cNvPr id="60" name="TextBox 59"/>
          <p:cNvSpPr txBox="1"/>
          <p:nvPr/>
        </p:nvSpPr>
        <p:spPr>
          <a:xfrm>
            <a:off x="22677120" y="17580101"/>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C6B62"/>
                </a:solidFill>
                <a:latin typeface="Arial"/>
              </a:rPr>
              <a:t>Figure 2.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61" name="TextBox 60"/>
          <p:cNvSpPr txBox="1"/>
          <p:nvPr/>
        </p:nvSpPr>
        <p:spPr>
          <a:xfrm>
            <a:off x="22677120" y="18565367"/>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62" name="TextBox 61"/>
          <p:cNvSpPr txBox="1"/>
          <p:nvPr/>
        </p:nvSpPr>
        <p:spPr>
          <a:xfrm>
            <a:off x="22677120" y="19642836"/>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Inside the platform</a:t>
            </a:r>
          </a:p>
        </p:txBody>
      </p:sp>
      <p:sp>
        <p:nvSpPr>
          <p:cNvPr id="63" name="Rectangle 62"/>
          <p:cNvSpPr/>
          <p:nvPr/>
        </p:nvSpPr>
        <p:spPr>
          <a:xfrm>
            <a:off x="22677120" y="20171156"/>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n_system.png"/>
          <p:cNvPicPr>
            <a:picLocks noChangeAspect="1"/>
          </p:cNvPicPr>
          <p:nvPr/>
        </p:nvPicPr>
        <p:blipFill>
          <a:blip r:embed="rId4"/>
          <a:stretch>
            <a:fillRect/>
          </a:stretch>
        </p:blipFill>
        <p:spPr>
          <a:xfrm>
            <a:off x="22677120" y="20500340"/>
            <a:ext cx="20482560" cy="3383280"/>
          </a:xfrm>
          <a:prstGeom prst="rect">
            <a:avLst/>
          </a:prstGeom>
        </p:spPr>
      </p:pic>
      <p:sp>
        <p:nvSpPr>
          <p:cNvPr id="65" name="TextBox 64"/>
          <p:cNvSpPr txBox="1"/>
          <p:nvPr/>
        </p:nvSpPr>
        <p:spPr>
          <a:xfrm>
            <a:off x="22677120" y="23993348"/>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5C6B62"/>
                </a:solidFill>
                <a:latin typeface="Arial"/>
              </a:rPr>
              <a:t>Figure 3.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66" name="TextBox 65"/>
          <p:cNvSpPr txBox="1"/>
          <p:nvPr/>
        </p:nvSpPr>
        <p:spPr>
          <a:xfrm>
            <a:off x="22677120" y="24753824"/>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Every stage from a camera in a crop row to a checkpoint on the cluster has run. The dashboard and registry run on a lab server; GPU jobs queue on PSC Bridges-2. The collector and trainer are paused after a stop-loss on 2026-08-29. The supervisor is advisory and nothing it says is applied.</a:t>
            </a:r>
          </a:p>
        </p:txBody>
      </p:sp>
      <p:sp>
        <p:nvSpPr>
          <p:cNvPr id="67" name="TextBox 66"/>
          <p:cNvSpPr txBox="1"/>
          <p:nvPr/>
        </p:nvSpPr>
        <p:spPr>
          <a:xfrm>
            <a:off x="22677120" y="25831292"/>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Only one robot has the button</a:t>
            </a:r>
          </a:p>
        </p:txBody>
      </p:sp>
      <p:sp>
        <p:nvSpPr>
          <p:cNvPr id="68" name="Rectangle 67"/>
          <p:cNvSpPr/>
          <p:nvPr/>
        </p:nvSpPr>
        <p:spPr>
          <a:xfrm>
            <a:off x="22677120" y="26359612"/>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2677120" y="26688796"/>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70" name="TextBox 69"/>
          <p:cNvSpPr txBox="1"/>
          <p:nvPr/>
        </p:nvSpPr>
        <p:spPr>
          <a:xfrm>
            <a:off x="22677120" y="27766264"/>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1F3D2B"/>
                </a:solidFill>
                <a:latin typeface="Georgia"/>
              </a:rPr>
              <a:t>Which decisions a model makes</a:t>
            </a:r>
          </a:p>
        </p:txBody>
      </p:sp>
      <p:sp>
        <p:nvSpPr>
          <p:cNvPr id="71" name="Rectangle 70"/>
          <p:cNvSpPr/>
          <p:nvPr/>
        </p:nvSpPr>
        <p:spPr>
          <a:xfrm>
            <a:off x="22677120" y="28294584"/>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2677120" y="28623768"/>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1C2A22"/>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73" name="Rectangle 72"/>
          <p:cNvSpPr/>
          <p:nvPr/>
        </p:nvSpPr>
        <p:spPr>
          <a:xfrm>
            <a:off x="731520" y="30632400"/>
            <a:ext cx="42428160" cy="20116"/>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C6B62"/>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75" name="TextBox 74"/>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C6B62"/>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76" name="TextBox 75"/>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5C6B62"/>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