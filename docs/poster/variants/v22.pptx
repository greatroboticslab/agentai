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1C2A22"/>
                </a:solidFill>
                <a:latin typeface="Georgia"/>
              </a:rPr>
              <a:t>agentAI: A Research-Data Platform for Physical and Embodied Agents</a:t>
            </a:r>
          </a:p>
        </p:txBody>
      </p:sp>
      <p:sp>
        <p:nvSpPr>
          <p:cNvPr id="4" name="Rectangle 3"/>
          <p:cNvSpPr/>
          <p:nvPr/>
        </p:nvSpPr>
        <p:spPr>
          <a:xfrm>
            <a:off x="731520" y="2103120"/>
            <a:ext cx="41574720" cy="146304"/>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C2A22"/>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C6B62"/>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C2A22"/>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702808"/>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2,686</a:t>
            </a:r>
          </a:p>
        </p:txBody>
      </p:sp>
      <p:sp>
        <p:nvSpPr>
          <p:cNvPr id="10" name="TextBox 9"/>
          <p:cNvSpPr txBox="1"/>
          <p:nvPr/>
        </p:nvSpPr>
        <p:spPr>
          <a:xfrm>
            <a:off x="731520"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camera frames</a:t>
            </a:r>
          </a:p>
        </p:txBody>
      </p:sp>
      <p:sp>
        <p:nvSpPr>
          <p:cNvPr id="11" name="TextBox 10"/>
          <p:cNvSpPr txBox="1"/>
          <p:nvPr/>
        </p:nvSpPr>
        <p:spPr>
          <a:xfrm>
            <a:off x="731520"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26 drives, 2 robots, 0 labelled</a:t>
            </a:r>
          </a:p>
        </p:txBody>
      </p:sp>
      <p:sp>
        <p:nvSpPr>
          <p:cNvPr id="12" name="TextBox 11"/>
          <p:cNvSpPr txBox="1"/>
          <p:nvPr/>
        </p:nvSpPr>
        <p:spPr>
          <a:xfrm>
            <a:off x="9317736"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91,955</a:t>
            </a:r>
          </a:p>
        </p:txBody>
      </p:sp>
      <p:sp>
        <p:nvSpPr>
          <p:cNvPr id="13" name="TextBox 12"/>
          <p:cNvSpPr txBox="1"/>
          <p:nvPr/>
        </p:nvSpPr>
        <p:spPr>
          <a:xfrm>
            <a:off x="9317736"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telemetry rows</a:t>
            </a:r>
          </a:p>
        </p:txBody>
      </p:sp>
      <p:sp>
        <p:nvSpPr>
          <p:cNvPr id="14" name="TextBox 13"/>
          <p:cNvSpPr txBox="1"/>
          <p:nvPr/>
        </p:nvSpPr>
        <p:spPr>
          <a:xfrm>
            <a:off x="9317736"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nine streams, counted line by line</a:t>
            </a:r>
          </a:p>
        </p:txBody>
      </p:sp>
      <p:sp>
        <p:nvSpPr>
          <p:cNvPr id="15" name="TextBox 14"/>
          <p:cNvSpPr txBox="1"/>
          <p:nvPr/>
        </p:nvSpPr>
        <p:spPr>
          <a:xfrm>
            <a:off x="17903952"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342 m</a:t>
            </a:r>
          </a:p>
        </p:txBody>
      </p:sp>
      <p:sp>
        <p:nvSpPr>
          <p:cNvPr id="16" name="TextBox 15"/>
          <p:cNvSpPr txBox="1"/>
          <p:nvPr/>
        </p:nvSpPr>
        <p:spPr>
          <a:xfrm>
            <a:off x="17903952"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of GPS track</a:t>
            </a:r>
          </a:p>
        </p:txBody>
      </p:sp>
      <p:sp>
        <p:nvSpPr>
          <p:cNvPr id="17" name="TextBox 16"/>
          <p:cNvSpPr txBox="1"/>
          <p:nvPr/>
        </p:nvSpPr>
        <p:spPr>
          <a:xfrm>
            <a:off x="17903952"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1,502 fixes over 18 drives</a:t>
            </a:r>
          </a:p>
        </p:txBody>
      </p:sp>
      <p:sp>
        <p:nvSpPr>
          <p:cNvPr id="18" name="TextBox 17"/>
          <p:cNvSpPr txBox="1"/>
          <p:nvPr/>
        </p:nvSpPr>
        <p:spPr>
          <a:xfrm>
            <a:off x="26490168"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27</a:t>
            </a:r>
          </a:p>
        </p:txBody>
      </p:sp>
      <p:sp>
        <p:nvSpPr>
          <p:cNvPr id="19" name="TextBox 18"/>
          <p:cNvSpPr txBox="1"/>
          <p:nvPr/>
        </p:nvSpPr>
        <p:spPr>
          <a:xfrm>
            <a:off x="26490168"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distinct models run</a:t>
            </a:r>
          </a:p>
        </p:txBody>
      </p:sp>
      <p:sp>
        <p:nvSpPr>
          <p:cNvPr id="20" name="TextBox 19"/>
          <p:cNvSpPr txBox="1"/>
          <p:nvPr/>
        </p:nvSpPr>
        <p:spPr>
          <a:xfrm>
            <a:off x="26490168"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four families, one deployed</a:t>
            </a:r>
          </a:p>
        </p:txBody>
      </p:sp>
      <p:sp>
        <p:nvSpPr>
          <p:cNvPr id="21" name="TextBox 20"/>
          <p:cNvSpPr txBox="1"/>
          <p:nvPr/>
        </p:nvSpPr>
        <p:spPr>
          <a:xfrm>
            <a:off x="35076384"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0</a:t>
            </a:r>
          </a:p>
        </p:txBody>
      </p:sp>
      <p:sp>
        <p:nvSpPr>
          <p:cNvPr id="22" name="TextBox 21"/>
          <p:cNvSpPr txBox="1"/>
          <p:nvPr/>
        </p:nvSpPr>
        <p:spPr>
          <a:xfrm>
            <a:off x="35076384"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robot frames labelled</a:t>
            </a:r>
          </a:p>
        </p:txBody>
      </p:sp>
      <p:sp>
        <p:nvSpPr>
          <p:cNvPr id="23" name="TextBox 22"/>
          <p:cNvSpPr txBox="1"/>
          <p:nvPr/>
        </p:nvSpPr>
        <p:spPr>
          <a:xfrm>
            <a:off x="35076384"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the whole archive, so far</a:t>
            </a:r>
          </a:p>
        </p:txBody>
      </p:sp>
      <p:sp>
        <p:nvSpPr>
          <p:cNvPr id="24" name="Rectangle 23"/>
          <p:cNvSpPr/>
          <p:nvPr/>
        </p:nvSpPr>
        <p:spPr>
          <a:xfrm>
            <a:off x="731520" y="7291323"/>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78509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One platform for every robot the lab owns</a:t>
            </a:r>
          </a:p>
        </p:txBody>
      </p:sp>
      <p:sp>
        <p:nvSpPr>
          <p:cNvPr id="26" name="Rectangle 25"/>
          <p:cNvSpPr/>
          <p:nvPr/>
        </p:nvSpPr>
        <p:spPr>
          <a:xfrm>
            <a:off x="731520" y="8313419"/>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64260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014457"/>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A drive becomes a dataset as it opens</a:t>
            </a:r>
          </a:p>
        </p:txBody>
      </p:sp>
      <p:sp>
        <p:nvSpPr>
          <p:cNvPr id="29" name="Rectangle 28"/>
          <p:cNvSpPr/>
          <p:nvPr/>
        </p:nvSpPr>
        <p:spPr>
          <a:xfrm>
            <a:off x="731520" y="10542777"/>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0871961"/>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31" name="TextBox 30"/>
          <p:cNvSpPr txBox="1"/>
          <p:nvPr/>
        </p:nvSpPr>
        <p:spPr>
          <a:xfrm>
            <a:off x="731520" y="11949429"/>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14</a:t>
            </a:r>
          </a:p>
        </p:txBody>
      </p:sp>
      <p:sp>
        <p:nvSpPr>
          <p:cNvPr id="32" name="TextBox 31"/>
          <p:cNvSpPr txBox="1"/>
          <p:nvPr/>
        </p:nvSpPr>
        <p:spPr>
          <a:xfrm>
            <a:off x="731520" y="12752577"/>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analysis tools the planner can choose from</a:t>
            </a:r>
          </a:p>
        </p:txBody>
      </p:sp>
      <p:sp>
        <p:nvSpPr>
          <p:cNvPr id="33" name="TextBox 32"/>
          <p:cNvSpPr txBox="1"/>
          <p:nvPr/>
        </p:nvSpPr>
        <p:spPr>
          <a:xfrm>
            <a:off x="731520" y="1320749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Ask a dataset what it is good for</a:t>
            </a:r>
          </a:p>
        </p:txBody>
      </p:sp>
      <p:sp>
        <p:nvSpPr>
          <p:cNvPr id="34" name="Rectangle 33"/>
          <p:cNvSpPr/>
          <p:nvPr/>
        </p:nvSpPr>
        <p:spPr>
          <a:xfrm>
            <a:off x="731520" y="13735811"/>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064995"/>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6" name="TextBox 35"/>
          <p:cNvSpPr txBox="1"/>
          <p:nvPr/>
        </p:nvSpPr>
        <p:spPr>
          <a:xfrm>
            <a:off x="731520" y="15142463"/>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27</a:t>
            </a:r>
          </a:p>
        </p:txBody>
      </p:sp>
      <p:sp>
        <p:nvSpPr>
          <p:cNvPr id="37" name="TextBox 36"/>
          <p:cNvSpPr txBox="1"/>
          <p:nvPr/>
        </p:nvSpPr>
        <p:spPr>
          <a:xfrm>
            <a:off x="731520" y="15945611"/>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distinct models trained, run, or rejected</a:t>
            </a:r>
          </a:p>
        </p:txBody>
      </p:sp>
      <p:sp>
        <p:nvSpPr>
          <p:cNvPr id="38" name="TextBox 37"/>
          <p:cNvSpPr txBox="1"/>
          <p:nvPr/>
        </p:nvSpPr>
        <p:spPr>
          <a:xfrm>
            <a:off x="731520" y="16400525"/>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Everything we trained, ran, or rejected</a:t>
            </a:r>
          </a:p>
        </p:txBody>
      </p:sp>
      <p:sp>
        <p:nvSpPr>
          <p:cNvPr id="39" name="Rectangle 38"/>
          <p:cNvSpPr/>
          <p:nvPr/>
        </p:nvSpPr>
        <p:spPr>
          <a:xfrm>
            <a:off x="731520" y="16928845"/>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m_ledger.png"/>
          <p:cNvPicPr>
            <a:picLocks noChangeAspect="1"/>
          </p:cNvPicPr>
          <p:nvPr/>
        </p:nvPicPr>
        <p:blipFill>
          <a:blip r:embed="rId2"/>
          <a:stretch>
            <a:fillRect/>
          </a:stretch>
        </p:blipFill>
        <p:spPr>
          <a:xfrm>
            <a:off x="731520" y="17258029"/>
            <a:ext cx="20482560" cy="3749040"/>
          </a:xfrm>
          <a:prstGeom prst="rect">
            <a:avLst/>
          </a:prstGeom>
        </p:spPr>
      </p:pic>
      <p:sp>
        <p:nvSpPr>
          <p:cNvPr id="41" name="TextBox 40"/>
          <p:cNvSpPr txBox="1"/>
          <p:nvPr/>
        </p:nvSpPr>
        <p:spPr>
          <a:xfrm>
            <a:off x="731520" y="21116797"/>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1.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42" name="TextBox 41"/>
          <p:cNvSpPr txBox="1"/>
          <p:nvPr/>
        </p:nvSpPr>
        <p:spPr>
          <a:xfrm>
            <a:off x="731520" y="2210206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43" name="TextBox 42"/>
          <p:cNvSpPr txBox="1"/>
          <p:nvPr/>
        </p:nvSpPr>
        <p:spPr>
          <a:xfrm>
            <a:off x="731520" y="2317953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On disk today</a:t>
            </a:r>
          </a:p>
        </p:txBody>
      </p:sp>
      <p:sp>
        <p:nvSpPr>
          <p:cNvPr id="44" name="Rectangle 43"/>
          <p:cNvSpPr/>
          <p:nvPr/>
        </p:nvSpPr>
        <p:spPr>
          <a:xfrm>
            <a:off x="731520" y="23707851"/>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24037035"/>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46" name="TextBox 45"/>
          <p:cNvSpPr txBox="1"/>
          <p:nvPr/>
        </p:nvSpPr>
        <p:spPr>
          <a:xfrm>
            <a:off x="731520" y="25114504"/>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92</a:t>
            </a:r>
          </a:p>
        </p:txBody>
      </p:sp>
      <p:sp>
        <p:nvSpPr>
          <p:cNvPr id="47" name="TextBox 46"/>
          <p:cNvSpPr txBox="1"/>
          <p:nvPr/>
        </p:nvSpPr>
        <p:spPr>
          <a:xfrm>
            <a:off x="731520" y="25917652"/>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questions asked of a dataset so far</a:t>
            </a:r>
          </a:p>
        </p:txBody>
      </p:sp>
      <p:sp>
        <p:nvSpPr>
          <p:cNvPr id="48" name="TextBox 47"/>
          <p:cNvSpPr txBox="1"/>
          <p:nvPr/>
        </p:nvSpPr>
        <p:spPr>
          <a:xfrm>
            <a:off x="731520" y="26372565"/>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Asked something it had never seen</a:t>
            </a:r>
          </a:p>
        </p:txBody>
      </p:sp>
      <p:sp>
        <p:nvSpPr>
          <p:cNvPr id="49" name="Rectangle 48"/>
          <p:cNvSpPr/>
          <p:nvPr/>
        </p:nvSpPr>
        <p:spPr>
          <a:xfrm>
            <a:off x="731520" y="26900886"/>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2723007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1" name="TextBox 50"/>
          <p:cNvSpPr txBox="1"/>
          <p:nvPr/>
        </p:nvSpPr>
        <p:spPr>
          <a:xfrm>
            <a:off x="731520" y="2830753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More web data, less accuracy</a:t>
            </a:r>
          </a:p>
        </p:txBody>
      </p:sp>
      <p:sp>
        <p:nvSpPr>
          <p:cNvPr id="52" name="Rectangle 51"/>
          <p:cNvSpPr/>
          <p:nvPr/>
        </p:nvSpPr>
        <p:spPr>
          <a:xfrm>
            <a:off x="731520" y="28835858"/>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1520" y="2916504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4" name="TextBox 53"/>
          <p:cNvSpPr txBox="1"/>
          <p:nvPr/>
        </p:nvSpPr>
        <p:spPr>
          <a:xfrm>
            <a:off x="22677120" y="778509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Robots on the platform today</a:t>
            </a:r>
          </a:p>
        </p:txBody>
      </p:sp>
      <p:sp>
        <p:nvSpPr>
          <p:cNvPr id="55" name="Rectangle 54"/>
          <p:cNvSpPr/>
          <p:nvPr/>
        </p:nvSpPr>
        <p:spPr>
          <a:xfrm>
            <a:off x="22677120" y="8313419"/>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2677120" y="864260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7" name="TextBox 56"/>
          <p:cNvSpPr txBox="1"/>
          <p:nvPr/>
        </p:nvSpPr>
        <p:spPr>
          <a:xfrm>
            <a:off x="22677120" y="9720071"/>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1,389</a:t>
            </a:r>
          </a:p>
        </p:txBody>
      </p:sp>
      <p:sp>
        <p:nvSpPr>
          <p:cNvPr id="58" name="TextBox 57"/>
          <p:cNvSpPr txBox="1"/>
          <p:nvPr/>
        </p:nvSpPr>
        <p:spPr>
          <a:xfrm>
            <a:off x="22677120" y="10523219"/>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joystick commands through the platform</a:t>
            </a:r>
          </a:p>
        </p:txBody>
      </p:sp>
      <p:sp>
        <p:nvSpPr>
          <p:cNvPr id="59" name="TextBox 58"/>
          <p:cNvSpPr txBox="1"/>
          <p:nvPr/>
        </p:nvSpPr>
        <p:spPr>
          <a:xfrm>
            <a:off x="22677120" y="10978133"/>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Driving a robot from a browser</a:t>
            </a:r>
          </a:p>
        </p:txBody>
      </p:sp>
      <p:sp>
        <p:nvSpPr>
          <p:cNvPr id="60" name="Rectangle 59"/>
          <p:cNvSpPr/>
          <p:nvPr/>
        </p:nvSpPr>
        <p:spPr>
          <a:xfrm>
            <a:off x="22677120" y="11506453"/>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677120" y="1183563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62" name="TextBox 61"/>
          <p:cNvSpPr txBox="1"/>
          <p:nvPr/>
        </p:nvSpPr>
        <p:spPr>
          <a:xfrm>
            <a:off x="22677120" y="12913105"/>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Left alone for fifteen rounds</a:t>
            </a:r>
          </a:p>
        </p:txBody>
      </p:sp>
      <p:sp>
        <p:nvSpPr>
          <p:cNvPr id="63" name="Rectangle 62"/>
          <p:cNvSpPr/>
          <p:nvPr/>
        </p:nvSpPr>
        <p:spPr>
          <a:xfrm>
            <a:off x="22677120" y="13441425"/>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f_rounds.png"/>
          <p:cNvPicPr>
            <a:picLocks noChangeAspect="1"/>
          </p:cNvPicPr>
          <p:nvPr/>
        </p:nvPicPr>
        <p:blipFill>
          <a:blip r:embed="rId3"/>
          <a:stretch>
            <a:fillRect/>
          </a:stretch>
        </p:blipFill>
        <p:spPr>
          <a:xfrm>
            <a:off x="22677120" y="13770609"/>
            <a:ext cx="20482560" cy="4663440"/>
          </a:xfrm>
          <a:prstGeom prst="rect">
            <a:avLst/>
          </a:prstGeom>
        </p:spPr>
      </p:pic>
      <p:sp>
        <p:nvSpPr>
          <p:cNvPr id="65" name="TextBox 64"/>
          <p:cNvSpPr txBox="1"/>
          <p:nvPr/>
        </p:nvSpPr>
        <p:spPr>
          <a:xfrm>
            <a:off x="22677120" y="18543777"/>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2.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66" name="TextBox 65"/>
          <p:cNvSpPr txBox="1"/>
          <p:nvPr/>
        </p:nvSpPr>
        <p:spPr>
          <a:xfrm>
            <a:off x="22677120" y="1952904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67" name="TextBox 66"/>
          <p:cNvSpPr txBox="1"/>
          <p:nvPr/>
        </p:nvSpPr>
        <p:spPr>
          <a:xfrm>
            <a:off x="22677120" y="2060651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Inside the platform</a:t>
            </a:r>
          </a:p>
        </p:txBody>
      </p:sp>
      <p:sp>
        <p:nvSpPr>
          <p:cNvPr id="68" name="Rectangle 67"/>
          <p:cNvSpPr/>
          <p:nvPr/>
        </p:nvSpPr>
        <p:spPr>
          <a:xfrm>
            <a:off x="22677120" y="21134832"/>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n_system.png"/>
          <p:cNvPicPr>
            <a:picLocks noChangeAspect="1"/>
          </p:cNvPicPr>
          <p:nvPr/>
        </p:nvPicPr>
        <p:blipFill>
          <a:blip r:embed="rId4"/>
          <a:stretch>
            <a:fillRect/>
          </a:stretch>
        </p:blipFill>
        <p:spPr>
          <a:xfrm>
            <a:off x="22677120" y="21464016"/>
            <a:ext cx="20482560" cy="3383280"/>
          </a:xfrm>
          <a:prstGeom prst="rect">
            <a:avLst/>
          </a:prstGeom>
        </p:spPr>
      </p:pic>
      <p:sp>
        <p:nvSpPr>
          <p:cNvPr id="70" name="TextBox 69"/>
          <p:cNvSpPr txBox="1"/>
          <p:nvPr/>
        </p:nvSpPr>
        <p:spPr>
          <a:xfrm>
            <a:off x="22677120" y="24957024"/>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3.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71" name="TextBox 70"/>
          <p:cNvSpPr txBox="1"/>
          <p:nvPr/>
        </p:nvSpPr>
        <p:spPr>
          <a:xfrm>
            <a:off x="22677120" y="2571750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Every stage from a camera in a crop row to a checkpoint on the cluster has run. The dashboard and registry run on a lab server; GPU jobs queue on PSC Bridges-2. The collector and trainer are paused after a stop-loss on 2026-08-29. The supervisor is advisory and nothing it says is applied.</a:t>
            </a:r>
          </a:p>
        </p:txBody>
      </p:sp>
      <p:sp>
        <p:nvSpPr>
          <p:cNvPr id="72" name="TextBox 71"/>
          <p:cNvSpPr txBox="1"/>
          <p:nvPr/>
        </p:nvSpPr>
        <p:spPr>
          <a:xfrm>
            <a:off x="22677120" y="2679496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Georgia"/>
              </a:rPr>
              <a:t>Only one robot has the button</a:t>
            </a:r>
          </a:p>
        </p:txBody>
      </p:sp>
      <p:sp>
        <p:nvSpPr>
          <p:cNvPr id="73" name="Rectangle 72"/>
          <p:cNvSpPr/>
          <p:nvPr/>
        </p:nvSpPr>
        <p:spPr>
          <a:xfrm>
            <a:off x="22677120" y="27323288"/>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677120" y="2765247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5" name="Rectangle 74"/>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7" name="TextBox 76"/>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8" name="TextBox 77"/>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