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10600" b="1">
                <a:solidFill>
                  <a:srgbClr val="1E293B"/>
                </a:solidFill>
                <a:latin typeface="Arial Narrow"/>
              </a:rPr>
              <a:t>agentAI: A Research-Data Platform for Physical and Embodied Agents</a:t>
            </a:r>
          </a:p>
        </p:txBody>
      </p:sp>
      <p:sp>
        <p:nvSpPr>
          <p:cNvPr id="4" name="TextBox 3"/>
          <p:cNvSpPr txBox="1"/>
          <p:nvPr/>
        </p:nvSpPr>
        <p:spPr>
          <a:xfrm>
            <a:off x="731520" y="22402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E293B"/>
                </a:solidFill>
                <a:latin typeface="Arial"/>
              </a:rPr>
              <a:t>Harry He   ·   Hongbo Zhang</a:t>
            </a:r>
          </a:p>
        </p:txBody>
      </p:sp>
      <p:sp>
        <p:nvSpPr>
          <p:cNvPr id="5" name="TextBox 4"/>
          <p:cNvSpPr txBox="1"/>
          <p:nvPr/>
        </p:nvSpPr>
        <p:spPr>
          <a:xfrm>
            <a:off x="731520" y="28803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56575"/>
                </a:solidFill>
                <a:latin typeface="Arial"/>
              </a:rPr>
              <a:t>Department of Engineering Technology   ·   Middle Tennessee State University, Murfreesboro, TN, USA</a:t>
            </a:r>
          </a:p>
        </p:txBody>
      </p:sp>
      <p:sp>
        <p:nvSpPr>
          <p:cNvPr id="6" name="Rectangle 5"/>
          <p:cNvSpPr/>
          <p:nvPr/>
        </p:nvSpPr>
        <p:spPr>
          <a:xfrm>
            <a:off x="731520" y="3749039"/>
            <a:ext cx="42428160" cy="4114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E293B"/>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820663"/>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2,686</a:t>
            </a:r>
          </a:p>
        </p:txBody>
      </p:sp>
      <p:sp>
        <p:nvSpPr>
          <p:cNvPr id="10" name="TextBox 9"/>
          <p:cNvSpPr txBox="1"/>
          <p:nvPr/>
        </p:nvSpPr>
        <p:spPr>
          <a:xfrm>
            <a:off x="731520"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camera frames</a:t>
            </a:r>
          </a:p>
        </p:txBody>
      </p:sp>
      <p:sp>
        <p:nvSpPr>
          <p:cNvPr id="11" name="TextBox 10"/>
          <p:cNvSpPr txBox="1"/>
          <p:nvPr/>
        </p:nvSpPr>
        <p:spPr>
          <a:xfrm>
            <a:off x="731520"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26 drives, 2 robots, 0 labelled</a:t>
            </a:r>
          </a:p>
        </p:txBody>
      </p:sp>
      <p:sp>
        <p:nvSpPr>
          <p:cNvPr id="12" name="TextBox 11"/>
          <p:cNvSpPr txBox="1"/>
          <p:nvPr/>
        </p:nvSpPr>
        <p:spPr>
          <a:xfrm>
            <a:off x="9317736"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91,955</a:t>
            </a:r>
          </a:p>
        </p:txBody>
      </p:sp>
      <p:sp>
        <p:nvSpPr>
          <p:cNvPr id="13" name="TextBox 12"/>
          <p:cNvSpPr txBox="1"/>
          <p:nvPr/>
        </p:nvSpPr>
        <p:spPr>
          <a:xfrm>
            <a:off x="9317736"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telemetry rows</a:t>
            </a:r>
          </a:p>
        </p:txBody>
      </p:sp>
      <p:sp>
        <p:nvSpPr>
          <p:cNvPr id="14" name="TextBox 13"/>
          <p:cNvSpPr txBox="1"/>
          <p:nvPr/>
        </p:nvSpPr>
        <p:spPr>
          <a:xfrm>
            <a:off x="9317736"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nine streams, counted line by line</a:t>
            </a:r>
          </a:p>
        </p:txBody>
      </p:sp>
      <p:sp>
        <p:nvSpPr>
          <p:cNvPr id="15" name="TextBox 14"/>
          <p:cNvSpPr txBox="1"/>
          <p:nvPr/>
        </p:nvSpPr>
        <p:spPr>
          <a:xfrm>
            <a:off x="17903952"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342 m</a:t>
            </a:r>
          </a:p>
        </p:txBody>
      </p:sp>
      <p:sp>
        <p:nvSpPr>
          <p:cNvPr id="16" name="TextBox 15"/>
          <p:cNvSpPr txBox="1"/>
          <p:nvPr/>
        </p:nvSpPr>
        <p:spPr>
          <a:xfrm>
            <a:off x="17903952"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of GPS track</a:t>
            </a:r>
          </a:p>
        </p:txBody>
      </p:sp>
      <p:sp>
        <p:nvSpPr>
          <p:cNvPr id="17" name="TextBox 16"/>
          <p:cNvSpPr txBox="1"/>
          <p:nvPr/>
        </p:nvSpPr>
        <p:spPr>
          <a:xfrm>
            <a:off x="17903952"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1,502 fixes over 18 drives</a:t>
            </a:r>
          </a:p>
        </p:txBody>
      </p:sp>
      <p:sp>
        <p:nvSpPr>
          <p:cNvPr id="18" name="TextBox 17"/>
          <p:cNvSpPr txBox="1"/>
          <p:nvPr/>
        </p:nvSpPr>
        <p:spPr>
          <a:xfrm>
            <a:off x="26490168"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27</a:t>
            </a:r>
          </a:p>
        </p:txBody>
      </p:sp>
      <p:sp>
        <p:nvSpPr>
          <p:cNvPr id="19" name="TextBox 18"/>
          <p:cNvSpPr txBox="1"/>
          <p:nvPr/>
        </p:nvSpPr>
        <p:spPr>
          <a:xfrm>
            <a:off x="26490168"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distinct models run</a:t>
            </a:r>
          </a:p>
        </p:txBody>
      </p:sp>
      <p:sp>
        <p:nvSpPr>
          <p:cNvPr id="20" name="TextBox 19"/>
          <p:cNvSpPr txBox="1"/>
          <p:nvPr/>
        </p:nvSpPr>
        <p:spPr>
          <a:xfrm>
            <a:off x="26490168"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four families, one deployed</a:t>
            </a:r>
          </a:p>
        </p:txBody>
      </p:sp>
      <p:sp>
        <p:nvSpPr>
          <p:cNvPr id="21" name="TextBox 20"/>
          <p:cNvSpPr txBox="1"/>
          <p:nvPr/>
        </p:nvSpPr>
        <p:spPr>
          <a:xfrm>
            <a:off x="35076384"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0</a:t>
            </a:r>
          </a:p>
        </p:txBody>
      </p:sp>
      <p:sp>
        <p:nvSpPr>
          <p:cNvPr id="22" name="TextBox 21"/>
          <p:cNvSpPr txBox="1"/>
          <p:nvPr/>
        </p:nvSpPr>
        <p:spPr>
          <a:xfrm>
            <a:off x="35076384"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robot frames labelled</a:t>
            </a:r>
          </a:p>
        </p:txBody>
      </p:sp>
      <p:sp>
        <p:nvSpPr>
          <p:cNvPr id="23" name="TextBox 22"/>
          <p:cNvSpPr txBox="1"/>
          <p:nvPr/>
        </p:nvSpPr>
        <p:spPr>
          <a:xfrm>
            <a:off x="35076384"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the whole archive, so far</a:t>
            </a:r>
          </a:p>
        </p:txBody>
      </p:sp>
      <p:sp>
        <p:nvSpPr>
          <p:cNvPr id="24" name="Rectangle 23"/>
          <p:cNvSpPr/>
          <p:nvPr/>
        </p:nvSpPr>
        <p:spPr>
          <a:xfrm>
            <a:off x="731520" y="7440167"/>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793394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One platform for every robot the lab owns</a:t>
            </a:r>
          </a:p>
        </p:txBody>
      </p:sp>
      <p:sp>
        <p:nvSpPr>
          <p:cNvPr id="26" name="Rectangle 25"/>
          <p:cNvSpPr/>
          <p:nvPr/>
        </p:nvSpPr>
        <p:spPr>
          <a:xfrm>
            <a:off x="731520" y="8495284"/>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82446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093571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Driving a robot from a browser</a:t>
            </a:r>
          </a:p>
        </p:txBody>
      </p:sp>
      <p:sp>
        <p:nvSpPr>
          <p:cNvPr id="29" name="Rectangle 28"/>
          <p:cNvSpPr/>
          <p:nvPr/>
        </p:nvSpPr>
        <p:spPr>
          <a:xfrm>
            <a:off x="731520" y="1149705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11826239"/>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1" name="TextBox 30"/>
          <p:cNvSpPr txBox="1"/>
          <p:nvPr/>
        </p:nvSpPr>
        <p:spPr>
          <a:xfrm>
            <a:off x="731520" y="13937487"/>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Four frames, as recorded</a:t>
            </a:r>
          </a:p>
        </p:txBody>
      </p:sp>
      <p:sp>
        <p:nvSpPr>
          <p:cNvPr id="32" name="Rectangle 31"/>
          <p:cNvSpPr/>
          <p:nvPr/>
        </p:nvSpPr>
        <p:spPr>
          <a:xfrm>
            <a:off x="731520" y="14498827"/>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l_robots.png"/>
          <p:cNvPicPr>
            <a:picLocks noChangeAspect="1"/>
          </p:cNvPicPr>
          <p:nvPr/>
        </p:nvPicPr>
        <p:blipFill>
          <a:blip r:embed="rId2"/>
          <a:stretch>
            <a:fillRect/>
          </a:stretch>
        </p:blipFill>
        <p:spPr>
          <a:xfrm>
            <a:off x="731520" y="14828012"/>
            <a:ext cx="10607040" cy="2377440"/>
          </a:xfrm>
          <a:prstGeom prst="rect">
            <a:avLst/>
          </a:prstGeom>
        </p:spPr>
      </p:pic>
      <p:sp>
        <p:nvSpPr>
          <p:cNvPr id="34" name="TextBox 33"/>
          <p:cNvSpPr txBox="1"/>
          <p:nvPr/>
        </p:nvSpPr>
        <p:spPr>
          <a:xfrm>
            <a:off x="731520" y="17315180"/>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1.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35" name="TextBox 34"/>
          <p:cNvSpPr txBox="1"/>
          <p:nvPr/>
        </p:nvSpPr>
        <p:spPr>
          <a:xfrm>
            <a:off x="731520" y="1858518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Nothing here is enhanced and nothing is labelled. The rectangle in the cart's down camera is a fixed work-zone overlay: it sits at the same pixels on frames with no vegetation in them at all.</a:t>
            </a:r>
          </a:p>
        </p:txBody>
      </p:sp>
      <p:sp>
        <p:nvSpPr>
          <p:cNvPr id="36" name="TextBox 35"/>
          <p:cNvSpPr txBox="1"/>
          <p:nvPr/>
        </p:nvSpPr>
        <p:spPr>
          <a:xfrm>
            <a:off x="731520" y="2007666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Only one robot has the button</a:t>
            </a:r>
          </a:p>
        </p:txBody>
      </p:sp>
      <p:sp>
        <p:nvSpPr>
          <p:cNvPr id="37" name="Rectangle 36"/>
          <p:cNvSpPr/>
          <p:nvPr/>
        </p:nvSpPr>
        <p:spPr>
          <a:xfrm>
            <a:off x="731520" y="2063800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2096719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39" name="TextBox 38"/>
          <p:cNvSpPr txBox="1"/>
          <p:nvPr/>
        </p:nvSpPr>
        <p:spPr>
          <a:xfrm>
            <a:off x="731520" y="2276856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Which decisions a model makes</a:t>
            </a:r>
          </a:p>
        </p:txBody>
      </p:sp>
      <p:sp>
        <p:nvSpPr>
          <p:cNvPr id="40" name="Rectangle 39"/>
          <p:cNvSpPr/>
          <p:nvPr/>
        </p:nvSpPr>
        <p:spPr>
          <a:xfrm>
            <a:off x="731520" y="2332990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2365908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42" name="TextBox 41"/>
          <p:cNvSpPr txBox="1"/>
          <p:nvPr/>
        </p:nvSpPr>
        <p:spPr>
          <a:xfrm>
            <a:off x="731520" y="2577033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Adding the next robot</a:t>
            </a:r>
          </a:p>
        </p:txBody>
      </p:sp>
      <p:sp>
        <p:nvSpPr>
          <p:cNvPr id="43" name="Rectangle 42"/>
          <p:cNvSpPr/>
          <p:nvPr/>
        </p:nvSpPr>
        <p:spPr>
          <a:xfrm>
            <a:off x="731520" y="2633167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2666085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new robot needs a project, an API key and a session start. The ingest contract is the same for every vehicle: start a session, post sensor batches and frames while driving, stop. The platform does not care what the robot is. The Unitree humanoid's project exists on this basis and is waiting on its first upload.</a:t>
            </a:r>
          </a:p>
        </p:txBody>
      </p:sp>
      <p:sp>
        <p:nvSpPr>
          <p:cNvPr id="45" name="TextBox 44"/>
          <p:cNvSpPr txBox="1"/>
          <p:nvPr/>
        </p:nvSpPr>
        <p:spPr>
          <a:xfrm>
            <a:off x="11704320" y="793394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Robots on the platform today</a:t>
            </a:r>
          </a:p>
        </p:txBody>
      </p:sp>
      <p:sp>
        <p:nvSpPr>
          <p:cNvPr id="46" name="Rectangle 45"/>
          <p:cNvSpPr/>
          <p:nvPr/>
        </p:nvSpPr>
        <p:spPr>
          <a:xfrm>
            <a:off x="11704320" y="8495284"/>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704320" y="882446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48" name="TextBox 47"/>
          <p:cNvSpPr txBox="1"/>
          <p:nvPr/>
        </p:nvSpPr>
        <p:spPr>
          <a:xfrm>
            <a:off x="11704320" y="1093571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Ask a dataset what it is good for</a:t>
            </a:r>
          </a:p>
        </p:txBody>
      </p:sp>
      <p:sp>
        <p:nvSpPr>
          <p:cNvPr id="49" name="Rectangle 48"/>
          <p:cNvSpPr/>
          <p:nvPr/>
        </p:nvSpPr>
        <p:spPr>
          <a:xfrm>
            <a:off x="11704320" y="1149705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704320" y="11826239"/>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51" name="TextBox 50"/>
          <p:cNvSpPr txBox="1"/>
          <p:nvPr/>
        </p:nvSpPr>
        <p:spPr>
          <a:xfrm>
            <a:off x="11704320" y="13627607"/>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On disk today</a:t>
            </a:r>
          </a:p>
        </p:txBody>
      </p:sp>
      <p:sp>
        <p:nvSpPr>
          <p:cNvPr id="52" name="Rectangle 51"/>
          <p:cNvSpPr/>
          <p:nvPr/>
        </p:nvSpPr>
        <p:spPr>
          <a:xfrm>
            <a:off x="11704320" y="14188947"/>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04320" y="14518131"/>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Two robots have put 2,686 camera frames and 91,955 telemetry rows across nine streams onto the platform, over 26 drives, with 342 m of GPS track from 1,502 fixes. None of the frames is labelled.</a:t>
            </a:r>
          </a:p>
        </p:txBody>
      </p:sp>
      <p:sp>
        <p:nvSpPr>
          <p:cNvPr id="54" name="TextBox 53"/>
          <p:cNvSpPr txBox="1"/>
          <p:nvPr/>
        </p:nvSpPr>
        <p:spPr>
          <a:xfrm>
            <a:off x="11704320" y="1600962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Asked something it had never seen</a:t>
            </a:r>
          </a:p>
        </p:txBody>
      </p:sp>
      <p:sp>
        <p:nvSpPr>
          <p:cNvPr id="55" name="Rectangle 54"/>
          <p:cNvSpPr/>
          <p:nvPr/>
        </p:nvSpPr>
        <p:spPr>
          <a:xfrm>
            <a:off x="11704320" y="1657095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704320" y="16900143"/>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57" name="TextBox 56"/>
          <p:cNvSpPr txBox="1"/>
          <p:nvPr/>
        </p:nvSpPr>
        <p:spPr>
          <a:xfrm>
            <a:off x="11704320" y="1870151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More web data, less accuracy</a:t>
            </a:r>
          </a:p>
        </p:txBody>
      </p:sp>
      <p:sp>
        <p:nvSpPr>
          <p:cNvPr id="58" name="Rectangle 57"/>
          <p:cNvSpPr/>
          <p:nvPr/>
        </p:nvSpPr>
        <p:spPr>
          <a:xfrm>
            <a:off x="11704320" y="1926285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704320" y="1959203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60" name="TextBox 59"/>
          <p:cNvSpPr txBox="1"/>
          <p:nvPr/>
        </p:nvSpPr>
        <p:spPr>
          <a:xfrm>
            <a:off x="11704320" y="2139340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213 seconds in one crop plot</a:t>
            </a:r>
          </a:p>
        </p:txBody>
      </p:sp>
      <p:sp>
        <p:nvSpPr>
          <p:cNvPr id="61" name="Rectangle 60"/>
          <p:cNvSpPr/>
          <p:nvPr/>
        </p:nvSpPr>
        <p:spPr>
          <a:xfrm>
            <a:off x="11704320" y="21954744"/>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h_drive.png"/>
          <p:cNvPicPr>
            <a:picLocks noChangeAspect="1"/>
          </p:cNvPicPr>
          <p:nvPr/>
        </p:nvPicPr>
        <p:blipFill>
          <a:blip r:embed="rId3"/>
          <a:stretch>
            <a:fillRect/>
          </a:stretch>
        </p:blipFill>
        <p:spPr>
          <a:xfrm>
            <a:off x="11704320" y="22283928"/>
            <a:ext cx="10607040" cy="4023360"/>
          </a:xfrm>
          <a:prstGeom prst="rect">
            <a:avLst/>
          </a:prstGeom>
        </p:spPr>
      </p:pic>
      <p:sp>
        <p:nvSpPr>
          <p:cNvPr id="63" name="TextBox 62"/>
          <p:cNvSpPr txBox="1"/>
          <p:nvPr/>
        </p:nvSpPr>
        <p:spPr>
          <a:xfrm>
            <a:off x="11704320" y="26417016"/>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2.  Robot 241, 2026-08-29: one 213 s pass through a crop plot. (h) GPS track from the board fix. (i) IMU heading over the same pass.</a:t>
            </a:r>
          </a:p>
        </p:txBody>
      </p:sp>
      <p:sp>
        <p:nvSpPr>
          <p:cNvPr id="64" name="TextBox 63"/>
          <p:cNvSpPr txBox="1"/>
          <p:nvPr/>
        </p:nvSpPr>
        <p:spPr>
          <a:xfrm>
            <a:off x="11704320" y="2720746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longest single pass the platform holds: 141 m of track from 211 fixes, with heading from the IMU over the same 213 seconds. The platform holds 18 passes that carry position.</a:t>
            </a:r>
          </a:p>
        </p:txBody>
      </p:sp>
      <p:sp>
        <p:nvSpPr>
          <p:cNvPr id="65" name="TextBox 64"/>
          <p:cNvSpPr txBox="1"/>
          <p:nvPr/>
        </p:nvSpPr>
        <p:spPr>
          <a:xfrm>
            <a:off x="22677120" y="793394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A drive becomes a dataset as it opens</a:t>
            </a:r>
          </a:p>
        </p:txBody>
      </p:sp>
      <p:sp>
        <p:nvSpPr>
          <p:cNvPr id="66" name="Rectangle 65"/>
          <p:cNvSpPr/>
          <p:nvPr/>
        </p:nvSpPr>
        <p:spPr>
          <a:xfrm>
            <a:off x="22677120" y="8495284"/>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677120" y="882446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68" name="TextBox 67"/>
          <p:cNvSpPr txBox="1"/>
          <p:nvPr/>
        </p:nvSpPr>
        <p:spPr>
          <a:xfrm>
            <a:off x="22677120" y="10006075"/>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Left alone for fifteen rounds</a:t>
            </a:r>
          </a:p>
        </p:txBody>
      </p:sp>
      <p:sp>
        <p:nvSpPr>
          <p:cNvPr id="69" name="Rectangle 68"/>
          <p:cNvSpPr/>
          <p:nvPr/>
        </p:nvSpPr>
        <p:spPr>
          <a:xfrm>
            <a:off x="22677120" y="10567415"/>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f_rounds.png"/>
          <p:cNvPicPr>
            <a:picLocks noChangeAspect="1"/>
          </p:cNvPicPr>
          <p:nvPr/>
        </p:nvPicPr>
        <p:blipFill>
          <a:blip r:embed="rId4"/>
          <a:stretch>
            <a:fillRect/>
          </a:stretch>
        </p:blipFill>
        <p:spPr>
          <a:xfrm>
            <a:off x="22677120" y="10896599"/>
            <a:ext cx="20482560" cy="4663440"/>
          </a:xfrm>
          <a:prstGeom prst="rect">
            <a:avLst/>
          </a:prstGeom>
        </p:spPr>
      </p:pic>
      <p:sp>
        <p:nvSpPr>
          <p:cNvPr id="71" name="TextBox 70"/>
          <p:cNvSpPr txBox="1"/>
          <p:nvPr/>
        </p:nvSpPr>
        <p:spPr>
          <a:xfrm>
            <a:off x="22677120" y="15669768"/>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72" name="TextBox 71"/>
          <p:cNvSpPr txBox="1"/>
          <p:nvPr/>
        </p:nvSpPr>
        <p:spPr>
          <a:xfrm>
            <a:off x="22677120" y="16699991"/>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73" name="TextBox 72"/>
          <p:cNvSpPr txBox="1"/>
          <p:nvPr/>
        </p:nvSpPr>
        <p:spPr>
          <a:xfrm>
            <a:off x="22677120" y="18191480"/>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Narrow"/>
              </a:rPr>
              <a:t>Everything we trained, ran, or rejected</a:t>
            </a:r>
          </a:p>
        </p:txBody>
      </p:sp>
      <p:sp>
        <p:nvSpPr>
          <p:cNvPr id="74" name="Rectangle 73"/>
          <p:cNvSpPr/>
          <p:nvPr/>
        </p:nvSpPr>
        <p:spPr>
          <a:xfrm>
            <a:off x="22677120" y="18752820"/>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Picture 74" descr="m_ledger.png"/>
          <p:cNvPicPr>
            <a:picLocks noChangeAspect="1"/>
          </p:cNvPicPr>
          <p:nvPr/>
        </p:nvPicPr>
        <p:blipFill>
          <a:blip r:embed="rId5"/>
          <a:stretch>
            <a:fillRect/>
          </a:stretch>
        </p:blipFill>
        <p:spPr>
          <a:xfrm>
            <a:off x="22677120" y="19082004"/>
            <a:ext cx="20482560" cy="3749040"/>
          </a:xfrm>
          <a:prstGeom prst="rect">
            <a:avLst/>
          </a:prstGeom>
        </p:spPr>
      </p:pic>
      <p:sp>
        <p:nvSpPr>
          <p:cNvPr id="76" name="TextBox 75"/>
          <p:cNvSpPr txBox="1"/>
          <p:nvPr/>
        </p:nvSpPr>
        <p:spPr>
          <a:xfrm>
            <a:off x="22677120" y="22940772"/>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4.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77" name="TextBox 76"/>
          <p:cNvSpPr txBox="1"/>
          <p:nvPr/>
        </p:nvSpPr>
        <p:spPr>
          <a:xfrm>
            <a:off x="22677120" y="23970996"/>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78" name="Rectangle 77"/>
          <p:cNvSpPr/>
          <p:nvPr/>
        </p:nvSpPr>
        <p:spPr>
          <a:xfrm>
            <a:off x="731520" y="30632400"/>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80" name="TextBox 79"/>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81" name="TextBox 80"/>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