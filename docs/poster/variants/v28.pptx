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10600" b="1">
                <a:solidFill>
                  <a:srgbClr val="1E293B"/>
                </a:solidFill>
                <a:latin typeface="Arial Narrow"/>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E293B"/>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56575"/>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E29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820663"/>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2,686</a:t>
            </a:r>
          </a:p>
        </p:txBody>
      </p:sp>
      <p:sp>
        <p:nvSpPr>
          <p:cNvPr id="10" name="TextBox 9"/>
          <p:cNvSpPr txBox="1"/>
          <p:nvPr/>
        </p:nvSpPr>
        <p:spPr>
          <a:xfrm>
            <a:off x="731520"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camera frames</a:t>
            </a:r>
          </a:p>
        </p:txBody>
      </p:sp>
      <p:sp>
        <p:nvSpPr>
          <p:cNvPr id="11" name="TextBox 10"/>
          <p:cNvSpPr txBox="1"/>
          <p:nvPr/>
        </p:nvSpPr>
        <p:spPr>
          <a:xfrm>
            <a:off x="731520"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26 drives, 2 robots, 0 labelled</a:t>
            </a:r>
          </a:p>
        </p:txBody>
      </p:sp>
      <p:sp>
        <p:nvSpPr>
          <p:cNvPr id="12" name="TextBox 11"/>
          <p:cNvSpPr txBox="1"/>
          <p:nvPr/>
        </p:nvSpPr>
        <p:spPr>
          <a:xfrm>
            <a:off x="9317736"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91,955</a:t>
            </a:r>
          </a:p>
        </p:txBody>
      </p:sp>
      <p:sp>
        <p:nvSpPr>
          <p:cNvPr id="13" name="TextBox 12"/>
          <p:cNvSpPr txBox="1"/>
          <p:nvPr/>
        </p:nvSpPr>
        <p:spPr>
          <a:xfrm>
            <a:off x="9317736"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telemetry rows</a:t>
            </a:r>
          </a:p>
        </p:txBody>
      </p:sp>
      <p:sp>
        <p:nvSpPr>
          <p:cNvPr id="14" name="TextBox 13"/>
          <p:cNvSpPr txBox="1"/>
          <p:nvPr/>
        </p:nvSpPr>
        <p:spPr>
          <a:xfrm>
            <a:off x="9317736"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nine streams, counted line by line</a:t>
            </a:r>
          </a:p>
        </p:txBody>
      </p:sp>
      <p:sp>
        <p:nvSpPr>
          <p:cNvPr id="15" name="TextBox 14"/>
          <p:cNvSpPr txBox="1"/>
          <p:nvPr/>
        </p:nvSpPr>
        <p:spPr>
          <a:xfrm>
            <a:off x="17903952"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342 m</a:t>
            </a:r>
          </a:p>
        </p:txBody>
      </p:sp>
      <p:sp>
        <p:nvSpPr>
          <p:cNvPr id="16" name="TextBox 15"/>
          <p:cNvSpPr txBox="1"/>
          <p:nvPr/>
        </p:nvSpPr>
        <p:spPr>
          <a:xfrm>
            <a:off x="17903952"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of GPS track</a:t>
            </a:r>
          </a:p>
        </p:txBody>
      </p:sp>
      <p:sp>
        <p:nvSpPr>
          <p:cNvPr id="17" name="TextBox 16"/>
          <p:cNvSpPr txBox="1"/>
          <p:nvPr/>
        </p:nvSpPr>
        <p:spPr>
          <a:xfrm>
            <a:off x="17903952"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1,502 fixes over 18 drives</a:t>
            </a:r>
          </a:p>
        </p:txBody>
      </p:sp>
      <p:sp>
        <p:nvSpPr>
          <p:cNvPr id="18" name="TextBox 17"/>
          <p:cNvSpPr txBox="1"/>
          <p:nvPr/>
        </p:nvSpPr>
        <p:spPr>
          <a:xfrm>
            <a:off x="26490168"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27</a:t>
            </a:r>
          </a:p>
        </p:txBody>
      </p:sp>
      <p:sp>
        <p:nvSpPr>
          <p:cNvPr id="19" name="TextBox 18"/>
          <p:cNvSpPr txBox="1"/>
          <p:nvPr/>
        </p:nvSpPr>
        <p:spPr>
          <a:xfrm>
            <a:off x="26490168"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distinct models run</a:t>
            </a:r>
          </a:p>
        </p:txBody>
      </p:sp>
      <p:sp>
        <p:nvSpPr>
          <p:cNvPr id="20" name="TextBox 19"/>
          <p:cNvSpPr txBox="1"/>
          <p:nvPr/>
        </p:nvSpPr>
        <p:spPr>
          <a:xfrm>
            <a:off x="26490168"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four families, one deployed</a:t>
            </a:r>
          </a:p>
        </p:txBody>
      </p:sp>
      <p:sp>
        <p:nvSpPr>
          <p:cNvPr id="21" name="TextBox 20"/>
          <p:cNvSpPr txBox="1"/>
          <p:nvPr/>
        </p:nvSpPr>
        <p:spPr>
          <a:xfrm>
            <a:off x="35076384"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0</a:t>
            </a:r>
          </a:p>
        </p:txBody>
      </p:sp>
      <p:sp>
        <p:nvSpPr>
          <p:cNvPr id="22" name="TextBox 21"/>
          <p:cNvSpPr txBox="1"/>
          <p:nvPr/>
        </p:nvSpPr>
        <p:spPr>
          <a:xfrm>
            <a:off x="35076384"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robot frames labelled</a:t>
            </a:r>
          </a:p>
        </p:txBody>
      </p:sp>
      <p:sp>
        <p:nvSpPr>
          <p:cNvPr id="23" name="TextBox 22"/>
          <p:cNvSpPr txBox="1"/>
          <p:nvPr/>
        </p:nvSpPr>
        <p:spPr>
          <a:xfrm>
            <a:off x="35076384"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the whole archive, so far</a:t>
            </a:r>
          </a:p>
        </p:txBody>
      </p:sp>
      <p:sp>
        <p:nvSpPr>
          <p:cNvPr id="24" name="Rectangle 23"/>
          <p:cNvSpPr/>
          <p:nvPr/>
        </p:nvSpPr>
        <p:spPr>
          <a:xfrm>
            <a:off x="731520" y="7440167"/>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One platform for every robot the lab owns</a:t>
            </a:r>
          </a:p>
        </p:txBody>
      </p:sp>
      <p:sp>
        <p:nvSpPr>
          <p:cNvPr id="26" name="Rectangle 25"/>
          <p:cNvSpPr/>
          <p:nvPr/>
        </p:nvSpPr>
        <p:spPr>
          <a:xfrm>
            <a:off x="731520" y="849528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93571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Narrow"/>
              </a:rPr>
              <a:t>1,389</a:t>
            </a:r>
          </a:p>
        </p:txBody>
      </p:sp>
      <p:sp>
        <p:nvSpPr>
          <p:cNvPr id="29" name="TextBox 28"/>
          <p:cNvSpPr txBox="1"/>
          <p:nvPr/>
        </p:nvSpPr>
        <p:spPr>
          <a:xfrm>
            <a:off x="731520" y="1173886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joystick commands through the platform</a:t>
            </a:r>
          </a:p>
        </p:txBody>
      </p:sp>
      <p:sp>
        <p:nvSpPr>
          <p:cNvPr id="30" name="TextBox 29"/>
          <p:cNvSpPr txBox="1"/>
          <p:nvPr/>
        </p:nvSpPr>
        <p:spPr>
          <a:xfrm>
            <a:off x="731520" y="122092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Driving a robot from a browser</a:t>
            </a:r>
          </a:p>
        </p:txBody>
      </p:sp>
      <p:sp>
        <p:nvSpPr>
          <p:cNvPr id="31" name="Rectangle 30"/>
          <p:cNvSpPr/>
          <p:nvPr/>
        </p:nvSpPr>
        <p:spPr>
          <a:xfrm>
            <a:off x="731520" y="1277061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30997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521104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Four frames, as recorded</a:t>
            </a:r>
          </a:p>
        </p:txBody>
      </p:sp>
      <p:sp>
        <p:nvSpPr>
          <p:cNvPr id="34" name="Rectangle 33"/>
          <p:cNvSpPr/>
          <p:nvPr/>
        </p:nvSpPr>
        <p:spPr>
          <a:xfrm>
            <a:off x="731520" y="1577238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_robots.png"/>
          <p:cNvPicPr>
            <a:picLocks noChangeAspect="1"/>
          </p:cNvPicPr>
          <p:nvPr/>
        </p:nvPicPr>
        <p:blipFill>
          <a:blip r:embed="rId2"/>
          <a:stretch>
            <a:fillRect/>
          </a:stretch>
        </p:blipFill>
        <p:spPr>
          <a:xfrm>
            <a:off x="731520" y="16101568"/>
            <a:ext cx="10607040" cy="2377440"/>
          </a:xfrm>
          <a:prstGeom prst="rect">
            <a:avLst/>
          </a:prstGeom>
        </p:spPr>
      </p:pic>
      <p:sp>
        <p:nvSpPr>
          <p:cNvPr id="36" name="TextBox 35"/>
          <p:cNvSpPr txBox="1"/>
          <p:nvPr/>
        </p:nvSpPr>
        <p:spPr>
          <a:xfrm>
            <a:off x="731520" y="18588736"/>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1.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37" name="TextBox 36"/>
          <p:cNvSpPr txBox="1"/>
          <p:nvPr/>
        </p:nvSpPr>
        <p:spPr>
          <a:xfrm>
            <a:off x="731520" y="1985873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Nothing here is enhanced and nothing is labelled. The rectangle in the cart's down camera is a fixed work-zone overlay: it sits at the same pixels on frames with no vegetation in them at all.</a:t>
            </a:r>
          </a:p>
        </p:txBody>
      </p:sp>
      <p:sp>
        <p:nvSpPr>
          <p:cNvPr id="38" name="TextBox 37"/>
          <p:cNvSpPr txBox="1"/>
          <p:nvPr/>
        </p:nvSpPr>
        <p:spPr>
          <a:xfrm>
            <a:off x="731520" y="2135022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Only one robot has the button</a:t>
            </a:r>
          </a:p>
        </p:txBody>
      </p:sp>
      <p:sp>
        <p:nvSpPr>
          <p:cNvPr id="39" name="Rectangle 38"/>
          <p:cNvSpPr/>
          <p:nvPr/>
        </p:nvSpPr>
        <p:spPr>
          <a:xfrm>
            <a:off x="731520" y="2191156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2224074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41" name="TextBox 40"/>
          <p:cNvSpPr txBox="1"/>
          <p:nvPr/>
        </p:nvSpPr>
        <p:spPr>
          <a:xfrm>
            <a:off x="731520" y="240421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Which decisions a model makes</a:t>
            </a:r>
          </a:p>
        </p:txBody>
      </p:sp>
      <p:sp>
        <p:nvSpPr>
          <p:cNvPr id="42" name="Rectangle 41"/>
          <p:cNvSpPr/>
          <p:nvPr/>
        </p:nvSpPr>
        <p:spPr>
          <a:xfrm>
            <a:off x="731520" y="2460345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2493264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44" name="TextBox 43"/>
          <p:cNvSpPr txBox="1"/>
          <p:nvPr/>
        </p:nvSpPr>
        <p:spPr>
          <a:xfrm>
            <a:off x="731520" y="2704388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Adding the next robot</a:t>
            </a:r>
          </a:p>
        </p:txBody>
      </p:sp>
      <p:sp>
        <p:nvSpPr>
          <p:cNvPr id="45" name="Rectangle 44"/>
          <p:cNvSpPr/>
          <p:nvPr/>
        </p:nvSpPr>
        <p:spPr>
          <a:xfrm>
            <a:off x="731520" y="2760522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2793441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new robot needs a project, an API key and a session start. The ingest contract is the same for every vehicle: open a session, post sensor batches and frames while driving, stop. The platform does not care what the robot is. Empty projects for a mobile robot and a humanoid already sit on it, waiting for a first upload.</a:t>
            </a:r>
          </a:p>
        </p:txBody>
      </p:sp>
      <p:sp>
        <p:nvSpPr>
          <p:cNvPr id="47" name="TextBox 46"/>
          <p:cNvSpPr txBox="1"/>
          <p:nvPr/>
        </p:nvSpPr>
        <p:spPr>
          <a:xfrm>
            <a:off x="1170432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Robots on the platform today</a:t>
            </a:r>
          </a:p>
        </p:txBody>
      </p:sp>
      <p:sp>
        <p:nvSpPr>
          <p:cNvPr id="48" name="Rectangle 47"/>
          <p:cNvSpPr/>
          <p:nvPr/>
        </p:nvSpPr>
        <p:spPr>
          <a:xfrm>
            <a:off x="11704320" y="849528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0432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50" name="TextBox 49"/>
          <p:cNvSpPr txBox="1"/>
          <p:nvPr/>
        </p:nvSpPr>
        <p:spPr>
          <a:xfrm>
            <a:off x="11704320" y="1093571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Narrow"/>
              </a:rPr>
              <a:t>14</a:t>
            </a:r>
          </a:p>
        </p:txBody>
      </p:sp>
      <p:sp>
        <p:nvSpPr>
          <p:cNvPr id="51" name="TextBox 50"/>
          <p:cNvSpPr txBox="1"/>
          <p:nvPr/>
        </p:nvSpPr>
        <p:spPr>
          <a:xfrm>
            <a:off x="11704320" y="1173886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analysis tools the planner can choose from</a:t>
            </a:r>
          </a:p>
        </p:txBody>
      </p:sp>
      <p:sp>
        <p:nvSpPr>
          <p:cNvPr id="52" name="TextBox 51"/>
          <p:cNvSpPr txBox="1"/>
          <p:nvPr/>
        </p:nvSpPr>
        <p:spPr>
          <a:xfrm>
            <a:off x="11704320" y="122092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Ask a dataset what it is good for</a:t>
            </a:r>
          </a:p>
        </p:txBody>
      </p:sp>
      <p:sp>
        <p:nvSpPr>
          <p:cNvPr id="53" name="Rectangle 52"/>
          <p:cNvSpPr/>
          <p:nvPr/>
        </p:nvSpPr>
        <p:spPr>
          <a:xfrm>
            <a:off x="11704320" y="1277061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04320" y="130997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5" name="TextBox 54"/>
          <p:cNvSpPr txBox="1"/>
          <p:nvPr/>
        </p:nvSpPr>
        <p:spPr>
          <a:xfrm>
            <a:off x="11704320" y="1490116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On disk today</a:t>
            </a:r>
          </a:p>
        </p:txBody>
      </p:sp>
      <p:sp>
        <p:nvSpPr>
          <p:cNvPr id="56" name="Rectangle 55"/>
          <p:cNvSpPr/>
          <p:nvPr/>
        </p:nvSpPr>
        <p:spPr>
          <a:xfrm>
            <a:off x="11704320" y="1546250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04320" y="157916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Two robots have put 2,686 camera frames and 91,955 telemetry rows across nine streams onto the platform, over 26 drives, with 342 m of GPS track from 1,502 fixes. None of the frames is labelled.</a:t>
            </a:r>
          </a:p>
        </p:txBody>
      </p:sp>
      <p:sp>
        <p:nvSpPr>
          <p:cNvPr id="58" name="TextBox 57"/>
          <p:cNvSpPr txBox="1"/>
          <p:nvPr/>
        </p:nvSpPr>
        <p:spPr>
          <a:xfrm>
            <a:off x="11704320" y="1728317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Narrow"/>
              </a:rPr>
              <a:t>92</a:t>
            </a:r>
          </a:p>
        </p:txBody>
      </p:sp>
      <p:sp>
        <p:nvSpPr>
          <p:cNvPr id="59" name="TextBox 58"/>
          <p:cNvSpPr txBox="1"/>
          <p:nvPr/>
        </p:nvSpPr>
        <p:spPr>
          <a:xfrm>
            <a:off x="11704320" y="1808632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questions asked of a dataset so far</a:t>
            </a:r>
          </a:p>
        </p:txBody>
      </p:sp>
      <p:sp>
        <p:nvSpPr>
          <p:cNvPr id="60" name="TextBox 59"/>
          <p:cNvSpPr txBox="1"/>
          <p:nvPr/>
        </p:nvSpPr>
        <p:spPr>
          <a:xfrm>
            <a:off x="11704320" y="1855673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Asked something it had never seen</a:t>
            </a:r>
          </a:p>
        </p:txBody>
      </p:sp>
      <p:sp>
        <p:nvSpPr>
          <p:cNvPr id="61" name="Rectangle 60"/>
          <p:cNvSpPr/>
          <p:nvPr/>
        </p:nvSpPr>
        <p:spPr>
          <a:xfrm>
            <a:off x="11704320" y="1911807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704320" y="1944725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63" name="TextBox 62"/>
          <p:cNvSpPr txBox="1"/>
          <p:nvPr/>
        </p:nvSpPr>
        <p:spPr>
          <a:xfrm>
            <a:off x="11704320" y="2124862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More web data, less accuracy</a:t>
            </a:r>
          </a:p>
        </p:txBody>
      </p:sp>
      <p:sp>
        <p:nvSpPr>
          <p:cNvPr id="64" name="Rectangle 63"/>
          <p:cNvSpPr/>
          <p:nvPr/>
        </p:nvSpPr>
        <p:spPr>
          <a:xfrm>
            <a:off x="11704320" y="2180996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704320" y="2213914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66" name="TextBox 65"/>
          <p:cNvSpPr txBox="1"/>
          <p:nvPr/>
        </p:nvSpPr>
        <p:spPr>
          <a:xfrm>
            <a:off x="22677120" y="793394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A drive becomes a dataset as it opens</a:t>
            </a:r>
          </a:p>
        </p:txBody>
      </p:sp>
      <p:sp>
        <p:nvSpPr>
          <p:cNvPr id="67" name="Rectangle 66"/>
          <p:cNvSpPr/>
          <p:nvPr/>
        </p:nvSpPr>
        <p:spPr>
          <a:xfrm>
            <a:off x="22677120" y="8495284"/>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677120" y="882446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9" name="TextBox 68"/>
          <p:cNvSpPr txBox="1"/>
          <p:nvPr/>
        </p:nvSpPr>
        <p:spPr>
          <a:xfrm>
            <a:off x="22677120" y="10006075"/>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Left alone for fifteen rounds</a:t>
            </a:r>
          </a:p>
        </p:txBody>
      </p:sp>
      <p:sp>
        <p:nvSpPr>
          <p:cNvPr id="70" name="Rectangle 69"/>
          <p:cNvSpPr/>
          <p:nvPr/>
        </p:nvSpPr>
        <p:spPr>
          <a:xfrm>
            <a:off x="22677120" y="10567415"/>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f_rounds.png"/>
          <p:cNvPicPr>
            <a:picLocks noChangeAspect="1"/>
          </p:cNvPicPr>
          <p:nvPr/>
        </p:nvPicPr>
        <p:blipFill>
          <a:blip r:embed="rId3"/>
          <a:stretch>
            <a:fillRect/>
          </a:stretch>
        </p:blipFill>
        <p:spPr>
          <a:xfrm>
            <a:off x="22677120" y="10896599"/>
            <a:ext cx="20482560" cy="4663440"/>
          </a:xfrm>
          <a:prstGeom prst="rect">
            <a:avLst/>
          </a:prstGeom>
        </p:spPr>
      </p:pic>
      <p:sp>
        <p:nvSpPr>
          <p:cNvPr id="72" name="TextBox 71"/>
          <p:cNvSpPr txBox="1"/>
          <p:nvPr/>
        </p:nvSpPr>
        <p:spPr>
          <a:xfrm>
            <a:off x="22677120" y="15669768"/>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2.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73" name="TextBox 72"/>
          <p:cNvSpPr txBox="1"/>
          <p:nvPr/>
        </p:nvSpPr>
        <p:spPr>
          <a:xfrm>
            <a:off x="22677120" y="16699991"/>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74" name="TextBox 73"/>
          <p:cNvSpPr txBox="1"/>
          <p:nvPr/>
        </p:nvSpPr>
        <p:spPr>
          <a:xfrm>
            <a:off x="22677120" y="18191480"/>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Narrow"/>
              </a:rPr>
              <a:t>27</a:t>
            </a:r>
          </a:p>
        </p:txBody>
      </p:sp>
      <p:sp>
        <p:nvSpPr>
          <p:cNvPr id="75" name="TextBox 74"/>
          <p:cNvSpPr txBox="1"/>
          <p:nvPr/>
        </p:nvSpPr>
        <p:spPr>
          <a:xfrm>
            <a:off x="22677120" y="18994628"/>
            <a:ext cx="2048256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distinct models trained, run, or rejected</a:t>
            </a:r>
          </a:p>
        </p:txBody>
      </p:sp>
      <p:sp>
        <p:nvSpPr>
          <p:cNvPr id="76" name="TextBox 75"/>
          <p:cNvSpPr txBox="1"/>
          <p:nvPr/>
        </p:nvSpPr>
        <p:spPr>
          <a:xfrm>
            <a:off x="22677120" y="19465036"/>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Narrow"/>
              </a:rPr>
              <a:t>Everything we trained, ran, or rejected</a:t>
            </a:r>
          </a:p>
        </p:txBody>
      </p:sp>
      <p:sp>
        <p:nvSpPr>
          <p:cNvPr id="77" name="Rectangle 76"/>
          <p:cNvSpPr/>
          <p:nvPr/>
        </p:nvSpPr>
        <p:spPr>
          <a:xfrm>
            <a:off x="22677120" y="20026376"/>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m_ledger.png"/>
          <p:cNvPicPr>
            <a:picLocks noChangeAspect="1"/>
          </p:cNvPicPr>
          <p:nvPr/>
        </p:nvPicPr>
        <p:blipFill>
          <a:blip r:embed="rId4"/>
          <a:stretch>
            <a:fillRect/>
          </a:stretch>
        </p:blipFill>
        <p:spPr>
          <a:xfrm>
            <a:off x="22677120" y="20355560"/>
            <a:ext cx="20482560" cy="3749040"/>
          </a:xfrm>
          <a:prstGeom prst="rect">
            <a:avLst/>
          </a:prstGeom>
        </p:spPr>
      </p:pic>
      <p:sp>
        <p:nvSpPr>
          <p:cNvPr id="79" name="TextBox 78"/>
          <p:cNvSpPr txBox="1"/>
          <p:nvPr/>
        </p:nvSpPr>
        <p:spPr>
          <a:xfrm>
            <a:off x="22677120" y="24214328"/>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3.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80" name="TextBox 79"/>
          <p:cNvSpPr txBox="1"/>
          <p:nvPr/>
        </p:nvSpPr>
        <p:spPr>
          <a:xfrm>
            <a:off x="22677120" y="25244552"/>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81" name="Rectangle 80"/>
          <p:cNvSpPr/>
          <p:nvPr/>
        </p:nvSpPr>
        <p:spPr>
          <a:xfrm>
            <a:off x="731520" y="30632400"/>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3" name="TextBox 82"/>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4" name="TextBox 83"/>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