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8000" b="1">
                <a:solidFill>
                  <a:srgbClr val="FFFFFF"/>
                </a:solidFill>
                <a:latin typeface="Georgia"/>
              </a:rPr>
              <a:t>agentAI: A Research-Data Platform for Physical and Embodied Agents</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FFFFF"/>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D5D5D5"/>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1A1A1A"/>
                </a:solidFill>
                <a:latin typeface="Georgia"/>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9" name="Rectangle 8"/>
          <p:cNvSpPr/>
          <p:nvPr/>
        </p:nvSpPr>
        <p:spPr>
          <a:xfrm>
            <a:off x="731520" y="5702808"/>
            <a:ext cx="42428160" cy="23774"/>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Georgia"/>
              </a:rPr>
              <a:t>2,686</a:t>
            </a:r>
          </a:p>
        </p:txBody>
      </p:sp>
      <p:sp>
        <p:nvSpPr>
          <p:cNvPr id="11" name="TextBox 10"/>
          <p:cNvSpPr txBox="1"/>
          <p:nvPr/>
        </p:nvSpPr>
        <p:spPr>
          <a:xfrm>
            <a:off x="731520"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A1A1A"/>
                </a:solidFill>
                <a:latin typeface="Arial"/>
              </a:rPr>
              <a:t>camera frames</a:t>
            </a:r>
          </a:p>
        </p:txBody>
      </p:sp>
      <p:sp>
        <p:nvSpPr>
          <p:cNvPr id="12" name="TextBox 11"/>
          <p:cNvSpPr txBox="1"/>
          <p:nvPr/>
        </p:nvSpPr>
        <p:spPr>
          <a:xfrm>
            <a:off x="731520"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A6A6A"/>
                </a:solidFill>
                <a:latin typeface="Arial"/>
              </a:rPr>
              <a:t>26 drives, 2 robots, 0 labelled</a:t>
            </a:r>
          </a:p>
        </p:txBody>
      </p:sp>
      <p:sp>
        <p:nvSpPr>
          <p:cNvPr id="13" name="TextBox 12"/>
          <p:cNvSpPr txBox="1"/>
          <p:nvPr/>
        </p:nvSpPr>
        <p:spPr>
          <a:xfrm>
            <a:off x="9317736"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Georgia"/>
              </a:rPr>
              <a:t>91,955</a:t>
            </a:r>
          </a:p>
        </p:txBody>
      </p:sp>
      <p:sp>
        <p:nvSpPr>
          <p:cNvPr id="14" name="TextBox 13"/>
          <p:cNvSpPr txBox="1"/>
          <p:nvPr/>
        </p:nvSpPr>
        <p:spPr>
          <a:xfrm>
            <a:off x="9317736"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A1A1A"/>
                </a:solidFill>
                <a:latin typeface="Arial"/>
              </a:rPr>
              <a:t>telemetry rows</a:t>
            </a:r>
          </a:p>
        </p:txBody>
      </p:sp>
      <p:sp>
        <p:nvSpPr>
          <p:cNvPr id="15" name="TextBox 14"/>
          <p:cNvSpPr txBox="1"/>
          <p:nvPr/>
        </p:nvSpPr>
        <p:spPr>
          <a:xfrm>
            <a:off x="9317736"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A6A6A"/>
                </a:solidFill>
                <a:latin typeface="Arial"/>
              </a:rPr>
              <a:t>nine streams, counted line by line</a:t>
            </a:r>
          </a:p>
        </p:txBody>
      </p:sp>
      <p:sp>
        <p:nvSpPr>
          <p:cNvPr id="16" name="TextBox 15"/>
          <p:cNvSpPr txBox="1"/>
          <p:nvPr/>
        </p:nvSpPr>
        <p:spPr>
          <a:xfrm>
            <a:off x="17903952"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Georgia"/>
              </a:rPr>
              <a:t>342 m</a:t>
            </a:r>
          </a:p>
        </p:txBody>
      </p:sp>
      <p:sp>
        <p:nvSpPr>
          <p:cNvPr id="17" name="TextBox 16"/>
          <p:cNvSpPr txBox="1"/>
          <p:nvPr/>
        </p:nvSpPr>
        <p:spPr>
          <a:xfrm>
            <a:off x="17903952"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A1A1A"/>
                </a:solidFill>
                <a:latin typeface="Arial"/>
              </a:rPr>
              <a:t>of GPS track</a:t>
            </a:r>
          </a:p>
        </p:txBody>
      </p:sp>
      <p:sp>
        <p:nvSpPr>
          <p:cNvPr id="18" name="TextBox 17"/>
          <p:cNvSpPr txBox="1"/>
          <p:nvPr/>
        </p:nvSpPr>
        <p:spPr>
          <a:xfrm>
            <a:off x="17903952"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A6A6A"/>
                </a:solidFill>
                <a:latin typeface="Arial"/>
              </a:rPr>
              <a:t>1,502 fixes over 18 drives</a:t>
            </a:r>
          </a:p>
        </p:txBody>
      </p:sp>
      <p:sp>
        <p:nvSpPr>
          <p:cNvPr id="19" name="TextBox 18"/>
          <p:cNvSpPr txBox="1"/>
          <p:nvPr/>
        </p:nvSpPr>
        <p:spPr>
          <a:xfrm>
            <a:off x="26490168"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Georgia"/>
              </a:rPr>
              <a:t>27</a:t>
            </a:r>
          </a:p>
        </p:txBody>
      </p:sp>
      <p:sp>
        <p:nvSpPr>
          <p:cNvPr id="20" name="TextBox 19"/>
          <p:cNvSpPr txBox="1"/>
          <p:nvPr/>
        </p:nvSpPr>
        <p:spPr>
          <a:xfrm>
            <a:off x="26490168"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A1A1A"/>
                </a:solidFill>
                <a:latin typeface="Arial"/>
              </a:rPr>
              <a:t>distinct models run</a:t>
            </a:r>
          </a:p>
        </p:txBody>
      </p:sp>
      <p:sp>
        <p:nvSpPr>
          <p:cNvPr id="21" name="TextBox 20"/>
          <p:cNvSpPr txBox="1"/>
          <p:nvPr/>
        </p:nvSpPr>
        <p:spPr>
          <a:xfrm>
            <a:off x="26490168"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A6A6A"/>
                </a:solidFill>
                <a:latin typeface="Arial"/>
              </a:rPr>
              <a:t>four families, one deployed</a:t>
            </a:r>
          </a:p>
        </p:txBody>
      </p:sp>
      <p:sp>
        <p:nvSpPr>
          <p:cNvPr id="22" name="TextBox 21"/>
          <p:cNvSpPr txBox="1"/>
          <p:nvPr/>
        </p:nvSpPr>
        <p:spPr>
          <a:xfrm>
            <a:off x="35076384"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Georgia"/>
              </a:rPr>
              <a:t>0</a:t>
            </a:r>
          </a:p>
        </p:txBody>
      </p:sp>
      <p:sp>
        <p:nvSpPr>
          <p:cNvPr id="23" name="TextBox 22"/>
          <p:cNvSpPr txBox="1"/>
          <p:nvPr/>
        </p:nvSpPr>
        <p:spPr>
          <a:xfrm>
            <a:off x="35076384"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A1A1A"/>
                </a:solidFill>
                <a:latin typeface="Arial"/>
              </a:rPr>
              <a:t>robot frames labelled</a:t>
            </a:r>
          </a:p>
        </p:txBody>
      </p:sp>
      <p:sp>
        <p:nvSpPr>
          <p:cNvPr id="24" name="TextBox 23"/>
          <p:cNvSpPr txBox="1"/>
          <p:nvPr/>
        </p:nvSpPr>
        <p:spPr>
          <a:xfrm>
            <a:off x="35076384"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A6A6A"/>
                </a:solidFill>
                <a:latin typeface="Arial"/>
              </a:rPr>
              <a:t>the whole archive, so far</a:t>
            </a:r>
          </a:p>
        </p:txBody>
      </p:sp>
      <p:sp>
        <p:nvSpPr>
          <p:cNvPr id="25" name="Rectangle 24"/>
          <p:cNvSpPr/>
          <p:nvPr/>
        </p:nvSpPr>
        <p:spPr>
          <a:xfrm>
            <a:off x="731520" y="7291323"/>
            <a:ext cx="42428160" cy="23774"/>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778509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One platform for every robot the lab owns</a:t>
            </a:r>
          </a:p>
        </p:txBody>
      </p:sp>
      <p:sp>
        <p:nvSpPr>
          <p:cNvPr id="27" name="Rectangle 26"/>
          <p:cNvSpPr/>
          <p:nvPr/>
        </p:nvSpPr>
        <p:spPr>
          <a:xfrm>
            <a:off x="731520" y="831341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64260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9" name="TextBox 28"/>
          <p:cNvSpPr txBox="1"/>
          <p:nvPr/>
        </p:nvSpPr>
        <p:spPr>
          <a:xfrm>
            <a:off x="731520" y="10603229"/>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Georgia"/>
              </a:rPr>
              <a:t>14</a:t>
            </a:r>
          </a:p>
        </p:txBody>
      </p:sp>
      <p:sp>
        <p:nvSpPr>
          <p:cNvPr id="30" name="TextBox 29"/>
          <p:cNvSpPr txBox="1"/>
          <p:nvPr/>
        </p:nvSpPr>
        <p:spPr>
          <a:xfrm>
            <a:off x="731520" y="11406377"/>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A6A6A"/>
                </a:solidFill>
                <a:latin typeface="Arial"/>
              </a:rPr>
              <a:t>analysis tools the planner can choose from</a:t>
            </a:r>
          </a:p>
        </p:txBody>
      </p:sp>
      <p:sp>
        <p:nvSpPr>
          <p:cNvPr id="31" name="TextBox 30"/>
          <p:cNvSpPr txBox="1"/>
          <p:nvPr/>
        </p:nvSpPr>
        <p:spPr>
          <a:xfrm>
            <a:off x="731520" y="1186129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Ask a dataset what it is good for</a:t>
            </a:r>
          </a:p>
        </p:txBody>
      </p:sp>
      <p:sp>
        <p:nvSpPr>
          <p:cNvPr id="32" name="Rectangle 31"/>
          <p:cNvSpPr/>
          <p:nvPr/>
        </p:nvSpPr>
        <p:spPr>
          <a:xfrm>
            <a:off x="731520" y="12389611"/>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12718795"/>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4" name="TextBox 33"/>
          <p:cNvSpPr txBox="1"/>
          <p:nvPr/>
        </p:nvSpPr>
        <p:spPr>
          <a:xfrm>
            <a:off x="731520" y="14385035"/>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Georgia"/>
              </a:rPr>
              <a:t>92</a:t>
            </a:r>
          </a:p>
        </p:txBody>
      </p:sp>
      <p:sp>
        <p:nvSpPr>
          <p:cNvPr id="35" name="TextBox 34"/>
          <p:cNvSpPr txBox="1"/>
          <p:nvPr/>
        </p:nvSpPr>
        <p:spPr>
          <a:xfrm>
            <a:off x="731520" y="15188184"/>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A6A6A"/>
                </a:solidFill>
                <a:latin typeface="Arial"/>
              </a:rPr>
              <a:t>questions asked of a dataset so far</a:t>
            </a:r>
          </a:p>
        </p:txBody>
      </p:sp>
      <p:sp>
        <p:nvSpPr>
          <p:cNvPr id="36" name="TextBox 35"/>
          <p:cNvSpPr txBox="1"/>
          <p:nvPr/>
        </p:nvSpPr>
        <p:spPr>
          <a:xfrm>
            <a:off x="731520" y="15643097"/>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Asked something it had never seen</a:t>
            </a:r>
          </a:p>
        </p:txBody>
      </p:sp>
      <p:sp>
        <p:nvSpPr>
          <p:cNvPr id="37" name="Rectangle 36"/>
          <p:cNvSpPr/>
          <p:nvPr/>
        </p:nvSpPr>
        <p:spPr>
          <a:xfrm>
            <a:off x="731520" y="1617141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16500602"/>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39" name="TextBox 38"/>
          <p:cNvSpPr txBox="1"/>
          <p:nvPr/>
        </p:nvSpPr>
        <p:spPr>
          <a:xfrm>
            <a:off x="731520" y="1816684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Adding the next robot</a:t>
            </a:r>
          </a:p>
        </p:txBody>
      </p:sp>
      <p:sp>
        <p:nvSpPr>
          <p:cNvPr id="40" name="Rectangle 39"/>
          <p:cNvSpPr/>
          <p:nvPr/>
        </p:nvSpPr>
        <p:spPr>
          <a:xfrm>
            <a:off x="731520" y="1869516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1902434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42" name="TextBox 41"/>
          <p:cNvSpPr txBox="1"/>
          <p:nvPr/>
        </p:nvSpPr>
        <p:spPr>
          <a:xfrm>
            <a:off x="731520" y="2069058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Reading the loop's own artifacts</a:t>
            </a:r>
          </a:p>
        </p:txBody>
      </p:sp>
      <p:sp>
        <p:nvSpPr>
          <p:cNvPr id="43" name="Rectangle 42"/>
          <p:cNvSpPr/>
          <p:nvPr/>
        </p:nvSpPr>
        <p:spPr>
          <a:xfrm>
            <a:off x="731520" y="2121890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21548090"/>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corpus stopped growing at round three: the same 24 datasets and 48,752 unique images went in every time, and the apparent growth was one staging directory nobody cleared. Eight rounds collected nothing and reported success. Starting fresh instead of from the previous round's weights is worth +0.0287, 5.1 times this recipe's own seed spread.</a:t>
            </a:r>
          </a:p>
        </p:txBody>
      </p:sp>
      <p:sp>
        <p:nvSpPr>
          <p:cNvPr id="45" name="TextBox 44"/>
          <p:cNvSpPr txBox="1"/>
          <p:nvPr/>
        </p:nvSpPr>
        <p:spPr>
          <a:xfrm>
            <a:off x="731520" y="2321433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Not yet pointed at the drives</a:t>
            </a:r>
          </a:p>
        </p:txBody>
      </p:sp>
      <p:sp>
        <p:nvSpPr>
          <p:cNvPr id="46" name="Rectangle 45"/>
          <p:cNvSpPr/>
          <p:nvPr/>
        </p:nvSpPr>
        <p:spPr>
          <a:xfrm>
            <a:off x="731520" y="2374265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20" y="2407183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conversational agent has answered 92 questions, and none of them was about a live robot drive. Every one of the 26 live sessions got the fixed diagnosis; not one got a question. Pointing the agent at the drives is the next thing to do and it costs nothing but asking. This part is built and is switched off today.</a:t>
            </a:r>
          </a:p>
        </p:txBody>
      </p:sp>
      <p:sp>
        <p:nvSpPr>
          <p:cNvPr id="48" name="TextBox 47"/>
          <p:cNvSpPr txBox="1"/>
          <p:nvPr/>
        </p:nvSpPr>
        <p:spPr>
          <a:xfrm>
            <a:off x="11704320" y="7785099"/>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Robots on the platform today</a:t>
            </a:r>
          </a:p>
        </p:txBody>
      </p:sp>
      <p:sp>
        <p:nvSpPr>
          <p:cNvPr id="49" name="Rectangle 48"/>
          <p:cNvSpPr/>
          <p:nvPr/>
        </p:nvSpPr>
        <p:spPr>
          <a:xfrm>
            <a:off x="11704320" y="8313419"/>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704320" y="8642603"/>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51" name="TextBox 50"/>
          <p:cNvSpPr txBox="1"/>
          <p:nvPr/>
        </p:nvSpPr>
        <p:spPr>
          <a:xfrm>
            <a:off x="11704320" y="10603229"/>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Four frames, as recorded</a:t>
            </a:r>
          </a:p>
        </p:txBody>
      </p:sp>
      <p:sp>
        <p:nvSpPr>
          <p:cNvPr id="52" name="Rectangle 51"/>
          <p:cNvSpPr/>
          <p:nvPr/>
        </p:nvSpPr>
        <p:spPr>
          <a:xfrm>
            <a:off x="11704320" y="11131549"/>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04320" y="11460733"/>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Nothing here is enhanced and nothing is labelled. The rectangle in the cart's down camera is a fixed work-zone overlay: it sits at the same pixels on frames with no vegetation in them at all.</a:t>
            </a:r>
          </a:p>
        </p:txBody>
      </p:sp>
      <p:sp>
        <p:nvSpPr>
          <p:cNvPr id="54" name="TextBox 53"/>
          <p:cNvSpPr txBox="1"/>
          <p:nvPr/>
        </p:nvSpPr>
        <p:spPr>
          <a:xfrm>
            <a:off x="11704320" y="12832587"/>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Which decisions a model makes</a:t>
            </a:r>
          </a:p>
        </p:txBody>
      </p:sp>
      <p:sp>
        <p:nvSpPr>
          <p:cNvPr id="55" name="Rectangle 54"/>
          <p:cNvSpPr/>
          <p:nvPr/>
        </p:nvSpPr>
        <p:spPr>
          <a:xfrm>
            <a:off x="11704320" y="13360907"/>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704320" y="13690091"/>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57" name="TextBox 56"/>
          <p:cNvSpPr txBox="1"/>
          <p:nvPr/>
        </p:nvSpPr>
        <p:spPr>
          <a:xfrm>
            <a:off x="11704320" y="15650717"/>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213 seconds in one crop plot</a:t>
            </a:r>
          </a:p>
        </p:txBody>
      </p:sp>
      <p:sp>
        <p:nvSpPr>
          <p:cNvPr id="58" name="Rectangle 57"/>
          <p:cNvSpPr/>
          <p:nvPr/>
        </p:nvSpPr>
        <p:spPr>
          <a:xfrm>
            <a:off x="11704320" y="16179037"/>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704320" y="16508221"/>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longest single pass the platform holds: 141 m of track from 211 fixes, with heading from the IMU over the same 213 seconds. The platform holds 18 passes that carry position.</a:t>
            </a:r>
          </a:p>
        </p:txBody>
      </p:sp>
      <p:sp>
        <p:nvSpPr>
          <p:cNvPr id="60" name="TextBox 59"/>
          <p:cNvSpPr txBox="1"/>
          <p:nvPr/>
        </p:nvSpPr>
        <p:spPr>
          <a:xfrm>
            <a:off x="11704320" y="17880075"/>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Back on our own rows</a:t>
            </a:r>
          </a:p>
        </p:txBody>
      </p:sp>
      <p:sp>
        <p:nvSpPr>
          <p:cNvPr id="61" name="Rectangle 60"/>
          <p:cNvSpPr/>
          <p:nvPr/>
        </p:nvSpPr>
        <p:spPr>
          <a:xfrm>
            <a:off x="11704320" y="18408395"/>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1704320" y="18737579"/>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deployable checkpoint draws a box on 25 of the 2,686 frames our robots recorded, and 24 of those 25 boxes are the same class. These frames carry no labels, so that is a firing rate, not recall and not precision.</a:t>
            </a:r>
          </a:p>
        </p:txBody>
      </p:sp>
      <p:sp>
        <p:nvSpPr>
          <p:cNvPr id="63" name="TextBox 62"/>
          <p:cNvSpPr txBox="1"/>
          <p:nvPr/>
        </p:nvSpPr>
        <p:spPr>
          <a:xfrm>
            <a:off x="11704320" y="20109433"/>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Georgia"/>
              </a:rPr>
              <a:t>162</a:t>
            </a:r>
          </a:p>
        </p:txBody>
      </p:sp>
      <p:sp>
        <p:nvSpPr>
          <p:cNvPr id="64" name="TextBox 63"/>
          <p:cNvSpPr txBox="1"/>
          <p:nvPr/>
        </p:nvSpPr>
        <p:spPr>
          <a:xfrm>
            <a:off x="11704320" y="20912582"/>
            <a:ext cx="9989820" cy="365760"/>
          </a:xfrm>
          <a:prstGeom prst="rect">
            <a:avLst/>
          </a:prstGeom>
          <a:noFill/>
        </p:spPr>
        <p:txBody>
          <a:bodyPr wrap="square" lIns="0" rIns="0" tIns="0" bIns="0">
            <a:spAutoFit/>
          </a:bodyPr>
          <a:lstStyle/>
          <a:p>
            <a:pPr algn="l">
              <a:lnSpc>
                <a:spcPct val="122000"/>
              </a:lnSpc>
              <a:spcAft>
                <a:spcPts val="600"/>
              </a:spcAft>
            </a:pPr>
            <a:r>
              <a:rPr sz="1500" b="0">
                <a:solidFill>
                  <a:srgbClr val="6A6A6A"/>
                </a:solidFill>
                <a:latin typeface="Arial"/>
              </a:rPr>
              <a:t>real failures frozen as a benchmark</a:t>
            </a:r>
          </a:p>
        </p:txBody>
      </p:sp>
      <p:sp>
        <p:nvSpPr>
          <p:cNvPr id="65" name="TextBox 64"/>
          <p:cNvSpPr txBox="1"/>
          <p:nvPr/>
        </p:nvSpPr>
        <p:spPr>
          <a:xfrm>
            <a:off x="11704320" y="21367495"/>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Who notices when it breaks</a:t>
            </a:r>
          </a:p>
        </p:txBody>
      </p:sp>
      <p:sp>
        <p:nvSpPr>
          <p:cNvPr id="66" name="Rectangle 65"/>
          <p:cNvSpPr/>
          <p:nvPr/>
        </p:nvSpPr>
        <p:spPr>
          <a:xfrm>
            <a:off x="11704320" y="21895816"/>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704320" y="22225000"/>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We froze 162 real failures out of this project's own engineering record and scored every kind of supervision against them. The watchdog the loop was running returned no decision on any of the 149 dev cases. A model reading the raw artifacts reaches 0.70 recall over 116 incidents.</a:t>
            </a:r>
          </a:p>
        </p:txBody>
      </p:sp>
      <p:sp>
        <p:nvSpPr>
          <p:cNvPr id="68" name="TextBox 67"/>
          <p:cNvSpPr txBox="1"/>
          <p:nvPr/>
        </p:nvSpPr>
        <p:spPr>
          <a:xfrm>
            <a:off x="22059900" y="7785099"/>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A drive becomes a dataset as it opens</a:t>
            </a:r>
          </a:p>
        </p:txBody>
      </p:sp>
      <p:sp>
        <p:nvSpPr>
          <p:cNvPr id="69" name="Rectangle 68"/>
          <p:cNvSpPr/>
          <p:nvPr/>
        </p:nvSpPr>
        <p:spPr>
          <a:xfrm>
            <a:off x="22059900" y="8313419"/>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2059900" y="8642603"/>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71" name="TextBox 70"/>
          <p:cNvSpPr txBox="1"/>
          <p:nvPr/>
        </p:nvSpPr>
        <p:spPr>
          <a:xfrm>
            <a:off x="22059900" y="10308843"/>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On disk today</a:t>
            </a:r>
          </a:p>
        </p:txBody>
      </p:sp>
      <p:sp>
        <p:nvSpPr>
          <p:cNvPr id="72" name="Rectangle 71"/>
          <p:cNvSpPr/>
          <p:nvPr/>
        </p:nvSpPr>
        <p:spPr>
          <a:xfrm>
            <a:off x="22059900" y="10837163"/>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2059900" y="11166347"/>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Two robots have put 2,686 camera frames and 91,955 telemetry rows across nine streams onto the platform, over 26 drives, with 342 m of GPS track from 1,502 fixes. None of the frames is labelled.</a:t>
            </a:r>
          </a:p>
        </p:txBody>
      </p:sp>
      <p:sp>
        <p:nvSpPr>
          <p:cNvPr id="74" name="TextBox 73"/>
          <p:cNvSpPr txBox="1"/>
          <p:nvPr/>
        </p:nvSpPr>
        <p:spPr>
          <a:xfrm>
            <a:off x="22059900" y="12538201"/>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More web data, less accuracy</a:t>
            </a:r>
          </a:p>
        </p:txBody>
      </p:sp>
      <p:sp>
        <p:nvSpPr>
          <p:cNvPr id="75" name="Rectangle 74"/>
          <p:cNvSpPr/>
          <p:nvPr/>
        </p:nvSpPr>
        <p:spPr>
          <a:xfrm>
            <a:off x="22059900" y="13066521"/>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2059900" y="13395705"/>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77" name="TextBox 76"/>
          <p:cNvSpPr txBox="1"/>
          <p:nvPr/>
        </p:nvSpPr>
        <p:spPr>
          <a:xfrm>
            <a:off x="22059900" y="15061945"/>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Talking back to a robot</a:t>
            </a:r>
          </a:p>
        </p:txBody>
      </p:sp>
      <p:sp>
        <p:nvSpPr>
          <p:cNvPr id="78" name="Rectangle 77"/>
          <p:cNvSpPr/>
          <p:nvPr/>
        </p:nvSpPr>
        <p:spPr>
          <a:xfrm>
            <a:off x="22059900" y="15590265"/>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059900" y="15919449"/>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Besides the drive relay, the platform sends a robot exactly one thing: advisory text. The rover polls for it and shows deterministic warnings about battery, current and temperature. That poll has returned 406 times. No platform code path sends an actuation command to any robot.</a:t>
            </a:r>
          </a:p>
        </p:txBody>
      </p:sp>
      <p:sp>
        <p:nvSpPr>
          <p:cNvPr id="80" name="TextBox 79"/>
          <p:cNvSpPr txBox="1"/>
          <p:nvPr/>
        </p:nvSpPr>
        <p:spPr>
          <a:xfrm>
            <a:off x="22059900" y="17585689"/>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Georgia"/>
              </a:rPr>
              <a:t>26</a:t>
            </a:r>
          </a:p>
        </p:txBody>
      </p:sp>
      <p:sp>
        <p:nvSpPr>
          <p:cNvPr id="81" name="TextBox 80"/>
          <p:cNvSpPr txBox="1"/>
          <p:nvPr/>
        </p:nvSpPr>
        <p:spPr>
          <a:xfrm>
            <a:off x="22059900" y="18388837"/>
            <a:ext cx="9989820" cy="365760"/>
          </a:xfrm>
          <a:prstGeom prst="rect">
            <a:avLst/>
          </a:prstGeom>
          <a:noFill/>
        </p:spPr>
        <p:txBody>
          <a:bodyPr wrap="square" lIns="0" rIns="0" tIns="0" bIns="0">
            <a:spAutoFit/>
          </a:bodyPr>
          <a:lstStyle/>
          <a:p>
            <a:pPr algn="l">
              <a:lnSpc>
                <a:spcPct val="122000"/>
              </a:lnSpc>
              <a:spcAft>
                <a:spcPts val="600"/>
              </a:spcAft>
            </a:pPr>
            <a:r>
              <a:rPr sz="1500" b="0">
                <a:solidFill>
                  <a:srgbClr val="6A6A6A"/>
                </a:solidFill>
                <a:latin typeface="Arial"/>
              </a:rPr>
              <a:t>live drives diagnosed without being asked</a:t>
            </a:r>
          </a:p>
        </p:txBody>
      </p:sp>
      <p:sp>
        <p:nvSpPr>
          <p:cNvPr id="82" name="TextBox 81"/>
          <p:cNvSpPr txBox="1"/>
          <p:nvPr/>
        </p:nvSpPr>
        <p:spPr>
          <a:xfrm>
            <a:off x="22059900" y="18843751"/>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Every drive is diagnosed on arrival</a:t>
            </a:r>
          </a:p>
        </p:txBody>
      </p:sp>
      <p:sp>
        <p:nvSpPr>
          <p:cNvPr id="83" name="Rectangle 82"/>
          <p:cNvSpPr/>
          <p:nvPr/>
        </p:nvSpPr>
        <p:spPr>
          <a:xfrm>
            <a:off x="22059900" y="19372071"/>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059900" y="19701255"/>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platform runs a fixed diagnosis over each finished session without being asked: route, noise, cross-sensor correlation, a timeline. It has done that for 26 live robot sessions and written 45 charts. A person reads the diagnosis before deciding whether the drive is worth anything.</a:t>
            </a:r>
          </a:p>
        </p:txBody>
      </p:sp>
      <p:sp>
        <p:nvSpPr>
          <p:cNvPr id="85" name="TextBox 84"/>
          <p:cNvSpPr txBox="1"/>
          <p:nvPr/>
        </p:nvSpPr>
        <p:spPr>
          <a:xfrm>
            <a:off x="22059900" y="21367495"/>
            <a:ext cx="998982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Auditing six web sources</a:t>
            </a:r>
          </a:p>
        </p:txBody>
      </p:sp>
      <p:sp>
        <p:nvSpPr>
          <p:cNvPr id="86" name="Rectangle 85"/>
          <p:cNvSpPr/>
          <p:nvPr/>
        </p:nvSpPr>
        <p:spPr>
          <a:xfrm>
            <a:off x="22059900" y="21895816"/>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059900" y="22225000"/>
            <a:ext cx="998982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same probe reads 1.000 on human-labelled CottonWeedDet12, so a source at 0.184 is the data and not the instrument. Only the top source clears the bar, and it supplies 3,208 of the 13,527 audited images.</a:t>
            </a:r>
          </a:p>
        </p:txBody>
      </p:sp>
      <p:sp>
        <p:nvSpPr>
          <p:cNvPr id="88" name="TextBox 87"/>
          <p:cNvSpPr txBox="1"/>
          <p:nvPr/>
        </p:nvSpPr>
        <p:spPr>
          <a:xfrm>
            <a:off x="32552640" y="7785099"/>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Georgia"/>
              </a:rPr>
              <a:t>1,389</a:t>
            </a:r>
          </a:p>
        </p:txBody>
      </p:sp>
      <p:sp>
        <p:nvSpPr>
          <p:cNvPr id="89" name="TextBox 88"/>
          <p:cNvSpPr txBox="1"/>
          <p:nvPr/>
        </p:nvSpPr>
        <p:spPr>
          <a:xfrm>
            <a:off x="32552640" y="8588248"/>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A6A6A"/>
                </a:solidFill>
                <a:latin typeface="Arial"/>
              </a:rPr>
              <a:t>joystick commands through the platform</a:t>
            </a:r>
          </a:p>
        </p:txBody>
      </p:sp>
      <p:sp>
        <p:nvSpPr>
          <p:cNvPr id="90" name="TextBox 89"/>
          <p:cNvSpPr txBox="1"/>
          <p:nvPr/>
        </p:nvSpPr>
        <p:spPr>
          <a:xfrm>
            <a:off x="32552640" y="904316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Driving a robot from a browser</a:t>
            </a:r>
          </a:p>
        </p:txBody>
      </p:sp>
      <p:sp>
        <p:nvSpPr>
          <p:cNvPr id="91" name="Rectangle 90"/>
          <p:cNvSpPr/>
          <p:nvPr/>
        </p:nvSpPr>
        <p:spPr>
          <a:xfrm>
            <a:off x="32552640" y="957148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2552640" y="9900665"/>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93" name="TextBox 92"/>
          <p:cNvSpPr txBox="1"/>
          <p:nvPr/>
        </p:nvSpPr>
        <p:spPr>
          <a:xfrm>
            <a:off x="32552640" y="11566905"/>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Only one robot has the button</a:t>
            </a:r>
          </a:p>
        </p:txBody>
      </p:sp>
      <p:sp>
        <p:nvSpPr>
          <p:cNvPr id="94" name="Rectangle 93"/>
          <p:cNvSpPr/>
          <p:nvPr/>
        </p:nvSpPr>
        <p:spPr>
          <a:xfrm>
            <a:off x="32552640" y="1209522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2552640" y="12424409"/>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96" name="TextBox 95"/>
          <p:cNvSpPr txBox="1"/>
          <p:nvPr/>
        </p:nvSpPr>
        <p:spPr>
          <a:xfrm>
            <a:off x="32552640" y="1409064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Any research field is a project</a:t>
            </a:r>
          </a:p>
        </p:txBody>
      </p:sp>
      <p:sp>
        <p:nvSpPr>
          <p:cNvPr id="97" name="Rectangle 96"/>
          <p:cNvSpPr/>
          <p:nvPr/>
        </p:nvSpPr>
        <p:spPr>
          <a:xfrm>
            <a:off x="32552640" y="1461896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32552640" y="1494815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99" name="TextBox 98"/>
          <p:cNvSpPr txBox="1"/>
          <p:nvPr/>
        </p:nvSpPr>
        <p:spPr>
          <a:xfrm>
            <a:off x="32552640" y="16614393"/>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Code the agent writes runs fenced in</a:t>
            </a:r>
          </a:p>
        </p:txBody>
      </p:sp>
      <p:sp>
        <p:nvSpPr>
          <p:cNvPr id="100" name="Rectangle 99"/>
          <p:cNvSpPr/>
          <p:nvPr/>
        </p:nvSpPr>
        <p:spPr>
          <a:xfrm>
            <a:off x="32552640" y="17142714"/>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32552640" y="1747189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102" name="TextBox 101"/>
          <p:cNvSpPr txBox="1"/>
          <p:nvPr/>
        </p:nvSpPr>
        <p:spPr>
          <a:xfrm>
            <a:off x="32552640" y="18843752"/>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Georgia"/>
              </a:rPr>
              <a:t>0</a:t>
            </a:r>
          </a:p>
        </p:txBody>
      </p:sp>
      <p:sp>
        <p:nvSpPr>
          <p:cNvPr id="103" name="TextBox 102"/>
          <p:cNvSpPr txBox="1"/>
          <p:nvPr/>
        </p:nvSpPr>
        <p:spPr>
          <a:xfrm>
            <a:off x="32552640" y="19646900"/>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A6A6A"/>
                </a:solidFill>
                <a:latin typeface="Arial"/>
              </a:rPr>
              <a:t>times the laser has been fired by the platform</a:t>
            </a:r>
          </a:p>
        </p:txBody>
      </p:sp>
      <p:sp>
        <p:nvSpPr>
          <p:cNvPr id="104" name="TextBox 103"/>
          <p:cNvSpPr txBox="1"/>
          <p:nvPr/>
        </p:nvSpPr>
        <p:spPr>
          <a:xfrm>
            <a:off x="32552640" y="2010181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Laser on, never once at a target</a:t>
            </a:r>
          </a:p>
        </p:txBody>
      </p:sp>
      <p:sp>
        <p:nvSpPr>
          <p:cNvPr id="105" name="Rectangle 104"/>
          <p:cNvSpPr/>
          <p:nvPr/>
        </p:nvSpPr>
        <p:spPr>
          <a:xfrm>
            <a:off x="32552640" y="20630134"/>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32552640" y="2095931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cart's own operator switched the laser on during three of eight archived sessions. The platform recorded 3379 laser rows and 216 of them have the laser enabled. Every one of those 216 is in OBSERVATION phase, with no target. The laser has never been armed, aimed or fired by the platform.</a:t>
            </a:r>
          </a:p>
        </p:txBody>
      </p:sp>
      <p:sp>
        <p:nvSpPr>
          <p:cNvPr id="107" name="Rectangle 106"/>
          <p:cNvSpPr/>
          <p:nvPr/>
        </p:nvSpPr>
        <p:spPr>
          <a:xfrm>
            <a:off x="731520" y="30632400"/>
            <a:ext cx="42428160" cy="20116"/>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A6A6A"/>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109" name="TextBox 108"/>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A6A6A"/>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110" name="TextBox 109"/>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A6A6A"/>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