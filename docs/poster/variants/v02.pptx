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39319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43891200" cy="45720"/>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8000" b="1">
                <a:solidFill>
                  <a:srgbClr val="FFFFFF"/>
                </a:solidFill>
                <a:latin typeface="Georgia"/>
              </a:rPr>
              <a:t>agentAI: A Research-Data Platform for Physical and Embodied Agents</a:t>
            </a:r>
          </a:p>
        </p:txBody>
      </p:sp>
      <p:sp>
        <p:nvSpPr>
          <p:cNvPr id="6" name="TextBox 5"/>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FFFFFF"/>
                </a:solidFill>
                <a:latin typeface="Arial"/>
              </a:rPr>
              <a:t>Harry He   ·   Hongbo Zhang</a:t>
            </a:r>
          </a:p>
        </p:txBody>
      </p:sp>
      <p:sp>
        <p:nvSpPr>
          <p:cNvPr id="7" name="TextBox 6"/>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D5D5D5"/>
                </a:solidFill>
                <a:latin typeface="Arial"/>
              </a:rPr>
              <a:t>Department of Engineering Technology   ·   Middle Tennessee State University, Murfreesboro, TN, USA</a:t>
            </a:r>
          </a:p>
        </p:txBody>
      </p:sp>
      <p:sp>
        <p:nvSpPr>
          <p:cNvPr id="8" name="TextBox 7"/>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1A1A1A"/>
                </a:solidFill>
                <a:latin typeface="Georgia"/>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9" name="Rectangle 8"/>
          <p:cNvSpPr/>
          <p:nvPr/>
        </p:nvSpPr>
        <p:spPr>
          <a:xfrm>
            <a:off x="731520" y="5702808"/>
            <a:ext cx="42428160" cy="23774"/>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Georgia"/>
              </a:rPr>
              <a:t>2,686</a:t>
            </a:r>
          </a:p>
        </p:txBody>
      </p:sp>
      <p:sp>
        <p:nvSpPr>
          <p:cNvPr id="11" name="TextBox 10"/>
          <p:cNvSpPr txBox="1"/>
          <p:nvPr/>
        </p:nvSpPr>
        <p:spPr>
          <a:xfrm>
            <a:off x="731520"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A1A1A"/>
                </a:solidFill>
                <a:latin typeface="Arial"/>
              </a:rPr>
              <a:t>camera frames</a:t>
            </a:r>
          </a:p>
        </p:txBody>
      </p:sp>
      <p:sp>
        <p:nvSpPr>
          <p:cNvPr id="12" name="TextBox 11"/>
          <p:cNvSpPr txBox="1"/>
          <p:nvPr/>
        </p:nvSpPr>
        <p:spPr>
          <a:xfrm>
            <a:off x="731520"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A6A6A"/>
                </a:solidFill>
                <a:latin typeface="Arial"/>
              </a:rPr>
              <a:t>26 drives, 2 robots, 0 labelled</a:t>
            </a:r>
          </a:p>
        </p:txBody>
      </p:sp>
      <p:sp>
        <p:nvSpPr>
          <p:cNvPr id="13" name="TextBox 12"/>
          <p:cNvSpPr txBox="1"/>
          <p:nvPr/>
        </p:nvSpPr>
        <p:spPr>
          <a:xfrm>
            <a:off x="9317736"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Georgia"/>
              </a:rPr>
              <a:t>91,955</a:t>
            </a:r>
          </a:p>
        </p:txBody>
      </p:sp>
      <p:sp>
        <p:nvSpPr>
          <p:cNvPr id="14" name="TextBox 13"/>
          <p:cNvSpPr txBox="1"/>
          <p:nvPr/>
        </p:nvSpPr>
        <p:spPr>
          <a:xfrm>
            <a:off x="9317736"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A1A1A"/>
                </a:solidFill>
                <a:latin typeface="Arial"/>
              </a:rPr>
              <a:t>telemetry rows</a:t>
            </a:r>
          </a:p>
        </p:txBody>
      </p:sp>
      <p:sp>
        <p:nvSpPr>
          <p:cNvPr id="15" name="TextBox 14"/>
          <p:cNvSpPr txBox="1"/>
          <p:nvPr/>
        </p:nvSpPr>
        <p:spPr>
          <a:xfrm>
            <a:off x="9317736"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A6A6A"/>
                </a:solidFill>
                <a:latin typeface="Arial"/>
              </a:rPr>
              <a:t>nine streams, counted line by line</a:t>
            </a:r>
          </a:p>
        </p:txBody>
      </p:sp>
      <p:sp>
        <p:nvSpPr>
          <p:cNvPr id="16" name="TextBox 15"/>
          <p:cNvSpPr txBox="1"/>
          <p:nvPr/>
        </p:nvSpPr>
        <p:spPr>
          <a:xfrm>
            <a:off x="17903952"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Georgia"/>
              </a:rPr>
              <a:t>342 m</a:t>
            </a:r>
          </a:p>
        </p:txBody>
      </p:sp>
      <p:sp>
        <p:nvSpPr>
          <p:cNvPr id="17" name="TextBox 16"/>
          <p:cNvSpPr txBox="1"/>
          <p:nvPr/>
        </p:nvSpPr>
        <p:spPr>
          <a:xfrm>
            <a:off x="17903952"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A1A1A"/>
                </a:solidFill>
                <a:latin typeface="Arial"/>
              </a:rPr>
              <a:t>of GPS track</a:t>
            </a:r>
          </a:p>
        </p:txBody>
      </p:sp>
      <p:sp>
        <p:nvSpPr>
          <p:cNvPr id="18" name="TextBox 17"/>
          <p:cNvSpPr txBox="1"/>
          <p:nvPr/>
        </p:nvSpPr>
        <p:spPr>
          <a:xfrm>
            <a:off x="17903952"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A6A6A"/>
                </a:solidFill>
                <a:latin typeface="Arial"/>
              </a:rPr>
              <a:t>1,502 fixes over 18 drives</a:t>
            </a:r>
          </a:p>
        </p:txBody>
      </p:sp>
      <p:sp>
        <p:nvSpPr>
          <p:cNvPr id="19" name="TextBox 18"/>
          <p:cNvSpPr txBox="1"/>
          <p:nvPr/>
        </p:nvSpPr>
        <p:spPr>
          <a:xfrm>
            <a:off x="26490168"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Georgia"/>
              </a:rPr>
              <a:t>27</a:t>
            </a:r>
          </a:p>
        </p:txBody>
      </p:sp>
      <p:sp>
        <p:nvSpPr>
          <p:cNvPr id="20" name="TextBox 19"/>
          <p:cNvSpPr txBox="1"/>
          <p:nvPr/>
        </p:nvSpPr>
        <p:spPr>
          <a:xfrm>
            <a:off x="26490168"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A1A1A"/>
                </a:solidFill>
                <a:latin typeface="Arial"/>
              </a:rPr>
              <a:t>distinct models run</a:t>
            </a:r>
          </a:p>
        </p:txBody>
      </p:sp>
      <p:sp>
        <p:nvSpPr>
          <p:cNvPr id="21" name="TextBox 20"/>
          <p:cNvSpPr txBox="1"/>
          <p:nvPr/>
        </p:nvSpPr>
        <p:spPr>
          <a:xfrm>
            <a:off x="26490168"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A6A6A"/>
                </a:solidFill>
                <a:latin typeface="Arial"/>
              </a:rPr>
              <a:t>four families, one deployed</a:t>
            </a:r>
          </a:p>
        </p:txBody>
      </p:sp>
      <p:sp>
        <p:nvSpPr>
          <p:cNvPr id="22" name="TextBox 21"/>
          <p:cNvSpPr txBox="1"/>
          <p:nvPr/>
        </p:nvSpPr>
        <p:spPr>
          <a:xfrm>
            <a:off x="35076384"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Georgia"/>
              </a:rPr>
              <a:t>0</a:t>
            </a:r>
          </a:p>
        </p:txBody>
      </p:sp>
      <p:sp>
        <p:nvSpPr>
          <p:cNvPr id="23" name="TextBox 22"/>
          <p:cNvSpPr txBox="1"/>
          <p:nvPr/>
        </p:nvSpPr>
        <p:spPr>
          <a:xfrm>
            <a:off x="35076384"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A1A1A"/>
                </a:solidFill>
                <a:latin typeface="Arial"/>
              </a:rPr>
              <a:t>robot frames labelled</a:t>
            </a:r>
          </a:p>
        </p:txBody>
      </p:sp>
      <p:sp>
        <p:nvSpPr>
          <p:cNvPr id="24" name="TextBox 23"/>
          <p:cNvSpPr txBox="1"/>
          <p:nvPr/>
        </p:nvSpPr>
        <p:spPr>
          <a:xfrm>
            <a:off x="35076384"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A6A6A"/>
                </a:solidFill>
                <a:latin typeface="Arial"/>
              </a:rPr>
              <a:t>the whole archive, so far</a:t>
            </a:r>
          </a:p>
        </p:txBody>
      </p:sp>
      <p:sp>
        <p:nvSpPr>
          <p:cNvPr id="25" name="Rectangle 24"/>
          <p:cNvSpPr/>
          <p:nvPr/>
        </p:nvSpPr>
        <p:spPr>
          <a:xfrm>
            <a:off x="731520" y="7291323"/>
            <a:ext cx="42428160" cy="23774"/>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778509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One platform for every robot the lab owns</a:t>
            </a:r>
          </a:p>
        </p:txBody>
      </p:sp>
      <p:sp>
        <p:nvSpPr>
          <p:cNvPr id="27" name="Rectangle 26"/>
          <p:cNvSpPr/>
          <p:nvPr/>
        </p:nvSpPr>
        <p:spPr>
          <a:xfrm>
            <a:off x="731520" y="8313419"/>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864260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9" name="TextBox 28"/>
          <p:cNvSpPr txBox="1"/>
          <p:nvPr/>
        </p:nvSpPr>
        <p:spPr>
          <a:xfrm>
            <a:off x="731520" y="1060322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Ask a dataset what it is good for</a:t>
            </a:r>
          </a:p>
        </p:txBody>
      </p:sp>
      <p:sp>
        <p:nvSpPr>
          <p:cNvPr id="30" name="Rectangle 29"/>
          <p:cNvSpPr/>
          <p:nvPr/>
        </p:nvSpPr>
        <p:spPr>
          <a:xfrm>
            <a:off x="731520" y="11131549"/>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1146073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32" name="TextBox 31"/>
          <p:cNvSpPr txBox="1"/>
          <p:nvPr/>
        </p:nvSpPr>
        <p:spPr>
          <a:xfrm>
            <a:off x="731520" y="13126973"/>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Asked something it had never seen</a:t>
            </a:r>
          </a:p>
        </p:txBody>
      </p:sp>
      <p:sp>
        <p:nvSpPr>
          <p:cNvPr id="33" name="Rectangle 32"/>
          <p:cNvSpPr/>
          <p:nvPr/>
        </p:nvSpPr>
        <p:spPr>
          <a:xfrm>
            <a:off x="731520" y="13655293"/>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13984477"/>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35" name="TextBox 34"/>
          <p:cNvSpPr txBox="1"/>
          <p:nvPr/>
        </p:nvSpPr>
        <p:spPr>
          <a:xfrm>
            <a:off x="731520" y="15650717"/>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Adding the next robot</a:t>
            </a:r>
          </a:p>
        </p:txBody>
      </p:sp>
      <p:sp>
        <p:nvSpPr>
          <p:cNvPr id="36" name="Rectangle 35"/>
          <p:cNvSpPr/>
          <p:nvPr/>
        </p:nvSpPr>
        <p:spPr>
          <a:xfrm>
            <a:off x="731520" y="16179037"/>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1650822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38" name="TextBox 37"/>
          <p:cNvSpPr txBox="1"/>
          <p:nvPr/>
        </p:nvSpPr>
        <p:spPr>
          <a:xfrm>
            <a:off x="731520" y="18174461"/>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Reading the loop's own artifacts</a:t>
            </a:r>
          </a:p>
        </p:txBody>
      </p:sp>
      <p:sp>
        <p:nvSpPr>
          <p:cNvPr id="39" name="Rectangle 38"/>
          <p:cNvSpPr/>
          <p:nvPr/>
        </p:nvSpPr>
        <p:spPr>
          <a:xfrm>
            <a:off x="731520" y="18702781"/>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19031965"/>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corpus stopped growing at round three: the same 24 datasets and 48,752 unique images went in every time, and the apparent growth was one staging directory nobody cleared. Eight rounds collected nothing and reported success. Starting fresh instead of from the previous round's weights is worth +0.0287, 5.1 times this recipe's own seed spread.</a:t>
            </a:r>
          </a:p>
        </p:txBody>
      </p:sp>
      <p:sp>
        <p:nvSpPr>
          <p:cNvPr id="41" name="TextBox 40"/>
          <p:cNvSpPr txBox="1"/>
          <p:nvPr/>
        </p:nvSpPr>
        <p:spPr>
          <a:xfrm>
            <a:off x="731520" y="20698205"/>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Not yet pointed at the drives</a:t>
            </a:r>
          </a:p>
        </p:txBody>
      </p:sp>
      <p:sp>
        <p:nvSpPr>
          <p:cNvPr id="42" name="Rectangle 41"/>
          <p:cNvSpPr/>
          <p:nvPr/>
        </p:nvSpPr>
        <p:spPr>
          <a:xfrm>
            <a:off x="731520" y="2122652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21555710"/>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conversational agent has answered 92 questions, and none of them was about a live robot drive. Every one of the 26 live sessions got the fixed diagnosis; not one got a question. Pointing the agent at the drives is the next thing to do and it costs nothing but asking. This part is built and is switched off today.</a:t>
            </a:r>
          </a:p>
        </p:txBody>
      </p:sp>
      <p:sp>
        <p:nvSpPr>
          <p:cNvPr id="44" name="TextBox 43"/>
          <p:cNvSpPr txBox="1"/>
          <p:nvPr/>
        </p:nvSpPr>
        <p:spPr>
          <a:xfrm>
            <a:off x="11704320" y="7785099"/>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Robots on the platform today</a:t>
            </a:r>
          </a:p>
        </p:txBody>
      </p:sp>
      <p:sp>
        <p:nvSpPr>
          <p:cNvPr id="45" name="Rectangle 44"/>
          <p:cNvSpPr/>
          <p:nvPr/>
        </p:nvSpPr>
        <p:spPr>
          <a:xfrm>
            <a:off x="11704320" y="8313419"/>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704320" y="8642603"/>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7" name="TextBox 46"/>
          <p:cNvSpPr txBox="1"/>
          <p:nvPr/>
        </p:nvSpPr>
        <p:spPr>
          <a:xfrm>
            <a:off x="11704320" y="10603229"/>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Four frames, as recorded</a:t>
            </a:r>
          </a:p>
        </p:txBody>
      </p:sp>
      <p:sp>
        <p:nvSpPr>
          <p:cNvPr id="48" name="Rectangle 47"/>
          <p:cNvSpPr/>
          <p:nvPr/>
        </p:nvSpPr>
        <p:spPr>
          <a:xfrm>
            <a:off x="11704320" y="11131549"/>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704320" y="11460733"/>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Nothing here is enhanced and nothing is labelled. The rectangle in the cart's down camera is a fixed work-zone overlay: it sits at the same pixels on frames with no vegetation in them at all.</a:t>
            </a:r>
          </a:p>
        </p:txBody>
      </p:sp>
      <p:sp>
        <p:nvSpPr>
          <p:cNvPr id="50" name="TextBox 49"/>
          <p:cNvSpPr txBox="1"/>
          <p:nvPr/>
        </p:nvSpPr>
        <p:spPr>
          <a:xfrm>
            <a:off x="11704320" y="12832587"/>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Which decisions a model makes</a:t>
            </a:r>
          </a:p>
        </p:txBody>
      </p:sp>
      <p:sp>
        <p:nvSpPr>
          <p:cNvPr id="51" name="Rectangle 50"/>
          <p:cNvSpPr/>
          <p:nvPr/>
        </p:nvSpPr>
        <p:spPr>
          <a:xfrm>
            <a:off x="11704320" y="13360907"/>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704320" y="13690091"/>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53" name="TextBox 52"/>
          <p:cNvSpPr txBox="1"/>
          <p:nvPr/>
        </p:nvSpPr>
        <p:spPr>
          <a:xfrm>
            <a:off x="11704320" y="15650717"/>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213 seconds in one crop plot</a:t>
            </a:r>
          </a:p>
        </p:txBody>
      </p:sp>
      <p:sp>
        <p:nvSpPr>
          <p:cNvPr id="54" name="Rectangle 53"/>
          <p:cNvSpPr/>
          <p:nvPr/>
        </p:nvSpPr>
        <p:spPr>
          <a:xfrm>
            <a:off x="11704320" y="16179037"/>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704320" y="16508221"/>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longest single pass the platform holds: 141 m of track from 211 fixes, with heading from the IMU over the same 213 seconds. The platform holds 18 passes that carry position.</a:t>
            </a:r>
          </a:p>
        </p:txBody>
      </p:sp>
      <p:sp>
        <p:nvSpPr>
          <p:cNvPr id="56" name="TextBox 55"/>
          <p:cNvSpPr txBox="1"/>
          <p:nvPr/>
        </p:nvSpPr>
        <p:spPr>
          <a:xfrm>
            <a:off x="11704320" y="17880075"/>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Back on our own rows</a:t>
            </a:r>
          </a:p>
        </p:txBody>
      </p:sp>
      <p:sp>
        <p:nvSpPr>
          <p:cNvPr id="57" name="Rectangle 56"/>
          <p:cNvSpPr/>
          <p:nvPr/>
        </p:nvSpPr>
        <p:spPr>
          <a:xfrm>
            <a:off x="11704320" y="18408395"/>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704320" y="18737579"/>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deployable checkpoint draws a box on 25 of the 2,686 frames our robots recorded, and 24 of those 25 boxes are the same class. These frames carry no labels, so that is a firing rate, not recall and not precision.</a:t>
            </a:r>
          </a:p>
        </p:txBody>
      </p:sp>
      <p:sp>
        <p:nvSpPr>
          <p:cNvPr id="59" name="TextBox 58"/>
          <p:cNvSpPr txBox="1"/>
          <p:nvPr/>
        </p:nvSpPr>
        <p:spPr>
          <a:xfrm>
            <a:off x="11704320" y="20109433"/>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Who notices when it breaks</a:t>
            </a:r>
          </a:p>
        </p:txBody>
      </p:sp>
      <p:sp>
        <p:nvSpPr>
          <p:cNvPr id="60" name="Rectangle 59"/>
          <p:cNvSpPr/>
          <p:nvPr/>
        </p:nvSpPr>
        <p:spPr>
          <a:xfrm>
            <a:off x="11704320" y="20637754"/>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704320" y="20966938"/>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We froze 162 real failures out of this project's own engineering record and scored every kind of supervision against them. The watchdog the loop was running returned no decision on any of the 149 dev cases. A model reading the raw artifacts reaches 0.70 recall over 116 incidents.</a:t>
            </a:r>
          </a:p>
        </p:txBody>
      </p:sp>
      <p:sp>
        <p:nvSpPr>
          <p:cNvPr id="62" name="TextBox 61"/>
          <p:cNvSpPr txBox="1"/>
          <p:nvPr/>
        </p:nvSpPr>
        <p:spPr>
          <a:xfrm>
            <a:off x="22059900" y="7785099"/>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A drive becomes a dataset as it opens</a:t>
            </a:r>
          </a:p>
        </p:txBody>
      </p:sp>
      <p:sp>
        <p:nvSpPr>
          <p:cNvPr id="63" name="Rectangle 62"/>
          <p:cNvSpPr/>
          <p:nvPr/>
        </p:nvSpPr>
        <p:spPr>
          <a:xfrm>
            <a:off x="22059900" y="8313419"/>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2059900" y="8642603"/>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5" name="TextBox 64"/>
          <p:cNvSpPr txBox="1"/>
          <p:nvPr/>
        </p:nvSpPr>
        <p:spPr>
          <a:xfrm>
            <a:off x="22059900" y="10308843"/>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On disk today</a:t>
            </a:r>
          </a:p>
        </p:txBody>
      </p:sp>
      <p:sp>
        <p:nvSpPr>
          <p:cNvPr id="66" name="Rectangle 65"/>
          <p:cNvSpPr/>
          <p:nvPr/>
        </p:nvSpPr>
        <p:spPr>
          <a:xfrm>
            <a:off x="22059900" y="10837163"/>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059900" y="11166347"/>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Two robots have put 2,686 camera frames and 91,955 telemetry rows across nine streams onto the platform, over 26 drives, with 342 m of GPS track from 1,502 fixes. None of the frames is labelled.</a:t>
            </a:r>
          </a:p>
        </p:txBody>
      </p:sp>
      <p:sp>
        <p:nvSpPr>
          <p:cNvPr id="68" name="TextBox 67"/>
          <p:cNvSpPr txBox="1"/>
          <p:nvPr/>
        </p:nvSpPr>
        <p:spPr>
          <a:xfrm>
            <a:off x="22059900" y="12538201"/>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More web data, less accuracy</a:t>
            </a:r>
          </a:p>
        </p:txBody>
      </p:sp>
      <p:sp>
        <p:nvSpPr>
          <p:cNvPr id="69" name="Rectangle 68"/>
          <p:cNvSpPr/>
          <p:nvPr/>
        </p:nvSpPr>
        <p:spPr>
          <a:xfrm>
            <a:off x="22059900" y="13066521"/>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2059900" y="13395705"/>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71" name="TextBox 70"/>
          <p:cNvSpPr txBox="1"/>
          <p:nvPr/>
        </p:nvSpPr>
        <p:spPr>
          <a:xfrm>
            <a:off x="22059900" y="15061945"/>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Talking back to a robot</a:t>
            </a:r>
          </a:p>
        </p:txBody>
      </p:sp>
      <p:sp>
        <p:nvSpPr>
          <p:cNvPr id="72" name="Rectangle 71"/>
          <p:cNvSpPr/>
          <p:nvPr/>
        </p:nvSpPr>
        <p:spPr>
          <a:xfrm>
            <a:off x="22059900" y="15590265"/>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2059900" y="15919449"/>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Besides the drive relay, the platform sends a robot exactly one thing: advisory text. The rover polls for it and shows deterministic warnings about battery, current and temperature. That poll has returned 406 times. No platform code path sends an actuation command to any robot.</a:t>
            </a:r>
          </a:p>
        </p:txBody>
      </p:sp>
      <p:sp>
        <p:nvSpPr>
          <p:cNvPr id="74" name="TextBox 73"/>
          <p:cNvSpPr txBox="1"/>
          <p:nvPr/>
        </p:nvSpPr>
        <p:spPr>
          <a:xfrm>
            <a:off x="22059900" y="17585689"/>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Every drive is diagnosed on arrival</a:t>
            </a:r>
          </a:p>
        </p:txBody>
      </p:sp>
      <p:sp>
        <p:nvSpPr>
          <p:cNvPr id="75" name="Rectangle 74"/>
          <p:cNvSpPr/>
          <p:nvPr/>
        </p:nvSpPr>
        <p:spPr>
          <a:xfrm>
            <a:off x="22059900" y="18114009"/>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2059900" y="18443193"/>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platform runs a fixed diagnosis over each finished session without being asked: route, noise, cross-sensor correlation, a timeline. It has done that for 26 live robot sessions and written 45 charts. A person reads the diagnosis before deciding whether the drive is worth anything.</a:t>
            </a:r>
          </a:p>
        </p:txBody>
      </p:sp>
      <p:sp>
        <p:nvSpPr>
          <p:cNvPr id="77" name="TextBox 76"/>
          <p:cNvSpPr txBox="1"/>
          <p:nvPr/>
        </p:nvSpPr>
        <p:spPr>
          <a:xfrm>
            <a:off x="22059900" y="20109433"/>
            <a:ext cx="998982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Auditing six web sources</a:t>
            </a:r>
          </a:p>
        </p:txBody>
      </p:sp>
      <p:sp>
        <p:nvSpPr>
          <p:cNvPr id="78" name="Rectangle 77"/>
          <p:cNvSpPr/>
          <p:nvPr/>
        </p:nvSpPr>
        <p:spPr>
          <a:xfrm>
            <a:off x="22059900" y="20637754"/>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2059900" y="20966938"/>
            <a:ext cx="998982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same probe reads 1.000 on human-labelled CottonWeedDet12, so a source at 0.184 is the data and not the instrument. Only the top source clears the bar, and it supplies 3,208 of the 13,527 audited images.</a:t>
            </a:r>
          </a:p>
        </p:txBody>
      </p:sp>
      <p:sp>
        <p:nvSpPr>
          <p:cNvPr id="80" name="TextBox 79"/>
          <p:cNvSpPr txBox="1"/>
          <p:nvPr/>
        </p:nvSpPr>
        <p:spPr>
          <a:xfrm>
            <a:off x="32552640" y="778509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Driving a robot from a browser</a:t>
            </a:r>
          </a:p>
        </p:txBody>
      </p:sp>
      <p:sp>
        <p:nvSpPr>
          <p:cNvPr id="81" name="Rectangle 80"/>
          <p:cNvSpPr/>
          <p:nvPr/>
        </p:nvSpPr>
        <p:spPr>
          <a:xfrm>
            <a:off x="32552640" y="8313419"/>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2552640" y="864260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83" name="TextBox 82"/>
          <p:cNvSpPr txBox="1"/>
          <p:nvPr/>
        </p:nvSpPr>
        <p:spPr>
          <a:xfrm>
            <a:off x="32552640" y="10308843"/>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Only one robot has the button</a:t>
            </a:r>
          </a:p>
        </p:txBody>
      </p:sp>
      <p:sp>
        <p:nvSpPr>
          <p:cNvPr id="84" name="Rectangle 83"/>
          <p:cNvSpPr/>
          <p:nvPr/>
        </p:nvSpPr>
        <p:spPr>
          <a:xfrm>
            <a:off x="32552640" y="10837163"/>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2552640" y="11166347"/>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86" name="TextBox 85"/>
          <p:cNvSpPr txBox="1"/>
          <p:nvPr/>
        </p:nvSpPr>
        <p:spPr>
          <a:xfrm>
            <a:off x="32552640" y="12832587"/>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Any research field is a project</a:t>
            </a:r>
          </a:p>
        </p:txBody>
      </p:sp>
      <p:sp>
        <p:nvSpPr>
          <p:cNvPr id="87" name="Rectangle 86"/>
          <p:cNvSpPr/>
          <p:nvPr/>
        </p:nvSpPr>
        <p:spPr>
          <a:xfrm>
            <a:off x="32552640" y="13360907"/>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2552640" y="1369009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89" name="TextBox 88"/>
          <p:cNvSpPr txBox="1"/>
          <p:nvPr/>
        </p:nvSpPr>
        <p:spPr>
          <a:xfrm>
            <a:off x="32552640" y="15356331"/>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Code the agent writes runs fenced in</a:t>
            </a:r>
          </a:p>
        </p:txBody>
      </p:sp>
      <p:sp>
        <p:nvSpPr>
          <p:cNvPr id="90" name="Rectangle 89"/>
          <p:cNvSpPr/>
          <p:nvPr/>
        </p:nvSpPr>
        <p:spPr>
          <a:xfrm>
            <a:off x="32552640" y="15884651"/>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2552640" y="16213835"/>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92" name="TextBox 91"/>
          <p:cNvSpPr txBox="1"/>
          <p:nvPr/>
        </p:nvSpPr>
        <p:spPr>
          <a:xfrm>
            <a:off x="32552640" y="1758568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Georgia"/>
              </a:rPr>
              <a:t>Laser on, never once at a target</a:t>
            </a:r>
          </a:p>
        </p:txBody>
      </p:sp>
      <p:sp>
        <p:nvSpPr>
          <p:cNvPr id="93" name="Rectangle 92"/>
          <p:cNvSpPr/>
          <p:nvPr/>
        </p:nvSpPr>
        <p:spPr>
          <a:xfrm>
            <a:off x="32552640" y="18114009"/>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2552640" y="1844319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cart's own operator switched the laser on during three of eight archived sessions. The platform recorded 3379 laser rows and 216 of them have the laser enabled. Every one of those 216 is in OBSERVATION phase, with no target. The laser has never been armed, aimed or fired by the platform.</a:t>
            </a:r>
          </a:p>
        </p:txBody>
      </p:sp>
      <p:sp>
        <p:nvSpPr>
          <p:cNvPr id="95" name="Rectangle 94"/>
          <p:cNvSpPr/>
          <p:nvPr/>
        </p:nvSpPr>
        <p:spPr>
          <a:xfrm>
            <a:off x="731520" y="30632400"/>
            <a:ext cx="42428160" cy="20116"/>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A6A6A"/>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97" name="TextBox 96"/>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A6A6A"/>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98" name="TextBox 97"/>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A6A6A"/>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