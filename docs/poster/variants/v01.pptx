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111111"/>
                </a:solidFill>
                <a:latin typeface="Arial"/>
              </a:rPr>
              <a:t>agentAI: A Research-Data Platform for Physical and Embodied Agents</a:t>
            </a:r>
          </a:p>
        </p:txBody>
      </p:sp>
      <p:sp>
        <p:nvSpPr>
          <p:cNvPr id="4" name="TextBox 3"/>
          <p:cNvSpPr txBox="1"/>
          <p:nvPr/>
        </p:nvSpPr>
        <p:spPr>
          <a:xfrm>
            <a:off x="731520" y="22402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11111"/>
                </a:solidFill>
                <a:latin typeface="Arial"/>
              </a:rPr>
              <a:t>Harry He   ·   Hongbo Zhang</a:t>
            </a:r>
          </a:p>
        </p:txBody>
      </p:sp>
      <p:sp>
        <p:nvSpPr>
          <p:cNvPr id="5" name="TextBox 4"/>
          <p:cNvSpPr txBox="1"/>
          <p:nvPr/>
        </p:nvSpPr>
        <p:spPr>
          <a:xfrm>
            <a:off x="731520" y="28803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B5B5B"/>
                </a:solidFill>
                <a:latin typeface="Arial"/>
              </a:rPr>
              <a:t>Department of Engineering Technology   ·   Middle Tennessee State University, Murfreesboro, TN, USA</a:t>
            </a:r>
          </a:p>
        </p:txBody>
      </p:sp>
      <p:sp>
        <p:nvSpPr>
          <p:cNvPr id="6" name="Rectangle 5"/>
          <p:cNvSpPr/>
          <p:nvPr/>
        </p:nvSpPr>
        <p:spPr>
          <a:xfrm>
            <a:off x="731520" y="3749039"/>
            <a:ext cx="42428160" cy="41148"/>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600" b="0">
                <a:solidFill>
                  <a:srgbClr val="111111"/>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8" name="TextBox 7"/>
          <p:cNvSpPr txBox="1"/>
          <p:nvPr/>
        </p:nvSpPr>
        <p:spPr>
          <a:xfrm>
            <a:off x="731520" y="620877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One platform for every robot the lab owns</a:t>
            </a:r>
          </a:p>
        </p:txBody>
      </p:sp>
      <p:sp>
        <p:nvSpPr>
          <p:cNvPr id="9" name="Rectangle 8"/>
          <p:cNvSpPr/>
          <p:nvPr/>
        </p:nvSpPr>
        <p:spPr>
          <a:xfrm>
            <a:off x="731520" y="680313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713232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1" name="TextBox 10"/>
          <p:cNvSpPr txBox="1"/>
          <p:nvPr/>
        </p:nvSpPr>
        <p:spPr>
          <a:xfrm>
            <a:off x="731520" y="889965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A drive becomes a dataset as it opens</a:t>
            </a:r>
          </a:p>
        </p:txBody>
      </p:sp>
      <p:sp>
        <p:nvSpPr>
          <p:cNvPr id="12" name="Rectangle 11"/>
          <p:cNvSpPr/>
          <p:nvPr/>
        </p:nvSpPr>
        <p:spPr>
          <a:xfrm>
            <a:off x="731520" y="949401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9823195"/>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14" name="TextBox 13"/>
          <p:cNvSpPr txBox="1"/>
          <p:nvPr/>
        </p:nvSpPr>
        <p:spPr>
          <a:xfrm>
            <a:off x="731520" y="11590527"/>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14</a:t>
            </a:r>
          </a:p>
        </p:txBody>
      </p:sp>
      <p:sp>
        <p:nvSpPr>
          <p:cNvPr id="15" name="TextBox 14"/>
          <p:cNvSpPr txBox="1"/>
          <p:nvPr/>
        </p:nvSpPr>
        <p:spPr>
          <a:xfrm>
            <a:off x="731520" y="12393675"/>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B5B5B"/>
                </a:solidFill>
                <a:latin typeface="Arial"/>
              </a:rPr>
              <a:t>analysis tools the planner can choose from</a:t>
            </a:r>
          </a:p>
        </p:txBody>
      </p:sp>
      <p:sp>
        <p:nvSpPr>
          <p:cNvPr id="16" name="TextBox 15"/>
          <p:cNvSpPr txBox="1"/>
          <p:nvPr/>
        </p:nvSpPr>
        <p:spPr>
          <a:xfrm>
            <a:off x="731520" y="12879577"/>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Ask a dataset what it is good for</a:t>
            </a:r>
          </a:p>
        </p:txBody>
      </p:sp>
      <p:sp>
        <p:nvSpPr>
          <p:cNvPr id="17" name="Rectangle 16"/>
          <p:cNvSpPr/>
          <p:nvPr/>
        </p:nvSpPr>
        <p:spPr>
          <a:xfrm>
            <a:off x="731520" y="13473937"/>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3803121"/>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9" name="TextBox 18"/>
          <p:cNvSpPr txBox="1"/>
          <p:nvPr/>
        </p:nvSpPr>
        <p:spPr>
          <a:xfrm>
            <a:off x="731520" y="15570453"/>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27</a:t>
            </a:r>
          </a:p>
        </p:txBody>
      </p:sp>
      <p:sp>
        <p:nvSpPr>
          <p:cNvPr id="20" name="TextBox 19"/>
          <p:cNvSpPr txBox="1"/>
          <p:nvPr/>
        </p:nvSpPr>
        <p:spPr>
          <a:xfrm>
            <a:off x="731520" y="16373601"/>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B5B5B"/>
                </a:solidFill>
                <a:latin typeface="Arial"/>
              </a:rPr>
              <a:t>distinct models trained, run, or rejected</a:t>
            </a:r>
          </a:p>
        </p:txBody>
      </p:sp>
      <p:sp>
        <p:nvSpPr>
          <p:cNvPr id="21" name="TextBox 20"/>
          <p:cNvSpPr txBox="1"/>
          <p:nvPr/>
        </p:nvSpPr>
        <p:spPr>
          <a:xfrm>
            <a:off x="731520" y="16859503"/>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Everything we trained, ran, or rejected</a:t>
            </a:r>
          </a:p>
        </p:txBody>
      </p:sp>
      <p:sp>
        <p:nvSpPr>
          <p:cNvPr id="22" name="Rectangle 21"/>
          <p:cNvSpPr/>
          <p:nvPr/>
        </p:nvSpPr>
        <p:spPr>
          <a:xfrm>
            <a:off x="731520" y="17453863"/>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_ledger.png"/>
          <p:cNvPicPr>
            <a:picLocks noChangeAspect="1"/>
          </p:cNvPicPr>
          <p:nvPr/>
        </p:nvPicPr>
        <p:blipFill>
          <a:blip r:embed="rId2"/>
          <a:stretch>
            <a:fillRect/>
          </a:stretch>
        </p:blipFill>
        <p:spPr>
          <a:xfrm>
            <a:off x="731520" y="17783047"/>
            <a:ext cx="20482560" cy="3749040"/>
          </a:xfrm>
          <a:prstGeom prst="rect">
            <a:avLst/>
          </a:prstGeom>
        </p:spPr>
      </p:pic>
      <p:sp>
        <p:nvSpPr>
          <p:cNvPr id="24" name="TextBox 23"/>
          <p:cNvSpPr txBox="1"/>
          <p:nvPr/>
        </p:nvSpPr>
        <p:spPr>
          <a:xfrm>
            <a:off x="731520" y="21641815"/>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B5B5B"/>
                </a:solidFill>
                <a:latin typeface="Arial"/>
              </a:rPr>
              <a:t>Figure 1.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25" name="TextBox 24"/>
          <p:cNvSpPr txBox="1"/>
          <p:nvPr/>
        </p:nvSpPr>
        <p:spPr>
          <a:xfrm>
            <a:off x="731520" y="22716997"/>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26" name="TextBox 25"/>
          <p:cNvSpPr txBox="1"/>
          <p:nvPr/>
        </p:nvSpPr>
        <p:spPr>
          <a:xfrm>
            <a:off x="731520" y="2414346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On disk today</a:t>
            </a:r>
          </a:p>
        </p:txBody>
      </p:sp>
      <p:sp>
        <p:nvSpPr>
          <p:cNvPr id="27" name="Rectangle 26"/>
          <p:cNvSpPr/>
          <p:nvPr/>
        </p:nvSpPr>
        <p:spPr>
          <a:xfrm>
            <a:off x="731520" y="2473782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25067006"/>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Two robots have put 2,686 camera frames and 91,955 telemetry rows across nine streams onto the platform, over 26 drives, with 342 m of GPS track from 1,502 fixes. None of the frames is labelled.</a:t>
            </a:r>
          </a:p>
        </p:txBody>
      </p:sp>
      <p:sp>
        <p:nvSpPr>
          <p:cNvPr id="29" name="TextBox 28"/>
          <p:cNvSpPr txBox="1"/>
          <p:nvPr/>
        </p:nvSpPr>
        <p:spPr>
          <a:xfrm>
            <a:off x="22677120" y="6208776"/>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Robots on the platform today</a:t>
            </a:r>
          </a:p>
        </p:txBody>
      </p:sp>
      <p:sp>
        <p:nvSpPr>
          <p:cNvPr id="30" name="Rectangle 29"/>
          <p:cNvSpPr/>
          <p:nvPr/>
        </p:nvSpPr>
        <p:spPr>
          <a:xfrm>
            <a:off x="22677120" y="6803136"/>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677120" y="7132320"/>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Robot 241 is a tracked rover that drives crop rows and streams camera, GPS and two IMUs. The laser cart carries the weeder: a galvanometer laser, a down camera over the work zone and a forward camera. Ten projects sit on the platform and two of them have a robot reporting into them. Between those two vehicles, 2,686 frames in 26 drives.</a:t>
            </a:r>
          </a:p>
        </p:txBody>
      </p:sp>
      <p:sp>
        <p:nvSpPr>
          <p:cNvPr id="32" name="TextBox 31"/>
          <p:cNvSpPr txBox="1"/>
          <p:nvPr/>
        </p:nvSpPr>
        <p:spPr>
          <a:xfrm>
            <a:off x="22677120" y="8899652"/>
            <a:ext cx="20482560" cy="365760"/>
          </a:xfrm>
          <a:prstGeom prst="rect">
            <a:avLst/>
          </a:prstGeom>
          <a:noFill/>
        </p:spPr>
        <p:txBody>
          <a:bodyPr wrap="square" lIns="0" rIns="0" tIns="0" bIns="0">
            <a:spAutoFit/>
          </a:bodyPr>
          <a:lstStyle/>
          <a:p>
            <a:pPr algn="l">
              <a:lnSpc>
                <a:spcPct val="95000"/>
              </a:lnSpc>
              <a:spcAft>
                <a:spcPts val="0"/>
              </a:spcAft>
            </a:pPr>
            <a:r>
              <a:rPr sz="6200" b="1">
                <a:solidFill>
                  <a:srgbClr val="B5502A"/>
                </a:solidFill>
                <a:latin typeface="Arial"/>
              </a:rPr>
              <a:t>1,389</a:t>
            </a:r>
          </a:p>
        </p:txBody>
      </p:sp>
      <p:sp>
        <p:nvSpPr>
          <p:cNvPr id="33" name="TextBox 32"/>
          <p:cNvSpPr txBox="1"/>
          <p:nvPr/>
        </p:nvSpPr>
        <p:spPr>
          <a:xfrm>
            <a:off x="22677120" y="9702800"/>
            <a:ext cx="20482560" cy="365760"/>
          </a:xfrm>
          <a:prstGeom prst="rect">
            <a:avLst/>
          </a:prstGeom>
          <a:noFill/>
        </p:spPr>
        <p:txBody>
          <a:bodyPr wrap="square" lIns="0" rIns="0" tIns="0" bIns="0">
            <a:spAutoFit/>
          </a:bodyPr>
          <a:lstStyle/>
          <a:p>
            <a:pPr algn="l">
              <a:lnSpc>
                <a:spcPct val="122000"/>
              </a:lnSpc>
              <a:spcAft>
                <a:spcPts val="600"/>
              </a:spcAft>
            </a:pPr>
            <a:r>
              <a:rPr sz="1700" b="0">
                <a:solidFill>
                  <a:srgbClr val="5B5B5B"/>
                </a:solidFill>
                <a:latin typeface="Arial"/>
              </a:rPr>
              <a:t>joystick commands through the platform</a:t>
            </a:r>
          </a:p>
        </p:txBody>
      </p:sp>
      <p:sp>
        <p:nvSpPr>
          <p:cNvPr id="34" name="TextBox 33"/>
          <p:cNvSpPr txBox="1"/>
          <p:nvPr/>
        </p:nvSpPr>
        <p:spPr>
          <a:xfrm>
            <a:off x="22677120" y="10188702"/>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Driving a robot from a browser</a:t>
            </a:r>
          </a:p>
        </p:txBody>
      </p:sp>
      <p:sp>
        <p:nvSpPr>
          <p:cNvPr id="35" name="Rectangle 34"/>
          <p:cNvSpPr/>
          <p:nvPr/>
        </p:nvSpPr>
        <p:spPr>
          <a:xfrm>
            <a:off x="22677120" y="10783062"/>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2677120" y="11112246"/>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37" name="TextBox 36"/>
          <p:cNvSpPr txBox="1"/>
          <p:nvPr/>
        </p:nvSpPr>
        <p:spPr>
          <a:xfrm>
            <a:off x="22677120" y="12879577"/>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Left alone for fifteen rounds</a:t>
            </a:r>
          </a:p>
        </p:txBody>
      </p:sp>
      <p:sp>
        <p:nvSpPr>
          <p:cNvPr id="38" name="Rectangle 37"/>
          <p:cNvSpPr/>
          <p:nvPr/>
        </p:nvSpPr>
        <p:spPr>
          <a:xfrm>
            <a:off x="22677120" y="13473937"/>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f_rounds.png"/>
          <p:cNvPicPr>
            <a:picLocks noChangeAspect="1"/>
          </p:cNvPicPr>
          <p:nvPr/>
        </p:nvPicPr>
        <p:blipFill>
          <a:blip r:embed="rId3"/>
          <a:stretch>
            <a:fillRect/>
          </a:stretch>
        </p:blipFill>
        <p:spPr>
          <a:xfrm>
            <a:off x="22677120" y="13803121"/>
            <a:ext cx="20482560" cy="4663440"/>
          </a:xfrm>
          <a:prstGeom prst="rect">
            <a:avLst/>
          </a:prstGeom>
        </p:spPr>
      </p:pic>
      <p:sp>
        <p:nvSpPr>
          <p:cNvPr id="40" name="TextBox 39"/>
          <p:cNvSpPr txBox="1"/>
          <p:nvPr/>
        </p:nvSpPr>
        <p:spPr>
          <a:xfrm>
            <a:off x="22677120" y="18576290"/>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B5B5B"/>
                </a:solidFill>
                <a:latin typeface="Arial"/>
              </a:rPr>
              <a:t>Figure 2.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1" name="TextBox 40"/>
          <p:cNvSpPr txBox="1"/>
          <p:nvPr/>
        </p:nvSpPr>
        <p:spPr>
          <a:xfrm>
            <a:off x="22677120" y="19651472"/>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2" name="TextBox 41"/>
          <p:cNvSpPr txBox="1"/>
          <p:nvPr/>
        </p:nvSpPr>
        <p:spPr>
          <a:xfrm>
            <a:off x="22677120" y="21418804"/>
            <a:ext cx="20482560" cy="365760"/>
          </a:xfrm>
          <a:prstGeom prst="rect">
            <a:avLst/>
          </a:prstGeom>
          <a:noFill/>
        </p:spPr>
        <p:txBody>
          <a:bodyPr wrap="square" lIns="0" rIns="0" tIns="0" bIns="0">
            <a:spAutoFit/>
          </a:bodyPr>
          <a:lstStyle/>
          <a:p>
            <a:pPr algn="l">
              <a:lnSpc>
                <a:spcPct val="95000"/>
              </a:lnSpc>
              <a:spcAft>
                <a:spcPts val="0"/>
              </a:spcAft>
            </a:pPr>
            <a:r>
              <a:rPr sz="3600" b="1">
                <a:solidFill>
                  <a:srgbClr val="FFFFFF"/>
                </a:solidFill>
                <a:latin typeface="Arial"/>
              </a:rPr>
              <a:t>Inside the platform</a:t>
            </a:r>
          </a:p>
        </p:txBody>
      </p:sp>
      <p:sp>
        <p:nvSpPr>
          <p:cNvPr id="43" name="Rectangle 42"/>
          <p:cNvSpPr/>
          <p:nvPr/>
        </p:nvSpPr>
        <p:spPr>
          <a:xfrm>
            <a:off x="22677120" y="22013164"/>
            <a:ext cx="20482560" cy="27432"/>
          </a:xfrm>
          <a:prstGeom prst="rect">
            <a:avLst/>
          </a:prstGeom>
          <a:solidFill>
            <a:srgbClr val="B55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n_system.png"/>
          <p:cNvPicPr>
            <a:picLocks noChangeAspect="1"/>
          </p:cNvPicPr>
          <p:nvPr/>
        </p:nvPicPr>
        <p:blipFill>
          <a:blip r:embed="rId4"/>
          <a:stretch>
            <a:fillRect/>
          </a:stretch>
        </p:blipFill>
        <p:spPr>
          <a:xfrm>
            <a:off x="22677120" y="22342348"/>
            <a:ext cx="20482560" cy="3383280"/>
          </a:xfrm>
          <a:prstGeom prst="rect">
            <a:avLst/>
          </a:prstGeom>
        </p:spPr>
      </p:pic>
      <p:sp>
        <p:nvSpPr>
          <p:cNvPr id="45" name="TextBox 44"/>
          <p:cNvSpPr txBox="1"/>
          <p:nvPr/>
        </p:nvSpPr>
        <p:spPr>
          <a:xfrm>
            <a:off x="22677120" y="25835356"/>
            <a:ext cx="20482560" cy="365760"/>
          </a:xfrm>
          <a:prstGeom prst="rect">
            <a:avLst/>
          </a:prstGeom>
          <a:noFill/>
        </p:spPr>
        <p:txBody>
          <a:bodyPr wrap="square" lIns="0" rIns="0" tIns="0" bIns="0">
            <a:spAutoFit/>
          </a:bodyPr>
          <a:lstStyle/>
          <a:p>
            <a:pPr algn="l">
              <a:lnSpc>
                <a:spcPct val="118000"/>
              </a:lnSpc>
              <a:spcAft>
                <a:spcPts val="0"/>
              </a:spcAft>
            </a:pPr>
            <a:r>
              <a:rPr sz="1700" b="0">
                <a:solidFill>
                  <a:srgbClr val="5B5B5B"/>
                </a:solidFill>
                <a:latin typeface="Arial"/>
              </a:rPr>
              <a:t>Figure 3.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46" name="TextBox 45"/>
          <p:cNvSpPr txBox="1"/>
          <p:nvPr/>
        </p:nvSpPr>
        <p:spPr>
          <a:xfrm>
            <a:off x="22677120" y="26910538"/>
            <a:ext cx="20482560" cy="365760"/>
          </a:xfrm>
          <a:prstGeom prst="rect">
            <a:avLst/>
          </a:prstGeom>
          <a:noFill/>
        </p:spPr>
        <p:txBody>
          <a:bodyPr wrap="square" lIns="0" rIns="0" tIns="0" bIns="0">
            <a:spAutoFit/>
          </a:bodyPr>
          <a:lstStyle/>
          <a:p>
            <a:pPr algn="l">
              <a:lnSpc>
                <a:spcPct val="122000"/>
              </a:lnSpc>
              <a:spcAft>
                <a:spcPts val="1400"/>
              </a:spcAft>
            </a:pPr>
            <a:r>
              <a:rPr sz="2200" b="0">
                <a:solidFill>
                  <a:srgbClr val="111111"/>
                </a:solidFill>
                <a:latin typeface="Arial"/>
              </a:rPr>
              <a:t>Every stage from a camera in a crop row to a checkpoint on the cluster has run. The dashboard and registry run on a lab server; GPU jobs queue on PSC Bridges-2. The collector and trainer are paused after a stop-loss on 2026-08-29. The supervisor is advisory and nothing it says is applied.</a:t>
            </a:r>
          </a:p>
        </p:txBody>
      </p:sp>
      <p:sp>
        <p:nvSpPr>
          <p:cNvPr id="47" name="Rectangle 46"/>
          <p:cNvSpPr/>
          <p:nvPr/>
        </p:nvSpPr>
        <p:spPr>
          <a:xfrm>
            <a:off x="731520" y="30632400"/>
            <a:ext cx="42428160" cy="20116"/>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B5B5B"/>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49" name="TextBox 48"/>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B5B5B"/>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50" name="TextBox 49"/>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700" b="0">
                <a:solidFill>
                  <a:srgbClr val="5B5B5B"/>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