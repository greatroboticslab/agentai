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9200" b="1">
                <a:solidFill>
                  <a:srgbClr val="111111"/>
                </a:solidFill>
                <a:latin typeface="Arial"/>
              </a:rPr>
              <a:t>agentAI: A Research-Data Platform for Physical and Embodied Agents</a:t>
            </a:r>
          </a:p>
        </p:txBody>
      </p:sp>
      <p:sp>
        <p:nvSpPr>
          <p:cNvPr id="4" name="TextBox 3"/>
          <p:cNvSpPr txBox="1"/>
          <p:nvPr/>
        </p:nvSpPr>
        <p:spPr>
          <a:xfrm>
            <a:off x="731520" y="22402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11111"/>
                </a:solidFill>
                <a:latin typeface="Arial"/>
              </a:rPr>
              <a:t>Harry He   ·   Hongbo Zhang</a:t>
            </a:r>
          </a:p>
        </p:txBody>
      </p:sp>
      <p:sp>
        <p:nvSpPr>
          <p:cNvPr id="5" name="TextBox 4"/>
          <p:cNvSpPr txBox="1"/>
          <p:nvPr/>
        </p:nvSpPr>
        <p:spPr>
          <a:xfrm>
            <a:off x="731520" y="28803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5B5B5B"/>
                </a:solidFill>
                <a:latin typeface="Arial"/>
              </a:rPr>
              <a:t>Department of Engineering Technology   ·   Middle Tennessee State University, Murfreesboro, TN, USA</a:t>
            </a:r>
          </a:p>
        </p:txBody>
      </p:sp>
      <p:sp>
        <p:nvSpPr>
          <p:cNvPr id="6" name="Rectangle 5"/>
          <p:cNvSpPr/>
          <p:nvPr/>
        </p:nvSpPr>
        <p:spPr>
          <a:xfrm>
            <a:off x="731520" y="3749039"/>
            <a:ext cx="42428160" cy="41148"/>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600" b="0">
                <a:solidFill>
                  <a:srgbClr val="111111"/>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TextBox 7"/>
          <p:cNvSpPr txBox="1"/>
          <p:nvPr/>
        </p:nvSpPr>
        <p:spPr>
          <a:xfrm>
            <a:off x="731520" y="6208776"/>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FFFFFF"/>
                </a:solidFill>
                <a:latin typeface="Arial"/>
              </a:rPr>
              <a:t>One platform for every robot the lab owns</a:t>
            </a:r>
          </a:p>
        </p:txBody>
      </p:sp>
      <p:sp>
        <p:nvSpPr>
          <p:cNvPr id="9" name="Rectangle 8"/>
          <p:cNvSpPr/>
          <p:nvPr/>
        </p:nvSpPr>
        <p:spPr>
          <a:xfrm>
            <a:off x="731520" y="6803136"/>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7132320"/>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11111"/>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1" name="TextBox 10"/>
          <p:cNvSpPr txBox="1"/>
          <p:nvPr/>
        </p:nvSpPr>
        <p:spPr>
          <a:xfrm>
            <a:off x="731520" y="8899652"/>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FFFFFF"/>
                </a:solidFill>
                <a:latin typeface="Arial"/>
              </a:rPr>
              <a:t>A drive becomes a dataset as it opens</a:t>
            </a:r>
          </a:p>
        </p:txBody>
      </p:sp>
      <p:sp>
        <p:nvSpPr>
          <p:cNvPr id="12" name="Rectangle 11"/>
          <p:cNvSpPr/>
          <p:nvPr/>
        </p:nvSpPr>
        <p:spPr>
          <a:xfrm>
            <a:off x="731520" y="9494012"/>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9823195"/>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11111"/>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14" name="TextBox 13"/>
          <p:cNvSpPr txBox="1"/>
          <p:nvPr/>
        </p:nvSpPr>
        <p:spPr>
          <a:xfrm>
            <a:off x="731520" y="11590527"/>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FFFFFF"/>
                </a:solidFill>
                <a:latin typeface="Arial"/>
              </a:rPr>
              <a:t>Ask a dataset what it is good for</a:t>
            </a:r>
          </a:p>
        </p:txBody>
      </p:sp>
      <p:sp>
        <p:nvSpPr>
          <p:cNvPr id="15" name="Rectangle 14"/>
          <p:cNvSpPr/>
          <p:nvPr/>
        </p:nvSpPr>
        <p:spPr>
          <a:xfrm>
            <a:off x="731520" y="12184887"/>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2514071"/>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11111"/>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17" name="TextBox 16"/>
          <p:cNvSpPr txBox="1"/>
          <p:nvPr/>
        </p:nvSpPr>
        <p:spPr>
          <a:xfrm>
            <a:off x="731520" y="14281403"/>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FFFFFF"/>
                </a:solidFill>
                <a:latin typeface="Arial"/>
              </a:rPr>
              <a:t>Everything we trained, ran, or rejected</a:t>
            </a:r>
          </a:p>
        </p:txBody>
      </p:sp>
      <p:sp>
        <p:nvSpPr>
          <p:cNvPr id="18" name="Rectangle 17"/>
          <p:cNvSpPr/>
          <p:nvPr/>
        </p:nvSpPr>
        <p:spPr>
          <a:xfrm>
            <a:off x="731520" y="14875763"/>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m_ledger.png"/>
          <p:cNvPicPr>
            <a:picLocks noChangeAspect="1"/>
          </p:cNvPicPr>
          <p:nvPr/>
        </p:nvPicPr>
        <p:blipFill>
          <a:blip r:embed="rId2"/>
          <a:stretch>
            <a:fillRect/>
          </a:stretch>
        </p:blipFill>
        <p:spPr>
          <a:xfrm>
            <a:off x="731520" y="15204947"/>
            <a:ext cx="20482560" cy="3749040"/>
          </a:xfrm>
          <a:prstGeom prst="rect">
            <a:avLst/>
          </a:prstGeom>
        </p:spPr>
      </p:pic>
      <p:sp>
        <p:nvSpPr>
          <p:cNvPr id="20" name="TextBox 19"/>
          <p:cNvSpPr txBox="1"/>
          <p:nvPr/>
        </p:nvSpPr>
        <p:spPr>
          <a:xfrm>
            <a:off x="731520" y="19063715"/>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5B5B5B"/>
                </a:solidFill>
                <a:latin typeface="Arial"/>
              </a:rPr>
              <a:t>Figure 1.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21" name="TextBox 20"/>
          <p:cNvSpPr txBox="1"/>
          <p:nvPr/>
        </p:nvSpPr>
        <p:spPr>
          <a:xfrm>
            <a:off x="731520" y="20138897"/>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11111"/>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22" name="TextBox 21"/>
          <p:cNvSpPr txBox="1"/>
          <p:nvPr/>
        </p:nvSpPr>
        <p:spPr>
          <a:xfrm>
            <a:off x="731520" y="21565361"/>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FFFFFF"/>
                </a:solidFill>
                <a:latin typeface="Arial"/>
              </a:rPr>
              <a:t>On disk today</a:t>
            </a:r>
          </a:p>
        </p:txBody>
      </p:sp>
      <p:sp>
        <p:nvSpPr>
          <p:cNvPr id="23" name="Rectangle 22"/>
          <p:cNvSpPr/>
          <p:nvPr/>
        </p:nvSpPr>
        <p:spPr>
          <a:xfrm>
            <a:off x="731520" y="22159721"/>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2488905"/>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11111"/>
                </a:solidFill>
                <a:latin typeface="Arial"/>
              </a:rPr>
              <a:t>Two robots have put 2,686 camera frames and 91,955 telemetry rows across nine streams onto the platform, over 26 drives, with 342 m of GPS track from 1,502 fixes. None of the frames is labelled.</a:t>
            </a:r>
          </a:p>
        </p:txBody>
      </p:sp>
      <p:sp>
        <p:nvSpPr>
          <p:cNvPr id="25" name="TextBox 24"/>
          <p:cNvSpPr txBox="1"/>
          <p:nvPr/>
        </p:nvSpPr>
        <p:spPr>
          <a:xfrm>
            <a:off x="731520" y="23915369"/>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FFFFFF"/>
                </a:solidFill>
                <a:latin typeface="Arial"/>
              </a:rPr>
              <a:t>Asked something it had never seen</a:t>
            </a:r>
          </a:p>
        </p:txBody>
      </p:sp>
      <p:sp>
        <p:nvSpPr>
          <p:cNvPr id="26" name="Rectangle 25"/>
          <p:cNvSpPr/>
          <p:nvPr/>
        </p:nvSpPr>
        <p:spPr>
          <a:xfrm>
            <a:off x="731520" y="24509729"/>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24838913"/>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11111"/>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28" name="TextBox 27"/>
          <p:cNvSpPr txBox="1"/>
          <p:nvPr/>
        </p:nvSpPr>
        <p:spPr>
          <a:xfrm>
            <a:off x="731520" y="26606245"/>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FFFFFF"/>
                </a:solidFill>
                <a:latin typeface="Arial"/>
              </a:rPr>
              <a:t>More web data, less accuracy</a:t>
            </a:r>
          </a:p>
        </p:txBody>
      </p:sp>
      <p:sp>
        <p:nvSpPr>
          <p:cNvPr id="29" name="Rectangle 28"/>
          <p:cNvSpPr/>
          <p:nvPr/>
        </p:nvSpPr>
        <p:spPr>
          <a:xfrm>
            <a:off x="731520" y="27200605"/>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27529789"/>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11111"/>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31" name="TextBox 30"/>
          <p:cNvSpPr txBox="1"/>
          <p:nvPr/>
        </p:nvSpPr>
        <p:spPr>
          <a:xfrm>
            <a:off x="22677120" y="6208776"/>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FFFFFF"/>
                </a:solidFill>
                <a:latin typeface="Arial"/>
              </a:rPr>
              <a:t>Robots on the platform today</a:t>
            </a:r>
          </a:p>
        </p:txBody>
      </p:sp>
      <p:sp>
        <p:nvSpPr>
          <p:cNvPr id="32" name="Rectangle 31"/>
          <p:cNvSpPr/>
          <p:nvPr/>
        </p:nvSpPr>
        <p:spPr>
          <a:xfrm>
            <a:off x="22677120" y="6803136"/>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2677120" y="7132320"/>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11111"/>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34" name="TextBox 33"/>
          <p:cNvSpPr txBox="1"/>
          <p:nvPr/>
        </p:nvSpPr>
        <p:spPr>
          <a:xfrm>
            <a:off x="22677120" y="8899652"/>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FFFFFF"/>
                </a:solidFill>
                <a:latin typeface="Arial"/>
              </a:rPr>
              <a:t>Driving a robot from a browser</a:t>
            </a:r>
          </a:p>
        </p:txBody>
      </p:sp>
      <p:sp>
        <p:nvSpPr>
          <p:cNvPr id="35" name="Rectangle 34"/>
          <p:cNvSpPr/>
          <p:nvPr/>
        </p:nvSpPr>
        <p:spPr>
          <a:xfrm>
            <a:off x="22677120" y="9494012"/>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2677120" y="9823195"/>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11111"/>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7" name="TextBox 36"/>
          <p:cNvSpPr txBox="1"/>
          <p:nvPr/>
        </p:nvSpPr>
        <p:spPr>
          <a:xfrm>
            <a:off x="22677120" y="11590527"/>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FFFFFF"/>
                </a:solidFill>
                <a:latin typeface="Arial"/>
              </a:rPr>
              <a:t>Left alone for fifteen rounds</a:t>
            </a:r>
          </a:p>
        </p:txBody>
      </p:sp>
      <p:sp>
        <p:nvSpPr>
          <p:cNvPr id="38" name="Rectangle 37"/>
          <p:cNvSpPr/>
          <p:nvPr/>
        </p:nvSpPr>
        <p:spPr>
          <a:xfrm>
            <a:off x="22677120" y="12184887"/>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f_rounds.png"/>
          <p:cNvPicPr>
            <a:picLocks noChangeAspect="1"/>
          </p:cNvPicPr>
          <p:nvPr/>
        </p:nvPicPr>
        <p:blipFill>
          <a:blip r:embed="rId3"/>
          <a:stretch>
            <a:fillRect/>
          </a:stretch>
        </p:blipFill>
        <p:spPr>
          <a:xfrm>
            <a:off x="22677120" y="12514071"/>
            <a:ext cx="20482560" cy="4663440"/>
          </a:xfrm>
          <a:prstGeom prst="rect">
            <a:avLst/>
          </a:prstGeom>
        </p:spPr>
      </p:pic>
      <p:sp>
        <p:nvSpPr>
          <p:cNvPr id="40" name="TextBox 39"/>
          <p:cNvSpPr txBox="1"/>
          <p:nvPr/>
        </p:nvSpPr>
        <p:spPr>
          <a:xfrm>
            <a:off x="22677120" y="17287240"/>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5B5B5B"/>
                </a:solidFill>
                <a:latin typeface="Arial"/>
              </a:rPr>
              <a:t>Figure 2.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41" name="TextBox 40"/>
          <p:cNvSpPr txBox="1"/>
          <p:nvPr/>
        </p:nvSpPr>
        <p:spPr>
          <a:xfrm>
            <a:off x="22677120" y="18362422"/>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11111"/>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42" name="TextBox 41"/>
          <p:cNvSpPr txBox="1"/>
          <p:nvPr/>
        </p:nvSpPr>
        <p:spPr>
          <a:xfrm>
            <a:off x="22677120" y="20129754"/>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FFFFFF"/>
                </a:solidFill>
                <a:latin typeface="Arial"/>
              </a:rPr>
              <a:t>Inside the platform</a:t>
            </a:r>
          </a:p>
        </p:txBody>
      </p:sp>
      <p:sp>
        <p:nvSpPr>
          <p:cNvPr id="43" name="Rectangle 42"/>
          <p:cNvSpPr/>
          <p:nvPr/>
        </p:nvSpPr>
        <p:spPr>
          <a:xfrm>
            <a:off x="22677120" y="20724114"/>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n_system.png"/>
          <p:cNvPicPr>
            <a:picLocks noChangeAspect="1"/>
          </p:cNvPicPr>
          <p:nvPr/>
        </p:nvPicPr>
        <p:blipFill>
          <a:blip r:embed="rId4"/>
          <a:stretch>
            <a:fillRect/>
          </a:stretch>
        </p:blipFill>
        <p:spPr>
          <a:xfrm>
            <a:off x="22677120" y="21053298"/>
            <a:ext cx="20482560" cy="3383280"/>
          </a:xfrm>
          <a:prstGeom prst="rect">
            <a:avLst/>
          </a:prstGeom>
        </p:spPr>
      </p:pic>
      <p:sp>
        <p:nvSpPr>
          <p:cNvPr id="45" name="TextBox 44"/>
          <p:cNvSpPr txBox="1"/>
          <p:nvPr/>
        </p:nvSpPr>
        <p:spPr>
          <a:xfrm>
            <a:off x="22677120" y="24546306"/>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5B5B5B"/>
                </a:solidFill>
                <a:latin typeface="Arial"/>
              </a:rPr>
              <a:t>Figure 3.  The path as built, from a camera in a crop row to a checkpoint on the cluster. Every stage has run. Three qualifications ride on it. The collector and trainer are paused after a stop-loss on 2026-08-29. The supervisor is advisory and nothing it says is applied. And the last link is not closed: no robot frame has entered training, because none of them is labelled yet.</a:t>
            </a:r>
          </a:p>
        </p:txBody>
      </p:sp>
      <p:sp>
        <p:nvSpPr>
          <p:cNvPr id="46" name="TextBox 45"/>
          <p:cNvSpPr txBox="1"/>
          <p:nvPr/>
        </p:nvSpPr>
        <p:spPr>
          <a:xfrm>
            <a:off x="22677120" y="25621488"/>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11111"/>
                </a:solidFill>
                <a:latin typeface="Arial"/>
              </a:rPr>
              <a:t>Every stage from a camera in a crop row to a checkpoint on the cluster has run. The dashboard and registry run on a lab server; GPU jobs queue on PSC Bridges-2. The collector and trainer are paused after a stop-loss on 2026-08-29. The supervisor is advisory and nothing it says is applied.</a:t>
            </a:r>
          </a:p>
        </p:txBody>
      </p:sp>
      <p:sp>
        <p:nvSpPr>
          <p:cNvPr id="47" name="TextBox 46"/>
          <p:cNvSpPr txBox="1"/>
          <p:nvPr/>
        </p:nvSpPr>
        <p:spPr>
          <a:xfrm>
            <a:off x="22677120" y="27047952"/>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FFFFFF"/>
                </a:solidFill>
                <a:latin typeface="Arial"/>
              </a:rPr>
              <a:t>Only one robot has the button</a:t>
            </a:r>
          </a:p>
        </p:txBody>
      </p:sp>
      <p:sp>
        <p:nvSpPr>
          <p:cNvPr id="48" name="Rectangle 47"/>
          <p:cNvSpPr/>
          <p:nvPr/>
        </p:nvSpPr>
        <p:spPr>
          <a:xfrm>
            <a:off x="22677120" y="27642312"/>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2677120" y="27971496"/>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11111"/>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50" name="Rectangle 49"/>
          <p:cNvSpPr/>
          <p:nvPr/>
        </p:nvSpPr>
        <p:spPr>
          <a:xfrm>
            <a:off x="731520" y="30632400"/>
            <a:ext cx="42428160" cy="20116"/>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B5B5B"/>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52" name="TextBox 51"/>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B5B5B"/>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53" name="TextBox 52"/>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B5B5B"/>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