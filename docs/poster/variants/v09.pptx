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10200" b="1">
                <a:solidFill>
                  <a:srgbClr val="24303B"/>
                </a:solidFill>
                <a:latin typeface="Arial Narrow"/>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24303B"/>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66727E"/>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24303B"/>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702808"/>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2,686</a:t>
            </a:r>
          </a:p>
        </p:txBody>
      </p:sp>
      <p:sp>
        <p:nvSpPr>
          <p:cNvPr id="10" name="TextBox 9"/>
          <p:cNvSpPr txBox="1"/>
          <p:nvPr/>
        </p:nvSpPr>
        <p:spPr>
          <a:xfrm>
            <a:off x="731520"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camera frames</a:t>
            </a:r>
          </a:p>
        </p:txBody>
      </p:sp>
      <p:sp>
        <p:nvSpPr>
          <p:cNvPr id="11" name="TextBox 10"/>
          <p:cNvSpPr txBox="1"/>
          <p:nvPr/>
        </p:nvSpPr>
        <p:spPr>
          <a:xfrm>
            <a:off x="731520"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26 drives, 2 robots, 0 labelled</a:t>
            </a:r>
          </a:p>
        </p:txBody>
      </p:sp>
      <p:sp>
        <p:nvSpPr>
          <p:cNvPr id="12" name="TextBox 11"/>
          <p:cNvSpPr txBox="1"/>
          <p:nvPr/>
        </p:nvSpPr>
        <p:spPr>
          <a:xfrm>
            <a:off x="9317736"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91,955</a:t>
            </a:r>
          </a:p>
        </p:txBody>
      </p:sp>
      <p:sp>
        <p:nvSpPr>
          <p:cNvPr id="13" name="TextBox 12"/>
          <p:cNvSpPr txBox="1"/>
          <p:nvPr/>
        </p:nvSpPr>
        <p:spPr>
          <a:xfrm>
            <a:off x="9317736"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telemetry rows</a:t>
            </a:r>
          </a:p>
        </p:txBody>
      </p:sp>
      <p:sp>
        <p:nvSpPr>
          <p:cNvPr id="14" name="TextBox 13"/>
          <p:cNvSpPr txBox="1"/>
          <p:nvPr/>
        </p:nvSpPr>
        <p:spPr>
          <a:xfrm>
            <a:off x="9317736"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nine streams, counted line by line</a:t>
            </a:r>
          </a:p>
        </p:txBody>
      </p:sp>
      <p:sp>
        <p:nvSpPr>
          <p:cNvPr id="15" name="TextBox 14"/>
          <p:cNvSpPr txBox="1"/>
          <p:nvPr/>
        </p:nvSpPr>
        <p:spPr>
          <a:xfrm>
            <a:off x="17903952"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342 m</a:t>
            </a:r>
          </a:p>
        </p:txBody>
      </p:sp>
      <p:sp>
        <p:nvSpPr>
          <p:cNvPr id="16" name="TextBox 15"/>
          <p:cNvSpPr txBox="1"/>
          <p:nvPr/>
        </p:nvSpPr>
        <p:spPr>
          <a:xfrm>
            <a:off x="17903952"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of GPS track</a:t>
            </a:r>
          </a:p>
        </p:txBody>
      </p:sp>
      <p:sp>
        <p:nvSpPr>
          <p:cNvPr id="17" name="TextBox 16"/>
          <p:cNvSpPr txBox="1"/>
          <p:nvPr/>
        </p:nvSpPr>
        <p:spPr>
          <a:xfrm>
            <a:off x="17903952"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1,502 fixes over 18 drives</a:t>
            </a:r>
          </a:p>
        </p:txBody>
      </p:sp>
      <p:sp>
        <p:nvSpPr>
          <p:cNvPr id="18" name="TextBox 17"/>
          <p:cNvSpPr txBox="1"/>
          <p:nvPr/>
        </p:nvSpPr>
        <p:spPr>
          <a:xfrm>
            <a:off x="26490168"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27</a:t>
            </a:r>
          </a:p>
        </p:txBody>
      </p:sp>
      <p:sp>
        <p:nvSpPr>
          <p:cNvPr id="19" name="TextBox 18"/>
          <p:cNvSpPr txBox="1"/>
          <p:nvPr/>
        </p:nvSpPr>
        <p:spPr>
          <a:xfrm>
            <a:off x="26490168"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distinct models run</a:t>
            </a:r>
          </a:p>
        </p:txBody>
      </p:sp>
      <p:sp>
        <p:nvSpPr>
          <p:cNvPr id="20" name="TextBox 19"/>
          <p:cNvSpPr txBox="1"/>
          <p:nvPr/>
        </p:nvSpPr>
        <p:spPr>
          <a:xfrm>
            <a:off x="26490168"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four families, one deployed</a:t>
            </a:r>
          </a:p>
        </p:txBody>
      </p:sp>
      <p:sp>
        <p:nvSpPr>
          <p:cNvPr id="21" name="TextBox 20"/>
          <p:cNvSpPr txBox="1"/>
          <p:nvPr/>
        </p:nvSpPr>
        <p:spPr>
          <a:xfrm>
            <a:off x="35076384"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Narrow"/>
              </a:rPr>
              <a:t>0</a:t>
            </a:r>
          </a:p>
        </p:txBody>
      </p:sp>
      <p:sp>
        <p:nvSpPr>
          <p:cNvPr id="22" name="TextBox 21"/>
          <p:cNvSpPr txBox="1"/>
          <p:nvPr/>
        </p:nvSpPr>
        <p:spPr>
          <a:xfrm>
            <a:off x="35076384"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4303B"/>
                </a:solidFill>
                <a:latin typeface="Arial"/>
              </a:rPr>
              <a:t>robot frames labelled</a:t>
            </a:r>
          </a:p>
        </p:txBody>
      </p:sp>
      <p:sp>
        <p:nvSpPr>
          <p:cNvPr id="23" name="TextBox 22"/>
          <p:cNvSpPr txBox="1"/>
          <p:nvPr/>
        </p:nvSpPr>
        <p:spPr>
          <a:xfrm>
            <a:off x="35076384"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6727E"/>
                </a:solidFill>
                <a:latin typeface="Arial"/>
              </a:rPr>
              <a:t>the whole archive, so far</a:t>
            </a:r>
          </a:p>
        </p:txBody>
      </p:sp>
      <p:sp>
        <p:nvSpPr>
          <p:cNvPr id="24" name="Rectangle 23"/>
          <p:cNvSpPr/>
          <p:nvPr/>
        </p:nvSpPr>
        <p:spPr>
          <a:xfrm>
            <a:off x="731520" y="7291323"/>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78509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One platform for every robot the lab owns</a:t>
            </a:r>
          </a:p>
        </p:txBody>
      </p:sp>
      <p:sp>
        <p:nvSpPr>
          <p:cNvPr id="26" name="Rectangle 25"/>
          <p:cNvSpPr/>
          <p:nvPr/>
        </p:nvSpPr>
        <p:spPr>
          <a:xfrm>
            <a:off x="731520" y="8313419"/>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64260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60322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Driving a robot from a browser</a:t>
            </a:r>
          </a:p>
        </p:txBody>
      </p:sp>
      <p:sp>
        <p:nvSpPr>
          <p:cNvPr id="29" name="Rectangle 28"/>
          <p:cNvSpPr/>
          <p:nvPr/>
        </p:nvSpPr>
        <p:spPr>
          <a:xfrm>
            <a:off x="731520" y="11131549"/>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146073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1" name="TextBox 30"/>
          <p:cNvSpPr txBox="1"/>
          <p:nvPr/>
        </p:nvSpPr>
        <p:spPr>
          <a:xfrm>
            <a:off x="731520" y="13126973"/>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On disk today</a:t>
            </a:r>
          </a:p>
        </p:txBody>
      </p:sp>
      <p:sp>
        <p:nvSpPr>
          <p:cNvPr id="32" name="Rectangle 31"/>
          <p:cNvSpPr/>
          <p:nvPr/>
        </p:nvSpPr>
        <p:spPr>
          <a:xfrm>
            <a:off x="731520" y="1365529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13984477"/>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Two robots have put 2,686 camera frames and 91,955 telemetry rows across nine streams onto the platform, over 26 drives, with 342 m of GPS track from 1,502 fixes. None of the frames is labelled.</a:t>
            </a:r>
          </a:p>
        </p:txBody>
      </p:sp>
      <p:sp>
        <p:nvSpPr>
          <p:cNvPr id="34" name="TextBox 33"/>
          <p:cNvSpPr txBox="1"/>
          <p:nvPr/>
        </p:nvSpPr>
        <p:spPr>
          <a:xfrm>
            <a:off x="731520" y="15356331"/>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Asked something it had never seen</a:t>
            </a:r>
          </a:p>
        </p:txBody>
      </p:sp>
      <p:sp>
        <p:nvSpPr>
          <p:cNvPr id="35" name="Rectangle 34"/>
          <p:cNvSpPr/>
          <p:nvPr/>
        </p:nvSpPr>
        <p:spPr>
          <a:xfrm>
            <a:off x="731520" y="15884651"/>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6213835"/>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7" name="TextBox 36"/>
          <p:cNvSpPr txBox="1"/>
          <p:nvPr/>
        </p:nvSpPr>
        <p:spPr>
          <a:xfrm>
            <a:off x="731520" y="1788007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More web data, less accuracy</a:t>
            </a:r>
          </a:p>
        </p:txBody>
      </p:sp>
      <p:sp>
        <p:nvSpPr>
          <p:cNvPr id="38" name="Rectangle 37"/>
          <p:cNvSpPr/>
          <p:nvPr/>
        </p:nvSpPr>
        <p:spPr>
          <a:xfrm>
            <a:off x="731520" y="1840839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1873757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40" name="TextBox 39"/>
          <p:cNvSpPr txBox="1"/>
          <p:nvPr/>
        </p:nvSpPr>
        <p:spPr>
          <a:xfrm>
            <a:off x="731520" y="2040381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Adding the next robot</a:t>
            </a:r>
          </a:p>
        </p:txBody>
      </p:sp>
      <p:sp>
        <p:nvSpPr>
          <p:cNvPr id="41" name="Rectangle 40"/>
          <p:cNvSpPr/>
          <p:nvPr/>
        </p:nvSpPr>
        <p:spPr>
          <a:xfrm>
            <a:off x="731520" y="2093214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2126132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new robot needs a project, an API key and a session start. The ingest contract is the same for every vehicle: start a session, post sensor batches and frames while driving, stop. The platform does not care what the robot is. The Unitree humanoid's project exists on this basis and is waiting on its first upload.</a:t>
            </a:r>
          </a:p>
        </p:txBody>
      </p:sp>
      <p:sp>
        <p:nvSpPr>
          <p:cNvPr id="43" name="TextBox 42"/>
          <p:cNvSpPr txBox="1"/>
          <p:nvPr/>
        </p:nvSpPr>
        <p:spPr>
          <a:xfrm>
            <a:off x="731520" y="2292756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Code the agent writes runs fenced in</a:t>
            </a:r>
          </a:p>
        </p:txBody>
      </p:sp>
      <p:sp>
        <p:nvSpPr>
          <p:cNvPr id="44" name="Rectangle 43"/>
          <p:cNvSpPr/>
          <p:nvPr/>
        </p:nvSpPr>
        <p:spPr>
          <a:xfrm>
            <a:off x="731520" y="2345588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2378506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46" name="TextBox 45"/>
          <p:cNvSpPr txBox="1"/>
          <p:nvPr/>
        </p:nvSpPr>
        <p:spPr>
          <a:xfrm>
            <a:off x="731520" y="2515692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Every drive is diagnosed on arrival</a:t>
            </a:r>
          </a:p>
        </p:txBody>
      </p:sp>
      <p:sp>
        <p:nvSpPr>
          <p:cNvPr id="47" name="Rectangle 46"/>
          <p:cNvSpPr/>
          <p:nvPr/>
        </p:nvSpPr>
        <p:spPr>
          <a:xfrm>
            <a:off x="731520" y="2568524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2601442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49" name="TextBox 48"/>
          <p:cNvSpPr txBox="1"/>
          <p:nvPr/>
        </p:nvSpPr>
        <p:spPr>
          <a:xfrm>
            <a:off x="731520" y="2768066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Who notices when it breaks</a:t>
            </a:r>
          </a:p>
        </p:txBody>
      </p:sp>
      <p:sp>
        <p:nvSpPr>
          <p:cNvPr id="50" name="Rectangle 49"/>
          <p:cNvSpPr/>
          <p:nvPr/>
        </p:nvSpPr>
        <p:spPr>
          <a:xfrm>
            <a:off x="731520" y="2820898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20" y="2853817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52" name="TextBox 51"/>
          <p:cNvSpPr txBox="1"/>
          <p:nvPr/>
        </p:nvSpPr>
        <p:spPr>
          <a:xfrm>
            <a:off x="11704320" y="778509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Robots on the platform today</a:t>
            </a:r>
          </a:p>
        </p:txBody>
      </p:sp>
      <p:sp>
        <p:nvSpPr>
          <p:cNvPr id="53" name="Rectangle 52"/>
          <p:cNvSpPr/>
          <p:nvPr/>
        </p:nvSpPr>
        <p:spPr>
          <a:xfrm>
            <a:off x="11704320" y="8313419"/>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704320" y="864260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55" name="TextBox 54"/>
          <p:cNvSpPr txBox="1"/>
          <p:nvPr/>
        </p:nvSpPr>
        <p:spPr>
          <a:xfrm>
            <a:off x="11704320" y="10014457"/>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Ask a dataset what it is good for</a:t>
            </a:r>
          </a:p>
        </p:txBody>
      </p:sp>
      <p:sp>
        <p:nvSpPr>
          <p:cNvPr id="56" name="Rectangle 55"/>
          <p:cNvSpPr/>
          <p:nvPr/>
        </p:nvSpPr>
        <p:spPr>
          <a:xfrm>
            <a:off x="11704320" y="10542777"/>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704320" y="10871961"/>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58" name="TextBox 57"/>
          <p:cNvSpPr txBox="1"/>
          <p:nvPr/>
        </p:nvSpPr>
        <p:spPr>
          <a:xfrm>
            <a:off x="11704320" y="1194942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Left alone for fifteen rounds</a:t>
            </a:r>
          </a:p>
        </p:txBody>
      </p:sp>
      <p:sp>
        <p:nvSpPr>
          <p:cNvPr id="59" name="Rectangle 58"/>
          <p:cNvSpPr/>
          <p:nvPr/>
        </p:nvSpPr>
        <p:spPr>
          <a:xfrm>
            <a:off x="11704320" y="12477749"/>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f_rounds.png"/>
          <p:cNvPicPr>
            <a:picLocks noChangeAspect="1"/>
          </p:cNvPicPr>
          <p:nvPr/>
        </p:nvPicPr>
        <p:blipFill>
          <a:blip r:embed="rId2"/>
          <a:stretch>
            <a:fillRect/>
          </a:stretch>
        </p:blipFill>
        <p:spPr>
          <a:xfrm>
            <a:off x="11704320" y="12806933"/>
            <a:ext cx="20482560" cy="4663440"/>
          </a:xfrm>
          <a:prstGeom prst="rect">
            <a:avLst/>
          </a:prstGeom>
        </p:spPr>
      </p:pic>
      <p:sp>
        <p:nvSpPr>
          <p:cNvPr id="61" name="TextBox 60"/>
          <p:cNvSpPr txBox="1"/>
          <p:nvPr/>
        </p:nvSpPr>
        <p:spPr>
          <a:xfrm>
            <a:off x="11704320" y="17580101"/>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6727E"/>
                </a:solidFill>
                <a:latin typeface="Arial"/>
              </a:rPr>
              <a:t>Figure 1.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62" name="TextBox 61"/>
          <p:cNvSpPr txBox="1"/>
          <p:nvPr/>
        </p:nvSpPr>
        <p:spPr>
          <a:xfrm>
            <a:off x="11704320" y="18565367"/>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63" name="TextBox 62"/>
          <p:cNvSpPr txBox="1"/>
          <p:nvPr/>
        </p:nvSpPr>
        <p:spPr>
          <a:xfrm>
            <a:off x="11704320" y="19642836"/>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Everything we trained, ran, or rejected</a:t>
            </a:r>
          </a:p>
        </p:txBody>
      </p:sp>
      <p:sp>
        <p:nvSpPr>
          <p:cNvPr id="64" name="Rectangle 63"/>
          <p:cNvSpPr/>
          <p:nvPr/>
        </p:nvSpPr>
        <p:spPr>
          <a:xfrm>
            <a:off x="11704320" y="20171156"/>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m_ledger.png"/>
          <p:cNvPicPr>
            <a:picLocks noChangeAspect="1"/>
          </p:cNvPicPr>
          <p:nvPr/>
        </p:nvPicPr>
        <p:blipFill>
          <a:blip r:embed="rId3"/>
          <a:stretch>
            <a:fillRect/>
          </a:stretch>
        </p:blipFill>
        <p:spPr>
          <a:xfrm>
            <a:off x="11704320" y="20500340"/>
            <a:ext cx="20482560" cy="3749040"/>
          </a:xfrm>
          <a:prstGeom prst="rect">
            <a:avLst/>
          </a:prstGeom>
        </p:spPr>
      </p:pic>
      <p:sp>
        <p:nvSpPr>
          <p:cNvPr id="66" name="TextBox 65"/>
          <p:cNvSpPr txBox="1"/>
          <p:nvPr/>
        </p:nvSpPr>
        <p:spPr>
          <a:xfrm>
            <a:off x="11704320" y="24359108"/>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6727E"/>
                </a:solidFill>
                <a:latin typeface="Arial"/>
              </a:rPr>
              <a:t>Figure 2.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67" name="TextBox 66"/>
          <p:cNvSpPr txBox="1"/>
          <p:nvPr/>
        </p:nvSpPr>
        <p:spPr>
          <a:xfrm>
            <a:off x="11704320" y="25344374"/>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68" name="TextBox 67"/>
          <p:cNvSpPr txBox="1"/>
          <p:nvPr/>
        </p:nvSpPr>
        <p:spPr>
          <a:xfrm>
            <a:off x="32552640" y="778509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 drive becomes a dataset as it opens</a:t>
            </a:r>
          </a:p>
        </p:txBody>
      </p:sp>
      <p:sp>
        <p:nvSpPr>
          <p:cNvPr id="69" name="Rectangle 68"/>
          <p:cNvSpPr/>
          <p:nvPr/>
        </p:nvSpPr>
        <p:spPr>
          <a:xfrm>
            <a:off x="32552640" y="8313419"/>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552640" y="864260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71" name="TextBox 70"/>
          <p:cNvSpPr txBox="1"/>
          <p:nvPr/>
        </p:nvSpPr>
        <p:spPr>
          <a:xfrm>
            <a:off x="32552640" y="10308843"/>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Four frames, as recorded</a:t>
            </a:r>
          </a:p>
        </p:txBody>
      </p:sp>
      <p:sp>
        <p:nvSpPr>
          <p:cNvPr id="72" name="Rectangle 71"/>
          <p:cNvSpPr/>
          <p:nvPr/>
        </p:nvSpPr>
        <p:spPr>
          <a:xfrm>
            <a:off x="32552640" y="1083716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Picture 72" descr="l_robots.png"/>
          <p:cNvPicPr>
            <a:picLocks noChangeAspect="1"/>
          </p:cNvPicPr>
          <p:nvPr/>
        </p:nvPicPr>
        <p:blipFill>
          <a:blip r:embed="rId4"/>
          <a:stretch>
            <a:fillRect/>
          </a:stretch>
        </p:blipFill>
        <p:spPr>
          <a:xfrm>
            <a:off x="32552640" y="11166347"/>
            <a:ext cx="10607040" cy="2377440"/>
          </a:xfrm>
          <a:prstGeom prst="rect">
            <a:avLst/>
          </a:prstGeom>
        </p:spPr>
      </p:pic>
      <p:sp>
        <p:nvSpPr>
          <p:cNvPr id="74" name="TextBox 73"/>
          <p:cNvSpPr txBox="1"/>
          <p:nvPr/>
        </p:nvSpPr>
        <p:spPr>
          <a:xfrm>
            <a:off x="32552640" y="13653515"/>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66727E"/>
                </a:solidFill>
                <a:latin typeface="Arial"/>
              </a:rPr>
              <a:t>Figure 3.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75" name="TextBox 74"/>
          <p:cNvSpPr txBox="1"/>
          <p:nvPr/>
        </p:nvSpPr>
        <p:spPr>
          <a:xfrm>
            <a:off x="32552640" y="14863571"/>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Nothing here is enhanced and nothing is labelled. The rectangle in the cart's down camera is a fixed work-zone overlay: it sits at the same pixels on frames with no vegetation in them at all.</a:t>
            </a:r>
          </a:p>
        </p:txBody>
      </p:sp>
      <p:sp>
        <p:nvSpPr>
          <p:cNvPr id="76" name="TextBox 75"/>
          <p:cNvSpPr txBox="1"/>
          <p:nvPr/>
        </p:nvSpPr>
        <p:spPr>
          <a:xfrm>
            <a:off x="32552640" y="1623542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Only one robot has the button</a:t>
            </a:r>
          </a:p>
        </p:txBody>
      </p:sp>
      <p:sp>
        <p:nvSpPr>
          <p:cNvPr id="77" name="Rectangle 76"/>
          <p:cNvSpPr/>
          <p:nvPr/>
        </p:nvSpPr>
        <p:spPr>
          <a:xfrm>
            <a:off x="32552640" y="1676374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2552640" y="1709292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9" name="TextBox 78"/>
          <p:cNvSpPr txBox="1"/>
          <p:nvPr/>
        </p:nvSpPr>
        <p:spPr>
          <a:xfrm>
            <a:off x="32552640" y="1875916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Which decisions a model makes</a:t>
            </a:r>
          </a:p>
        </p:txBody>
      </p:sp>
      <p:sp>
        <p:nvSpPr>
          <p:cNvPr id="80" name="Rectangle 79"/>
          <p:cNvSpPr/>
          <p:nvPr/>
        </p:nvSpPr>
        <p:spPr>
          <a:xfrm>
            <a:off x="32552640" y="1928749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2552640" y="1961667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82" name="TextBox 81"/>
          <p:cNvSpPr txBox="1"/>
          <p:nvPr/>
        </p:nvSpPr>
        <p:spPr>
          <a:xfrm>
            <a:off x="32552640" y="2128291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F3A45"/>
                </a:solidFill>
                <a:latin typeface="Arial Narrow"/>
              </a:rPr>
              <a:t>Any research field is a project</a:t>
            </a:r>
          </a:p>
        </p:txBody>
      </p:sp>
      <p:sp>
        <p:nvSpPr>
          <p:cNvPr id="83" name="Rectangle 82"/>
          <p:cNvSpPr/>
          <p:nvPr/>
        </p:nvSpPr>
        <p:spPr>
          <a:xfrm>
            <a:off x="32552640" y="2181123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2552640" y="2214041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4303B"/>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85" name="Rectangle 84"/>
          <p:cNvSpPr/>
          <p:nvPr/>
        </p:nvSpPr>
        <p:spPr>
          <a:xfrm>
            <a:off x="731520" y="30632400"/>
            <a:ext cx="42428160" cy="20116"/>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6727E"/>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87" name="TextBox 86"/>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6727E"/>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88" name="TextBox 87"/>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6727E"/>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