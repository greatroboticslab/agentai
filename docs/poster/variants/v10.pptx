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1E293B"/>
                </a:solidFill>
                <a:latin typeface="Times New Roman"/>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E293B"/>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56575"/>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E293B"/>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879592"/>
            <a:ext cx="42428160" cy="4023360"/>
          </a:xfrm>
          <a:prstGeom prst="rect">
            <a:avLst/>
          </a:prstGeom>
        </p:spPr>
      </p:pic>
      <p:sp>
        <p:nvSpPr>
          <p:cNvPr id="9" name="TextBox 8"/>
          <p:cNvSpPr txBox="1"/>
          <p:nvPr/>
        </p:nvSpPr>
        <p:spPr>
          <a:xfrm>
            <a:off x="731520" y="10012680"/>
            <a:ext cx="42428160" cy="365760"/>
          </a:xfrm>
          <a:prstGeom prst="rect">
            <a:avLst/>
          </a:prstGeom>
          <a:noFill/>
        </p:spPr>
        <p:txBody>
          <a:bodyPr wrap="square" lIns="0" rIns="0" tIns="0" bIns="0">
            <a:spAutoFit/>
          </a:bodyPr>
          <a:lstStyle/>
          <a:p>
            <a:pPr algn="l">
              <a:lnSpc>
                <a:spcPct val="118000"/>
              </a:lnSpc>
              <a:spcAft>
                <a:spcPts val="0"/>
              </a:spcAft>
            </a:pPr>
            <a:r>
              <a:rPr sz="1700" b="0">
                <a:solidFill>
                  <a:srgbClr val="556575"/>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761217"/>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2,686</a:t>
            </a:r>
          </a:p>
        </p:txBody>
      </p:sp>
      <p:sp>
        <p:nvSpPr>
          <p:cNvPr id="12" name="TextBox 11"/>
          <p:cNvSpPr txBox="1"/>
          <p:nvPr/>
        </p:nvSpPr>
        <p:spPr>
          <a:xfrm>
            <a:off x="731520"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camera frames</a:t>
            </a:r>
          </a:p>
        </p:txBody>
      </p:sp>
      <p:sp>
        <p:nvSpPr>
          <p:cNvPr id="13" name="TextBox 12"/>
          <p:cNvSpPr txBox="1"/>
          <p:nvPr/>
        </p:nvSpPr>
        <p:spPr>
          <a:xfrm>
            <a:off x="731520"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26 drives, 2 robots, 0 labelled</a:t>
            </a:r>
          </a:p>
        </p:txBody>
      </p:sp>
      <p:sp>
        <p:nvSpPr>
          <p:cNvPr id="14" name="TextBox 13"/>
          <p:cNvSpPr txBox="1"/>
          <p:nvPr/>
        </p:nvSpPr>
        <p:spPr>
          <a:xfrm>
            <a:off x="9317736"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91,955</a:t>
            </a:r>
          </a:p>
        </p:txBody>
      </p:sp>
      <p:sp>
        <p:nvSpPr>
          <p:cNvPr id="15" name="TextBox 14"/>
          <p:cNvSpPr txBox="1"/>
          <p:nvPr/>
        </p:nvSpPr>
        <p:spPr>
          <a:xfrm>
            <a:off x="9317736"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telemetry rows</a:t>
            </a:r>
          </a:p>
        </p:txBody>
      </p:sp>
      <p:sp>
        <p:nvSpPr>
          <p:cNvPr id="16" name="TextBox 15"/>
          <p:cNvSpPr txBox="1"/>
          <p:nvPr/>
        </p:nvSpPr>
        <p:spPr>
          <a:xfrm>
            <a:off x="9317736"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nine streams, counted line by line</a:t>
            </a:r>
          </a:p>
        </p:txBody>
      </p:sp>
      <p:sp>
        <p:nvSpPr>
          <p:cNvPr id="17" name="TextBox 16"/>
          <p:cNvSpPr txBox="1"/>
          <p:nvPr/>
        </p:nvSpPr>
        <p:spPr>
          <a:xfrm>
            <a:off x="17903952"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342 m</a:t>
            </a:r>
          </a:p>
        </p:txBody>
      </p:sp>
      <p:sp>
        <p:nvSpPr>
          <p:cNvPr id="18" name="TextBox 17"/>
          <p:cNvSpPr txBox="1"/>
          <p:nvPr/>
        </p:nvSpPr>
        <p:spPr>
          <a:xfrm>
            <a:off x="17903952"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of GPS track</a:t>
            </a:r>
          </a:p>
        </p:txBody>
      </p:sp>
      <p:sp>
        <p:nvSpPr>
          <p:cNvPr id="19" name="TextBox 18"/>
          <p:cNvSpPr txBox="1"/>
          <p:nvPr/>
        </p:nvSpPr>
        <p:spPr>
          <a:xfrm>
            <a:off x="17903952"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1,502 fixes over 18 drives</a:t>
            </a:r>
          </a:p>
        </p:txBody>
      </p:sp>
      <p:sp>
        <p:nvSpPr>
          <p:cNvPr id="20" name="TextBox 19"/>
          <p:cNvSpPr txBox="1"/>
          <p:nvPr/>
        </p:nvSpPr>
        <p:spPr>
          <a:xfrm>
            <a:off x="26490168"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27</a:t>
            </a:r>
          </a:p>
        </p:txBody>
      </p:sp>
      <p:sp>
        <p:nvSpPr>
          <p:cNvPr id="21" name="TextBox 20"/>
          <p:cNvSpPr txBox="1"/>
          <p:nvPr/>
        </p:nvSpPr>
        <p:spPr>
          <a:xfrm>
            <a:off x="26490168"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distinct models run</a:t>
            </a:r>
          </a:p>
        </p:txBody>
      </p:sp>
      <p:sp>
        <p:nvSpPr>
          <p:cNvPr id="22" name="TextBox 21"/>
          <p:cNvSpPr txBox="1"/>
          <p:nvPr/>
        </p:nvSpPr>
        <p:spPr>
          <a:xfrm>
            <a:off x="26490168"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four families, one deployed</a:t>
            </a:r>
          </a:p>
        </p:txBody>
      </p:sp>
      <p:sp>
        <p:nvSpPr>
          <p:cNvPr id="23" name="TextBox 22"/>
          <p:cNvSpPr txBox="1"/>
          <p:nvPr/>
        </p:nvSpPr>
        <p:spPr>
          <a:xfrm>
            <a:off x="35076384"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0</a:t>
            </a:r>
          </a:p>
        </p:txBody>
      </p:sp>
      <p:sp>
        <p:nvSpPr>
          <p:cNvPr id="24" name="TextBox 23"/>
          <p:cNvSpPr txBox="1"/>
          <p:nvPr/>
        </p:nvSpPr>
        <p:spPr>
          <a:xfrm>
            <a:off x="35076384"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robot frames labelled</a:t>
            </a:r>
          </a:p>
        </p:txBody>
      </p:sp>
      <p:sp>
        <p:nvSpPr>
          <p:cNvPr id="25" name="TextBox 24"/>
          <p:cNvSpPr txBox="1"/>
          <p:nvPr/>
        </p:nvSpPr>
        <p:spPr>
          <a:xfrm>
            <a:off x="35076384"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the whole archive, so far</a:t>
            </a:r>
          </a:p>
        </p:txBody>
      </p:sp>
      <p:sp>
        <p:nvSpPr>
          <p:cNvPr id="26" name="Rectangle 25"/>
          <p:cNvSpPr/>
          <p:nvPr/>
        </p:nvSpPr>
        <p:spPr>
          <a:xfrm>
            <a:off x="731520" y="12427203"/>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One platform for every robot the lab owns</a:t>
            </a:r>
          </a:p>
        </p:txBody>
      </p:sp>
      <p:sp>
        <p:nvSpPr>
          <p:cNvPr id="28" name="Rectangle 27"/>
          <p:cNvSpPr/>
          <p:nvPr/>
        </p:nvSpPr>
        <p:spPr>
          <a:xfrm>
            <a:off x="731520" y="13515340"/>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561185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A drive becomes a dataset as it opens</a:t>
            </a:r>
          </a:p>
        </p:txBody>
      </p:sp>
      <p:sp>
        <p:nvSpPr>
          <p:cNvPr id="31" name="Rectangle 30"/>
          <p:cNvSpPr/>
          <p:nvPr/>
        </p:nvSpPr>
        <p:spPr>
          <a:xfrm>
            <a:off x="731520" y="16206216"/>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653539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33" name="TextBox 32"/>
          <p:cNvSpPr txBox="1"/>
          <p:nvPr/>
        </p:nvSpPr>
        <p:spPr>
          <a:xfrm>
            <a:off x="731520" y="1830273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Ask a dataset what it is good for</a:t>
            </a:r>
          </a:p>
        </p:txBody>
      </p:sp>
      <p:sp>
        <p:nvSpPr>
          <p:cNvPr id="34" name="Rectangle 33"/>
          <p:cNvSpPr/>
          <p:nvPr/>
        </p:nvSpPr>
        <p:spPr>
          <a:xfrm>
            <a:off x="731520" y="1889709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19226276"/>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6" name="TextBox 35"/>
          <p:cNvSpPr txBox="1"/>
          <p:nvPr/>
        </p:nvSpPr>
        <p:spPr>
          <a:xfrm>
            <a:off x="731520" y="20993608"/>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Everything we trained, ran, or rejected</a:t>
            </a:r>
          </a:p>
        </p:txBody>
      </p:sp>
      <p:sp>
        <p:nvSpPr>
          <p:cNvPr id="37" name="Rectangle 36"/>
          <p:cNvSpPr/>
          <p:nvPr/>
        </p:nvSpPr>
        <p:spPr>
          <a:xfrm>
            <a:off x="731520" y="21587968"/>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m_ledger.png"/>
          <p:cNvPicPr>
            <a:picLocks noChangeAspect="1"/>
          </p:cNvPicPr>
          <p:nvPr/>
        </p:nvPicPr>
        <p:blipFill>
          <a:blip r:embed="rId3"/>
          <a:stretch>
            <a:fillRect/>
          </a:stretch>
        </p:blipFill>
        <p:spPr>
          <a:xfrm>
            <a:off x="731520" y="21917152"/>
            <a:ext cx="20482560" cy="3749040"/>
          </a:xfrm>
          <a:prstGeom prst="rect">
            <a:avLst/>
          </a:prstGeom>
        </p:spPr>
      </p:pic>
      <p:sp>
        <p:nvSpPr>
          <p:cNvPr id="39" name="TextBox 38"/>
          <p:cNvSpPr txBox="1"/>
          <p:nvPr/>
        </p:nvSpPr>
        <p:spPr>
          <a:xfrm>
            <a:off x="731520" y="25775919"/>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56575"/>
                </a:solidFill>
                <a:latin typeface="Arial"/>
              </a:rPr>
              <a:t>Figure 3.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40" name="TextBox 39"/>
          <p:cNvSpPr txBox="1"/>
          <p:nvPr/>
        </p:nvSpPr>
        <p:spPr>
          <a:xfrm>
            <a:off x="731520" y="26851101"/>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41" name="TextBox 40"/>
          <p:cNvSpPr txBox="1"/>
          <p:nvPr/>
        </p:nvSpPr>
        <p:spPr>
          <a:xfrm>
            <a:off x="226771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Robots on the platform today</a:t>
            </a:r>
          </a:p>
        </p:txBody>
      </p:sp>
      <p:sp>
        <p:nvSpPr>
          <p:cNvPr id="42" name="Rectangle 41"/>
          <p:cNvSpPr/>
          <p:nvPr/>
        </p:nvSpPr>
        <p:spPr>
          <a:xfrm>
            <a:off x="22677120" y="13515340"/>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6771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4" name="TextBox 43"/>
          <p:cNvSpPr txBox="1"/>
          <p:nvPr/>
        </p:nvSpPr>
        <p:spPr>
          <a:xfrm>
            <a:off x="22677120" y="1561185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Driving a robot from a browser</a:t>
            </a:r>
          </a:p>
        </p:txBody>
      </p:sp>
      <p:sp>
        <p:nvSpPr>
          <p:cNvPr id="45" name="Rectangle 44"/>
          <p:cNvSpPr/>
          <p:nvPr/>
        </p:nvSpPr>
        <p:spPr>
          <a:xfrm>
            <a:off x="22677120" y="16206216"/>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677120" y="1653539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47" name="TextBox 46"/>
          <p:cNvSpPr txBox="1"/>
          <p:nvPr/>
        </p:nvSpPr>
        <p:spPr>
          <a:xfrm>
            <a:off x="22677120" y="1830273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Left alone for fifteen rounds</a:t>
            </a:r>
          </a:p>
        </p:txBody>
      </p:sp>
      <p:sp>
        <p:nvSpPr>
          <p:cNvPr id="48" name="Rectangle 47"/>
          <p:cNvSpPr/>
          <p:nvPr/>
        </p:nvSpPr>
        <p:spPr>
          <a:xfrm>
            <a:off x="22677120" y="1889709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_rounds.png"/>
          <p:cNvPicPr>
            <a:picLocks noChangeAspect="1"/>
          </p:cNvPicPr>
          <p:nvPr/>
        </p:nvPicPr>
        <p:blipFill>
          <a:blip r:embed="rId4"/>
          <a:stretch>
            <a:fillRect/>
          </a:stretch>
        </p:blipFill>
        <p:spPr>
          <a:xfrm>
            <a:off x="22677120" y="19226276"/>
            <a:ext cx="20482560" cy="4663440"/>
          </a:xfrm>
          <a:prstGeom prst="rect">
            <a:avLst/>
          </a:prstGeom>
        </p:spPr>
      </p:pic>
      <p:sp>
        <p:nvSpPr>
          <p:cNvPr id="50" name="TextBox 49"/>
          <p:cNvSpPr txBox="1"/>
          <p:nvPr/>
        </p:nvSpPr>
        <p:spPr>
          <a:xfrm>
            <a:off x="22677120" y="23999443"/>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56575"/>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1" name="TextBox 50"/>
          <p:cNvSpPr txBox="1"/>
          <p:nvPr/>
        </p:nvSpPr>
        <p:spPr>
          <a:xfrm>
            <a:off x="22677120" y="2507462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52" name="Rectangle 51"/>
          <p:cNvSpPr/>
          <p:nvPr/>
        </p:nvSpPr>
        <p:spPr>
          <a:xfrm>
            <a:off x="731520" y="30632400"/>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56575"/>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54" name="TextBox 5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56575"/>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55" name="TextBox 5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