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42428160" cy="365760"/>
          </a:xfrm>
          <a:prstGeom prst="rect">
            <a:avLst/>
          </a:prstGeom>
          <a:noFill/>
        </p:spPr>
        <p:txBody>
          <a:bodyPr wrap="square" lIns="0" rIns="0" tIns="0" bIns="0">
            <a:spAutoFit/>
          </a:bodyPr>
          <a:lstStyle/>
          <a:p>
            <a:pPr algn="l">
              <a:lnSpc>
                <a:spcPct val="95000"/>
              </a:lnSpc>
              <a:spcAft>
                <a:spcPts val="0"/>
              </a:spcAft>
            </a:pPr>
            <a:r>
              <a:rPr sz="10600" b="1">
                <a:solidFill>
                  <a:srgbClr val="1C2A22"/>
                </a:solidFill>
                <a:latin typeface="Arial Narrow"/>
              </a:rPr>
              <a:t>agentAI: A Research-Data Platform for Physical and Embodied Agents</a:t>
            </a:r>
          </a:p>
        </p:txBody>
      </p:sp>
      <p:sp>
        <p:nvSpPr>
          <p:cNvPr id="4" name="Rectangle 3"/>
          <p:cNvSpPr/>
          <p:nvPr/>
        </p:nvSpPr>
        <p:spPr>
          <a:xfrm>
            <a:off x="731520" y="2103120"/>
            <a:ext cx="41759124" cy="146304"/>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468880"/>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1C2A22"/>
                </a:solidFill>
                <a:latin typeface="Arial"/>
              </a:rPr>
              <a:t>Harry He   ·   Hongbo Zhang</a:t>
            </a:r>
          </a:p>
        </p:txBody>
      </p:sp>
      <p:sp>
        <p:nvSpPr>
          <p:cNvPr id="6" name="TextBox 5"/>
          <p:cNvSpPr txBox="1"/>
          <p:nvPr/>
        </p:nvSpPr>
        <p:spPr>
          <a:xfrm>
            <a:off x="731520" y="3108960"/>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5C6B62"/>
                </a:solidFill>
                <a:latin typeface="Arial"/>
              </a:rPr>
              <a:t>Department of Engineering Technology   ·   Middle Tennessee State University, Murfreesboro, TN, USA</a:t>
            </a: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600" b="0">
                <a:solidFill>
                  <a:srgbClr val="1C2A22"/>
                </a:solidFill>
                <a:latin typeface="Arial"/>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sp>
        <p:nvSpPr>
          <p:cNvPr id="8" name="Rectangle 7"/>
          <p:cNvSpPr/>
          <p:nvPr/>
        </p:nvSpPr>
        <p:spPr>
          <a:xfrm>
            <a:off x="731520" y="5879592"/>
            <a:ext cx="42428160" cy="23774"/>
          </a:xfrm>
          <a:prstGeom prst="rect">
            <a:avLst/>
          </a:prstGeom>
          <a:solidFill>
            <a:srgbClr val="C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80759"/>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B7A55"/>
                </a:solidFill>
                <a:latin typeface="Arial Narrow"/>
              </a:rPr>
              <a:t>2,686</a:t>
            </a:r>
          </a:p>
        </p:txBody>
      </p:sp>
      <p:sp>
        <p:nvSpPr>
          <p:cNvPr id="10" name="TextBox 9"/>
          <p:cNvSpPr txBox="1"/>
          <p:nvPr/>
        </p:nvSpPr>
        <p:spPr>
          <a:xfrm>
            <a:off x="731520" y="6806183"/>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C2A22"/>
                </a:solidFill>
                <a:latin typeface="Arial"/>
              </a:rPr>
              <a:t>camera frames</a:t>
            </a:r>
          </a:p>
        </p:txBody>
      </p:sp>
      <p:sp>
        <p:nvSpPr>
          <p:cNvPr id="11" name="TextBox 10"/>
          <p:cNvSpPr txBox="1"/>
          <p:nvPr/>
        </p:nvSpPr>
        <p:spPr>
          <a:xfrm>
            <a:off x="731520" y="7172451"/>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5C6B62"/>
                </a:solidFill>
                <a:latin typeface="Arial"/>
              </a:rPr>
              <a:t>26 drives, 2 robots, 0 labelled</a:t>
            </a:r>
          </a:p>
        </p:txBody>
      </p:sp>
      <p:sp>
        <p:nvSpPr>
          <p:cNvPr id="12" name="TextBox 11"/>
          <p:cNvSpPr txBox="1"/>
          <p:nvPr/>
        </p:nvSpPr>
        <p:spPr>
          <a:xfrm>
            <a:off x="9317736" y="6080759"/>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B7A55"/>
                </a:solidFill>
                <a:latin typeface="Arial Narrow"/>
              </a:rPr>
              <a:t>91,955</a:t>
            </a:r>
          </a:p>
        </p:txBody>
      </p:sp>
      <p:sp>
        <p:nvSpPr>
          <p:cNvPr id="13" name="TextBox 12"/>
          <p:cNvSpPr txBox="1"/>
          <p:nvPr/>
        </p:nvSpPr>
        <p:spPr>
          <a:xfrm>
            <a:off x="9317736" y="6806183"/>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C2A22"/>
                </a:solidFill>
                <a:latin typeface="Arial"/>
              </a:rPr>
              <a:t>telemetry rows</a:t>
            </a:r>
          </a:p>
        </p:txBody>
      </p:sp>
      <p:sp>
        <p:nvSpPr>
          <p:cNvPr id="14" name="TextBox 13"/>
          <p:cNvSpPr txBox="1"/>
          <p:nvPr/>
        </p:nvSpPr>
        <p:spPr>
          <a:xfrm>
            <a:off x="9317736" y="7172451"/>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5C6B62"/>
                </a:solidFill>
                <a:latin typeface="Arial"/>
              </a:rPr>
              <a:t>nine streams, counted line by line</a:t>
            </a:r>
          </a:p>
        </p:txBody>
      </p:sp>
      <p:sp>
        <p:nvSpPr>
          <p:cNvPr id="15" name="TextBox 14"/>
          <p:cNvSpPr txBox="1"/>
          <p:nvPr/>
        </p:nvSpPr>
        <p:spPr>
          <a:xfrm>
            <a:off x="17903952" y="6080759"/>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B7A55"/>
                </a:solidFill>
                <a:latin typeface="Arial Narrow"/>
              </a:rPr>
              <a:t>342 m</a:t>
            </a:r>
          </a:p>
        </p:txBody>
      </p:sp>
      <p:sp>
        <p:nvSpPr>
          <p:cNvPr id="16" name="TextBox 15"/>
          <p:cNvSpPr txBox="1"/>
          <p:nvPr/>
        </p:nvSpPr>
        <p:spPr>
          <a:xfrm>
            <a:off x="17903952" y="6806183"/>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C2A22"/>
                </a:solidFill>
                <a:latin typeface="Arial"/>
              </a:rPr>
              <a:t>of GPS track</a:t>
            </a:r>
          </a:p>
        </p:txBody>
      </p:sp>
      <p:sp>
        <p:nvSpPr>
          <p:cNvPr id="17" name="TextBox 16"/>
          <p:cNvSpPr txBox="1"/>
          <p:nvPr/>
        </p:nvSpPr>
        <p:spPr>
          <a:xfrm>
            <a:off x="17903952" y="7172451"/>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5C6B62"/>
                </a:solidFill>
                <a:latin typeface="Arial"/>
              </a:rPr>
              <a:t>1,502 fixes over 18 drives</a:t>
            </a:r>
          </a:p>
        </p:txBody>
      </p:sp>
      <p:sp>
        <p:nvSpPr>
          <p:cNvPr id="18" name="TextBox 17"/>
          <p:cNvSpPr txBox="1"/>
          <p:nvPr/>
        </p:nvSpPr>
        <p:spPr>
          <a:xfrm>
            <a:off x="26490168" y="6080759"/>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B7A55"/>
                </a:solidFill>
                <a:latin typeface="Arial Narrow"/>
              </a:rPr>
              <a:t>27</a:t>
            </a:r>
          </a:p>
        </p:txBody>
      </p:sp>
      <p:sp>
        <p:nvSpPr>
          <p:cNvPr id="19" name="TextBox 18"/>
          <p:cNvSpPr txBox="1"/>
          <p:nvPr/>
        </p:nvSpPr>
        <p:spPr>
          <a:xfrm>
            <a:off x="26490168" y="6806183"/>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C2A22"/>
                </a:solidFill>
                <a:latin typeface="Arial"/>
              </a:rPr>
              <a:t>distinct models run</a:t>
            </a:r>
          </a:p>
        </p:txBody>
      </p:sp>
      <p:sp>
        <p:nvSpPr>
          <p:cNvPr id="20" name="TextBox 19"/>
          <p:cNvSpPr txBox="1"/>
          <p:nvPr/>
        </p:nvSpPr>
        <p:spPr>
          <a:xfrm>
            <a:off x="26490168" y="7172451"/>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5C6B62"/>
                </a:solidFill>
                <a:latin typeface="Arial"/>
              </a:rPr>
              <a:t>four families, one deployed</a:t>
            </a:r>
          </a:p>
        </p:txBody>
      </p:sp>
      <p:sp>
        <p:nvSpPr>
          <p:cNvPr id="21" name="TextBox 20"/>
          <p:cNvSpPr txBox="1"/>
          <p:nvPr/>
        </p:nvSpPr>
        <p:spPr>
          <a:xfrm>
            <a:off x="35076384" y="6080759"/>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B7A55"/>
                </a:solidFill>
                <a:latin typeface="Arial Narrow"/>
              </a:rPr>
              <a:t>0</a:t>
            </a:r>
          </a:p>
        </p:txBody>
      </p:sp>
      <p:sp>
        <p:nvSpPr>
          <p:cNvPr id="22" name="TextBox 21"/>
          <p:cNvSpPr txBox="1"/>
          <p:nvPr/>
        </p:nvSpPr>
        <p:spPr>
          <a:xfrm>
            <a:off x="35076384" y="6806183"/>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C2A22"/>
                </a:solidFill>
                <a:latin typeface="Arial"/>
              </a:rPr>
              <a:t>robot frames labelled</a:t>
            </a:r>
          </a:p>
        </p:txBody>
      </p:sp>
      <p:sp>
        <p:nvSpPr>
          <p:cNvPr id="23" name="TextBox 22"/>
          <p:cNvSpPr txBox="1"/>
          <p:nvPr/>
        </p:nvSpPr>
        <p:spPr>
          <a:xfrm>
            <a:off x="35076384" y="7172451"/>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5C6B62"/>
                </a:solidFill>
                <a:latin typeface="Arial"/>
              </a:rPr>
              <a:t>the whole archive, so far</a:t>
            </a:r>
          </a:p>
        </p:txBody>
      </p:sp>
      <p:sp>
        <p:nvSpPr>
          <p:cNvPr id="24" name="Rectangle 23"/>
          <p:cNvSpPr/>
          <p:nvPr/>
        </p:nvSpPr>
        <p:spPr>
          <a:xfrm>
            <a:off x="731520" y="7545577"/>
            <a:ext cx="42428160" cy="23774"/>
          </a:xfrm>
          <a:prstGeom prst="rect">
            <a:avLst/>
          </a:prstGeom>
          <a:solidFill>
            <a:srgbClr val="C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8039353"/>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Arial Narrow"/>
              </a:rPr>
              <a:t>One platform for every robot the lab owns</a:t>
            </a:r>
          </a:p>
        </p:txBody>
      </p:sp>
      <p:sp>
        <p:nvSpPr>
          <p:cNvPr id="26" name="Rectangle 25"/>
          <p:cNvSpPr/>
          <p:nvPr/>
        </p:nvSpPr>
        <p:spPr>
          <a:xfrm>
            <a:off x="731520" y="8633713"/>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8962897"/>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28" name="TextBox 27"/>
          <p:cNvSpPr txBox="1"/>
          <p:nvPr/>
        </p:nvSpPr>
        <p:spPr>
          <a:xfrm>
            <a:off x="731520" y="11411965"/>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1B7A55"/>
                </a:solidFill>
                <a:latin typeface="Arial Narrow"/>
              </a:rPr>
              <a:t>1,389</a:t>
            </a:r>
          </a:p>
        </p:txBody>
      </p:sp>
      <p:sp>
        <p:nvSpPr>
          <p:cNvPr id="29" name="TextBox 28"/>
          <p:cNvSpPr txBox="1"/>
          <p:nvPr/>
        </p:nvSpPr>
        <p:spPr>
          <a:xfrm>
            <a:off x="731520" y="12215113"/>
            <a:ext cx="10607040" cy="365760"/>
          </a:xfrm>
          <a:prstGeom prst="rect">
            <a:avLst/>
          </a:prstGeom>
          <a:noFill/>
        </p:spPr>
        <p:txBody>
          <a:bodyPr wrap="square" lIns="0" rIns="0" tIns="0" bIns="0">
            <a:spAutoFit/>
          </a:bodyPr>
          <a:lstStyle/>
          <a:p>
            <a:pPr algn="l">
              <a:lnSpc>
                <a:spcPct val="122000"/>
              </a:lnSpc>
              <a:spcAft>
                <a:spcPts val="600"/>
              </a:spcAft>
            </a:pPr>
            <a:r>
              <a:rPr sz="1700" b="0">
                <a:solidFill>
                  <a:srgbClr val="5C6B62"/>
                </a:solidFill>
                <a:latin typeface="Arial"/>
              </a:rPr>
              <a:t>joystick commands through the platform</a:t>
            </a:r>
          </a:p>
        </p:txBody>
      </p:sp>
      <p:sp>
        <p:nvSpPr>
          <p:cNvPr id="30" name="TextBox 29"/>
          <p:cNvSpPr txBox="1"/>
          <p:nvPr/>
        </p:nvSpPr>
        <p:spPr>
          <a:xfrm>
            <a:off x="731520" y="12701015"/>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Arial Narrow"/>
              </a:rPr>
              <a:t>Driving a robot from a browser</a:t>
            </a:r>
          </a:p>
        </p:txBody>
      </p:sp>
      <p:sp>
        <p:nvSpPr>
          <p:cNvPr id="31" name="Rectangle 30"/>
          <p:cNvSpPr/>
          <p:nvPr/>
        </p:nvSpPr>
        <p:spPr>
          <a:xfrm>
            <a:off x="731520" y="13295376"/>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13624559"/>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33" name="TextBox 32"/>
          <p:cNvSpPr txBox="1"/>
          <p:nvPr/>
        </p:nvSpPr>
        <p:spPr>
          <a:xfrm>
            <a:off x="731520" y="16073628"/>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Arial Narrow"/>
              </a:rPr>
              <a:t>On disk today</a:t>
            </a:r>
          </a:p>
        </p:txBody>
      </p:sp>
      <p:sp>
        <p:nvSpPr>
          <p:cNvPr id="34" name="Rectangle 33"/>
          <p:cNvSpPr/>
          <p:nvPr/>
        </p:nvSpPr>
        <p:spPr>
          <a:xfrm>
            <a:off x="731520" y="16667987"/>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16997171"/>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Two robots have put 2,686 camera frames and 91,955 telemetry rows across nine streams onto the platform, over 26 drives, with 342 m of GPS track from 1,502 fixes. None of the frames is labelled.</a:t>
            </a:r>
          </a:p>
        </p:txBody>
      </p:sp>
      <p:sp>
        <p:nvSpPr>
          <p:cNvPr id="36" name="TextBox 35"/>
          <p:cNvSpPr txBox="1"/>
          <p:nvPr/>
        </p:nvSpPr>
        <p:spPr>
          <a:xfrm>
            <a:off x="731520" y="18764504"/>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1B7A55"/>
                </a:solidFill>
                <a:latin typeface="Arial Narrow"/>
              </a:rPr>
              <a:t>92</a:t>
            </a:r>
          </a:p>
        </p:txBody>
      </p:sp>
      <p:sp>
        <p:nvSpPr>
          <p:cNvPr id="37" name="TextBox 36"/>
          <p:cNvSpPr txBox="1"/>
          <p:nvPr/>
        </p:nvSpPr>
        <p:spPr>
          <a:xfrm>
            <a:off x="731520" y="19567652"/>
            <a:ext cx="10607040" cy="365760"/>
          </a:xfrm>
          <a:prstGeom prst="rect">
            <a:avLst/>
          </a:prstGeom>
          <a:noFill/>
        </p:spPr>
        <p:txBody>
          <a:bodyPr wrap="square" lIns="0" rIns="0" tIns="0" bIns="0">
            <a:spAutoFit/>
          </a:bodyPr>
          <a:lstStyle/>
          <a:p>
            <a:pPr algn="l">
              <a:lnSpc>
                <a:spcPct val="122000"/>
              </a:lnSpc>
              <a:spcAft>
                <a:spcPts val="600"/>
              </a:spcAft>
            </a:pPr>
            <a:r>
              <a:rPr sz="1700" b="0">
                <a:solidFill>
                  <a:srgbClr val="5C6B62"/>
                </a:solidFill>
                <a:latin typeface="Arial"/>
              </a:rPr>
              <a:t>questions asked of a dataset so far</a:t>
            </a:r>
          </a:p>
        </p:txBody>
      </p:sp>
      <p:sp>
        <p:nvSpPr>
          <p:cNvPr id="38" name="TextBox 37"/>
          <p:cNvSpPr txBox="1"/>
          <p:nvPr/>
        </p:nvSpPr>
        <p:spPr>
          <a:xfrm>
            <a:off x="731520" y="20053554"/>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Arial Narrow"/>
              </a:rPr>
              <a:t>Asked something it had never seen</a:t>
            </a:r>
          </a:p>
        </p:txBody>
      </p:sp>
      <p:sp>
        <p:nvSpPr>
          <p:cNvPr id="39" name="Rectangle 38"/>
          <p:cNvSpPr/>
          <p:nvPr/>
        </p:nvSpPr>
        <p:spPr>
          <a:xfrm>
            <a:off x="731520" y="20647913"/>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20977097"/>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41" name="TextBox 40"/>
          <p:cNvSpPr txBox="1"/>
          <p:nvPr/>
        </p:nvSpPr>
        <p:spPr>
          <a:xfrm>
            <a:off x="731520" y="23426166"/>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Arial Narrow"/>
              </a:rPr>
              <a:t>More web data, less accuracy</a:t>
            </a:r>
          </a:p>
        </p:txBody>
      </p:sp>
      <p:sp>
        <p:nvSpPr>
          <p:cNvPr id="42" name="Rectangle 41"/>
          <p:cNvSpPr/>
          <p:nvPr/>
        </p:nvSpPr>
        <p:spPr>
          <a:xfrm>
            <a:off x="731520" y="24020525"/>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24349709"/>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44" name="TextBox 43"/>
          <p:cNvSpPr txBox="1"/>
          <p:nvPr/>
        </p:nvSpPr>
        <p:spPr>
          <a:xfrm>
            <a:off x="731520" y="26457909"/>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Arial Narrow"/>
              </a:rPr>
              <a:t>Adding the next robot</a:t>
            </a:r>
          </a:p>
        </p:txBody>
      </p:sp>
      <p:sp>
        <p:nvSpPr>
          <p:cNvPr id="45" name="Rectangle 44"/>
          <p:cNvSpPr/>
          <p:nvPr/>
        </p:nvSpPr>
        <p:spPr>
          <a:xfrm>
            <a:off x="731520" y="27052269"/>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27381453"/>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A new robot needs a project, an API key and a session start. The ingest contract is the same for every vehicle: open a session, post sensor batches and frames while driving, stop. The platform does not care what the robot is. Empty projects for a mobile robot and a humanoid already sit on it, waiting for a first upload.</a:t>
            </a:r>
          </a:p>
        </p:txBody>
      </p:sp>
      <p:sp>
        <p:nvSpPr>
          <p:cNvPr id="47" name="TextBox 46"/>
          <p:cNvSpPr txBox="1"/>
          <p:nvPr/>
        </p:nvSpPr>
        <p:spPr>
          <a:xfrm>
            <a:off x="11704320" y="8039353"/>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Arial Narrow"/>
              </a:rPr>
              <a:t>Robots on the platform today</a:t>
            </a:r>
          </a:p>
        </p:txBody>
      </p:sp>
      <p:sp>
        <p:nvSpPr>
          <p:cNvPr id="48" name="Rectangle 47"/>
          <p:cNvSpPr/>
          <p:nvPr/>
        </p:nvSpPr>
        <p:spPr>
          <a:xfrm>
            <a:off x="11704320" y="8633713"/>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1704320" y="8962897"/>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Robot 241 is a tracked rover that drives crop rows and streams camera, GPS and two IMUs. The laser cart carries the weeder: a galvanometer laser, a down camera over the work zone and a forward camera. Ten projects sit on the platform and two of them have a robot reporting into them. Between those two vehicles, 2,686 frames in 26 drives.</a:t>
            </a:r>
          </a:p>
        </p:txBody>
      </p:sp>
      <p:sp>
        <p:nvSpPr>
          <p:cNvPr id="50" name="TextBox 49"/>
          <p:cNvSpPr txBox="1"/>
          <p:nvPr/>
        </p:nvSpPr>
        <p:spPr>
          <a:xfrm>
            <a:off x="11704320" y="10730229"/>
            <a:ext cx="20482560" cy="365760"/>
          </a:xfrm>
          <a:prstGeom prst="rect">
            <a:avLst/>
          </a:prstGeom>
          <a:noFill/>
        </p:spPr>
        <p:txBody>
          <a:bodyPr wrap="square" lIns="0" rIns="0" tIns="0" bIns="0">
            <a:spAutoFit/>
          </a:bodyPr>
          <a:lstStyle/>
          <a:p>
            <a:pPr algn="l">
              <a:lnSpc>
                <a:spcPct val="95000"/>
              </a:lnSpc>
              <a:spcAft>
                <a:spcPts val="0"/>
              </a:spcAft>
            </a:pPr>
            <a:r>
              <a:rPr sz="6200" b="1">
                <a:solidFill>
                  <a:srgbClr val="1B7A55"/>
                </a:solidFill>
                <a:latin typeface="Arial Narrow"/>
              </a:rPr>
              <a:t>14</a:t>
            </a:r>
          </a:p>
        </p:txBody>
      </p:sp>
      <p:sp>
        <p:nvSpPr>
          <p:cNvPr id="51" name="TextBox 50"/>
          <p:cNvSpPr txBox="1"/>
          <p:nvPr/>
        </p:nvSpPr>
        <p:spPr>
          <a:xfrm>
            <a:off x="11704320" y="11533377"/>
            <a:ext cx="20482560" cy="365760"/>
          </a:xfrm>
          <a:prstGeom prst="rect">
            <a:avLst/>
          </a:prstGeom>
          <a:noFill/>
        </p:spPr>
        <p:txBody>
          <a:bodyPr wrap="square" lIns="0" rIns="0" tIns="0" bIns="0">
            <a:spAutoFit/>
          </a:bodyPr>
          <a:lstStyle/>
          <a:p>
            <a:pPr algn="l">
              <a:lnSpc>
                <a:spcPct val="122000"/>
              </a:lnSpc>
              <a:spcAft>
                <a:spcPts val="600"/>
              </a:spcAft>
            </a:pPr>
            <a:r>
              <a:rPr sz="1700" b="0">
                <a:solidFill>
                  <a:srgbClr val="5C6B62"/>
                </a:solidFill>
                <a:latin typeface="Arial"/>
              </a:rPr>
              <a:t>analysis tools the planner can choose from</a:t>
            </a:r>
          </a:p>
        </p:txBody>
      </p:sp>
      <p:sp>
        <p:nvSpPr>
          <p:cNvPr id="52" name="TextBox 51"/>
          <p:cNvSpPr txBox="1"/>
          <p:nvPr/>
        </p:nvSpPr>
        <p:spPr>
          <a:xfrm>
            <a:off x="11704320" y="12019279"/>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Arial Narrow"/>
              </a:rPr>
              <a:t>Ask a dataset what it is good for</a:t>
            </a:r>
          </a:p>
        </p:txBody>
      </p:sp>
      <p:sp>
        <p:nvSpPr>
          <p:cNvPr id="53" name="Rectangle 52"/>
          <p:cNvSpPr/>
          <p:nvPr/>
        </p:nvSpPr>
        <p:spPr>
          <a:xfrm>
            <a:off x="11704320" y="12613639"/>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704320" y="12942823"/>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55" name="TextBox 54"/>
          <p:cNvSpPr txBox="1"/>
          <p:nvPr/>
        </p:nvSpPr>
        <p:spPr>
          <a:xfrm>
            <a:off x="11704320" y="14710155"/>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Arial Narrow"/>
              </a:rPr>
              <a:t>Left alone for fifteen rounds</a:t>
            </a:r>
          </a:p>
        </p:txBody>
      </p:sp>
      <p:sp>
        <p:nvSpPr>
          <p:cNvPr id="56" name="Rectangle 55"/>
          <p:cNvSpPr/>
          <p:nvPr/>
        </p:nvSpPr>
        <p:spPr>
          <a:xfrm>
            <a:off x="11704320" y="15304515"/>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f_rounds.png"/>
          <p:cNvPicPr>
            <a:picLocks noChangeAspect="1"/>
          </p:cNvPicPr>
          <p:nvPr/>
        </p:nvPicPr>
        <p:blipFill>
          <a:blip r:embed="rId2"/>
          <a:stretch>
            <a:fillRect/>
          </a:stretch>
        </p:blipFill>
        <p:spPr>
          <a:xfrm>
            <a:off x="11704320" y="15633699"/>
            <a:ext cx="20482560" cy="4663440"/>
          </a:xfrm>
          <a:prstGeom prst="rect">
            <a:avLst/>
          </a:prstGeom>
        </p:spPr>
      </p:pic>
      <p:sp>
        <p:nvSpPr>
          <p:cNvPr id="58" name="TextBox 57"/>
          <p:cNvSpPr txBox="1"/>
          <p:nvPr/>
        </p:nvSpPr>
        <p:spPr>
          <a:xfrm>
            <a:off x="11704320" y="20406867"/>
            <a:ext cx="20482560" cy="365760"/>
          </a:xfrm>
          <a:prstGeom prst="rect">
            <a:avLst/>
          </a:prstGeom>
          <a:noFill/>
        </p:spPr>
        <p:txBody>
          <a:bodyPr wrap="square" lIns="0" rIns="0" tIns="0" bIns="0">
            <a:spAutoFit/>
          </a:bodyPr>
          <a:lstStyle/>
          <a:p>
            <a:pPr algn="l">
              <a:lnSpc>
                <a:spcPct val="118000"/>
              </a:lnSpc>
              <a:spcAft>
                <a:spcPts val="0"/>
              </a:spcAft>
            </a:pPr>
            <a:r>
              <a:rPr sz="1700" b="0">
                <a:solidFill>
                  <a:srgbClr val="5C6B62"/>
                </a:solidFill>
                <a:latin typeface="Arial"/>
              </a:rPr>
              <a:t>Figure 1.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59" name="TextBox 58"/>
          <p:cNvSpPr txBox="1"/>
          <p:nvPr/>
        </p:nvSpPr>
        <p:spPr>
          <a:xfrm>
            <a:off x="11704320" y="21482049"/>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60" name="TextBox 59"/>
          <p:cNvSpPr txBox="1"/>
          <p:nvPr/>
        </p:nvSpPr>
        <p:spPr>
          <a:xfrm>
            <a:off x="32552640" y="8039353"/>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Arial Narrow"/>
              </a:rPr>
              <a:t>A drive becomes a dataset as it opens</a:t>
            </a:r>
          </a:p>
        </p:txBody>
      </p:sp>
      <p:sp>
        <p:nvSpPr>
          <p:cNvPr id="61" name="Rectangle 60"/>
          <p:cNvSpPr/>
          <p:nvPr/>
        </p:nvSpPr>
        <p:spPr>
          <a:xfrm>
            <a:off x="32552640" y="8633713"/>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2552640" y="8962897"/>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63" name="TextBox 62"/>
          <p:cNvSpPr txBox="1"/>
          <p:nvPr/>
        </p:nvSpPr>
        <p:spPr>
          <a:xfrm>
            <a:off x="32552640" y="11411965"/>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Arial Narrow"/>
              </a:rPr>
              <a:t>Four frames, as recorded</a:t>
            </a:r>
          </a:p>
        </p:txBody>
      </p:sp>
      <p:sp>
        <p:nvSpPr>
          <p:cNvPr id="64" name="Rectangle 63"/>
          <p:cNvSpPr/>
          <p:nvPr/>
        </p:nvSpPr>
        <p:spPr>
          <a:xfrm>
            <a:off x="32552640" y="12006325"/>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l_robots.png"/>
          <p:cNvPicPr>
            <a:picLocks noChangeAspect="1"/>
          </p:cNvPicPr>
          <p:nvPr/>
        </p:nvPicPr>
        <p:blipFill>
          <a:blip r:embed="rId3"/>
          <a:stretch>
            <a:fillRect/>
          </a:stretch>
        </p:blipFill>
        <p:spPr>
          <a:xfrm>
            <a:off x="32552640" y="12335509"/>
            <a:ext cx="10607040" cy="2377440"/>
          </a:xfrm>
          <a:prstGeom prst="rect">
            <a:avLst/>
          </a:prstGeom>
        </p:spPr>
      </p:pic>
      <p:sp>
        <p:nvSpPr>
          <p:cNvPr id="66" name="TextBox 65"/>
          <p:cNvSpPr txBox="1"/>
          <p:nvPr/>
        </p:nvSpPr>
        <p:spPr>
          <a:xfrm>
            <a:off x="32552640" y="14822677"/>
            <a:ext cx="10607040" cy="365760"/>
          </a:xfrm>
          <a:prstGeom prst="rect">
            <a:avLst/>
          </a:prstGeom>
          <a:noFill/>
        </p:spPr>
        <p:txBody>
          <a:bodyPr wrap="square" lIns="0" rIns="0" tIns="0" bIns="0">
            <a:spAutoFit/>
          </a:bodyPr>
          <a:lstStyle/>
          <a:p>
            <a:pPr algn="l">
              <a:lnSpc>
                <a:spcPct val="118000"/>
              </a:lnSpc>
              <a:spcAft>
                <a:spcPts val="0"/>
              </a:spcAft>
            </a:pPr>
            <a:r>
              <a:rPr sz="1700" b="0">
                <a:solidFill>
                  <a:srgbClr val="5C6B62"/>
                </a:solidFill>
                <a:latin typeface="Arial"/>
              </a:rPr>
              <a:t>Figure 2.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67" name="TextBox 66"/>
          <p:cNvSpPr txBox="1"/>
          <p:nvPr/>
        </p:nvSpPr>
        <p:spPr>
          <a:xfrm>
            <a:off x="32552640" y="16152621"/>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Nothing here is enhanced and nothing is labelled. The rectangle in the cart's down camera is a fixed work-zone overlay: it sits at the same pixels on frames with no vegetation in them at all.</a:t>
            </a:r>
          </a:p>
        </p:txBody>
      </p:sp>
      <p:sp>
        <p:nvSpPr>
          <p:cNvPr id="68" name="TextBox 67"/>
          <p:cNvSpPr txBox="1"/>
          <p:nvPr/>
        </p:nvSpPr>
        <p:spPr>
          <a:xfrm>
            <a:off x="32552640" y="17919954"/>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Arial Narrow"/>
              </a:rPr>
              <a:t>Only one robot has the button</a:t>
            </a:r>
          </a:p>
        </p:txBody>
      </p:sp>
      <p:sp>
        <p:nvSpPr>
          <p:cNvPr id="69" name="Rectangle 68"/>
          <p:cNvSpPr/>
          <p:nvPr/>
        </p:nvSpPr>
        <p:spPr>
          <a:xfrm>
            <a:off x="32552640" y="18514314"/>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2552640" y="18843498"/>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71" name="TextBox 70"/>
          <p:cNvSpPr txBox="1"/>
          <p:nvPr/>
        </p:nvSpPr>
        <p:spPr>
          <a:xfrm>
            <a:off x="32552640" y="20951698"/>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Arial Narrow"/>
              </a:rPr>
              <a:t>Which decisions a model makes</a:t>
            </a:r>
          </a:p>
        </p:txBody>
      </p:sp>
      <p:sp>
        <p:nvSpPr>
          <p:cNvPr id="72" name="Rectangle 71"/>
          <p:cNvSpPr/>
          <p:nvPr/>
        </p:nvSpPr>
        <p:spPr>
          <a:xfrm>
            <a:off x="32552640" y="21546058"/>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2552640" y="21875241"/>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74" name="TextBox 73"/>
          <p:cNvSpPr txBox="1"/>
          <p:nvPr/>
        </p:nvSpPr>
        <p:spPr>
          <a:xfrm>
            <a:off x="32552640" y="24324310"/>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Arial Narrow"/>
              </a:rPr>
              <a:t>Any research field is a project</a:t>
            </a:r>
          </a:p>
        </p:txBody>
      </p:sp>
      <p:sp>
        <p:nvSpPr>
          <p:cNvPr id="75" name="Rectangle 74"/>
          <p:cNvSpPr/>
          <p:nvPr/>
        </p:nvSpPr>
        <p:spPr>
          <a:xfrm>
            <a:off x="32552640" y="24918669"/>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2552640" y="25247853"/>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A lab member opens a project for any data type and any field, uploads images, video or sensor logs, and gets an automatic diagnosis before choosing what to do next. Weed detection is one project on this platform. The 241 rover, the laser cart and a Unitree humanoid each have their own.</a:t>
            </a:r>
          </a:p>
        </p:txBody>
      </p:sp>
      <p:sp>
        <p:nvSpPr>
          <p:cNvPr id="77" name="Rectangle 76"/>
          <p:cNvSpPr/>
          <p:nvPr/>
        </p:nvSpPr>
        <p:spPr>
          <a:xfrm>
            <a:off x="731520" y="30632400"/>
            <a:ext cx="42428160" cy="20116"/>
          </a:xfrm>
          <a:prstGeom prst="rect">
            <a:avLst/>
          </a:prstGeom>
          <a:solidFill>
            <a:srgbClr val="C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5C6B62"/>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79" name="TextBox 78"/>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5C6B62"/>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80" name="TextBox 79"/>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5C6B62"/>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