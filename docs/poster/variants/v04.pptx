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10600" b="1">
                <a:solidFill>
                  <a:srgbClr val="1C2A22"/>
                </a:solidFill>
                <a:latin typeface="Arial Narrow"/>
              </a:rPr>
              <a:t>agentAI: A Research-Data Platform for Physical and Embodied Agents</a:t>
            </a:r>
          </a:p>
        </p:txBody>
      </p:sp>
      <p:sp>
        <p:nvSpPr>
          <p:cNvPr id="4" name="Rectangle 3"/>
          <p:cNvSpPr/>
          <p:nvPr/>
        </p:nvSpPr>
        <p:spPr>
          <a:xfrm>
            <a:off x="731520" y="2103120"/>
            <a:ext cx="41759124" cy="146304"/>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C2A22"/>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C6B62"/>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C2A22"/>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79592"/>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2,686</a:t>
            </a:r>
          </a:p>
        </p:txBody>
      </p:sp>
      <p:sp>
        <p:nvSpPr>
          <p:cNvPr id="10" name="TextBox 9"/>
          <p:cNvSpPr txBox="1"/>
          <p:nvPr/>
        </p:nvSpPr>
        <p:spPr>
          <a:xfrm>
            <a:off x="731520"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camera frames</a:t>
            </a:r>
          </a:p>
        </p:txBody>
      </p:sp>
      <p:sp>
        <p:nvSpPr>
          <p:cNvPr id="11" name="TextBox 10"/>
          <p:cNvSpPr txBox="1"/>
          <p:nvPr/>
        </p:nvSpPr>
        <p:spPr>
          <a:xfrm>
            <a:off x="731520"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26 drives, 2 robots, 0 labelled</a:t>
            </a:r>
          </a:p>
        </p:txBody>
      </p:sp>
      <p:sp>
        <p:nvSpPr>
          <p:cNvPr id="12" name="TextBox 11"/>
          <p:cNvSpPr txBox="1"/>
          <p:nvPr/>
        </p:nvSpPr>
        <p:spPr>
          <a:xfrm>
            <a:off x="9317736"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91,955</a:t>
            </a:r>
          </a:p>
        </p:txBody>
      </p:sp>
      <p:sp>
        <p:nvSpPr>
          <p:cNvPr id="13" name="TextBox 12"/>
          <p:cNvSpPr txBox="1"/>
          <p:nvPr/>
        </p:nvSpPr>
        <p:spPr>
          <a:xfrm>
            <a:off x="9317736"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telemetry rows</a:t>
            </a:r>
          </a:p>
        </p:txBody>
      </p:sp>
      <p:sp>
        <p:nvSpPr>
          <p:cNvPr id="14" name="TextBox 13"/>
          <p:cNvSpPr txBox="1"/>
          <p:nvPr/>
        </p:nvSpPr>
        <p:spPr>
          <a:xfrm>
            <a:off x="9317736"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nine streams, counted line by line</a:t>
            </a:r>
          </a:p>
        </p:txBody>
      </p:sp>
      <p:sp>
        <p:nvSpPr>
          <p:cNvPr id="15" name="TextBox 14"/>
          <p:cNvSpPr txBox="1"/>
          <p:nvPr/>
        </p:nvSpPr>
        <p:spPr>
          <a:xfrm>
            <a:off x="17903952"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342 m</a:t>
            </a:r>
          </a:p>
        </p:txBody>
      </p:sp>
      <p:sp>
        <p:nvSpPr>
          <p:cNvPr id="16" name="TextBox 15"/>
          <p:cNvSpPr txBox="1"/>
          <p:nvPr/>
        </p:nvSpPr>
        <p:spPr>
          <a:xfrm>
            <a:off x="17903952"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of GPS track</a:t>
            </a:r>
          </a:p>
        </p:txBody>
      </p:sp>
      <p:sp>
        <p:nvSpPr>
          <p:cNvPr id="17" name="TextBox 16"/>
          <p:cNvSpPr txBox="1"/>
          <p:nvPr/>
        </p:nvSpPr>
        <p:spPr>
          <a:xfrm>
            <a:off x="17903952"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1,502 fixes over 18 drives</a:t>
            </a:r>
          </a:p>
        </p:txBody>
      </p:sp>
      <p:sp>
        <p:nvSpPr>
          <p:cNvPr id="18" name="TextBox 17"/>
          <p:cNvSpPr txBox="1"/>
          <p:nvPr/>
        </p:nvSpPr>
        <p:spPr>
          <a:xfrm>
            <a:off x="26490168"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27</a:t>
            </a:r>
          </a:p>
        </p:txBody>
      </p:sp>
      <p:sp>
        <p:nvSpPr>
          <p:cNvPr id="19" name="TextBox 18"/>
          <p:cNvSpPr txBox="1"/>
          <p:nvPr/>
        </p:nvSpPr>
        <p:spPr>
          <a:xfrm>
            <a:off x="26490168"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distinct models run</a:t>
            </a:r>
          </a:p>
        </p:txBody>
      </p:sp>
      <p:sp>
        <p:nvSpPr>
          <p:cNvPr id="20" name="TextBox 19"/>
          <p:cNvSpPr txBox="1"/>
          <p:nvPr/>
        </p:nvSpPr>
        <p:spPr>
          <a:xfrm>
            <a:off x="26490168"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four families, one deployed</a:t>
            </a:r>
          </a:p>
        </p:txBody>
      </p:sp>
      <p:sp>
        <p:nvSpPr>
          <p:cNvPr id="21" name="TextBox 20"/>
          <p:cNvSpPr txBox="1"/>
          <p:nvPr/>
        </p:nvSpPr>
        <p:spPr>
          <a:xfrm>
            <a:off x="35076384" y="6080759"/>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B7A55"/>
                </a:solidFill>
                <a:latin typeface="Arial Narrow"/>
              </a:rPr>
              <a:t>0</a:t>
            </a:r>
          </a:p>
        </p:txBody>
      </p:sp>
      <p:sp>
        <p:nvSpPr>
          <p:cNvPr id="22" name="TextBox 21"/>
          <p:cNvSpPr txBox="1"/>
          <p:nvPr/>
        </p:nvSpPr>
        <p:spPr>
          <a:xfrm>
            <a:off x="35076384" y="6806183"/>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C2A22"/>
                </a:solidFill>
                <a:latin typeface="Arial"/>
              </a:rPr>
              <a:t>robot frames labelled</a:t>
            </a:r>
          </a:p>
        </p:txBody>
      </p:sp>
      <p:sp>
        <p:nvSpPr>
          <p:cNvPr id="23" name="TextBox 22"/>
          <p:cNvSpPr txBox="1"/>
          <p:nvPr/>
        </p:nvSpPr>
        <p:spPr>
          <a:xfrm>
            <a:off x="35076384" y="7172451"/>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C6B62"/>
                </a:solidFill>
                <a:latin typeface="Arial"/>
              </a:rPr>
              <a:t>the whole archive, so far</a:t>
            </a:r>
          </a:p>
        </p:txBody>
      </p:sp>
      <p:sp>
        <p:nvSpPr>
          <p:cNvPr id="24" name="Rectangle 23"/>
          <p:cNvSpPr/>
          <p:nvPr/>
        </p:nvSpPr>
        <p:spPr>
          <a:xfrm>
            <a:off x="731520" y="7545577"/>
            <a:ext cx="42428160" cy="23774"/>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039353"/>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One platform for every robot the lab owns</a:t>
            </a:r>
          </a:p>
        </p:txBody>
      </p:sp>
      <p:sp>
        <p:nvSpPr>
          <p:cNvPr id="26" name="Rectangle 25"/>
          <p:cNvSpPr/>
          <p:nvPr/>
        </p:nvSpPr>
        <p:spPr>
          <a:xfrm>
            <a:off x="731520" y="863371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96289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1411965"/>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Driving a robot from a browser</a:t>
            </a:r>
          </a:p>
        </p:txBody>
      </p:sp>
      <p:sp>
        <p:nvSpPr>
          <p:cNvPr id="29" name="Rectangle 28"/>
          <p:cNvSpPr/>
          <p:nvPr/>
        </p:nvSpPr>
        <p:spPr>
          <a:xfrm>
            <a:off x="731520" y="12006325"/>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233550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1" name="TextBox 30"/>
          <p:cNvSpPr txBox="1"/>
          <p:nvPr/>
        </p:nvSpPr>
        <p:spPr>
          <a:xfrm>
            <a:off x="731520" y="14784577"/>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On disk today</a:t>
            </a:r>
          </a:p>
        </p:txBody>
      </p:sp>
      <p:sp>
        <p:nvSpPr>
          <p:cNvPr id="32" name="Rectangle 31"/>
          <p:cNvSpPr/>
          <p:nvPr/>
        </p:nvSpPr>
        <p:spPr>
          <a:xfrm>
            <a:off x="731520" y="15378937"/>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1570812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34" name="TextBox 33"/>
          <p:cNvSpPr txBox="1"/>
          <p:nvPr/>
        </p:nvSpPr>
        <p:spPr>
          <a:xfrm>
            <a:off x="731520" y="17475453"/>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Asked something it had never seen</a:t>
            </a:r>
          </a:p>
        </p:txBody>
      </p:sp>
      <p:sp>
        <p:nvSpPr>
          <p:cNvPr id="35" name="Rectangle 34"/>
          <p:cNvSpPr/>
          <p:nvPr/>
        </p:nvSpPr>
        <p:spPr>
          <a:xfrm>
            <a:off x="731520" y="1806981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839899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7" name="TextBox 36"/>
          <p:cNvSpPr txBox="1"/>
          <p:nvPr/>
        </p:nvSpPr>
        <p:spPr>
          <a:xfrm>
            <a:off x="731520" y="20848065"/>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More web data, less accuracy</a:t>
            </a:r>
          </a:p>
        </p:txBody>
      </p:sp>
      <p:sp>
        <p:nvSpPr>
          <p:cNvPr id="38" name="Rectangle 37"/>
          <p:cNvSpPr/>
          <p:nvPr/>
        </p:nvSpPr>
        <p:spPr>
          <a:xfrm>
            <a:off x="731520" y="21442425"/>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2177160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0" name="TextBox 39"/>
          <p:cNvSpPr txBox="1"/>
          <p:nvPr/>
        </p:nvSpPr>
        <p:spPr>
          <a:xfrm>
            <a:off x="731520" y="23879809"/>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Adding the next robot</a:t>
            </a:r>
          </a:p>
        </p:txBody>
      </p:sp>
      <p:sp>
        <p:nvSpPr>
          <p:cNvPr id="41" name="Rectangle 40"/>
          <p:cNvSpPr/>
          <p:nvPr/>
        </p:nvSpPr>
        <p:spPr>
          <a:xfrm>
            <a:off x="731520" y="24474169"/>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2480335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43" name="TextBox 42"/>
          <p:cNvSpPr txBox="1"/>
          <p:nvPr/>
        </p:nvSpPr>
        <p:spPr>
          <a:xfrm>
            <a:off x="731520" y="27252421"/>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Code the agent writes runs fenced in</a:t>
            </a:r>
          </a:p>
        </p:txBody>
      </p:sp>
      <p:sp>
        <p:nvSpPr>
          <p:cNvPr id="44" name="Rectangle 43"/>
          <p:cNvSpPr/>
          <p:nvPr/>
        </p:nvSpPr>
        <p:spPr>
          <a:xfrm>
            <a:off x="731520" y="27846781"/>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2817596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46" name="TextBox 45"/>
          <p:cNvSpPr txBox="1"/>
          <p:nvPr/>
        </p:nvSpPr>
        <p:spPr>
          <a:xfrm>
            <a:off x="11704320" y="8039353"/>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Robots on the platform today</a:t>
            </a:r>
          </a:p>
        </p:txBody>
      </p:sp>
      <p:sp>
        <p:nvSpPr>
          <p:cNvPr id="47" name="Rectangle 46"/>
          <p:cNvSpPr/>
          <p:nvPr/>
        </p:nvSpPr>
        <p:spPr>
          <a:xfrm>
            <a:off x="11704320" y="8633713"/>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704320" y="8962897"/>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9" name="TextBox 48"/>
          <p:cNvSpPr txBox="1"/>
          <p:nvPr/>
        </p:nvSpPr>
        <p:spPr>
          <a:xfrm>
            <a:off x="11704320" y="10730229"/>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Ask a dataset what it is good for</a:t>
            </a:r>
          </a:p>
        </p:txBody>
      </p:sp>
      <p:sp>
        <p:nvSpPr>
          <p:cNvPr id="50" name="Rectangle 49"/>
          <p:cNvSpPr/>
          <p:nvPr/>
        </p:nvSpPr>
        <p:spPr>
          <a:xfrm>
            <a:off x="11704320" y="11324589"/>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704320" y="1165377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2" name="TextBox 51"/>
          <p:cNvSpPr txBox="1"/>
          <p:nvPr/>
        </p:nvSpPr>
        <p:spPr>
          <a:xfrm>
            <a:off x="11704320" y="13421105"/>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Left alone for fifteen rounds</a:t>
            </a:r>
          </a:p>
        </p:txBody>
      </p:sp>
      <p:sp>
        <p:nvSpPr>
          <p:cNvPr id="53" name="Rectangle 52"/>
          <p:cNvSpPr/>
          <p:nvPr/>
        </p:nvSpPr>
        <p:spPr>
          <a:xfrm>
            <a:off x="11704320" y="14015465"/>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f_rounds.png"/>
          <p:cNvPicPr>
            <a:picLocks noChangeAspect="1"/>
          </p:cNvPicPr>
          <p:nvPr/>
        </p:nvPicPr>
        <p:blipFill>
          <a:blip r:embed="rId2"/>
          <a:stretch>
            <a:fillRect/>
          </a:stretch>
        </p:blipFill>
        <p:spPr>
          <a:xfrm>
            <a:off x="11704320" y="14344649"/>
            <a:ext cx="20482560" cy="4663440"/>
          </a:xfrm>
          <a:prstGeom prst="rect">
            <a:avLst/>
          </a:prstGeom>
        </p:spPr>
      </p:pic>
      <p:sp>
        <p:nvSpPr>
          <p:cNvPr id="55" name="TextBox 54"/>
          <p:cNvSpPr txBox="1"/>
          <p:nvPr/>
        </p:nvSpPr>
        <p:spPr>
          <a:xfrm>
            <a:off x="11704320" y="19117817"/>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56" name="TextBox 55"/>
          <p:cNvSpPr txBox="1"/>
          <p:nvPr/>
        </p:nvSpPr>
        <p:spPr>
          <a:xfrm>
            <a:off x="11704320" y="20192999"/>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7" name="TextBox 56"/>
          <p:cNvSpPr txBox="1"/>
          <p:nvPr/>
        </p:nvSpPr>
        <p:spPr>
          <a:xfrm>
            <a:off x="11704320" y="21960331"/>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Everything we trained, ran, or rejected</a:t>
            </a:r>
          </a:p>
        </p:txBody>
      </p:sp>
      <p:sp>
        <p:nvSpPr>
          <p:cNvPr id="58" name="Rectangle 57"/>
          <p:cNvSpPr/>
          <p:nvPr/>
        </p:nvSpPr>
        <p:spPr>
          <a:xfrm>
            <a:off x="11704320" y="22554691"/>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m_ledger.png"/>
          <p:cNvPicPr>
            <a:picLocks noChangeAspect="1"/>
          </p:cNvPicPr>
          <p:nvPr/>
        </p:nvPicPr>
        <p:blipFill>
          <a:blip r:embed="rId3"/>
          <a:stretch>
            <a:fillRect/>
          </a:stretch>
        </p:blipFill>
        <p:spPr>
          <a:xfrm>
            <a:off x="11704320" y="22883875"/>
            <a:ext cx="20482560" cy="3749040"/>
          </a:xfrm>
          <a:prstGeom prst="rect">
            <a:avLst/>
          </a:prstGeom>
        </p:spPr>
      </p:pic>
      <p:sp>
        <p:nvSpPr>
          <p:cNvPr id="60" name="TextBox 59"/>
          <p:cNvSpPr txBox="1"/>
          <p:nvPr/>
        </p:nvSpPr>
        <p:spPr>
          <a:xfrm>
            <a:off x="11704320" y="26742643"/>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2.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1" name="TextBox 60"/>
          <p:cNvSpPr txBox="1"/>
          <p:nvPr/>
        </p:nvSpPr>
        <p:spPr>
          <a:xfrm>
            <a:off x="11704320" y="2781782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62" name="TextBox 61"/>
          <p:cNvSpPr txBox="1"/>
          <p:nvPr/>
        </p:nvSpPr>
        <p:spPr>
          <a:xfrm>
            <a:off x="32552640" y="8039353"/>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A drive becomes a dataset as it opens</a:t>
            </a:r>
          </a:p>
        </p:txBody>
      </p:sp>
      <p:sp>
        <p:nvSpPr>
          <p:cNvPr id="63" name="Rectangle 62"/>
          <p:cNvSpPr/>
          <p:nvPr/>
        </p:nvSpPr>
        <p:spPr>
          <a:xfrm>
            <a:off x="32552640" y="863371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552640" y="896289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65" name="TextBox 64"/>
          <p:cNvSpPr txBox="1"/>
          <p:nvPr/>
        </p:nvSpPr>
        <p:spPr>
          <a:xfrm>
            <a:off x="32552640" y="11411965"/>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Four frames, as recorded</a:t>
            </a:r>
          </a:p>
        </p:txBody>
      </p:sp>
      <p:sp>
        <p:nvSpPr>
          <p:cNvPr id="66" name="Rectangle 65"/>
          <p:cNvSpPr/>
          <p:nvPr/>
        </p:nvSpPr>
        <p:spPr>
          <a:xfrm>
            <a:off x="32552640" y="12006325"/>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l_robots.png"/>
          <p:cNvPicPr>
            <a:picLocks noChangeAspect="1"/>
          </p:cNvPicPr>
          <p:nvPr/>
        </p:nvPicPr>
        <p:blipFill>
          <a:blip r:embed="rId4"/>
          <a:stretch>
            <a:fillRect/>
          </a:stretch>
        </p:blipFill>
        <p:spPr>
          <a:xfrm>
            <a:off x="32552640" y="12335509"/>
            <a:ext cx="10607040" cy="2377440"/>
          </a:xfrm>
          <a:prstGeom prst="rect">
            <a:avLst/>
          </a:prstGeom>
        </p:spPr>
      </p:pic>
      <p:sp>
        <p:nvSpPr>
          <p:cNvPr id="68" name="TextBox 67"/>
          <p:cNvSpPr txBox="1"/>
          <p:nvPr/>
        </p:nvSpPr>
        <p:spPr>
          <a:xfrm>
            <a:off x="32552640" y="14822677"/>
            <a:ext cx="10607040" cy="365760"/>
          </a:xfrm>
          <a:prstGeom prst="rect">
            <a:avLst/>
          </a:prstGeom>
          <a:noFill/>
        </p:spPr>
        <p:txBody>
          <a:bodyPr wrap="square" lIns="0" rIns="0" tIns="0" bIns="0">
            <a:spAutoFit/>
          </a:bodyPr>
          <a:lstStyle/>
          <a:p>
            <a:pPr algn="l">
              <a:lnSpc>
                <a:spcPct val="118000"/>
              </a:lnSpc>
              <a:spcAft>
                <a:spcPts val="0"/>
              </a:spcAft>
            </a:pPr>
            <a:r>
              <a:rPr sz="1700" b="0">
                <a:solidFill>
                  <a:srgbClr val="5C6B62"/>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9" name="TextBox 68"/>
          <p:cNvSpPr txBox="1"/>
          <p:nvPr/>
        </p:nvSpPr>
        <p:spPr>
          <a:xfrm>
            <a:off x="32552640" y="1615262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Nothing here is enhanced and nothing is labelled. The rectangle in the cart's down camera is a fixed work-zone overlay: it sits at the same pixels on frames with no vegetation in them at all.</a:t>
            </a:r>
          </a:p>
        </p:txBody>
      </p:sp>
      <p:sp>
        <p:nvSpPr>
          <p:cNvPr id="70" name="TextBox 69"/>
          <p:cNvSpPr txBox="1"/>
          <p:nvPr/>
        </p:nvSpPr>
        <p:spPr>
          <a:xfrm>
            <a:off x="32552640" y="1791995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Only one robot has the button</a:t>
            </a:r>
          </a:p>
        </p:txBody>
      </p:sp>
      <p:sp>
        <p:nvSpPr>
          <p:cNvPr id="71" name="Rectangle 70"/>
          <p:cNvSpPr/>
          <p:nvPr/>
        </p:nvSpPr>
        <p:spPr>
          <a:xfrm>
            <a:off x="32552640" y="18514314"/>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552640" y="1884349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3" name="TextBox 72"/>
          <p:cNvSpPr txBox="1"/>
          <p:nvPr/>
        </p:nvSpPr>
        <p:spPr>
          <a:xfrm>
            <a:off x="32552640" y="2095169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Which decisions a model makes</a:t>
            </a:r>
          </a:p>
        </p:txBody>
      </p:sp>
      <p:sp>
        <p:nvSpPr>
          <p:cNvPr id="74" name="Rectangle 73"/>
          <p:cNvSpPr/>
          <p:nvPr/>
        </p:nvSpPr>
        <p:spPr>
          <a:xfrm>
            <a:off x="32552640" y="21546058"/>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2187524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6" name="TextBox 75"/>
          <p:cNvSpPr txBox="1"/>
          <p:nvPr/>
        </p:nvSpPr>
        <p:spPr>
          <a:xfrm>
            <a:off x="32552640" y="2432431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Arial Narrow"/>
              </a:rPr>
              <a:t>Any research field is a project</a:t>
            </a:r>
          </a:p>
        </p:txBody>
      </p:sp>
      <p:sp>
        <p:nvSpPr>
          <p:cNvPr id="77" name="Rectangle 76"/>
          <p:cNvSpPr/>
          <p:nvPr/>
        </p:nvSpPr>
        <p:spPr>
          <a:xfrm>
            <a:off x="32552640" y="24918669"/>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2552640" y="2524785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79" name="Rectangle 78"/>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81" name="TextBox 80"/>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82" name="TextBox 81"/>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