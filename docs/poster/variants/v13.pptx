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9200" b="1">
                <a:solidFill>
                  <a:srgbClr val="1E293B"/>
                </a:solidFill>
                <a:latin typeface="Arial"/>
              </a:rPr>
              <a:t>agentAI: A Research-Data Platform for Physical and Embodied Agents</a:t>
            </a:r>
          </a:p>
        </p:txBody>
      </p:sp>
      <p:sp>
        <p:nvSpPr>
          <p:cNvPr id="4" name="Rectangle 3"/>
          <p:cNvSpPr/>
          <p:nvPr/>
        </p:nvSpPr>
        <p:spPr>
          <a:xfrm>
            <a:off x="731520" y="2103120"/>
            <a:ext cx="42412920" cy="146304"/>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4688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1E293B"/>
                </a:solidFill>
                <a:latin typeface="Arial"/>
              </a:rPr>
              <a:t>Harry He   ·   Hongbo Zhang</a:t>
            </a:r>
          </a:p>
        </p:txBody>
      </p:sp>
      <p:sp>
        <p:nvSpPr>
          <p:cNvPr id="6" name="TextBox 5"/>
          <p:cNvSpPr txBox="1"/>
          <p:nvPr/>
        </p:nvSpPr>
        <p:spPr>
          <a:xfrm>
            <a:off x="731520" y="31089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556575"/>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E293B"/>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n_system.png"/>
          <p:cNvPicPr>
            <a:picLocks noChangeAspect="1"/>
          </p:cNvPicPr>
          <p:nvPr/>
        </p:nvPicPr>
        <p:blipFill>
          <a:blip r:embed="rId2"/>
          <a:stretch>
            <a:fillRect/>
          </a:stretch>
        </p:blipFill>
        <p:spPr>
          <a:xfrm>
            <a:off x="731520" y="5820663"/>
            <a:ext cx="20482560" cy="3383280"/>
          </a:xfrm>
          <a:prstGeom prst="rect">
            <a:avLst/>
          </a:prstGeom>
        </p:spPr>
      </p:pic>
      <p:sp>
        <p:nvSpPr>
          <p:cNvPr id="9" name="TextBox 8"/>
          <p:cNvSpPr txBox="1"/>
          <p:nvPr/>
        </p:nvSpPr>
        <p:spPr>
          <a:xfrm>
            <a:off x="731520" y="9313671"/>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1.  The path as built, from a camera in a crop row to a checkpoint on the cluster. Every stage has run. Three qualifications ride on it. The collector and trainer are paused after a stop-loss on 2026-08-29. The supervisor is advisory and nothing it says is applied. And the last link is not closed: no robot frame has entered training, because none of them is labelled yet.</a:t>
            </a:r>
          </a:p>
        </p:txBody>
      </p:sp>
      <p:sp>
        <p:nvSpPr>
          <p:cNvPr id="10" name="TextBox 9"/>
          <p:cNvSpPr txBox="1"/>
          <p:nvPr/>
        </p:nvSpPr>
        <p:spPr>
          <a:xfrm>
            <a:off x="731520" y="1043330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One platform for every robot the lab owns</a:t>
            </a:r>
          </a:p>
        </p:txBody>
      </p:sp>
      <p:sp>
        <p:nvSpPr>
          <p:cNvPr id="11" name="Rectangle 10"/>
          <p:cNvSpPr/>
          <p:nvPr/>
        </p:nvSpPr>
        <p:spPr>
          <a:xfrm>
            <a:off x="731520" y="10994643"/>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132382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13" name="TextBox 12"/>
          <p:cNvSpPr txBox="1"/>
          <p:nvPr/>
        </p:nvSpPr>
        <p:spPr>
          <a:xfrm>
            <a:off x="731520" y="12815315"/>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1,389</a:t>
            </a:r>
          </a:p>
        </p:txBody>
      </p:sp>
      <p:sp>
        <p:nvSpPr>
          <p:cNvPr id="14" name="TextBox 13"/>
          <p:cNvSpPr txBox="1"/>
          <p:nvPr/>
        </p:nvSpPr>
        <p:spPr>
          <a:xfrm>
            <a:off x="731520" y="13618463"/>
            <a:ext cx="2048256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joystick commands through the platform</a:t>
            </a:r>
          </a:p>
        </p:txBody>
      </p:sp>
      <p:sp>
        <p:nvSpPr>
          <p:cNvPr id="15" name="TextBox 14"/>
          <p:cNvSpPr txBox="1"/>
          <p:nvPr/>
        </p:nvSpPr>
        <p:spPr>
          <a:xfrm>
            <a:off x="731520" y="14088871"/>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Driving a robot from a browser</a:t>
            </a:r>
          </a:p>
        </p:txBody>
      </p:sp>
      <p:sp>
        <p:nvSpPr>
          <p:cNvPr id="16" name="Rectangle 15"/>
          <p:cNvSpPr/>
          <p:nvPr/>
        </p:nvSpPr>
        <p:spPr>
          <a:xfrm>
            <a:off x="731520" y="14650211"/>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14979395"/>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18" name="TextBox 17"/>
          <p:cNvSpPr txBox="1"/>
          <p:nvPr/>
        </p:nvSpPr>
        <p:spPr>
          <a:xfrm>
            <a:off x="731520" y="16470884"/>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Left alone for fifteen rounds</a:t>
            </a:r>
          </a:p>
        </p:txBody>
      </p:sp>
      <p:sp>
        <p:nvSpPr>
          <p:cNvPr id="19" name="Rectangle 18"/>
          <p:cNvSpPr/>
          <p:nvPr/>
        </p:nvSpPr>
        <p:spPr>
          <a:xfrm>
            <a:off x="731520" y="17032224"/>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f_rounds.png"/>
          <p:cNvPicPr>
            <a:picLocks noChangeAspect="1"/>
          </p:cNvPicPr>
          <p:nvPr/>
        </p:nvPicPr>
        <p:blipFill>
          <a:blip r:embed="rId3"/>
          <a:stretch>
            <a:fillRect/>
          </a:stretch>
        </p:blipFill>
        <p:spPr>
          <a:xfrm>
            <a:off x="731520" y="17361407"/>
            <a:ext cx="20482560" cy="4663440"/>
          </a:xfrm>
          <a:prstGeom prst="rect">
            <a:avLst/>
          </a:prstGeom>
        </p:spPr>
      </p:pic>
      <p:sp>
        <p:nvSpPr>
          <p:cNvPr id="21" name="TextBox 20"/>
          <p:cNvSpPr txBox="1"/>
          <p:nvPr/>
        </p:nvSpPr>
        <p:spPr>
          <a:xfrm>
            <a:off x="731520" y="22134576"/>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3.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22" name="TextBox 21"/>
          <p:cNvSpPr txBox="1"/>
          <p:nvPr/>
        </p:nvSpPr>
        <p:spPr>
          <a:xfrm>
            <a:off x="731520" y="23164800"/>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23" name="TextBox 22"/>
          <p:cNvSpPr txBox="1"/>
          <p:nvPr/>
        </p:nvSpPr>
        <p:spPr>
          <a:xfrm>
            <a:off x="21579840" y="1043330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Robots on the platform today</a:t>
            </a:r>
          </a:p>
        </p:txBody>
      </p:sp>
      <p:sp>
        <p:nvSpPr>
          <p:cNvPr id="24" name="Rectangle 23"/>
          <p:cNvSpPr/>
          <p:nvPr/>
        </p:nvSpPr>
        <p:spPr>
          <a:xfrm>
            <a:off x="21579840" y="1099464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579840" y="113238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26" name="TextBox 25"/>
          <p:cNvSpPr txBox="1"/>
          <p:nvPr/>
        </p:nvSpPr>
        <p:spPr>
          <a:xfrm>
            <a:off x="21579840" y="13435075"/>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14</a:t>
            </a:r>
          </a:p>
        </p:txBody>
      </p:sp>
      <p:sp>
        <p:nvSpPr>
          <p:cNvPr id="27" name="TextBox 26"/>
          <p:cNvSpPr txBox="1"/>
          <p:nvPr/>
        </p:nvSpPr>
        <p:spPr>
          <a:xfrm>
            <a:off x="21579840" y="14238223"/>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analysis tools the planner can choose from</a:t>
            </a:r>
          </a:p>
        </p:txBody>
      </p:sp>
      <p:sp>
        <p:nvSpPr>
          <p:cNvPr id="28" name="TextBox 27"/>
          <p:cNvSpPr txBox="1"/>
          <p:nvPr/>
        </p:nvSpPr>
        <p:spPr>
          <a:xfrm>
            <a:off x="21579840" y="1470863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Ask a dataset what it is good for</a:t>
            </a:r>
          </a:p>
        </p:txBody>
      </p:sp>
      <p:sp>
        <p:nvSpPr>
          <p:cNvPr id="29" name="Rectangle 28"/>
          <p:cNvSpPr/>
          <p:nvPr/>
        </p:nvSpPr>
        <p:spPr>
          <a:xfrm>
            <a:off x="21579840" y="1526997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579840" y="1559915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1" name="TextBox 30"/>
          <p:cNvSpPr txBox="1"/>
          <p:nvPr/>
        </p:nvSpPr>
        <p:spPr>
          <a:xfrm>
            <a:off x="21579840" y="1740052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On disk today</a:t>
            </a:r>
          </a:p>
        </p:txBody>
      </p:sp>
      <p:sp>
        <p:nvSpPr>
          <p:cNvPr id="32" name="Rectangle 31"/>
          <p:cNvSpPr/>
          <p:nvPr/>
        </p:nvSpPr>
        <p:spPr>
          <a:xfrm>
            <a:off x="21579840" y="1796186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579840" y="1829104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Two robots have put 2,686 camera frames and 91,955 telemetry rows across nine streams onto the platform, over 26 drives, with 342 m of GPS track from 1,502 fixes. None of the frames is labelled.</a:t>
            </a:r>
          </a:p>
        </p:txBody>
      </p:sp>
      <p:sp>
        <p:nvSpPr>
          <p:cNvPr id="34" name="TextBox 33"/>
          <p:cNvSpPr txBox="1"/>
          <p:nvPr/>
        </p:nvSpPr>
        <p:spPr>
          <a:xfrm>
            <a:off x="21579840" y="19782536"/>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1C6FB5"/>
                </a:solidFill>
                <a:latin typeface="Arial"/>
              </a:rPr>
              <a:t>92</a:t>
            </a:r>
          </a:p>
        </p:txBody>
      </p:sp>
      <p:sp>
        <p:nvSpPr>
          <p:cNvPr id="35" name="TextBox 34"/>
          <p:cNvSpPr txBox="1"/>
          <p:nvPr/>
        </p:nvSpPr>
        <p:spPr>
          <a:xfrm>
            <a:off x="21579840" y="20585684"/>
            <a:ext cx="10607040" cy="365760"/>
          </a:xfrm>
          <a:prstGeom prst="rect">
            <a:avLst/>
          </a:prstGeom>
          <a:noFill/>
        </p:spPr>
        <p:txBody>
          <a:bodyPr wrap="square" lIns="0" rIns="0" tIns="0" bIns="0">
            <a:spAutoFit/>
          </a:bodyPr>
          <a:lstStyle/>
          <a:p>
            <a:pPr algn="l">
              <a:lnSpc>
                <a:spcPct val="122000"/>
              </a:lnSpc>
              <a:spcAft>
                <a:spcPts val="600"/>
              </a:spcAft>
            </a:pPr>
            <a:r>
              <a:rPr sz="1600" b="0">
                <a:solidFill>
                  <a:srgbClr val="556575"/>
                </a:solidFill>
                <a:latin typeface="Arial"/>
              </a:rPr>
              <a:t>questions asked of a dataset so far</a:t>
            </a:r>
          </a:p>
        </p:txBody>
      </p:sp>
      <p:sp>
        <p:nvSpPr>
          <p:cNvPr id="36" name="TextBox 35"/>
          <p:cNvSpPr txBox="1"/>
          <p:nvPr/>
        </p:nvSpPr>
        <p:spPr>
          <a:xfrm>
            <a:off x="21579840" y="2105609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Asked something it had never seen</a:t>
            </a:r>
          </a:p>
        </p:txBody>
      </p:sp>
      <p:sp>
        <p:nvSpPr>
          <p:cNvPr id="37" name="Rectangle 36"/>
          <p:cNvSpPr/>
          <p:nvPr/>
        </p:nvSpPr>
        <p:spPr>
          <a:xfrm>
            <a:off x="21579840" y="21617432"/>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579840" y="2194661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39" name="TextBox 38"/>
          <p:cNvSpPr txBox="1"/>
          <p:nvPr/>
        </p:nvSpPr>
        <p:spPr>
          <a:xfrm>
            <a:off x="21579840" y="2374798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More web data, less accuracy</a:t>
            </a:r>
          </a:p>
        </p:txBody>
      </p:sp>
      <p:sp>
        <p:nvSpPr>
          <p:cNvPr id="40" name="Rectangle 39"/>
          <p:cNvSpPr/>
          <p:nvPr/>
        </p:nvSpPr>
        <p:spPr>
          <a:xfrm>
            <a:off x="21579840" y="24309324"/>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579840" y="2463850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42" name="TextBox 41"/>
          <p:cNvSpPr txBox="1"/>
          <p:nvPr/>
        </p:nvSpPr>
        <p:spPr>
          <a:xfrm>
            <a:off x="32552640" y="1043330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A drive becomes a dataset as it opens</a:t>
            </a:r>
          </a:p>
        </p:txBody>
      </p:sp>
      <p:sp>
        <p:nvSpPr>
          <p:cNvPr id="43" name="Rectangle 42"/>
          <p:cNvSpPr/>
          <p:nvPr/>
        </p:nvSpPr>
        <p:spPr>
          <a:xfrm>
            <a:off x="32552640" y="10994643"/>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2552640" y="113238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45" name="TextBox 44"/>
          <p:cNvSpPr txBox="1"/>
          <p:nvPr/>
        </p:nvSpPr>
        <p:spPr>
          <a:xfrm>
            <a:off x="32552640" y="1312519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Four frames, as recorded</a:t>
            </a:r>
          </a:p>
        </p:txBody>
      </p:sp>
      <p:sp>
        <p:nvSpPr>
          <p:cNvPr id="46" name="Rectangle 45"/>
          <p:cNvSpPr/>
          <p:nvPr/>
        </p:nvSpPr>
        <p:spPr>
          <a:xfrm>
            <a:off x="32552640" y="13686535"/>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l_robots.png"/>
          <p:cNvPicPr>
            <a:picLocks noChangeAspect="1"/>
          </p:cNvPicPr>
          <p:nvPr/>
        </p:nvPicPr>
        <p:blipFill>
          <a:blip r:embed="rId4"/>
          <a:stretch>
            <a:fillRect/>
          </a:stretch>
        </p:blipFill>
        <p:spPr>
          <a:xfrm>
            <a:off x="32552640" y="14015719"/>
            <a:ext cx="10607040" cy="2377440"/>
          </a:xfrm>
          <a:prstGeom prst="rect">
            <a:avLst/>
          </a:prstGeom>
        </p:spPr>
      </p:pic>
      <p:sp>
        <p:nvSpPr>
          <p:cNvPr id="48" name="TextBox 47"/>
          <p:cNvSpPr txBox="1"/>
          <p:nvPr/>
        </p:nvSpPr>
        <p:spPr>
          <a:xfrm>
            <a:off x="32552640" y="16502888"/>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4.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49" name="TextBox 48"/>
          <p:cNvSpPr txBox="1"/>
          <p:nvPr/>
        </p:nvSpPr>
        <p:spPr>
          <a:xfrm>
            <a:off x="32552640" y="1777288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Nothing here is enhanced and nothing is labelled. The rectangle in the cart's down camera is a fixed work-zone overlay: it sits at the same pixels on frames with no vegetation in them at all.</a:t>
            </a:r>
          </a:p>
        </p:txBody>
      </p:sp>
      <p:sp>
        <p:nvSpPr>
          <p:cNvPr id="50" name="TextBox 49"/>
          <p:cNvSpPr txBox="1"/>
          <p:nvPr/>
        </p:nvSpPr>
        <p:spPr>
          <a:xfrm>
            <a:off x="32552640" y="1926437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Only one robot has the button</a:t>
            </a:r>
          </a:p>
        </p:txBody>
      </p:sp>
      <p:sp>
        <p:nvSpPr>
          <p:cNvPr id="51" name="Rectangle 50"/>
          <p:cNvSpPr/>
          <p:nvPr/>
        </p:nvSpPr>
        <p:spPr>
          <a:xfrm>
            <a:off x="32552640" y="1982571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2552640" y="20154900"/>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53" name="TextBox 52"/>
          <p:cNvSpPr txBox="1"/>
          <p:nvPr/>
        </p:nvSpPr>
        <p:spPr>
          <a:xfrm>
            <a:off x="32552640" y="2195626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Which decisions a model makes</a:t>
            </a:r>
          </a:p>
        </p:txBody>
      </p:sp>
      <p:sp>
        <p:nvSpPr>
          <p:cNvPr id="54" name="Rectangle 53"/>
          <p:cNvSpPr/>
          <p:nvPr/>
        </p:nvSpPr>
        <p:spPr>
          <a:xfrm>
            <a:off x="32552640" y="2251760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552640" y="2284679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56" name="TextBox 55"/>
          <p:cNvSpPr txBox="1"/>
          <p:nvPr/>
        </p:nvSpPr>
        <p:spPr>
          <a:xfrm>
            <a:off x="32552640" y="2495804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Any research field is a project</a:t>
            </a:r>
          </a:p>
        </p:txBody>
      </p:sp>
      <p:sp>
        <p:nvSpPr>
          <p:cNvPr id="57" name="Rectangle 56"/>
          <p:cNvSpPr/>
          <p:nvPr/>
        </p:nvSpPr>
        <p:spPr>
          <a:xfrm>
            <a:off x="32552640" y="25519380"/>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552640" y="2584856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1E293B"/>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59" name="Rectangle 58"/>
          <p:cNvSpPr/>
          <p:nvPr/>
        </p:nvSpPr>
        <p:spPr>
          <a:xfrm>
            <a:off x="731520" y="30632400"/>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61" name="TextBox 60"/>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62" name="TextBox 61"/>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