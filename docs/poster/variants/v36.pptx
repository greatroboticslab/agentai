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43891200" cy="329184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43891200" cy="32918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3891200" cy="39319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3931920"/>
            <a:ext cx="43891200" cy="45720"/>
          </a:xfrm>
          <a:prstGeom prst="rect">
            <a:avLst/>
          </a:prstGeom>
          <a:solidFill>
            <a:srgbClr val="B55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384048"/>
            <a:ext cx="42428160" cy="365760"/>
          </a:xfrm>
          <a:prstGeom prst="rect">
            <a:avLst/>
          </a:prstGeom>
          <a:noFill/>
        </p:spPr>
        <p:txBody>
          <a:bodyPr wrap="square" lIns="0" rIns="0" tIns="0" bIns="0">
            <a:spAutoFit/>
          </a:bodyPr>
          <a:lstStyle/>
          <a:p>
            <a:pPr algn="l">
              <a:lnSpc>
                <a:spcPct val="95000"/>
              </a:lnSpc>
              <a:spcAft>
                <a:spcPts val="0"/>
              </a:spcAft>
            </a:pPr>
            <a:r>
              <a:rPr sz="9200" b="1">
                <a:solidFill>
                  <a:srgbClr val="111111"/>
                </a:solidFill>
                <a:latin typeface="Arial"/>
              </a:rPr>
              <a:t>agentAI: A Research-Data Platform for Physical and Embodied Agents</a:t>
            </a:r>
          </a:p>
        </p:txBody>
      </p:sp>
      <p:sp>
        <p:nvSpPr>
          <p:cNvPr id="6" name="TextBox 5"/>
          <p:cNvSpPr txBox="1"/>
          <p:nvPr/>
        </p:nvSpPr>
        <p:spPr>
          <a:xfrm>
            <a:off x="731520" y="2121408"/>
            <a:ext cx="42428160" cy="365760"/>
          </a:xfrm>
          <a:prstGeom prst="rect">
            <a:avLst/>
          </a:prstGeom>
          <a:noFill/>
        </p:spPr>
        <p:txBody>
          <a:bodyPr wrap="square" lIns="0" rIns="0" tIns="0" bIns="0">
            <a:spAutoFit/>
          </a:bodyPr>
          <a:lstStyle/>
          <a:p>
            <a:pPr algn="l">
              <a:lnSpc>
                <a:spcPct val="100000"/>
              </a:lnSpc>
              <a:spcAft>
                <a:spcPts val="0"/>
              </a:spcAft>
            </a:pPr>
            <a:r>
              <a:rPr sz="4000" b="1">
                <a:solidFill>
                  <a:srgbClr val="111111"/>
                </a:solidFill>
                <a:latin typeface="Arial"/>
              </a:rPr>
              <a:t>Harry He   ·   Hongbo Zhang</a:t>
            </a:r>
          </a:p>
        </p:txBody>
      </p:sp>
      <p:sp>
        <p:nvSpPr>
          <p:cNvPr id="7" name="TextBox 6"/>
          <p:cNvSpPr txBox="1"/>
          <p:nvPr/>
        </p:nvSpPr>
        <p:spPr>
          <a:xfrm>
            <a:off x="731520" y="2761488"/>
            <a:ext cx="42428160" cy="365760"/>
          </a:xfrm>
          <a:prstGeom prst="rect">
            <a:avLst/>
          </a:prstGeom>
          <a:noFill/>
        </p:spPr>
        <p:txBody>
          <a:bodyPr wrap="square" lIns="0" rIns="0" tIns="0" bIns="0">
            <a:spAutoFit/>
          </a:bodyPr>
          <a:lstStyle/>
          <a:p>
            <a:pPr algn="l">
              <a:lnSpc>
                <a:spcPct val="100000"/>
              </a:lnSpc>
              <a:spcAft>
                <a:spcPts val="0"/>
              </a:spcAft>
            </a:pPr>
            <a:r>
              <a:rPr sz="2400" b="0">
                <a:solidFill>
                  <a:srgbClr val="D0D0D0"/>
                </a:solidFill>
                <a:latin typeface="Arial"/>
              </a:rPr>
              <a:t>Department of Engineering Technology   ·   Middle Tennessee State University, Murfreesboro, TN, USA</a:t>
            </a:r>
          </a:p>
        </p:txBody>
      </p:sp>
      <p:sp>
        <p:nvSpPr>
          <p:cNvPr id="8" name="TextBox 7"/>
          <p:cNvSpPr txBox="1"/>
          <p:nvPr/>
        </p:nvSpPr>
        <p:spPr>
          <a:xfrm>
            <a:off x="731520" y="4315968"/>
            <a:ext cx="42428160" cy="365760"/>
          </a:xfrm>
          <a:prstGeom prst="rect">
            <a:avLst/>
          </a:prstGeom>
          <a:noFill/>
        </p:spPr>
        <p:txBody>
          <a:bodyPr wrap="square" lIns="0" rIns="0" tIns="0" bIns="0">
            <a:spAutoFit/>
          </a:bodyPr>
          <a:lstStyle/>
          <a:p>
            <a:pPr algn="l">
              <a:lnSpc>
                <a:spcPct val="116000"/>
              </a:lnSpc>
              <a:spcAft>
                <a:spcPts val="0"/>
              </a:spcAft>
            </a:pPr>
            <a:r>
              <a:rPr sz="3400" b="0">
                <a:solidFill>
                  <a:srgbClr val="111111"/>
                </a:solidFill>
                <a:latin typeface="Arial"/>
              </a:rPr>
              <a:t>Built at the MTSU Great Robotics Lab. Every robot the lab owns reports into one platform; agents on it harvest, filter, label and train; a third agent watches the other two. This is what runs today, what the robots have recorded, and what six months of running it taught us.</a:t>
            </a:r>
          </a:p>
        </p:txBody>
      </p:sp>
      <p:pic>
        <p:nvPicPr>
          <p:cNvPr id="9" name="Picture 8" descr="n_system.png"/>
          <p:cNvPicPr>
            <a:picLocks noChangeAspect="1"/>
          </p:cNvPicPr>
          <p:nvPr/>
        </p:nvPicPr>
        <p:blipFill>
          <a:blip r:embed="rId2"/>
          <a:stretch>
            <a:fillRect/>
          </a:stretch>
        </p:blipFill>
        <p:spPr>
          <a:xfrm>
            <a:off x="731520" y="5820663"/>
            <a:ext cx="20482560" cy="3383280"/>
          </a:xfrm>
          <a:prstGeom prst="rect">
            <a:avLst/>
          </a:prstGeom>
        </p:spPr>
      </p:pic>
      <p:sp>
        <p:nvSpPr>
          <p:cNvPr id="10" name="TextBox 9"/>
          <p:cNvSpPr txBox="1"/>
          <p:nvPr/>
        </p:nvSpPr>
        <p:spPr>
          <a:xfrm>
            <a:off x="731520" y="9313671"/>
            <a:ext cx="20482560" cy="365760"/>
          </a:xfrm>
          <a:prstGeom prst="rect">
            <a:avLst/>
          </a:prstGeom>
          <a:noFill/>
        </p:spPr>
        <p:txBody>
          <a:bodyPr wrap="square" lIns="0" rIns="0" tIns="0" bIns="0">
            <a:spAutoFit/>
          </a:bodyPr>
          <a:lstStyle/>
          <a:p>
            <a:pPr algn="l">
              <a:lnSpc>
                <a:spcPct val="118000"/>
              </a:lnSpc>
              <a:spcAft>
                <a:spcPts val="0"/>
              </a:spcAft>
            </a:pPr>
            <a:r>
              <a:rPr sz="1600" b="0">
                <a:solidFill>
                  <a:srgbClr val="5B5B5B"/>
                </a:solidFill>
                <a:latin typeface="Arial"/>
              </a:rPr>
              <a:t>Figure 1.  The path as built, from a camera in a crop row to a checkpoint on the cluster. Every stage has run. Three qualifications ride on it. The collector and trainer are paused after a stop-loss on 2026-08-29. The supervisor is advisory and nothing it says is applied. And the last link is not closed: no robot frame has entered training, because none of them is labelled yet.</a:t>
            </a:r>
          </a:p>
        </p:txBody>
      </p:sp>
      <p:sp>
        <p:nvSpPr>
          <p:cNvPr id="11" name="TextBox 10"/>
          <p:cNvSpPr txBox="1"/>
          <p:nvPr/>
        </p:nvSpPr>
        <p:spPr>
          <a:xfrm>
            <a:off x="731520" y="10433303"/>
            <a:ext cx="20482560" cy="365760"/>
          </a:xfrm>
          <a:prstGeom prst="rect">
            <a:avLst/>
          </a:prstGeom>
          <a:noFill/>
        </p:spPr>
        <p:txBody>
          <a:bodyPr wrap="square" lIns="0" rIns="0" tIns="0" bIns="0">
            <a:spAutoFit/>
          </a:bodyPr>
          <a:lstStyle/>
          <a:p>
            <a:pPr algn="l">
              <a:lnSpc>
                <a:spcPct val="95000"/>
              </a:lnSpc>
              <a:spcAft>
                <a:spcPts val="0"/>
              </a:spcAft>
            </a:pPr>
            <a:r>
              <a:rPr sz="3400" b="1">
                <a:solidFill>
                  <a:srgbClr val="FFFFFF"/>
                </a:solidFill>
                <a:latin typeface="Arial"/>
              </a:rPr>
              <a:t>One platform for every robot the lab owns</a:t>
            </a:r>
          </a:p>
        </p:txBody>
      </p:sp>
      <p:sp>
        <p:nvSpPr>
          <p:cNvPr id="12" name="Rectangle 11"/>
          <p:cNvSpPr/>
          <p:nvPr/>
        </p:nvSpPr>
        <p:spPr>
          <a:xfrm>
            <a:off x="731520" y="10994643"/>
            <a:ext cx="20482560" cy="27432"/>
          </a:xfrm>
          <a:prstGeom prst="rect">
            <a:avLst/>
          </a:prstGeom>
          <a:solidFill>
            <a:srgbClr val="B55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11323827"/>
            <a:ext cx="20482560" cy="365760"/>
          </a:xfrm>
          <a:prstGeom prst="rect">
            <a:avLst/>
          </a:prstGeom>
          <a:noFill/>
        </p:spPr>
        <p:txBody>
          <a:bodyPr wrap="square" lIns="0" rIns="0" tIns="0" bIns="0">
            <a:spAutoFit/>
          </a:bodyPr>
          <a:lstStyle/>
          <a:p>
            <a:pPr algn="l">
              <a:lnSpc>
                <a:spcPct val="122000"/>
              </a:lnSpc>
              <a:spcAft>
                <a:spcPts val="1400"/>
              </a:spcAft>
            </a:pPr>
            <a:r>
              <a:rPr sz="2000" b="0">
                <a:solidFill>
                  <a:srgbClr val="111111"/>
                </a:solidFill>
                <a:latin typeface="Arial"/>
              </a:rPr>
              <a:t>agentAI is a research-data platform for physical and embodied agents, built at the MTSU Great Robotics Lab. A robot, a drone or a sensor rig is a project. A project owns its keys, its people and a locked dataset registry. Agents on the platform harvest, filter, label and train against that registry. Adding a robot is a configuration, not a migration.</a:t>
            </a:r>
          </a:p>
        </p:txBody>
      </p:sp>
      <p:sp>
        <p:nvSpPr>
          <p:cNvPr id="14" name="TextBox 13"/>
          <p:cNvSpPr txBox="1"/>
          <p:nvPr/>
        </p:nvSpPr>
        <p:spPr>
          <a:xfrm>
            <a:off x="731520" y="12815315"/>
            <a:ext cx="20482560" cy="365760"/>
          </a:xfrm>
          <a:prstGeom prst="rect">
            <a:avLst/>
          </a:prstGeom>
          <a:noFill/>
        </p:spPr>
        <p:txBody>
          <a:bodyPr wrap="square" lIns="0" rIns="0" tIns="0" bIns="0">
            <a:spAutoFit/>
          </a:bodyPr>
          <a:lstStyle/>
          <a:p>
            <a:pPr algn="l">
              <a:lnSpc>
                <a:spcPct val="95000"/>
              </a:lnSpc>
              <a:spcAft>
                <a:spcPts val="0"/>
              </a:spcAft>
            </a:pPr>
            <a:r>
              <a:rPr sz="3400" b="1">
                <a:solidFill>
                  <a:srgbClr val="FFFFFF"/>
                </a:solidFill>
                <a:latin typeface="Arial"/>
              </a:rPr>
              <a:t>Driving a robot from a browser</a:t>
            </a:r>
          </a:p>
        </p:txBody>
      </p:sp>
      <p:sp>
        <p:nvSpPr>
          <p:cNvPr id="15" name="Rectangle 14"/>
          <p:cNvSpPr/>
          <p:nvPr/>
        </p:nvSpPr>
        <p:spPr>
          <a:xfrm>
            <a:off x="731520" y="13376655"/>
            <a:ext cx="20482560" cy="27432"/>
          </a:xfrm>
          <a:prstGeom prst="rect">
            <a:avLst/>
          </a:prstGeom>
          <a:solidFill>
            <a:srgbClr val="B55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13705839"/>
            <a:ext cx="20482560" cy="365760"/>
          </a:xfrm>
          <a:prstGeom prst="rect">
            <a:avLst/>
          </a:prstGeom>
          <a:noFill/>
        </p:spPr>
        <p:txBody>
          <a:bodyPr wrap="square" lIns="0" rIns="0" tIns="0" bIns="0">
            <a:spAutoFit/>
          </a:bodyPr>
          <a:lstStyle/>
          <a:p>
            <a:pPr algn="l">
              <a:lnSpc>
                <a:spcPct val="122000"/>
              </a:lnSpc>
              <a:spcAft>
                <a:spcPts val="1400"/>
              </a:spcAft>
            </a:pPr>
            <a:r>
              <a:rPr sz="2000" b="0">
                <a:solidFill>
                  <a:srgbClr val="111111"/>
                </a:solidFill>
                <a:latin typeface="Arial"/>
              </a:rPr>
              <a:t>A signed-in user opens the 241 project and clicks Drive. The platform reverse-proxies the robot's own console over the lab tailnet, so the rover is driven from a plain browser with no VPN client. 1,389 joystick commands have gone through that path. Two gates sit in front of it: the platform's Google login, then the robot's own password.</a:t>
            </a:r>
          </a:p>
        </p:txBody>
      </p:sp>
      <p:sp>
        <p:nvSpPr>
          <p:cNvPr id="17" name="TextBox 16"/>
          <p:cNvSpPr txBox="1"/>
          <p:nvPr/>
        </p:nvSpPr>
        <p:spPr>
          <a:xfrm>
            <a:off x="731520" y="15197327"/>
            <a:ext cx="20482560" cy="365760"/>
          </a:xfrm>
          <a:prstGeom prst="rect">
            <a:avLst/>
          </a:prstGeom>
          <a:noFill/>
        </p:spPr>
        <p:txBody>
          <a:bodyPr wrap="square" lIns="0" rIns="0" tIns="0" bIns="0">
            <a:spAutoFit/>
          </a:bodyPr>
          <a:lstStyle/>
          <a:p>
            <a:pPr algn="l">
              <a:lnSpc>
                <a:spcPct val="95000"/>
              </a:lnSpc>
              <a:spcAft>
                <a:spcPts val="0"/>
              </a:spcAft>
            </a:pPr>
            <a:r>
              <a:rPr sz="3400" b="1">
                <a:solidFill>
                  <a:srgbClr val="FFFFFF"/>
                </a:solidFill>
                <a:latin typeface="Arial"/>
              </a:rPr>
              <a:t>Left alone for fifteen rounds</a:t>
            </a:r>
          </a:p>
        </p:txBody>
      </p:sp>
      <p:sp>
        <p:nvSpPr>
          <p:cNvPr id="18" name="Rectangle 17"/>
          <p:cNvSpPr/>
          <p:nvPr/>
        </p:nvSpPr>
        <p:spPr>
          <a:xfrm>
            <a:off x="731520" y="15758667"/>
            <a:ext cx="20482560" cy="27432"/>
          </a:xfrm>
          <a:prstGeom prst="rect">
            <a:avLst/>
          </a:prstGeom>
          <a:solidFill>
            <a:srgbClr val="B55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f_rounds.png"/>
          <p:cNvPicPr>
            <a:picLocks noChangeAspect="1"/>
          </p:cNvPicPr>
          <p:nvPr/>
        </p:nvPicPr>
        <p:blipFill>
          <a:blip r:embed="rId3"/>
          <a:stretch>
            <a:fillRect/>
          </a:stretch>
        </p:blipFill>
        <p:spPr>
          <a:xfrm>
            <a:off x="731520" y="16087851"/>
            <a:ext cx="20482560" cy="4663440"/>
          </a:xfrm>
          <a:prstGeom prst="rect">
            <a:avLst/>
          </a:prstGeom>
        </p:spPr>
      </p:pic>
      <p:sp>
        <p:nvSpPr>
          <p:cNvPr id="20" name="TextBox 19"/>
          <p:cNvSpPr txBox="1"/>
          <p:nvPr/>
        </p:nvSpPr>
        <p:spPr>
          <a:xfrm>
            <a:off x="731520" y="20861019"/>
            <a:ext cx="20482560" cy="365760"/>
          </a:xfrm>
          <a:prstGeom prst="rect">
            <a:avLst/>
          </a:prstGeom>
          <a:noFill/>
        </p:spPr>
        <p:txBody>
          <a:bodyPr wrap="square" lIns="0" rIns="0" tIns="0" bIns="0">
            <a:spAutoFit/>
          </a:bodyPr>
          <a:lstStyle/>
          <a:p>
            <a:pPr algn="l">
              <a:lnSpc>
                <a:spcPct val="118000"/>
              </a:lnSpc>
              <a:spcAft>
                <a:spcPts val="0"/>
              </a:spcAft>
            </a:pPr>
            <a:r>
              <a:rPr sz="1600" b="0">
                <a:solidFill>
                  <a:srgbClr val="5B5B5B"/>
                </a:solidFill>
                <a:latin typeface="Arial"/>
              </a:rPr>
              <a:t>Figure 3.  (f) Fifteen unattended rounds on a fixed holdout. (g) Round 15's exact dataset, three ways. The first two marks differ only in the starting weights, so their gap is the warm-start chain; the third is the recipe the campaign ran, whose wall-clock cap truncates the cosine, with its three seeds drawn behind it. Sigma throughout is that recipe's own seed spread, 0.0040 over three seeds, propagated to the difference being quoted. Completing the schedule is not the fix -- the second mark sits below the third.</a:t>
            </a:r>
          </a:p>
        </p:txBody>
      </p:sp>
      <p:sp>
        <p:nvSpPr>
          <p:cNvPr id="21" name="TextBox 20"/>
          <p:cNvSpPr txBox="1"/>
          <p:nvPr/>
        </p:nvSpPr>
        <p:spPr>
          <a:xfrm>
            <a:off x="731520" y="21891243"/>
            <a:ext cx="20482560" cy="365760"/>
          </a:xfrm>
          <a:prstGeom prst="rect">
            <a:avLst/>
          </a:prstGeom>
          <a:noFill/>
        </p:spPr>
        <p:txBody>
          <a:bodyPr wrap="square" lIns="0" rIns="0" tIns="0" bIns="0">
            <a:spAutoFit/>
          </a:bodyPr>
          <a:lstStyle/>
          <a:p>
            <a:pPr algn="l">
              <a:lnSpc>
                <a:spcPct val="122000"/>
              </a:lnSpc>
              <a:spcAft>
                <a:spcPts val="1400"/>
              </a:spcAft>
            </a:pPr>
            <a:r>
              <a:rPr sz="2000" b="0">
                <a:solidFill>
                  <a:srgbClr val="111111"/>
                </a:solidFill>
                <a:latin typeface="Arial"/>
              </a:rPr>
              <a:t>Two cluster jobs, one collecting and one training, ran fifteen rounds against the locked registry with nobody in the room. Each round searched public sources, filtered what it found, merged, trained and evaluated. Every round reported success. Accuracy fell for fifteen rounds. This part is built and is switched off today.</a:t>
            </a:r>
          </a:p>
        </p:txBody>
      </p:sp>
      <p:sp>
        <p:nvSpPr>
          <p:cNvPr id="22" name="TextBox 21"/>
          <p:cNvSpPr txBox="1"/>
          <p:nvPr/>
        </p:nvSpPr>
        <p:spPr>
          <a:xfrm>
            <a:off x="21579840" y="10433303"/>
            <a:ext cx="10607040" cy="365760"/>
          </a:xfrm>
          <a:prstGeom prst="rect">
            <a:avLst/>
          </a:prstGeom>
          <a:noFill/>
        </p:spPr>
        <p:txBody>
          <a:bodyPr wrap="square" lIns="0" rIns="0" tIns="0" bIns="0">
            <a:spAutoFit/>
          </a:bodyPr>
          <a:lstStyle/>
          <a:p>
            <a:pPr algn="l">
              <a:lnSpc>
                <a:spcPct val="95000"/>
              </a:lnSpc>
              <a:spcAft>
                <a:spcPts val="0"/>
              </a:spcAft>
            </a:pPr>
            <a:r>
              <a:rPr sz="3400" b="1">
                <a:solidFill>
                  <a:srgbClr val="FFFFFF"/>
                </a:solidFill>
                <a:latin typeface="Arial"/>
              </a:rPr>
              <a:t>Robots on the platform today</a:t>
            </a:r>
          </a:p>
        </p:txBody>
      </p:sp>
      <p:sp>
        <p:nvSpPr>
          <p:cNvPr id="23" name="Rectangle 22"/>
          <p:cNvSpPr/>
          <p:nvPr/>
        </p:nvSpPr>
        <p:spPr>
          <a:xfrm>
            <a:off x="21579840" y="10994643"/>
            <a:ext cx="10607040" cy="27432"/>
          </a:xfrm>
          <a:prstGeom prst="rect">
            <a:avLst/>
          </a:prstGeom>
          <a:solidFill>
            <a:srgbClr val="B55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1579840" y="11323827"/>
            <a:ext cx="10607040" cy="365760"/>
          </a:xfrm>
          <a:prstGeom prst="rect">
            <a:avLst/>
          </a:prstGeom>
          <a:noFill/>
        </p:spPr>
        <p:txBody>
          <a:bodyPr wrap="square" lIns="0" rIns="0" tIns="0" bIns="0">
            <a:spAutoFit/>
          </a:bodyPr>
          <a:lstStyle/>
          <a:p>
            <a:pPr algn="l">
              <a:lnSpc>
                <a:spcPct val="122000"/>
              </a:lnSpc>
              <a:spcAft>
                <a:spcPts val="1400"/>
              </a:spcAft>
            </a:pPr>
            <a:r>
              <a:rPr sz="2000" b="0">
                <a:solidFill>
                  <a:srgbClr val="111111"/>
                </a:solidFill>
                <a:latin typeface="Arial"/>
              </a:rPr>
              <a:t>Robot 241 is a tracked rover that drives crop rows and streams camera, GPS and two IMUs. The laser cart carries the weeder: a galvanometer laser, a down camera over the work zone and a forward camera. A Unitree humanoid has a project and has uploaded nothing yet. Between them the two ground vehicles have recorded 2,686 frames in 26 drives.</a:t>
            </a:r>
          </a:p>
        </p:txBody>
      </p:sp>
      <p:sp>
        <p:nvSpPr>
          <p:cNvPr id="25" name="TextBox 24"/>
          <p:cNvSpPr txBox="1"/>
          <p:nvPr/>
        </p:nvSpPr>
        <p:spPr>
          <a:xfrm>
            <a:off x="21579840" y="13435075"/>
            <a:ext cx="10607040" cy="365760"/>
          </a:xfrm>
          <a:prstGeom prst="rect">
            <a:avLst/>
          </a:prstGeom>
          <a:noFill/>
        </p:spPr>
        <p:txBody>
          <a:bodyPr wrap="square" lIns="0" rIns="0" tIns="0" bIns="0">
            <a:spAutoFit/>
          </a:bodyPr>
          <a:lstStyle/>
          <a:p>
            <a:pPr algn="l">
              <a:lnSpc>
                <a:spcPct val="95000"/>
              </a:lnSpc>
              <a:spcAft>
                <a:spcPts val="0"/>
              </a:spcAft>
            </a:pPr>
            <a:r>
              <a:rPr sz="3400" b="1">
                <a:solidFill>
                  <a:srgbClr val="FFFFFF"/>
                </a:solidFill>
                <a:latin typeface="Arial"/>
              </a:rPr>
              <a:t>Ask a dataset what it is good for</a:t>
            </a:r>
          </a:p>
        </p:txBody>
      </p:sp>
      <p:sp>
        <p:nvSpPr>
          <p:cNvPr id="26" name="Rectangle 25"/>
          <p:cNvSpPr/>
          <p:nvPr/>
        </p:nvSpPr>
        <p:spPr>
          <a:xfrm>
            <a:off x="21579840" y="13996415"/>
            <a:ext cx="10607040" cy="27432"/>
          </a:xfrm>
          <a:prstGeom prst="rect">
            <a:avLst/>
          </a:prstGeom>
          <a:solidFill>
            <a:srgbClr val="B55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1579840" y="14325599"/>
            <a:ext cx="10607040" cy="365760"/>
          </a:xfrm>
          <a:prstGeom prst="rect">
            <a:avLst/>
          </a:prstGeom>
          <a:noFill/>
        </p:spPr>
        <p:txBody>
          <a:bodyPr wrap="square" lIns="0" rIns="0" tIns="0" bIns="0">
            <a:spAutoFit/>
          </a:bodyPr>
          <a:lstStyle/>
          <a:p>
            <a:pPr algn="l">
              <a:lnSpc>
                <a:spcPct val="122000"/>
              </a:lnSpc>
              <a:spcAft>
                <a:spcPts val="1400"/>
              </a:spcAft>
            </a:pPr>
            <a:r>
              <a:rPr sz="2000" b="0">
                <a:solidFill>
                  <a:srgbClr val="111111"/>
                </a:solidFill>
                <a:latin typeface="Arial"/>
              </a:rPr>
              <a:t>Every dataset page carries a chat box. A user types or speaks a plain question about that dataset. A planner reads the question and the dataset's real column profile, then picks from 14 fixed analysis tools or writes new code. The answer comes back with the chart and the code that produced it.</a:t>
            </a:r>
          </a:p>
        </p:txBody>
      </p:sp>
      <p:sp>
        <p:nvSpPr>
          <p:cNvPr id="28" name="TextBox 27"/>
          <p:cNvSpPr txBox="1"/>
          <p:nvPr/>
        </p:nvSpPr>
        <p:spPr>
          <a:xfrm>
            <a:off x="21579840" y="16126968"/>
            <a:ext cx="10607040" cy="365760"/>
          </a:xfrm>
          <a:prstGeom prst="rect">
            <a:avLst/>
          </a:prstGeom>
          <a:noFill/>
        </p:spPr>
        <p:txBody>
          <a:bodyPr wrap="square" lIns="0" rIns="0" tIns="0" bIns="0">
            <a:spAutoFit/>
          </a:bodyPr>
          <a:lstStyle/>
          <a:p>
            <a:pPr algn="l">
              <a:lnSpc>
                <a:spcPct val="95000"/>
              </a:lnSpc>
              <a:spcAft>
                <a:spcPts val="0"/>
              </a:spcAft>
            </a:pPr>
            <a:r>
              <a:rPr sz="3400" b="1">
                <a:solidFill>
                  <a:srgbClr val="FFFFFF"/>
                </a:solidFill>
                <a:latin typeface="Arial"/>
              </a:rPr>
              <a:t>On disk today</a:t>
            </a:r>
          </a:p>
        </p:txBody>
      </p:sp>
      <p:sp>
        <p:nvSpPr>
          <p:cNvPr id="29" name="Rectangle 28"/>
          <p:cNvSpPr/>
          <p:nvPr/>
        </p:nvSpPr>
        <p:spPr>
          <a:xfrm>
            <a:off x="21579840" y="16688308"/>
            <a:ext cx="10607040" cy="27432"/>
          </a:xfrm>
          <a:prstGeom prst="rect">
            <a:avLst/>
          </a:prstGeom>
          <a:solidFill>
            <a:srgbClr val="B55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1579840" y="17017492"/>
            <a:ext cx="10607040" cy="365760"/>
          </a:xfrm>
          <a:prstGeom prst="rect">
            <a:avLst/>
          </a:prstGeom>
          <a:noFill/>
        </p:spPr>
        <p:txBody>
          <a:bodyPr wrap="square" lIns="0" rIns="0" tIns="0" bIns="0">
            <a:spAutoFit/>
          </a:bodyPr>
          <a:lstStyle/>
          <a:p>
            <a:pPr algn="l">
              <a:lnSpc>
                <a:spcPct val="122000"/>
              </a:lnSpc>
              <a:spcAft>
                <a:spcPts val="1400"/>
              </a:spcAft>
            </a:pPr>
            <a:r>
              <a:rPr sz="2000" b="0">
                <a:solidFill>
                  <a:srgbClr val="111111"/>
                </a:solidFill>
                <a:latin typeface="Arial"/>
              </a:rPr>
              <a:t>Two robots have put 2,686 camera frames and 91,955 telemetry rows across nine streams onto the platform, over 26 drives, with 342 m of GPS track from 1,502 fixes. None of the frames is labelled.</a:t>
            </a:r>
          </a:p>
        </p:txBody>
      </p:sp>
      <p:sp>
        <p:nvSpPr>
          <p:cNvPr id="31" name="TextBox 30"/>
          <p:cNvSpPr txBox="1"/>
          <p:nvPr/>
        </p:nvSpPr>
        <p:spPr>
          <a:xfrm>
            <a:off x="21579840" y="18508980"/>
            <a:ext cx="10607040" cy="365760"/>
          </a:xfrm>
          <a:prstGeom prst="rect">
            <a:avLst/>
          </a:prstGeom>
          <a:noFill/>
        </p:spPr>
        <p:txBody>
          <a:bodyPr wrap="square" lIns="0" rIns="0" tIns="0" bIns="0">
            <a:spAutoFit/>
          </a:bodyPr>
          <a:lstStyle/>
          <a:p>
            <a:pPr algn="l">
              <a:lnSpc>
                <a:spcPct val="95000"/>
              </a:lnSpc>
              <a:spcAft>
                <a:spcPts val="0"/>
              </a:spcAft>
            </a:pPr>
            <a:r>
              <a:rPr sz="3400" b="1">
                <a:solidFill>
                  <a:srgbClr val="FFFFFF"/>
                </a:solidFill>
                <a:latin typeface="Arial"/>
              </a:rPr>
              <a:t>Asked something it had never seen</a:t>
            </a:r>
          </a:p>
        </p:txBody>
      </p:sp>
      <p:sp>
        <p:nvSpPr>
          <p:cNvPr id="32" name="Rectangle 31"/>
          <p:cNvSpPr/>
          <p:nvPr/>
        </p:nvSpPr>
        <p:spPr>
          <a:xfrm>
            <a:off x="21579840" y="19070320"/>
            <a:ext cx="10607040" cy="27432"/>
          </a:xfrm>
          <a:prstGeom prst="rect">
            <a:avLst/>
          </a:prstGeom>
          <a:solidFill>
            <a:srgbClr val="B55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1579840" y="19399504"/>
            <a:ext cx="10607040" cy="365760"/>
          </a:xfrm>
          <a:prstGeom prst="rect">
            <a:avLst/>
          </a:prstGeom>
          <a:noFill/>
        </p:spPr>
        <p:txBody>
          <a:bodyPr wrap="square" lIns="0" rIns="0" tIns="0" bIns="0">
            <a:spAutoFit/>
          </a:bodyPr>
          <a:lstStyle/>
          <a:p>
            <a:pPr algn="l">
              <a:lnSpc>
                <a:spcPct val="122000"/>
              </a:lnSpc>
              <a:spcAft>
                <a:spcPts val="1400"/>
              </a:spcAft>
            </a:pPr>
            <a:r>
              <a:rPr sz="2000" b="0">
                <a:solidFill>
                  <a:srgbClr val="111111"/>
                </a:solidFill>
                <a:latin typeface="Arial"/>
              </a:rPr>
              <a:t>Asked to plot a histogram of the heading change rate on the 241 field drive, the agent wrote the code and returned the plot on the first attempt. A fixed template cannot do that, because nothing in the platform knew that question would be asked. Across the platform, 9 datasets carry 92 turns of that conversation.</a:t>
            </a:r>
          </a:p>
        </p:txBody>
      </p:sp>
      <p:sp>
        <p:nvSpPr>
          <p:cNvPr id="34" name="TextBox 33"/>
          <p:cNvSpPr txBox="1"/>
          <p:nvPr/>
        </p:nvSpPr>
        <p:spPr>
          <a:xfrm>
            <a:off x="21579840" y="21200872"/>
            <a:ext cx="10607040" cy="365760"/>
          </a:xfrm>
          <a:prstGeom prst="rect">
            <a:avLst/>
          </a:prstGeom>
          <a:noFill/>
        </p:spPr>
        <p:txBody>
          <a:bodyPr wrap="square" lIns="0" rIns="0" tIns="0" bIns="0">
            <a:spAutoFit/>
          </a:bodyPr>
          <a:lstStyle/>
          <a:p>
            <a:pPr algn="l">
              <a:lnSpc>
                <a:spcPct val="95000"/>
              </a:lnSpc>
              <a:spcAft>
                <a:spcPts val="0"/>
              </a:spcAft>
            </a:pPr>
            <a:r>
              <a:rPr sz="3400" b="1">
                <a:solidFill>
                  <a:srgbClr val="FFFFFF"/>
                </a:solidFill>
                <a:latin typeface="Arial"/>
              </a:rPr>
              <a:t>More web data, less accuracy</a:t>
            </a:r>
          </a:p>
        </p:txBody>
      </p:sp>
      <p:sp>
        <p:nvSpPr>
          <p:cNvPr id="35" name="Rectangle 34"/>
          <p:cNvSpPr/>
          <p:nvPr/>
        </p:nvSpPr>
        <p:spPr>
          <a:xfrm>
            <a:off x="21579840" y="21762212"/>
            <a:ext cx="10607040" cy="27432"/>
          </a:xfrm>
          <a:prstGeom prst="rect">
            <a:avLst/>
          </a:prstGeom>
          <a:solidFill>
            <a:srgbClr val="B55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21579840" y="22091396"/>
            <a:ext cx="10607040" cy="365760"/>
          </a:xfrm>
          <a:prstGeom prst="rect">
            <a:avLst/>
          </a:prstGeom>
          <a:noFill/>
        </p:spPr>
        <p:txBody>
          <a:bodyPr wrap="square" lIns="0" rIns="0" tIns="0" bIns="0">
            <a:spAutoFit/>
          </a:bodyPr>
          <a:lstStyle/>
          <a:p>
            <a:pPr algn="l">
              <a:lnSpc>
                <a:spcPct val="122000"/>
              </a:lnSpc>
              <a:spcAft>
                <a:spcPts val="1400"/>
              </a:spcAft>
            </a:pPr>
            <a:r>
              <a:rPr sz="2000" b="0">
                <a:solidFill>
                  <a:srgbClr val="111111"/>
                </a:solidFill>
                <a:latin typeface="Arial"/>
              </a:rPr>
              <a:t>Twelve times the training data costs 0.0189 on our own 1,977-image holdout, three seeds at every rung, which is 8.2 times the seed spread. The same eight checkpoints fall on a second weed dataset too. One of six audited web sources reaches a 0.90 label-precision bar.</a:t>
            </a:r>
          </a:p>
        </p:txBody>
      </p:sp>
      <p:sp>
        <p:nvSpPr>
          <p:cNvPr id="37" name="TextBox 36"/>
          <p:cNvSpPr txBox="1"/>
          <p:nvPr/>
        </p:nvSpPr>
        <p:spPr>
          <a:xfrm>
            <a:off x="32552640" y="10433303"/>
            <a:ext cx="10607040" cy="365760"/>
          </a:xfrm>
          <a:prstGeom prst="rect">
            <a:avLst/>
          </a:prstGeom>
          <a:noFill/>
        </p:spPr>
        <p:txBody>
          <a:bodyPr wrap="square" lIns="0" rIns="0" tIns="0" bIns="0">
            <a:spAutoFit/>
          </a:bodyPr>
          <a:lstStyle/>
          <a:p>
            <a:pPr algn="l">
              <a:lnSpc>
                <a:spcPct val="95000"/>
              </a:lnSpc>
              <a:spcAft>
                <a:spcPts val="0"/>
              </a:spcAft>
            </a:pPr>
            <a:r>
              <a:rPr sz="3400" b="1">
                <a:solidFill>
                  <a:srgbClr val="FFFFFF"/>
                </a:solidFill>
                <a:latin typeface="Arial"/>
              </a:rPr>
              <a:t>A drive becomes a dataset as it opens</a:t>
            </a:r>
          </a:p>
        </p:txBody>
      </p:sp>
      <p:sp>
        <p:nvSpPr>
          <p:cNvPr id="38" name="Rectangle 37"/>
          <p:cNvSpPr/>
          <p:nvPr/>
        </p:nvSpPr>
        <p:spPr>
          <a:xfrm>
            <a:off x="32552640" y="10994643"/>
            <a:ext cx="10607040" cy="27432"/>
          </a:xfrm>
          <a:prstGeom prst="rect">
            <a:avLst/>
          </a:prstGeom>
          <a:solidFill>
            <a:srgbClr val="B55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2552640" y="11323827"/>
            <a:ext cx="10607040" cy="365760"/>
          </a:xfrm>
          <a:prstGeom prst="rect">
            <a:avLst/>
          </a:prstGeom>
          <a:noFill/>
        </p:spPr>
        <p:txBody>
          <a:bodyPr wrap="square" lIns="0" rIns="0" tIns="0" bIns="0">
            <a:spAutoFit/>
          </a:bodyPr>
          <a:lstStyle/>
          <a:p>
            <a:pPr algn="l">
              <a:lnSpc>
                <a:spcPct val="122000"/>
              </a:lnSpc>
              <a:spcAft>
                <a:spcPts val="1400"/>
              </a:spcAft>
            </a:pPr>
            <a:r>
              <a:rPr sz="2000" b="0">
                <a:solidFill>
                  <a:srgbClr val="111111"/>
                </a:solidFill>
                <a:latin typeface="Arial"/>
              </a:rPr>
              <a:t>A vehicle opens a session and the platform registers it as a governed dataset at that moment, not after the drive ends. Frames and sensor batches arrive over one API key. Robot 241 sends camera, GPS and two IMUs; the laser cart sends camera, laser state, vehicle telemetry and its own detections, and no position at all.</a:t>
            </a:r>
          </a:p>
        </p:txBody>
      </p:sp>
      <p:sp>
        <p:nvSpPr>
          <p:cNvPr id="40" name="TextBox 39"/>
          <p:cNvSpPr txBox="1"/>
          <p:nvPr/>
        </p:nvSpPr>
        <p:spPr>
          <a:xfrm>
            <a:off x="32552640" y="13125195"/>
            <a:ext cx="10607040" cy="365760"/>
          </a:xfrm>
          <a:prstGeom prst="rect">
            <a:avLst/>
          </a:prstGeom>
          <a:noFill/>
        </p:spPr>
        <p:txBody>
          <a:bodyPr wrap="square" lIns="0" rIns="0" tIns="0" bIns="0">
            <a:spAutoFit/>
          </a:bodyPr>
          <a:lstStyle/>
          <a:p>
            <a:pPr algn="l">
              <a:lnSpc>
                <a:spcPct val="95000"/>
              </a:lnSpc>
              <a:spcAft>
                <a:spcPts val="0"/>
              </a:spcAft>
            </a:pPr>
            <a:r>
              <a:rPr sz="3400" b="1">
                <a:solidFill>
                  <a:srgbClr val="FFFFFF"/>
                </a:solidFill>
                <a:latin typeface="Arial"/>
              </a:rPr>
              <a:t>Four frames, as recorded</a:t>
            </a:r>
          </a:p>
        </p:txBody>
      </p:sp>
      <p:sp>
        <p:nvSpPr>
          <p:cNvPr id="41" name="Rectangle 40"/>
          <p:cNvSpPr/>
          <p:nvPr/>
        </p:nvSpPr>
        <p:spPr>
          <a:xfrm>
            <a:off x="32552640" y="13686535"/>
            <a:ext cx="10607040" cy="27432"/>
          </a:xfrm>
          <a:prstGeom prst="rect">
            <a:avLst/>
          </a:prstGeom>
          <a:solidFill>
            <a:srgbClr val="B55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2" name="Picture 41" descr="l_robots.png"/>
          <p:cNvPicPr>
            <a:picLocks noChangeAspect="1"/>
          </p:cNvPicPr>
          <p:nvPr/>
        </p:nvPicPr>
        <p:blipFill>
          <a:blip r:embed="rId4"/>
          <a:stretch>
            <a:fillRect/>
          </a:stretch>
        </p:blipFill>
        <p:spPr>
          <a:xfrm>
            <a:off x="32552640" y="14015719"/>
            <a:ext cx="10607040" cy="2377440"/>
          </a:xfrm>
          <a:prstGeom prst="rect">
            <a:avLst/>
          </a:prstGeom>
        </p:spPr>
      </p:pic>
      <p:sp>
        <p:nvSpPr>
          <p:cNvPr id="43" name="TextBox 42"/>
          <p:cNvSpPr txBox="1"/>
          <p:nvPr/>
        </p:nvSpPr>
        <p:spPr>
          <a:xfrm>
            <a:off x="32552640" y="16502888"/>
            <a:ext cx="10607040" cy="365760"/>
          </a:xfrm>
          <a:prstGeom prst="rect">
            <a:avLst/>
          </a:prstGeom>
          <a:noFill/>
        </p:spPr>
        <p:txBody>
          <a:bodyPr wrap="square" lIns="0" rIns="0" tIns="0" bIns="0">
            <a:spAutoFit/>
          </a:bodyPr>
          <a:lstStyle/>
          <a:p>
            <a:pPr algn="l">
              <a:lnSpc>
                <a:spcPct val="118000"/>
              </a:lnSpc>
              <a:spcAft>
                <a:spcPts val="0"/>
              </a:spcAft>
            </a:pPr>
            <a:r>
              <a:rPr sz="1600" b="0">
                <a:solidFill>
                  <a:srgbClr val="5B5B5B"/>
                </a:solidFill>
                <a:latin typeface="Arial"/>
              </a:rPr>
              <a:t>Figure 4.  Frames as recorded, unenhanced. Robot 241 has sent 2,238 frames at 640 x 360 and 1 Hz, the laser cart 427, and 75 of the cart's were taken in a field. None of the 2,686 is labelled. The rectangle in the down camera is the cart's fixed work-zone overlay. It is drawn on every frame, including the ones with no vegetation in them.</a:t>
            </a:r>
          </a:p>
        </p:txBody>
      </p:sp>
      <p:sp>
        <p:nvSpPr>
          <p:cNvPr id="44" name="TextBox 43"/>
          <p:cNvSpPr txBox="1"/>
          <p:nvPr/>
        </p:nvSpPr>
        <p:spPr>
          <a:xfrm>
            <a:off x="32552640" y="17772888"/>
            <a:ext cx="10607040" cy="365760"/>
          </a:xfrm>
          <a:prstGeom prst="rect">
            <a:avLst/>
          </a:prstGeom>
          <a:noFill/>
        </p:spPr>
        <p:txBody>
          <a:bodyPr wrap="square" lIns="0" rIns="0" tIns="0" bIns="0">
            <a:spAutoFit/>
          </a:bodyPr>
          <a:lstStyle/>
          <a:p>
            <a:pPr algn="l">
              <a:lnSpc>
                <a:spcPct val="122000"/>
              </a:lnSpc>
              <a:spcAft>
                <a:spcPts val="1400"/>
              </a:spcAft>
            </a:pPr>
            <a:r>
              <a:rPr sz="2000" b="0">
                <a:solidFill>
                  <a:srgbClr val="111111"/>
                </a:solidFill>
                <a:latin typeface="Arial"/>
              </a:rPr>
              <a:t>Nothing here is enhanced and nothing is labelled. The rectangle in the cart's down camera is a fixed work-zone overlay: it sits at the same pixels on frames with no vegetation in them at all.</a:t>
            </a:r>
          </a:p>
        </p:txBody>
      </p:sp>
      <p:sp>
        <p:nvSpPr>
          <p:cNvPr id="45" name="TextBox 44"/>
          <p:cNvSpPr txBox="1"/>
          <p:nvPr/>
        </p:nvSpPr>
        <p:spPr>
          <a:xfrm>
            <a:off x="32552640" y="19264376"/>
            <a:ext cx="10607040" cy="365760"/>
          </a:xfrm>
          <a:prstGeom prst="rect">
            <a:avLst/>
          </a:prstGeom>
          <a:noFill/>
        </p:spPr>
        <p:txBody>
          <a:bodyPr wrap="square" lIns="0" rIns="0" tIns="0" bIns="0">
            <a:spAutoFit/>
          </a:bodyPr>
          <a:lstStyle/>
          <a:p>
            <a:pPr algn="l">
              <a:lnSpc>
                <a:spcPct val="95000"/>
              </a:lnSpc>
              <a:spcAft>
                <a:spcPts val="0"/>
              </a:spcAft>
            </a:pPr>
            <a:r>
              <a:rPr sz="3400" b="1">
                <a:solidFill>
                  <a:srgbClr val="FFFFFF"/>
                </a:solidFill>
                <a:latin typeface="Arial"/>
              </a:rPr>
              <a:t>Only one robot has the button</a:t>
            </a:r>
          </a:p>
        </p:txBody>
      </p:sp>
      <p:sp>
        <p:nvSpPr>
          <p:cNvPr id="46" name="Rectangle 45"/>
          <p:cNvSpPr/>
          <p:nvPr/>
        </p:nvSpPr>
        <p:spPr>
          <a:xfrm>
            <a:off x="32552640" y="19825716"/>
            <a:ext cx="10607040" cy="27432"/>
          </a:xfrm>
          <a:prstGeom prst="rect">
            <a:avLst/>
          </a:prstGeom>
          <a:solidFill>
            <a:srgbClr val="B55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32552640" y="20154900"/>
            <a:ext cx="10607040" cy="365760"/>
          </a:xfrm>
          <a:prstGeom prst="rect">
            <a:avLst/>
          </a:prstGeom>
          <a:noFill/>
        </p:spPr>
        <p:txBody>
          <a:bodyPr wrap="square" lIns="0" rIns="0" tIns="0" bIns="0">
            <a:spAutoFit/>
          </a:bodyPr>
          <a:lstStyle/>
          <a:p>
            <a:pPr algn="l">
              <a:lnSpc>
                <a:spcPct val="122000"/>
              </a:lnSpc>
              <a:spcAft>
                <a:spcPts val="1400"/>
              </a:spcAft>
            </a:pPr>
            <a:r>
              <a:rPr sz="2000" b="0">
                <a:solidFill>
                  <a:srgbClr val="111111"/>
                </a:solidFill>
                <a:latin typeface="Arial"/>
              </a:rPr>
              <a:t>The Drive button appears on the 241 project and not on the laser cart's, because the allow-list holds one target. The rover has been dark since 2026-08-28: the platform answers a drive request today with its own offline page. The cart has never been drivable from the platform.</a:t>
            </a:r>
          </a:p>
        </p:txBody>
      </p:sp>
      <p:sp>
        <p:nvSpPr>
          <p:cNvPr id="48" name="TextBox 47"/>
          <p:cNvSpPr txBox="1"/>
          <p:nvPr/>
        </p:nvSpPr>
        <p:spPr>
          <a:xfrm>
            <a:off x="32552640" y="21956268"/>
            <a:ext cx="10607040" cy="365760"/>
          </a:xfrm>
          <a:prstGeom prst="rect">
            <a:avLst/>
          </a:prstGeom>
          <a:noFill/>
        </p:spPr>
        <p:txBody>
          <a:bodyPr wrap="square" lIns="0" rIns="0" tIns="0" bIns="0">
            <a:spAutoFit/>
          </a:bodyPr>
          <a:lstStyle/>
          <a:p>
            <a:pPr algn="l">
              <a:lnSpc>
                <a:spcPct val="95000"/>
              </a:lnSpc>
              <a:spcAft>
                <a:spcPts val="0"/>
              </a:spcAft>
            </a:pPr>
            <a:r>
              <a:rPr sz="3400" b="1">
                <a:solidFill>
                  <a:srgbClr val="FFFFFF"/>
                </a:solidFill>
                <a:latin typeface="Arial"/>
              </a:rPr>
              <a:t>Which decisions a model makes</a:t>
            </a:r>
          </a:p>
        </p:txBody>
      </p:sp>
      <p:sp>
        <p:nvSpPr>
          <p:cNvPr id="49" name="Rectangle 48"/>
          <p:cNvSpPr/>
          <p:nvPr/>
        </p:nvSpPr>
        <p:spPr>
          <a:xfrm>
            <a:off x="32552640" y="22517608"/>
            <a:ext cx="10607040" cy="27432"/>
          </a:xfrm>
          <a:prstGeom prst="rect">
            <a:avLst/>
          </a:prstGeom>
          <a:solidFill>
            <a:srgbClr val="B55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32552640" y="22846792"/>
            <a:ext cx="10607040" cy="365760"/>
          </a:xfrm>
          <a:prstGeom prst="rect">
            <a:avLst/>
          </a:prstGeom>
          <a:noFill/>
        </p:spPr>
        <p:txBody>
          <a:bodyPr wrap="square" lIns="0" rIns="0" tIns="0" bIns="0">
            <a:spAutoFit/>
          </a:bodyPr>
          <a:lstStyle/>
          <a:p>
            <a:pPr algn="l">
              <a:lnSpc>
                <a:spcPct val="122000"/>
              </a:lnSpc>
              <a:spcAft>
                <a:spcPts val="1400"/>
              </a:spcAft>
            </a:pPr>
            <a:r>
              <a:rPr sz="2000" b="0">
                <a:solidFill>
                  <a:srgbClr val="111111"/>
                </a:solidFill>
                <a:latin typeface="Arial"/>
              </a:rPr>
              <a:t>A language model decides what the collector goes after next, judges whether a candidate dataset is on topic, and reviews a finished step. Those run on the cluster, as batch jobs, on open weights. The lab box hosts only the small guide model, and a verdict produced there is marked in its own record as a draft that may not be reported.</a:t>
            </a:r>
          </a:p>
        </p:txBody>
      </p:sp>
      <p:sp>
        <p:nvSpPr>
          <p:cNvPr id="51" name="TextBox 50"/>
          <p:cNvSpPr txBox="1"/>
          <p:nvPr/>
        </p:nvSpPr>
        <p:spPr>
          <a:xfrm>
            <a:off x="32552640" y="24958040"/>
            <a:ext cx="10607040" cy="365760"/>
          </a:xfrm>
          <a:prstGeom prst="rect">
            <a:avLst/>
          </a:prstGeom>
          <a:noFill/>
        </p:spPr>
        <p:txBody>
          <a:bodyPr wrap="square" lIns="0" rIns="0" tIns="0" bIns="0">
            <a:spAutoFit/>
          </a:bodyPr>
          <a:lstStyle/>
          <a:p>
            <a:pPr algn="l">
              <a:lnSpc>
                <a:spcPct val="95000"/>
              </a:lnSpc>
              <a:spcAft>
                <a:spcPts val="0"/>
              </a:spcAft>
            </a:pPr>
            <a:r>
              <a:rPr sz="3400" b="1">
                <a:solidFill>
                  <a:srgbClr val="FFFFFF"/>
                </a:solidFill>
                <a:latin typeface="Arial"/>
              </a:rPr>
              <a:t>Any research field is a project</a:t>
            </a:r>
          </a:p>
        </p:txBody>
      </p:sp>
      <p:sp>
        <p:nvSpPr>
          <p:cNvPr id="52" name="Rectangle 51"/>
          <p:cNvSpPr/>
          <p:nvPr/>
        </p:nvSpPr>
        <p:spPr>
          <a:xfrm>
            <a:off x="32552640" y="25519380"/>
            <a:ext cx="10607040" cy="27432"/>
          </a:xfrm>
          <a:prstGeom prst="rect">
            <a:avLst/>
          </a:prstGeom>
          <a:solidFill>
            <a:srgbClr val="B55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32552640" y="25848564"/>
            <a:ext cx="10607040" cy="365760"/>
          </a:xfrm>
          <a:prstGeom prst="rect">
            <a:avLst/>
          </a:prstGeom>
          <a:noFill/>
        </p:spPr>
        <p:txBody>
          <a:bodyPr wrap="square" lIns="0" rIns="0" tIns="0" bIns="0">
            <a:spAutoFit/>
          </a:bodyPr>
          <a:lstStyle/>
          <a:p>
            <a:pPr algn="l">
              <a:lnSpc>
                <a:spcPct val="122000"/>
              </a:lnSpc>
              <a:spcAft>
                <a:spcPts val="1400"/>
              </a:spcAft>
            </a:pPr>
            <a:r>
              <a:rPr sz="2000" b="0">
                <a:solidFill>
                  <a:srgbClr val="111111"/>
                </a:solidFill>
                <a:latin typeface="Arial"/>
              </a:rPr>
              <a:t>A lab member opens a project for any data type and any field, uploads images, video or sensor logs, and gets an automatic diagnosis before choosing what to do next. Weed detection is one project on this platform. The 241 rover, the laser cart and a Unitree humanoid each have their own.</a:t>
            </a:r>
          </a:p>
        </p:txBody>
      </p:sp>
      <p:sp>
        <p:nvSpPr>
          <p:cNvPr id="54" name="Rectangle 53"/>
          <p:cNvSpPr/>
          <p:nvPr/>
        </p:nvSpPr>
        <p:spPr>
          <a:xfrm>
            <a:off x="731520" y="30632400"/>
            <a:ext cx="42428160" cy="20116"/>
          </a:xfrm>
          <a:prstGeom prst="rect">
            <a:avLst/>
          </a:prstGeom>
          <a:solidFill>
            <a:srgbClr val="D0D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731520" y="30861000"/>
            <a:ext cx="13837920" cy="365760"/>
          </a:xfrm>
          <a:prstGeom prst="rect">
            <a:avLst/>
          </a:prstGeom>
          <a:noFill/>
        </p:spPr>
        <p:txBody>
          <a:bodyPr wrap="square" lIns="0" rIns="0" tIns="0" bIns="0">
            <a:spAutoFit/>
          </a:bodyPr>
          <a:lstStyle/>
          <a:p>
            <a:pPr algn="l">
              <a:lnSpc>
                <a:spcPct val="122000"/>
              </a:lnSpc>
              <a:spcAft>
                <a:spcPts val="1200"/>
              </a:spcAft>
            </a:pPr>
            <a:r>
              <a:rPr sz="1600" b="0">
                <a:solidFill>
                  <a:srgbClr val="5B5B5B"/>
                </a:solidFill>
                <a:latin typeface="Arial"/>
              </a:rPr>
              <a:t>Standing today. The collector and trainer are paused after a stop-loss on 2026-08-29. The rover has been off the tailnet since then and the platform answers a drive request with its offline page. The supervisor is advisory. None of the 2,686 frames is labelled.</a:t>
            </a:r>
          </a:p>
        </p:txBody>
      </p:sp>
      <p:sp>
        <p:nvSpPr>
          <p:cNvPr id="56" name="TextBox 55"/>
          <p:cNvSpPr txBox="1"/>
          <p:nvPr/>
        </p:nvSpPr>
        <p:spPr>
          <a:xfrm>
            <a:off x="15026640" y="30861000"/>
            <a:ext cx="13837920" cy="365760"/>
          </a:xfrm>
          <a:prstGeom prst="rect">
            <a:avLst/>
          </a:prstGeom>
          <a:noFill/>
        </p:spPr>
        <p:txBody>
          <a:bodyPr wrap="square" lIns="0" rIns="0" tIns="0" bIns="0">
            <a:spAutoFit/>
          </a:bodyPr>
          <a:lstStyle/>
          <a:p>
            <a:pPr algn="l">
              <a:lnSpc>
                <a:spcPct val="122000"/>
              </a:lnSpc>
              <a:spcAft>
                <a:spcPts val="1200"/>
              </a:spcAft>
            </a:pPr>
            <a:r>
              <a:rPr sz="1600" b="0">
                <a:solidFill>
                  <a:srgbClr val="5B5B5B"/>
                </a:solidFill>
                <a:latin typeface="Arial"/>
              </a:rPr>
              <a:t>How the numbers were made. Most in-domain numbers are mAP50-95 on the same 1,977 images under Ultralytics. RF-DETR is pycocotools and the zero-shot column is mAP50 on the 848-image split; neither is differenced against the rest. That holdout is also the validation set during training, so every mAP here is a run's best epoch.</a:t>
            </a:r>
          </a:p>
        </p:txBody>
      </p:sp>
      <p:sp>
        <p:nvSpPr>
          <p:cNvPr id="57" name="TextBox 56"/>
          <p:cNvSpPr txBox="1"/>
          <p:nvPr/>
        </p:nvSpPr>
        <p:spPr>
          <a:xfrm>
            <a:off x="29321759" y="30861000"/>
            <a:ext cx="13837920" cy="365760"/>
          </a:xfrm>
          <a:prstGeom prst="rect">
            <a:avLst/>
          </a:prstGeom>
          <a:noFill/>
        </p:spPr>
        <p:txBody>
          <a:bodyPr wrap="square" lIns="0" rIns="0" tIns="0" bIns="0">
            <a:spAutoFit/>
          </a:bodyPr>
          <a:lstStyle/>
          <a:p>
            <a:pPr algn="l">
              <a:lnSpc>
                <a:spcPct val="122000"/>
              </a:lnSpc>
              <a:spcAft>
                <a:spcPts val="1200"/>
              </a:spcAft>
            </a:pPr>
            <a:r>
              <a:rPr sz="1600" b="0">
                <a:solidFill>
                  <a:srgbClr val="5B5B5B"/>
                </a:solidFill>
                <a:latin typeface="Arial"/>
              </a:rPr>
              <a:t>Numbers we withdrew. 0.910 was a data leak, found by a content-level check we built after publishing it. 0.9033 is the best of four unseeded runs and only one of the four crossed 0.90. An earlier reading of the ladder as a flat curve is retracted.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Middle Tennessee State University, Murfreesboro, TN, USA</dc:title>
  <dc:subject/>
  <dc:creator>Harry He</dc:creator>
  <cp:keywords/>
  <dc:description>generated using python-pptx</dc:description>
  <cp:lastModifiedBy>Harry He</cp:lastModifiedBy>
  <cp:revision>1</cp:revision>
  <dcterms:created xsi:type="dcterms:W3CDTF">2013-01-27T09:14:16Z</dcterms:created>
  <dcterms:modified xsi:type="dcterms:W3CDTF">2013-01-27T09:15:58Z</dcterms:modified>
  <cp:category/>
</cp:coreProperties>
</file>