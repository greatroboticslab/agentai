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10800" b="1">
                <a:solidFill>
                  <a:srgbClr val="FFFFFF"/>
                </a:solidFill>
                <a:latin typeface="Arial"/>
              </a:rPr>
              <a:t>Two Field Robots and an Agent Platform for Laser Weeding</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FFFFF"/>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C2CEDA"/>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E293B"/>
                </a:solidFill>
                <a:latin typeface="Arial"/>
              </a:rPr>
              <a:t>Anyone can download a weed dataset this afternoon. Nobody can download the path from a robot in a Tennessee crop row to a trained checkpoint. We built that path, ran it unattended for fifteen rounds, and measured every stage of it, including the last one we have not closed.</a:t>
            </a:r>
          </a:p>
        </p:txBody>
      </p:sp>
      <p:pic>
        <p:nvPicPr>
          <p:cNvPr id="9" name="Picture 8" descr="n_system.png"/>
          <p:cNvPicPr>
            <a:picLocks noChangeAspect="1"/>
          </p:cNvPicPr>
          <p:nvPr/>
        </p:nvPicPr>
        <p:blipFill>
          <a:blip r:embed="rId2"/>
          <a:stretch>
            <a:fillRect/>
          </a:stretch>
        </p:blipFill>
        <p:spPr>
          <a:xfrm>
            <a:off x="11704320" y="5623560"/>
            <a:ext cx="20482560" cy="3383280"/>
          </a:xfrm>
          <a:prstGeom prst="rect">
            <a:avLst/>
          </a:prstGeom>
        </p:spPr>
      </p:pic>
      <p:sp>
        <p:nvSpPr>
          <p:cNvPr id="10" name="TextBox 9"/>
          <p:cNvSpPr txBox="1"/>
          <p:nvPr/>
        </p:nvSpPr>
        <p:spPr>
          <a:xfrm>
            <a:off x="11704320" y="9116568"/>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1.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11" name="TextBox 10"/>
          <p:cNvSpPr txBox="1"/>
          <p:nvPr/>
        </p:nvSpPr>
        <p:spPr>
          <a:xfrm>
            <a:off x="731520" y="562356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The two vehicles</a:t>
            </a:r>
          </a:p>
        </p:txBody>
      </p:sp>
      <p:sp>
        <p:nvSpPr>
          <p:cNvPr id="12" name="Rectangle 11"/>
          <p:cNvSpPr/>
          <p:nvPr/>
        </p:nvSpPr>
        <p:spPr>
          <a:xfrm>
            <a:off x="731520" y="618490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_robots.png"/>
          <p:cNvPicPr>
            <a:picLocks noChangeAspect="1"/>
          </p:cNvPicPr>
          <p:nvPr/>
        </p:nvPicPr>
        <p:blipFill>
          <a:blip r:embed="rId3"/>
          <a:stretch>
            <a:fillRect/>
          </a:stretch>
        </p:blipFill>
        <p:spPr>
          <a:xfrm>
            <a:off x="731520" y="6514084"/>
            <a:ext cx="10607040" cy="2377440"/>
          </a:xfrm>
          <a:prstGeom prst="rect">
            <a:avLst/>
          </a:prstGeom>
        </p:spPr>
      </p:pic>
      <p:sp>
        <p:nvSpPr>
          <p:cNvPr id="14" name="TextBox 13"/>
          <p:cNvSpPr txBox="1"/>
          <p:nvPr/>
        </p:nvSpPr>
        <p:spPr>
          <a:xfrm>
            <a:off x="731520" y="9001252"/>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2.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15" name="TextBox 14"/>
          <p:cNvSpPr txBox="1"/>
          <p:nvPr/>
        </p:nvSpPr>
        <p:spPr>
          <a:xfrm>
            <a:off x="731520" y="10271252"/>
            <a:ext cx="1060704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Robot 241 is a tracked rover that drives crop rows and streams frames, position and attitude over a cellular link. The laser cart carries the weeder itself: a galvanometer laser, a down camera over the work zone and a forward camera. Between them they have recorded 2,686 frames in 26 drives. None is labelled.</a:t>
            </a:r>
          </a:p>
        </p:txBody>
      </p:sp>
      <p:sp>
        <p:nvSpPr>
          <p:cNvPr id="16" name="TextBox 15"/>
          <p:cNvSpPr txBox="1"/>
          <p:nvPr/>
        </p:nvSpPr>
        <p:spPr>
          <a:xfrm>
            <a:off x="32552640" y="562356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What is on disk</a:t>
            </a:r>
          </a:p>
        </p:txBody>
      </p:sp>
      <p:sp>
        <p:nvSpPr>
          <p:cNvPr id="17" name="Rectangle 16"/>
          <p:cNvSpPr/>
          <p:nvPr/>
        </p:nvSpPr>
        <p:spPr>
          <a:xfrm>
            <a:off x="32552640" y="618490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552640" y="6514084"/>
            <a:ext cx="10607040" cy="365760"/>
          </a:xfrm>
          <a:prstGeom prst="rect">
            <a:avLst/>
          </a:prstGeom>
          <a:noFill/>
        </p:spPr>
        <p:txBody>
          <a:bodyPr wrap="square" lIns="0" rIns="0" tIns="0" bIns="0">
            <a:spAutoFit/>
          </a:bodyPr>
          <a:lstStyle/>
          <a:p>
            <a:pPr algn="l">
              <a:lnSpc>
                <a:spcPct val="95000"/>
              </a:lnSpc>
              <a:spcAft>
                <a:spcPts val="0"/>
              </a:spcAft>
            </a:pPr>
            <a:r>
              <a:rPr sz="6000" b="1">
                <a:solidFill>
                  <a:srgbClr val="1C6FB5"/>
                </a:solidFill>
                <a:latin typeface="Arial"/>
              </a:rPr>
              <a:t>2,686</a:t>
            </a:r>
          </a:p>
        </p:txBody>
      </p:sp>
      <p:sp>
        <p:nvSpPr>
          <p:cNvPr id="19" name="TextBox 18"/>
          <p:cNvSpPr txBox="1"/>
          <p:nvPr/>
        </p:nvSpPr>
        <p:spPr>
          <a:xfrm>
            <a:off x="32552640" y="7291324"/>
            <a:ext cx="10607040"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camera frames</a:t>
            </a:r>
          </a:p>
        </p:txBody>
      </p:sp>
      <p:sp>
        <p:nvSpPr>
          <p:cNvPr id="20" name="TextBox 19"/>
          <p:cNvSpPr txBox="1"/>
          <p:nvPr/>
        </p:nvSpPr>
        <p:spPr>
          <a:xfrm>
            <a:off x="32552640" y="7626604"/>
            <a:ext cx="10607040"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26 drives, 2 robots, 0 labelled</a:t>
            </a:r>
          </a:p>
        </p:txBody>
      </p:sp>
      <p:sp>
        <p:nvSpPr>
          <p:cNvPr id="21" name="TextBox 20"/>
          <p:cNvSpPr txBox="1"/>
          <p:nvPr/>
        </p:nvSpPr>
        <p:spPr>
          <a:xfrm>
            <a:off x="32552640" y="8020812"/>
            <a:ext cx="10607040" cy="365760"/>
          </a:xfrm>
          <a:prstGeom prst="rect">
            <a:avLst/>
          </a:prstGeom>
          <a:noFill/>
        </p:spPr>
        <p:txBody>
          <a:bodyPr wrap="square" lIns="0" rIns="0" tIns="0" bIns="0">
            <a:spAutoFit/>
          </a:bodyPr>
          <a:lstStyle/>
          <a:p>
            <a:pPr algn="l">
              <a:lnSpc>
                <a:spcPct val="95000"/>
              </a:lnSpc>
              <a:spcAft>
                <a:spcPts val="0"/>
              </a:spcAft>
            </a:pPr>
            <a:r>
              <a:rPr sz="6000" b="1">
                <a:solidFill>
                  <a:srgbClr val="1C6FB5"/>
                </a:solidFill>
                <a:latin typeface="Arial"/>
              </a:rPr>
              <a:t>91,955</a:t>
            </a:r>
          </a:p>
        </p:txBody>
      </p:sp>
      <p:sp>
        <p:nvSpPr>
          <p:cNvPr id="22" name="TextBox 21"/>
          <p:cNvSpPr txBox="1"/>
          <p:nvPr/>
        </p:nvSpPr>
        <p:spPr>
          <a:xfrm>
            <a:off x="32552640" y="8798052"/>
            <a:ext cx="10607040"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telemetry rows</a:t>
            </a:r>
          </a:p>
        </p:txBody>
      </p:sp>
      <p:sp>
        <p:nvSpPr>
          <p:cNvPr id="23" name="TextBox 22"/>
          <p:cNvSpPr txBox="1"/>
          <p:nvPr/>
        </p:nvSpPr>
        <p:spPr>
          <a:xfrm>
            <a:off x="32552640" y="9133332"/>
            <a:ext cx="10607040"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nine streams: GPS, two IMUs, motor, laser, control</a:t>
            </a:r>
          </a:p>
        </p:txBody>
      </p:sp>
      <p:sp>
        <p:nvSpPr>
          <p:cNvPr id="24" name="TextBox 23"/>
          <p:cNvSpPr txBox="1"/>
          <p:nvPr/>
        </p:nvSpPr>
        <p:spPr>
          <a:xfrm>
            <a:off x="32552640" y="9527540"/>
            <a:ext cx="10607040" cy="365760"/>
          </a:xfrm>
          <a:prstGeom prst="rect">
            <a:avLst/>
          </a:prstGeom>
          <a:noFill/>
        </p:spPr>
        <p:txBody>
          <a:bodyPr wrap="square" lIns="0" rIns="0" tIns="0" bIns="0">
            <a:spAutoFit/>
          </a:bodyPr>
          <a:lstStyle/>
          <a:p>
            <a:pPr algn="l">
              <a:lnSpc>
                <a:spcPct val="95000"/>
              </a:lnSpc>
              <a:spcAft>
                <a:spcPts val="0"/>
              </a:spcAft>
            </a:pPr>
            <a:r>
              <a:rPr sz="6000" b="1">
                <a:solidFill>
                  <a:srgbClr val="1C6FB5"/>
                </a:solidFill>
                <a:latin typeface="Arial"/>
              </a:rPr>
              <a:t>342 m</a:t>
            </a:r>
          </a:p>
        </p:txBody>
      </p:sp>
      <p:sp>
        <p:nvSpPr>
          <p:cNvPr id="25" name="TextBox 24"/>
          <p:cNvSpPr txBox="1"/>
          <p:nvPr/>
        </p:nvSpPr>
        <p:spPr>
          <a:xfrm>
            <a:off x="32552640" y="10304780"/>
            <a:ext cx="10607040"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of GPS track</a:t>
            </a:r>
          </a:p>
        </p:txBody>
      </p:sp>
      <p:sp>
        <p:nvSpPr>
          <p:cNvPr id="26" name="TextBox 25"/>
          <p:cNvSpPr txBox="1"/>
          <p:nvPr/>
        </p:nvSpPr>
        <p:spPr>
          <a:xfrm>
            <a:off x="32552640" y="10640060"/>
            <a:ext cx="10607040"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1,502 fixes over 18 drives; the longest single pass is 141 m</a:t>
            </a:r>
          </a:p>
        </p:txBody>
      </p:sp>
      <p:sp>
        <p:nvSpPr>
          <p:cNvPr id="27" name="TextBox 26"/>
          <p:cNvSpPr txBox="1"/>
          <p:nvPr/>
        </p:nvSpPr>
        <p:spPr>
          <a:xfrm>
            <a:off x="32790384" y="11034268"/>
            <a:ext cx="10369296" cy="365760"/>
          </a:xfrm>
          <a:prstGeom prst="rect">
            <a:avLst/>
          </a:prstGeom>
          <a:noFill/>
        </p:spPr>
        <p:txBody>
          <a:bodyPr wrap="square" lIns="0" rIns="0" tIns="0" bIns="0">
            <a:spAutoFit/>
          </a:bodyPr>
          <a:lstStyle/>
          <a:p>
            <a:pPr algn="l">
              <a:lnSpc>
                <a:spcPct val="122000"/>
              </a:lnSpc>
              <a:spcAft>
                <a:spcPts val="300"/>
              </a:spcAft>
            </a:pPr>
            <a:r>
              <a:rPr sz="2000" b="1">
                <a:solidFill>
                  <a:srgbClr val="1E293B"/>
                </a:solidFill>
                <a:latin typeface="Arial"/>
              </a:rPr>
              <a:t>The cart has no position sensor.</a:t>
            </a:r>
          </a:p>
        </p:txBody>
      </p:sp>
      <p:sp>
        <p:nvSpPr>
          <p:cNvPr id="28" name="TextBox 27"/>
          <p:cNvSpPr txBox="1"/>
          <p:nvPr/>
        </p:nvSpPr>
        <p:spPr>
          <a:xfrm>
            <a:off x="32790384" y="11382248"/>
            <a:ext cx="10369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Its archive declares four telemetry streams and neither of them is GPS or IMU, so the sensor-fusion work on this platform is robot 241 only.</a:t>
            </a:r>
          </a:p>
        </p:txBody>
      </p:sp>
      <p:sp>
        <p:nvSpPr>
          <p:cNvPr id="29" name="Rectangle 28"/>
          <p:cNvSpPr/>
          <p:nvPr/>
        </p:nvSpPr>
        <p:spPr>
          <a:xfrm>
            <a:off x="32552640" y="11034268"/>
            <a:ext cx="27432" cy="843788"/>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124632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Why build the path</a:t>
            </a:r>
          </a:p>
        </p:txBody>
      </p:sp>
      <p:sp>
        <p:nvSpPr>
          <p:cNvPr id="31" name="Rectangle 30"/>
          <p:cNvSpPr/>
          <p:nvPr/>
        </p:nvSpPr>
        <p:spPr>
          <a:xfrm>
            <a:off x="731520" y="1302461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13353796"/>
            <a:ext cx="1060704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The end product burns weeds between crop rows instead of spraying them, so the detector has to work on the rows this vehicle drives and has to fit on the Jetson the cart carries. The deployed checkpoint is 2.6 M parameters. No public dataset contains our rows, and a five-person lab does not hand-label a hundred thousand field images.</a:t>
            </a:r>
          </a:p>
        </p:txBody>
      </p:sp>
      <p:sp>
        <p:nvSpPr>
          <p:cNvPr id="33" name="TextBox 32"/>
          <p:cNvSpPr txBox="1"/>
          <p:nvPr/>
        </p:nvSpPr>
        <p:spPr>
          <a:xfrm>
            <a:off x="731520" y="15055596"/>
            <a:ext cx="1060704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One drive, in full</a:t>
            </a:r>
          </a:p>
        </p:txBody>
      </p:sp>
      <p:pic>
        <p:nvPicPr>
          <p:cNvPr id="34" name="Picture 33" descr="h_drive.png"/>
          <p:cNvPicPr>
            <a:picLocks noChangeAspect="1"/>
          </p:cNvPicPr>
          <p:nvPr/>
        </p:nvPicPr>
        <p:blipFill>
          <a:blip r:embed="rId4"/>
          <a:stretch>
            <a:fillRect/>
          </a:stretch>
        </p:blipFill>
        <p:spPr>
          <a:xfrm>
            <a:off x="731520" y="15476220"/>
            <a:ext cx="10607040" cy="4023360"/>
          </a:xfrm>
          <a:prstGeom prst="rect">
            <a:avLst/>
          </a:prstGeom>
        </p:spPr>
      </p:pic>
      <p:sp>
        <p:nvSpPr>
          <p:cNvPr id="35" name="TextBox 34"/>
          <p:cNvSpPr txBox="1"/>
          <p:nvPr/>
        </p:nvSpPr>
        <p:spPr>
          <a:xfrm>
            <a:off x="731520" y="19609308"/>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3.  Robot 241, 2026-08-29: one 213 s pass through a crop plot. (h) GPS track from the board fix. (i) IMU heading over the same pass.</a:t>
            </a:r>
          </a:p>
        </p:txBody>
      </p:sp>
      <p:sp>
        <p:nvSpPr>
          <p:cNvPr id="36" name="TextBox 35"/>
          <p:cNvSpPr txBox="1"/>
          <p:nvPr/>
        </p:nvSpPr>
        <p:spPr>
          <a:xfrm>
            <a:off x="11704320" y="12463272"/>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What the agents did on their own</a:t>
            </a:r>
          </a:p>
        </p:txBody>
      </p:sp>
      <p:sp>
        <p:nvSpPr>
          <p:cNvPr id="37" name="Rectangle 36"/>
          <p:cNvSpPr/>
          <p:nvPr/>
        </p:nvSpPr>
        <p:spPr>
          <a:xfrm>
            <a:off x="11704320" y="13024612"/>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704320" y="13353796"/>
            <a:ext cx="2048256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Two SLURM jobs, one collecting and one training, ran fifteen rounds against the locked registry with nobody in the room. Each round searched public sources, filtered what it found, merged it into the corpus, trained, and evaluated on a sealed holdout. Every round reported success. Accuracy fell for fifteen rounds.</a:t>
            </a:r>
          </a:p>
        </p:txBody>
      </p:sp>
      <p:pic>
        <p:nvPicPr>
          <p:cNvPr id="39" name="Picture 38" descr="f_rounds.png"/>
          <p:cNvPicPr>
            <a:picLocks noChangeAspect="1"/>
          </p:cNvPicPr>
          <p:nvPr/>
        </p:nvPicPr>
        <p:blipFill>
          <a:blip r:embed="rId5"/>
          <a:stretch>
            <a:fillRect/>
          </a:stretch>
        </p:blipFill>
        <p:spPr>
          <a:xfrm>
            <a:off x="11704320" y="14125956"/>
            <a:ext cx="20482560" cy="4663440"/>
          </a:xfrm>
          <a:prstGeom prst="rect">
            <a:avLst/>
          </a:prstGeom>
        </p:spPr>
      </p:pic>
      <p:sp>
        <p:nvSpPr>
          <p:cNvPr id="40" name="TextBox 39"/>
          <p:cNvSpPr txBox="1"/>
          <p:nvPr/>
        </p:nvSpPr>
        <p:spPr>
          <a:xfrm>
            <a:off x="11704320" y="18899124"/>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4.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1" name="TextBox 40"/>
          <p:cNvSpPr txBox="1"/>
          <p:nvPr/>
        </p:nvSpPr>
        <p:spPr>
          <a:xfrm>
            <a:off x="11704320" y="19929348"/>
            <a:ext cx="2048256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Reading the loop's own artifacts instead of its dashboard explained it. The training corpus stopped growing at round three: the same 24 datasets and the same 48,752 unique images went in every time, and the apparent growth was one staging directory nobody cleared. Eight rounds collected nothing at all and reported success. What was left was the chain itself, and a control on round 15's own data priced it: starting fresh instead of from the previous round is worth +0.0287, which is 5.1 times the seed spread this recipe actually has.</a:t>
            </a:r>
          </a:p>
        </p:txBody>
      </p:sp>
      <p:sp>
        <p:nvSpPr>
          <p:cNvPr id="42" name="TextBox 41"/>
          <p:cNvSpPr txBox="1"/>
          <p:nvPr/>
        </p:nvSpPr>
        <p:spPr>
          <a:xfrm>
            <a:off x="32552640" y="124632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Does more data help?</a:t>
            </a:r>
          </a:p>
        </p:txBody>
      </p:sp>
      <p:sp>
        <p:nvSpPr>
          <p:cNvPr id="43" name="Rectangle 42"/>
          <p:cNvSpPr/>
          <p:nvPr/>
        </p:nvSpPr>
        <p:spPr>
          <a:xfrm>
            <a:off x="32552640" y="1302461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2552640" y="13353796"/>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552640" y="13472668"/>
            <a:ext cx="4667097"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harvested added</a:t>
            </a:r>
          </a:p>
        </p:txBody>
      </p:sp>
      <p:sp>
        <p:nvSpPr>
          <p:cNvPr id="46" name="TextBox 45"/>
          <p:cNvSpPr txBox="1"/>
          <p:nvPr/>
        </p:nvSpPr>
        <p:spPr>
          <a:xfrm>
            <a:off x="37219737" y="13472668"/>
            <a:ext cx="424281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mAP50-95</a:t>
            </a:r>
          </a:p>
        </p:txBody>
      </p:sp>
      <p:sp>
        <p:nvSpPr>
          <p:cNvPr id="47" name="TextBox 46"/>
          <p:cNvSpPr txBox="1"/>
          <p:nvPr/>
        </p:nvSpPr>
        <p:spPr>
          <a:xfrm>
            <a:off x="41462553" y="13472668"/>
            <a:ext cx="169712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n</a:t>
            </a:r>
          </a:p>
        </p:txBody>
      </p:sp>
      <p:sp>
        <p:nvSpPr>
          <p:cNvPr id="48" name="Rectangle 47"/>
          <p:cNvSpPr/>
          <p:nvPr/>
        </p:nvSpPr>
        <p:spPr>
          <a:xfrm>
            <a:off x="32552640" y="13838428"/>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552640" y="13948156"/>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none, the core</a:t>
            </a:r>
          </a:p>
        </p:txBody>
      </p:sp>
      <p:sp>
        <p:nvSpPr>
          <p:cNvPr id="50" name="TextBox 49"/>
          <p:cNvSpPr txBox="1"/>
          <p:nvPr/>
        </p:nvSpPr>
        <p:spPr>
          <a:xfrm>
            <a:off x="37219737" y="13948156"/>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0.8637 ± 0.0027</a:t>
            </a:r>
          </a:p>
        </p:txBody>
      </p:sp>
      <p:sp>
        <p:nvSpPr>
          <p:cNvPr id="51" name="TextBox 50"/>
          <p:cNvSpPr txBox="1"/>
          <p:nvPr/>
        </p:nvSpPr>
        <p:spPr>
          <a:xfrm>
            <a:off x="41462553" y="13948156"/>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52" name="TextBox 51"/>
          <p:cNvSpPr txBox="1"/>
          <p:nvPr/>
        </p:nvSpPr>
        <p:spPr>
          <a:xfrm>
            <a:off x="32552640" y="14350492"/>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+5,000</a:t>
            </a:r>
          </a:p>
        </p:txBody>
      </p:sp>
      <p:sp>
        <p:nvSpPr>
          <p:cNvPr id="53" name="TextBox 52"/>
          <p:cNvSpPr txBox="1"/>
          <p:nvPr/>
        </p:nvSpPr>
        <p:spPr>
          <a:xfrm>
            <a:off x="37219737" y="14350492"/>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0.8609 ± 0.0036</a:t>
            </a:r>
          </a:p>
        </p:txBody>
      </p:sp>
      <p:sp>
        <p:nvSpPr>
          <p:cNvPr id="54" name="TextBox 53"/>
          <p:cNvSpPr txBox="1"/>
          <p:nvPr/>
        </p:nvSpPr>
        <p:spPr>
          <a:xfrm>
            <a:off x="41462553" y="14350492"/>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55" name="TextBox 54"/>
          <p:cNvSpPr txBox="1"/>
          <p:nvPr/>
        </p:nvSpPr>
        <p:spPr>
          <a:xfrm>
            <a:off x="32552640" y="14752828"/>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+15,000</a:t>
            </a:r>
          </a:p>
        </p:txBody>
      </p:sp>
      <p:sp>
        <p:nvSpPr>
          <p:cNvPr id="56" name="TextBox 55"/>
          <p:cNvSpPr txBox="1"/>
          <p:nvPr/>
        </p:nvSpPr>
        <p:spPr>
          <a:xfrm>
            <a:off x="37219737" y="14752828"/>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0.8580 ± 0.0047</a:t>
            </a:r>
          </a:p>
        </p:txBody>
      </p:sp>
      <p:sp>
        <p:nvSpPr>
          <p:cNvPr id="57" name="TextBox 56"/>
          <p:cNvSpPr txBox="1"/>
          <p:nvPr/>
        </p:nvSpPr>
        <p:spPr>
          <a:xfrm>
            <a:off x="41462553" y="14752828"/>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58" name="TextBox 57"/>
          <p:cNvSpPr txBox="1"/>
          <p:nvPr/>
        </p:nvSpPr>
        <p:spPr>
          <a:xfrm>
            <a:off x="32552640" y="15155164"/>
            <a:ext cx="4667097" cy="365760"/>
          </a:xfrm>
          <a:prstGeom prst="rect">
            <a:avLst/>
          </a:prstGeom>
          <a:noFill/>
        </p:spPr>
        <p:txBody>
          <a:bodyPr wrap="square" lIns="0" rIns="0" tIns="0" bIns="0">
            <a:spAutoFit/>
          </a:bodyPr>
          <a:lstStyle/>
          <a:p>
            <a:pPr algn="l">
              <a:lnSpc>
                <a:spcPct val="100000"/>
              </a:lnSpc>
              <a:spcAft>
                <a:spcPts val="0"/>
              </a:spcAft>
            </a:pPr>
            <a:r>
              <a:rPr sz="1700" b="1">
                <a:solidFill>
                  <a:srgbClr val="1C6FB5"/>
                </a:solidFill>
                <a:latin typeface="Arial"/>
              </a:rPr>
              <a:t>+40,000</a:t>
            </a:r>
          </a:p>
        </p:txBody>
      </p:sp>
      <p:sp>
        <p:nvSpPr>
          <p:cNvPr id="59" name="TextBox 58"/>
          <p:cNvSpPr txBox="1"/>
          <p:nvPr/>
        </p:nvSpPr>
        <p:spPr>
          <a:xfrm>
            <a:off x="37219737" y="15155164"/>
            <a:ext cx="424281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0.8448 ± 0.0018</a:t>
            </a:r>
          </a:p>
        </p:txBody>
      </p:sp>
      <p:sp>
        <p:nvSpPr>
          <p:cNvPr id="60" name="TextBox 59"/>
          <p:cNvSpPr txBox="1"/>
          <p:nvPr/>
        </p:nvSpPr>
        <p:spPr>
          <a:xfrm>
            <a:off x="41462553" y="15155164"/>
            <a:ext cx="169712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3</a:t>
            </a:r>
          </a:p>
        </p:txBody>
      </p:sp>
      <p:sp>
        <p:nvSpPr>
          <p:cNvPr id="61" name="Rectangle 60"/>
          <p:cNvSpPr/>
          <p:nvPr/>
        </p:nvSpPr>
        <p:spPr>
          <a:xfrm>
            <a:off x="32552640" y="15584932"/>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2552640" y="15850108"/>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Twelve times the training data costs 0.0189 on our own holdout, which is 8.2 times the seed spread. The same eight checkpoints scored on a second weed dataset fall too, by 0.0299, so this is the data and not the metric. One of six audited web sources reaches a 0.90 label-precision bar, and 44,750 of 156,521 harvested images are copies of each other.</a:t>
            </a:r>
          </a:p>
        </p:txBody>
      </p:sp>
      <p:sp>
        <p:nvSpPr>
          <p:cNvPr id="63" name="TextBox 62"/>
          <p:cNvSpPr txBox="1"/>
          <p:nvPr/>
        </p:nvSpPr>
        <p:spPr>
          <a:xfrm>
            <a:off x="11704320" y="21741892"/>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Everything we trained, ran, or rejected</a:t>
            </a:r>
          </a:p>
        </p:txBody>
      </p:sp>
      <p:sp>
        <p:nvSpPr>
          <p:cNvPr id="64" name="Rectangle 63"/>
          <p:cNvSpPr/>
          <p:nvPr/>
        </p:nvSpPr>
        <p:spPr>
          <a:xfrm>
            <a:off x="11704320" y="22303232"/>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m_ledger.png"/>
          <p:cNvPicPr>
            <a:picLocks noChangeAspect="1"/>
          </p:cNvPicPr>
          <p:nvPr/>
        </p:nvPicPr>
        <p:blipFill>
          <a:blip r:embed="rId6"/>
          <a:stretch>
            <a:fillRect/>
          </a:stretch>
        </p:blipFill>
        <p:spPr>
          <a:xfrm>
            <a:off x="11704320" y="22632416"/>
            <a:ext cx="20482560" cy="3749040"/>
          </a:xfrm>
          <a:prstGeom prst="rect">
            <a:avLst/>
          </a:prstGeom>
        </p:spPr>
      </p:pic>
      <p:sp>
        <p:nvSpPr>
          <p:cNvPr id="66" name="TextBox 65"/>
          <p:cNvSpPr txBox="1"/>
          <p:nvPr/>
        </p:nvSpPr>
        <p:spPr>
          <a:xfrm>
            <a:off x="11704320" y="26491184"/>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5.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67" name="TextBox 66"/>
          <p:cNvSpPr txBox="1"/>
          <p:nvPr/>
        </p:nvSpPr>
        <p:spPr>
          <a:xfrm>
            <a:off x="731520" y="2174189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Back on our own rows</a:t>
            </a:r>
          </a:p>
        </p:txBody>
      </p:sp>
      <p:sp>
        <p:nvSpPr>
          <p:cNvPr id="68" name="Rectangle 67"/>
          <p:cNvSpPr/>
          <p:nvPr/>
        </p:nvSpPr>
        <p:spPr>
          <a:xfrm>
            <a:off x="731520" y="2230323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p_field.png"/>
          <p:cNvPicPr>
            <a:picLocks noChangeAspect="1"/>
          </p:cNvPicPr>
          <p:nvPr/>
        </p:nvPicPr>
        <p:blipFill>
          <a:blip r:embed="rId7"/>
          <a:stretch>
            <a:fillRect/>
          </a:stretch>
        </p:blipFill>
        <p:spPr>
          <a:xfrm>
            <a:off x="731520" y="22632416"/>
            <a:ext cx="10607040" cy="2468880"/>
          </a:xfrm>
          <a:prstGeom prst="rect">
            <a:avLst/>
          </a:prstGeom>
        </p:spPr>
      </p:pic>
      <p:sp>
        <p:nvSpPr>
          <p:cNvPr id="70" name="TextBox 69"/>
          <p:cNvSpPr txBox="1"/>
          <p:nvPr/>
        </p:nvSpPr>
        <p:spPr>
          <a:xfrm>
            <a:off x="731520" y="25211024"/>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6.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sp>
        <p:nvSpPr>
          <p:cNvPr id="71" name="TextBox 70"/>
          <p:cNvSpPr txBox="1"/>
          <p:nvPr/>
        </p:nvSpPr>
        <p:spPr>
          <a:xfrm>
            <a:off x="32552640" y="2174189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Who notices when it breaks</a:t>
            </a:r>
          </a:p>
        </p:txBody>
      </p:sp>
      <p:sp>
        <p:nvSpPr>
          <p:cNvPr id="72" name="Rectangle 71"/>
          <p:cNvSpPr/>
          <p:nvPr/>
        </p:nvSpPr>
        <p:spPr>
          <a:xfrm>
            <a:off x="32552640" y="2230323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2552640" y="22632416"/>
            <a:ext cx="10607040" cy="365760"/>
          </a:xfrm>
          <a:prstGeom prst="rect">
            <a:avLst/>
          </a:prstGeom>
          <a:noFill/>
        </p:spPr>
        <p:txBody>
          <a:bodyPr wrap="square" lIns="0" rIns="0" tIns="0" bIns="0">
            <a:spAutoFit/>
          </a:bodyPr>
          <a:lstStyle/>
          <a:p>
            <a:pPr algn="l">
              <a:lnSpc>
                <a:spcPct val="122000"/>
              </a:lnSpc>
              <a:spcAft>
                <a:spcPts val="2200"/>
              </a:spcAft>
            </a:pPr>
            <a:r>
              <a:rPr sz="2000" b="0">
                <a:solidFill>
                  <a:srgbClr val="1E293B"/>
                </a:solidFill>
                <a:latin typeface="Arial"/>
              </a:rPr>
              <a:t>We froze 162 real failures out of this project's own engineering record and scored every kind of supervision we had against them. The watchdog the loop actually ran returned no decision on any of the 149 dev cases: “no signal fired” is not a judgement. Twelve deterministic checks reach 0.095. A model reading the raw artifacts reaches 0.70, and what separates the models is not size but evidence. The 7 B leaves 55% of its findings unevidenced and the 27 B leaves none.</a:t>
            </a:r>
          </a:p>
        </p:txBody>
      </p:sp>
      <p:sp>
        <p:nvSpPr>
          <p:cNvPr id="74" name="Rectangle 73"/>
          <p:cNvSpPr/>
          <p:nvPr/>
        </p:nvSpPr>
        <p:spPr>
          <a:xfrm>
            <a:off x="32552640" y="25081992"/>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2552640" y="25200864"/>
            <a:ext cx="4030675"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reviewer</a:t>
            </a:r>
          </a:p>
        </p:txBody>
      </p:sp>
      <p:sp>
        <p:nvSpPr>
          <p:cNvPr id="76" name="TextBox 75"/>
          <p:cNvSpPr txBox="1"/>
          <p:nvPr/>
        </p:nvSpPr>
        <p:spPr>
          <a:xfrm>
            <a:off x="36583315" y="25200864"/>
            <a:ext cx="222747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recall</a:t>
            </a:r>
          </a:p>
        </p:txBody>
      </p:sp>
      <p:sp>
        <p:nvSpPr>
          <p:cNvPr id="77" name="TextBox 76"/>
          <p:cNvSpPr txBox="1"/>
          <p:nvPr/>
        </p:nvSpPr>
        <p:spPr>
          <a:xfrm>
            <a:off x="38810793" y="25200864"/>
            <a:ext cx="222747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grounded</a:t>
            </a:r>
          </a:p>
        </p:txBody>
      </p:sp>
      <p:sp>
        <p:nvSpPr>
          <p:cNvPr id="78" name="TextBox 77"/>
          <p:cNvSpPr txBox="1"/>
          <p:nvPr/>
        </p:nvSpPr>
        <p:spPr>
          <a:xfrm>
            <a:off x="41038272" y="25200864"/>
            <a:ext cx="212140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incidents</a:t>
            </a:r>
          </a:p>
        </p:txBody>
      </p:sp>
      <p:sp>
        <p:nvSpPr>
          <p:cNvPr id="79" name="Rectangle 78"/>
          <p:cNvSpPr/>
          <p:nvPr/>
        </p:nvSpPr>
        <p:spPr>
          <a:xfrm>
            <a:off x="32552640" y="25566624"/>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2552640" y="25676352"/>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scripted watchdog</a:t>
            </a:r>
          </a:p>
        </p:txBody>
      </p:sp>
      <p:sp>
        <p:nvSpPr>
          <p:cNvPr id="81" name="TextBox 80"/>
          <p:cNvSpPr txBox="1"/>
          <p:nvPr/>
        </p:nvSpPr>
        <p:spPr>
          <a:xfrm>
            <a:off x="36583315" y="25676352"/>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no decision</a:t>
            </a:r>
          </a:p>
        </p:txBody>
      </p:sp>
      <p:sp>
        <p:nvSpPr>
          <p:cNvPr id="82" name="TextBox 81"/>
          <p:cNvSpPr txBox="1"/>
          <p:nvPr/>
        </p:nvSpPr>
        <p:spPr>
          <a:xfrm>
            <a:off x="38810793" y="25676352"/>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a:t>
            </a:r>
          </a:p>
        </p:txBody>
      </p:sp>
      <p:sp>
        <p:nvSpPr>
          <p:cNvPr id="83" name="TextBox 82"/>
          <p:cNvSpPr txBox="1"/>
          <p:nvPr/>
        </p:nvSpPr>
        <p:spPr>
          <a:xfrm>
            <a:off x="41038272" y="25676352"/>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a:t>
            </a:r>
          </a:p>
        </p:txBody>
      </p:sp>
      <p:sp>
        <p:nvSpPr>
          <p:cNvPr id="84" name="TextBox 83"/>
          <p:cNvSpPr txBox="1"/>
          <p:nvPr/>
        </p:nvSpPr>
        <p:spPr>
          <a:xfrm>
            <a:off x="32552640" y="26078688"/>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12 rules</a:t>
            </a:r>
          </a:p>
        </p:txBody>
      </p:sp>
      <p:sp>
        <p:nvSpPr>
          <p:cNvPr id="85" name="TextBox 84"/>
          <p:cNvSpPr txBox="1"/>
          <p:nvPr/>
        </p:nvSpPr>
        <p:spPr>
          <a:xfrm>
            <a:off x="36583315" y="26078688"/>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86" name="TextBox 85"/>
          <p:cNvSpPr txBox="1"/>
          <p:nvPr/>
        </p:nvSpPr>
        <p:spPr>
          <a:xfrm>
            <a:off x="38810793" y="26078688"/>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87" name="TextBox 86"/>
          <p:cNvSpPr txBox="1"/>
          <p:nvPr/>
        </p:nvSpPr>
        <p:spPr>
          <a:xfrm>
            <a:off x="41038272" y="26078688"/>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116</a:t>
            </a:r>
          </a:p>
        </p:txBody>
      </p:sp>
      <p:sp>
        <p:nvSpPr>
          <p:cNvPr id="88" name="TextBox 87"/>
          <p:cNvSpPr txBox="1"/>
          <p:nvPr/>
        </p:nvSpPr>
        <p:spPr>
          <a:xfrm>
            <a:off x="32552640" y="26481024"/>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Qwen2.5-7B</a:t>
            </a:r>
          </a:p>
        </p:txBody>
      </p:sp>
      <p:sp>
        <p:nvSpPr>
          <p:cNvPr id="89" name="TextBox 88"/>
          <p:cNvSpPr txBox="1"/>
          <p:nvPr/>
        </p:nvSpPr>
        <p:spPr>
          <a:xfrm>
            <a:off x="36583315" y="26481024"/>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0.823</a:t>
            </a:r>
          </a:p>
        </p:txBody>
      </p:sp>
      <p:sp>
        <p:nvSpPr>
          <p:cNvPr id="90" name="TextBox 89"/>
          <p:cNvSpPr txBox="1"/>
          <p:nvPr/>
        </p:nvSpPr>
        <p:spPr>
          <a:xfrm>
            <a:off x="38810793" y="26481024"/>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0.274</a:t>
            </a:r>
          </a:p>
        </p:txBody>
      </p:sp>
      <p:sp>
        <p:nvSpPr>
          <p:cNvPr id="91" name="TextBox 90"/>
          <p:cNvSpPr txBox="1"/>
          <p:nvPr/>
        </p:nvSpPr>
        <p:spPr>
          <a:xfrm>
            <a:off x="41038272" y="26481024"/>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113</a:t>
            </a:r>
          </a:p>
        </p:txBody>
      </p:sp>
      <p:sp>
        <p:nvSpPr>
          <p:cNvPr id="92" name="TextBox 91"/>
          <p:cNvSpPr txBox="1"/>
          <p:nvPr/>
        </p:nvSpPr>
        <p:spPr>
          <a:xfrm>
            <a:off x="32552640" y="26883360"/>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Qwen3-14B</a:t>
            </a:r>
          </a:p>
        </p:txBody>
      </p:sp>
      <p:sp>
        <p:nvSpPr>
          <p:cNvPr id="93" name="TextBox 92"/>
          <p:cNvSpPr txBox="1"/>
          <p:nvPr/>
        </p:nvSpPr>
        <p:spPr>
          <a:xfrm>
            <a:off x="36583315" y="26883360"/>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0.675</a:t>
            </a:r>
          </a:p>
        </p:txBody>
      </p:sp>
      <p:sp>
        <p:nvSpPr>
          <p:cNvPr id="94" name="TextBox 93"/>
          <p:cNvSpPr txBox="1"/>
          <p:nvPr/>
        </p:nvSpPr>
        <p:spPr>
          <a:xfrm>
            <a:off x="38810793" y="26883360"/>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0.614</a:t>
            </a:r>
          </a:p>
        </p:txBody>
      </p:sp>
      <p:sp>
        <p:nvSpPr>
          <p:cNvPr id="95" name="TextBox 94"/>
          <p:cNvSpPr txBox="1"/>
          <p:nvPr/>
        </p:nvSpPr>
        <p:spPr>
          <a:xfrm>
            <a:off x="41038272" y="26883360"/>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114</a:t>
            </a:r>
          </a:p>
        </p:txBody>
      </p:sp>
      <p:sp>
        <p:nvSpPr>
          <p:cNvPr id="96" name="TextBox 95"/>
          <p:cNvSpPr txBox="1"/>
          <p:nvPr/>
        </p:nvSpPr>
        <p:spPr>
          <a:xfrm>
            <a:off x="32552640" y="27285696"/>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Qwen3.8-27B</a:t>
            </a:r>
          </a:p>
        </p:txBody>
      </p:sp>
      <p:sp>
        <p:nvSpPr>
          <p:cNvPr id="97" name="TextBox 96"/>
          <p:cNvSpPr txBox="1"/>
          <p:nvPr/>
        </p:nvSpPr>
        <p:spPr>
          <a:xfrm>
            <a:off x="36583315" y="27285696"/>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0.702</a:t>
            </a:r>
          </a:p>
        </p:txBody>
      </p:sp>
      <p:sp>
        <p:nvSpPr>
          <p:cNvPr id="98" name="TextBox 97"/>
          <p:cNvSpPr txBox="1"/>
          <p:nvPr/>
        </p:nvSpPr>
        <p:spPr>
          <a:xfrm>
            <a:off x="38810793" y="27285696"/>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0.702</a:t>
            </a:r>
          </a:p>
        </p:txBody>
      </p:sp>
      <p:sp>
        <p:nvSpPr>
          <p:cNvPr id="99" name="TextBox 98"/>
          <p:cNvSpPr txBox="1"/>
          <p:nvPr/>
        </p:nvSpPr>
        <p:spPr>
          <a:xfrm>
            <a:off x="41038272" y="27285696"/>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57</a:t>
            </a:r>
          </a:p>
        </p:txBody>
      </p:sp>
      <p:sp>
        <p:nvSpPr>
          <p:cNvPr id="100" name="Rectangle 99"/>
          <p:cNvSpPr/>
          <p:nvPr/>
        </p:nvSpPr>
        <p:spPr>
          <a:xfrm>
            <a:off x="32552640" y="27715464"/>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31520" y="28273248"/>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31520" y="2852928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Where this stands today. The collector and trainer are paused after a stop-loss on 2026-08-29. The last field drive was the same day. The supervisor is advisory and nothing it says is applied. The laser has never fired at a weed under our control. None of the 2,686 frames is labelled.</a:t>
            </a:r>
          </a:p>
        </p:txBody>
      </p:sp>
      <p:sp>
        <p:nvSpPr>
          <p:cNvPr id="103" name="TextBox 102"/>
          <p:cNvSpPr txBox="1"/>
          <p:nvPr/>
        </p:nvSpPr>
        <p:spPr>
          <a:xfrm>
            <a:off x="15026640" y="2852928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How the numbers were made. Most in-domain numbers are mAP50-95 on the same 1,977 images under Ultralytics. RF-DETR is pycocotools and the zero-shot column is mAP50 on the 848-image test split, and neither is ever differenced against the rest. That holdout is also the validation set during training, so every mAP here is that run's best epoch, a maximum over 21 to 100 evaluations on the set it is reported on. We measured that optimism at +0.002 to +0.017 rather than hiding it.</a:t>
            </a:r>
          </a:p>
        </p:txBody>
      </p:sp>
      <p:sp>
        <p:nvSpPr>
          <p:cNvPr id="104" name="TextBox 103"/>
          <p:cNvSpPr txBox="1"/>
          <p:nvPr/>
        </p:nvSpPr>
        <p:spPr>
          <a:xfrm>
            <a:off x="29321759" y="2852928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Numbers we withdrew. 0.910 was a data leak, found by a content-level check we built after publishing it. 0.9033 is the best of four unseeded runs and only one of the four crossed 0.90. An earlier reading of the ladder as a flat curve is retracted: with three seeds at every rung the top rung is down, not flat.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