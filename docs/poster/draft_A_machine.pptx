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931920"/>
          </a:xfrm>
          <a:prstGeom prst="rect">
            <a:avLst/>
          </a:prstGeom>
          <a:solidFill>
            <a:srgbClr val="143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31920"/>
            <a:ext cx="43891200" cy="45720"/>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84048"/>
            <a:ext cx="42428160" cy="365760"/>
          </a:xfrm>
          <a:prstGeom prst="rect">
            <a:avLst/>
          </a:prstGeom>
          <a:noFill/>
        </p:spPr>
        <p:txBody>
          <a:bodyPr wrap="square" lIns="0" rIns="0" tIns="0" bIns="0">
            <a:spAutoFit/>
          </a:bodyPr>
          <a:lstStyle/>
          <a:p>
            <a:pPr algn="l">
              <a:lnSpc>
                <a:spcPct val="95000"/>
              </a:lnSpc>
              <a:spcAft>
                <a:spcPts val="0"/>
              </a:spcAft>
            </a:pPr>
            <a:r>
              <a:rPr sz="10800" b="1">
                <a:solidFill>
                  <a:srgbClr val="FFFFFF"/>
                </a:solidFill>
                <a:latin typeface="Arial"/>
              </a:rPr>
              <a:t>Two Field Robots and an Agent Platform for Laser Weeding</a:t>
            </a:r>
          </a:p>
        </p:txBody>
      </p:sp>
      <p:sp>
        <p:nvSpPr>
          <p:cNvPr id="5" name="TextBox 4"/>
          <p:cNvSpPr txBox="1"/>
          <p:nvPr/>
        </p:nvSpPr>
        <p:spPr>
          <a:xfrm>
            <a:off x="731520" y="2121408"/>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FFFFFF"/>
                </a:solidFill>
                <a:latin typeface="Arial"/>
              </a:rPr>
              <a:t>Harry He   ·   Hongbo Zhang</a:t>
            </a:r>
          </a:p>
        </p:txBody>
      </p:sp>
      <p:sp>
        <p:nvSpPr>
          <p:cNvPr id="6" name="TextBox 5"/>
          <p:cNvSpPr txBox="1"/>
          <p:nvPr/>
        </p:nvSpPr>
        <p:spPr>
          <a:xfrm>
            <a:off x="731520" y="2761488"/>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C2CEDA"/>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1E293B"/>
                </a:solidFill>
                <a:latin typeface="Arial"/>
              </a:rPr>
              <a:t>Anyone can download a weed dataset this afternoon. Nobody can download the path from a robot in a Tennessee crop row to a trained checkpoint, so we built it, ran it unattended, and measured where it breaks.</a:t>
            </a:r>
          </a:p>
        </p:txBody>
      </p:sp>
      <p:pic>
        <p:nvPicPr>
          <p:cNvPr id="8" name="Picture 7" descr="n_system.png"/>
          <p:cNvPicPr>
            <a:picLocks noChangeAspect="1"/>
          </p:cNvPicPr>
          <p:nvPr/>
        </p:nvPicPr>
        <p:blipFill>
          <a:blip r:embed="rId2"/>
          <a:stretch>
            <a:fillRect/>
          </a:stretch>
        </p:blipFill>
        <p:spPr>
          <a:xfrm>
            <a:off x="11704320" y="5623560"/>
            <a:ext cx="20482560" cy="3383280"/>
          </a:xfrm>
          <a:prstGeom prst="rect">
            <a:avLst/>
          </a:prstGeom>
        </p:spPr>
      </p:pic>
      <p:sp>
        <p:nvSpPr>
          <p:cNvPr id="9" name="TextBox 8"/>
          <p:cNvSpPr txBox="1"/>
          <p:nvPr/>
        </p:nvSpPr>
        <p:spPr>
          <a:xfrm>
            <a:off x="11704320" y="9116568"/>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1.  The path from a camera in a crop row to a checkpoint on the cluster. Every stage is built and has run. Two are not running today: the collector and trainer are paused after a stop-loss on 2026-08-29, and the supervisor is advisory, so nothing it says is applied to the loop.</a:t>
            </a:r>
          </a:p>
        </p:txBody>
      </p:sp>
      <p:sp>
        <p:nvSpPr>
          <p:cNvPr id="10" name="TextBox 9"/>
          <p:cNvSpPr txBox="1"/>
          <p:nvPr/>
        </p:nvSpPr>
        <p:spPr>
          <a:xfrm>
            <a:off x="731520" y="562356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The two vehicles</a:t>
            </a:r>
          </a:p>
        </p:txBody>
      </p:sp>
      <p:sp>
        <p:nvSpPr>
          <p:cNvPr id="11" name="Rectangle 10"/>
          <p:cNvSpPr/>
          <p:nvPr/>
        </p:nvSpPr>
        <p:spPr>
          <a:xfrm>
            <a:off x="731520" y="619048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_robots.png"/>
          <p:cNvPicPr>
            <a:picLocks noChangeAspect="1"/>
          </p:cNvPicPr>
          <p:nvPr/>
        </p:nvPicPr>
        <p:blipFill>
          <a:blip r:embed="rId3"/>
          <a:stretch>
            <a:fillRect/>
          </a:stretch>
        </p:blipFill>
        <p:spPr>
          <a:xfrm>
            <a:off x="731520" y="6519672"/>
            <a:ext cx="10607040" cy="2377440"/>
          </a:xfrm>
          <a:prstGeom prst="rect">
            <a:avLst/>
          </a:prstGeom>
        </p:spPr>
      </p:pic>
      <p:sp>
        <p:nvSpPr>
          <p:cNvPr id="13" name="TextBox 12"/>
          <p:cNvSpPr txBox="1"/>
          <p:nvPr/>
        </p:nvSpPr>
        <p:spPr>
          <a:xfrm>
            <a:off x="731520" y="9006840"/>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2.  Frames as recorded, unenhanced. Robot 241 has sent 2,259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14" name="TextBox 13"/>
          <p:cNvSpPr txBox="1"/>
          <p:nvPr/>
        </p:nvSpPr>
        <p:spPr>
          <a:xfrm>
            <a:off x="731520" y="10276840"/>
            <a:ext cx="10607040" cy="365760"/>
          </a:xfrm>
          <a:prstGeom prst="rect">
            <a:avLst/>
          </a:prstGeom>
          <a:noFill/>
        </p:spPr>
        <p:txBody>
          <a:bodyPr wrap="square" lIns="0" rIns="0" tIns="0" bIns="0">
            <a:spAutoFit/>
          </a:bodyPr>
          <a:lstStyle/>
          <a:p>
            <a:pPr algn="l">
              <a:lnSpc>
                <a:spcPct val="122000"/>
              </a:lnSpc>
              <a:spcAft>
                <a:spcPts val="1200"/>
              </a:spcAft>
            </a:pPr>
            <a:r>
              <a:rPr sz="2000" b="0">
                <a:solidFill>
                  <a:srgbClr val="1E293B"/>
                </a:solidFill>
                <a:latin typeface="Arial"/>
              </a:rPr>
              <a:t>Robot 241 is a tracked rover that drives cotton rows and streams frames, position and attitude over a cellular link. The laser cart carries the weeder itself: a galvanometer laser, a down camera over the work zone and a forward camera. Between them they have recorded 2,686 frames in 26 drives. None is labelled.</a:t>
            </a:r>
          </a:p>
        </p:txBody>
      </p:sp>
      <p:sp>
        <p:nvSpPr>
          <p:cNvPr id="15" name="TextBox 14"/>
          <p:cNvSpPr txBox="1"/>
          <p:nvPr/>
        </p:nvSpPr>
        <p:spPr>
          <a:xfrm>
            <a:off x="32552640" y="562356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What is on disk</a:t>
            </a:r>
          </a:p>
        </p:txBody>
      </p:sp>
      <p:sp>
        <p:nvSpPr>
          <p:cNvPr id="16" name="Rectangle 15"/>
          <p:cNvSpPr/>
          <p:nvPr/>
        </p:nvSpPr>
        <p:spPr>
          <a:xfrm>
            <a:off x="32552640" y="619048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552640" y="6519672"/>
            <a:ext cx="10607040" cy="365760"/>
          </a:xfrm>
          <a:prstGeom prst="rect">
            <a:avLst/>
          </a:prstGeom>
          <a:noFill/>
        </p:spPr>
        <p:txBody>
          <a:bodyPr wrap="square" lIns="0" rIns="0" tIns="0" bIns="0">
            <a:spAutoFit/>
          </a:bodyPr>
          <a:lstStyle/>
          <a:p>
            <a:pPr algn="l">
              <a:lnSpc>
                <a:spcPct val="95000"/>
              </a:lnSpc>
              <a:spcAft>
                <a:spcPts val="0"/>
              </a:spcAft>
            </a:pPr>
            <a:r>
              <a:rPr sz="6000" b="1">
                <a:solidFill>
                  <a:srgbClr val="1C6FB5"/>
                </a:solidFill>
                <a:latin typeface="Arial"/>
              </a:rPr>
              <a:t>2,686</a:t>
            </a:r>
          </a:p>
        </p:txBody>
      </p:sp>
      <p:sp>
        <p:nvSpPr>
          <p:cNvPr id="18" name="TextBox 17"/>
          <p:cNvSpPr txBox="1"/>
          <p:nvPr/>
        </p:nvSpPr>
        <p:spPr>
          <a:xfrm>
            <a:off x="32552640" y="7296912"/>
            <a:ext cx="10607040" cy="365760"/>
          </a:xfrm>
          <a:prstGeom prst="rect">
            <a:avLst/>
          </a:prstGeom>
          <a:noFill/>
        </p:spPr>
        <p:txBody>
          <a:bodyPr wrap="square" lIns="0" rIns="0" tIns="0" bIns="0">
            <a:spAutoFit/>
          </a:bodyPr>
          <a:lstStyle/>
          <a:p>
            <a:pPr algn="l">
              <a:lnSpc>
                <a:spcPct val="122000"/>
              </a:lnSpc>
              <a:spcAft>
                <a:spcPts val="200"/>
              </a:spcAft>
            </a:pPr>
            <a:r>
              <a:rPr sz="2000" b="0">
                <a:solidFill>
                  <a:srgbClr val="1E293B"/>
                </a:solidFill>
                <a:latin typeface="Arial"/>
              </a:rPr>
              <a:t>camera frames</a:t>
            </a:r>
          </a:p>
        </p:txBody>
      </p:sp>
      <p:sp>
        <p:nvSpPr>
          <p:cNvPr id="19" name="TextBox 18"/>
          <p:cNvSpPr txBox="1"/>
          <p:nvPr/>
        </p:nvSpPr>
        <p:spPr>
          <a:xfrm>
            <a:off x="32552640" y="7632192"/>
            <a:ext cx="10607040" cy="365760"/>
          </a:xfrm>
          <a:prstGeom prst="rect">
            <a:avLst/>
          </a:prstGeom>
          <a:noFill/>
        </p:spPr>
        <p:txBody>
          <a:bodyPr wrap="square" lIns="0" rIns="0" tIns="0" bIns="0">
            <a:spAutoFit/>
          </a:bodyPr>
          <a:lstStyle/>
          <a:p>
            <a:pPr algn="l">
              <a:lnSpc>
                <a:spcPct val="122000"/>
              </a:lnSpc>
              <a:spcAft>
                <a:spcPts val="0"/>
              </a:spcAft>
            </a:pPr>
            <a:r>
              <a:rPr sz="1600" b="0">
                <a:solidFill>
                  <a:srgbClr val="556575"/>
                </a:solidFill>
                <a:latin typeface="Arial"/>
              </a:rPr>
              <a:t>26 drives, 2 robots, 0 labelled</a:t>
            </a:r>
          </a:p>
        </p:txBody>
      </p:sp>
      <p:sp>
        <p:nvSpPr>
          <p:cNvPr id="20" name="TextBox 19"/>
          <p:cNvSpPr txBox="1"/>
          <p:nvPr/>
        </p:nvSpPr>
        <p:spPr>
          <a:xfrm>
            <a:off x="32552640" y="8026400"/>
            <a:ext cx="10607040" cy="365760"/>
          </a:xfrm>
          <a:prstGeom prst="rect">
            <a:avLst/>
          </a:prstGeom>
          <a:noFill/>
        </p:spPr>
        <p:txBody>
          <a:bodyPr wrap="square" lIns="0" rIns="0" tIns="0" bIns="0">
            <a:spAutoFit/>
          </a:bodyPr>
          <a:lstStyle/>
          <a:p>
            <a:pPr algn="l">
              <a:lnSpc>
                <a:spcPct val="95000"/>
              </a:lnSpc>
              <a:spcAft>
                <a:spcPts val="0"/>
              </a:spcAft>
            </a:pPr>
            <a:r>
              <a:rPr sz="6000" b="1">
                <a:solidFill>
                  <a:srgbClr val="1C6FB5"/>
                </a:solidFill>
                <a:latin typeface="Arial"/>
              </a:rPr>
              <a:t>91,955</a:t>
            </a:r>
          </a:p>
        </p:txBody>
      </p:sp>
      <p:sp>
        <p:nvSpPr>
          <p:cNvPr id="21" name="TextBox 20"/>
          <p:cNvSpPr txBox="1"/>
          <p:nvPr/>
        </p:nvSpPr>
        <p:spPr>
          <a:xfrm>
            <a:off x="32552640" y="8803640"/>
            <a:ext cx="10607040" cy="365760"/>
          </a:xfrm>
          <a:prstGeom prst="rect">
            <a:avLst/>
          </a:prstGeom>
          <a:noFill/>
        </p:spPr>
        <p:txBody>
          <a:bodyPr wrap="square" lIns="0" rIns="0" tIns="0" bIns="0">
            <a:spAutoFit/>
          </a:bodyPr>
          <a:lstStyle/>
          <a:p>
            <a:pPr algn="l">
              <a:lnSpc>
                <a:spcPct val="122000"/>
              </a:lnSpc>
              <a:spcAft>
                <a:spcPts val="200"/>
              </a:spcAft>
            </a:pPr>
            <a:r>
              <a:rPr sz="2000" b="0">
                <a:solidFill>
                  <a:srgbClr val="1E293B"/>
                </a:solidFill>
                <a:latin typeface="Arial"/>
              </a:rPr>
              <a:t>telemetry rows</a:t>
            </a:r>
          </a:p>
        </p:txBody>
      </p:sp>
      <p:sp>
        <p:nvSpPr>
          <p:cNvPr id="22" name="TextBox 21"/>
          <p:cNvSpPr txBox="1"/>
          <p:nvPr/>
        </p:nvSpPr>
        <p:spPr>
          <a:xfrm>
            <a:off x="32552640" y="9138920"/>
            <a:ext cx="10607040" cy="365760"/>
          </a:xfrm>
          <a:prstGeom prst="rect">
            <a:avLst/>
          </a:prstGeom>
          <a:noFill/>
        </p:spPr>
        <p:txBody>
          <a:bodyPr wrap="square" lIns="0" rIns="0" tIns="0" bIns="0">
            <a:spAutoFit/>
          </a:bodyPr>
          <a:lstStyle/>
          <a:p>
            <a:pPr algn="l">
              <a:lnSpc>
                <a:spcPct val="122000"/>
              </a:lnSpc>
              <a:spcAft>
                <a:spcPts val="0"/>
              </a:spcAft>
            </a:pPr>
            <a:r>
              <a:rPr sz="1600" b="0">
                <a:solidFill>
                  <a:srgbClr val="556575"/>
                </a:solidFill>
                <a:latin typeface="Arial"/>
              </a:rPr>
              <a:t>nine streams: GPS, two IMUs, motor, laser, control</a:t>
            </a:r>
          </a:p>
        </p:txBody>
      </p:sp>
      <p:sp>
        <p:nvSpPr>
          <p:cNvPr id="23" name="TextBox 22"/>
          <p:cNvSpPr txBox="1"/>
          <p:nvPr/>
        </p:nvSpPr>
        <p:spPr>
          <a:xfrm>
            <a:off x="32552640" y="9533128"/>
            <a:ext cx="10607040" cy="365760"/>
          </a:xfrm>
          <a:prstGeom prst="rect">
            <a:avLst/>
          </a:prstGeom>
          <a:noFill/>
        </p:spPr>
        <p:txBody>
          <a:bodyPr wrap="square" lIns="0" rIns="0" tIns="0" bIns="0">
            <a:spAutoFit/>
          </a:bodyPr>
          <a:lstStyle/>
          <a:p>
            <a:pPr algn="l">
              <a:lnSpc>
                <a:spcPct val="95000"/>
              </a:lnSpc>
              <a:spcAft>
                <a:spcPts val="0"/>
              </a:spcAft>
            </a:pPr>
            <a:r>
              <a:rPr sz="6000" b="1">
                <a:solidFill>
                  <a:srgbClr val="1C6FB5"/>
                </a:solidFill>
                <a:latin typeface="Arial"/>
              </a:rPr>
              <a:t>342 m</a:t>
            </a:r>
          </a:p>
        </p:txBody>
      </p:sp>
      <p:sp>
        <p:nvSpPr>
          <p:cNvPr id="24" name="TextBox 23"/>
          <p:cNvSpPr txBox="1"/>
          <p:nvPr/>
        </p:nvSpPr>
        <p:spPr>
          <a:xfrm>
            <a:off x="32552640" y="10310368"/>
            <a:ext cx="10607040" cy="365760"/>
          </a:xfrm>
          <a:prstGeom prst="rect">
            <a:avLst/>
          </a:prstGeom>
          <a:noFill/>
        </p:spPr>
        <p:txBody>
          <a:bodyPr wrap="square" lIns="0" rIns="0" tIns="0" bIns="0">
            <a:spAutoFit/>
          </a:bodyPr>
          <a:lstStyle/>
          <a:p>
            <a:pPr algn="l">
              <a:lnSpc>
                <a:spcPct val="122000"/>
              </a:lnSpc>
              <a:spcAft>
                <a:spcPts val="200"/>
              </a:spcAft>
            </a:pPr>
            <a:r>
              <a:rPr sz="2000" b="0">
                <a:solidFill>
                  <a:srgbClr val="1E293B"/>
                </a:solidFill>
                <a:latin typeface="Arial"/>
              </a:rPr>
              <a:t>of GPS track</a:t>
            </a:r>
          </a:p>
        </p:txBody>
      </p:sp>
      <p:sp>
        <p:nvSpPr>
          <p:cNvPr id="25" name="TextBox 24"/>
          <p:cNvSpPr txBox="1"/>
          <p:nvPr/>
        </p:nvSpPr>
        <p:spPr>
          <a:xfrm>
            <a:off x="32552640" y="10645648"/>
            <a:ext cx="10607040" cy="365760"/>
          </a:xfrm>
          <a:prstGeom prst="rect">
            <a:avLst/>
          </a:prstGeom>
          <a:noFill/>
        </p:spPr>
        <p:txBody>
          <a:bodyPr wrap="square" lIns="0" rIns="0" tIns="0" bIns="0">
            <a:spAutoFit/>
          </a:bodyPr>
          <a:lstStyle/>
          <a:p>
            <a:pPr algn="l">
              <a:lnSpc>
                <a:spcPct val="122000"/>
              </a:lnSpc>
              <a:spcAft>
                <a:spcPts val="0"/>
              </a:spcAft>
            </a:pPr>
            <a:r>
              <a:rPr sz="1600" b="0">
                <a:solidFill>
                  <a:srgbClr val="556575"/>
                </a:solidFill>
                <a:latin typeface="Arial"/>
              </a:rPr>
              <a:t>1,502 fixes over 18 drives; the longest single pass is 141 m</a:t>
            </a:r>
          </a:p>
        </p:txBody>
      </p:sp>
      <p:sp>
        <p:nvSpPr>
          <p:cNvPr id="26" name="Rectangle 25"/>
          <p:cNvSpPr/>
          <p:nvPr/>
        </p:nvSpPr>
        <p:spPr>
          <a:xfrm>
            <a:off x="32552640" y="11039856"/>
            <a:ext cx="27432" cy="0"/>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790384" y="11039856"/>
            <a:ext cx="10369296" cy="365760"/>
          </a:xfrm>
          <a:prstGeom prst="rect">
            <a:avLst/>
          </a:prstGeom>
          <a:noFill/>
        </p:spPr>
        <p:txBody>
          <a:bodyPr wrap="square" lIns="0" rIns="0" tIns="0" bIns="0">
            <a:spAutoFit/>
          </a:bodyPr>
          <a:lstStyle/>
          <a:p>
            <a:pPr algn="l">
              <a:lnSpc>
                <a:spcPct val="122000"/>
              </a:lnSpc>
              <a:spcAft>
                <a:spcPts val="300"/>
              </a:spcAft>
            </a:pPr>
            <a:r>
              <a:rPr sz="2000" b="1">
                <a:solidFill>
                  <a:srgbClr val="1E293B"/>
                </a:solidFill>
                <a:latin typeface="Arial"/>
              </a:rPr>
              <a:t>The cart has no position sensor.</a:t>
            </a:r>
          </a:p>
        </p:txBody>
      </p:sp>
      <p:sp>
        <p:nvSpPr>
          <p:cNvPr id="28" name="TextBox 27"/>
          <p:cNvSpPr txBox="1"/>
          <p:nvPr/>
        </p:nvSpPr>
        <p:spPr>
          <a:xfrm>
            <a:off x="32790384" y="11387836"/>
            <a:ext cx="10369296" cy="365760"/>
          </a:xfrm>
          <a:prstGeom prst="rect">
            <a:avLst/>
          </a:prstGeom>
          <a:noFill/>
        </p:spPr>
        <p:txBody>
          <a:bodyPr wrap="square" lIns="0" rIns="0" tIns="0" bIns="0">
            <a:spAutoFit/>
          </a:bodyPr>
          <a:lstStyle/>
          <a:p>
            <a:pPr algn="l">
              <a:lnSpc>
                <a:spcPct val="122000"/>
              </a:lnSpc>
              <a:spcAft>
                <a:spcPts val="0"/>
              </a:spcAft>
            </a:pPr>
            <a:r>
              <a:rPr sz="1600" b="0">
                <a:solidFill>
                  <a:srgbClr val="556575"/>
                </a:solidFill>
                <a:latin typeface="Arial"/>
              </a:rPr>
              <a:t>Its archive declares four telemetry streams and neither of them is GPS or IMU, so the sensor-fusion work on this platform is robot 241 only.</a:t>
            </a:r>
          </a:p>
        </p:txBody>
      </p:sp>
      <p:sp>
        <p:nvSpPr>
          <p:cNvPr id="29" name="Rectangle 28"/>
          <p:cNvSpPr/>
          <p:nvPr/>
        </p:nvSpPr>
        <p:spPr>
          <a:xfrm>
            <a:off x="32552640" y="11039856"/>
            <a:ext cx="27432" cy="843788"/>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1246886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Why build the path</a:t>
            </a:r>
          </a:p>
        </p:txBody>
      </p:sp>
      <p:sp>
        <p:nvSpPr>
          <p:cNvPr id="31" name="Rectangle 30"/>
          <p:cNvSpPr/>
          <p:nvPr/>
        </p:nvSpPr>
        <p:spPr>
          <a:xfrm>
            <a:off x="731520" y="1303578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13364972"/>
            <a:ext cx="10607040" cy="365760"/>
          </a:xfrm>
          <a:prstGeom prst="rect">
            <a:avLst/>
          </a:prstGeom>
          <a:noFill/>
        </p:spPr>
        <p:txBody>
          <a:bodyPr wrap="square" lIns="0" rIns="0" tIns="0" bIns="0">
            <a:spAutoFit/>
          </a:bodyPr>
          <a:lstStyle/>
          <a:p>
            <a:pPr algn="l">
              <a:lnSpc>
                <a:spcPct val="122000"/>
              </a:lnSpc>
              <a:spcAft>
                <a:spcPts val="1200"/>
              </a:spcAft>
            </a:pPr>
            <a:r>
              <a:rPr sz="2000" b="0">
                <a:solidFill>
                  <a:srgbClr val="1E293B"/>
                </a:solidFill>
                <a:latin typeface="Arial"/>
              </a:rPr>
              <a:t>The end product burns weeds between crop rows instead of spraying them, so the detector has to work on the rows this vehicle drives and has to fit on the Jetson the cart carries. The deployed checkpoint is 2.6 M parameters. No public dataset contains our rows, and a five-person lab does not hand-label a hundred thousand field images.</a:t>
            </a:r>
          </a:p>
        </p:txBody>
      </p:sp>
      <p:sp>
        <p:nvSpPr>
          <p:cNvPr id="33" name="TextBox 32"/>
          <p:cNvSpPr txBox="1"/>
          <p:nvPr/>
        </p:nvSpPr>
        <p:spPr>
          <a:xfrm>
            <a:off x="731520" y="15066772"/>
            <a:ext cx="10607040" cy="365760"/>
          </a:xfrm>
          <a:prstGeom prst="rect">
            <a:avLst/>
          </a:prstGeom>
          <a:noFill/>
        </p:spPr>
        <p:txBody>
          <a:bodyPr wrap="square" lIns="0" rIns="0" tIns="0" bIns="0">
            <a:spAutoFit/>
          </a:bodyPr>
          <a:lstStyle/>
          <a:p>
            <a:pPr algn="l">
              <a:lnSpc>
                <a:spcPct val="100000"/>
              </a:lnSpc>
              <a:spcAft>
                <a:spcPts val="0"/>
              </a:spcAft>
            </a:pPr>
            <a:r>
              <a:rPr sz="2400" b="1">
                <a:solidFill>
                  <a:srgbClr val="1E293B"/>
                </a:solidFill>
                <a:latin typeface="Arial"/>
              </a:rPr>
              <a:t>One drive, in full</a:t>
            </a:r>
          </a:p>
        </p:txBody>
      </p:sp>
      <p:pic>
        <p:nvPicPr>
          <p:cNvPr id="34" name="Picture 33" descr="h_drive.png"/>
          <p:cNvPicPr>
            <a:picLocks noChangeAspect="1"/>
          </p:cNvPicPr>
          <p:nvPr/>
        </p:nvPicPr>
        <p:blipFill>
          <a:blip r:embed="rId4"/>
          <a:stretch>
            <a:fillRect/>
          </a:stretch>
        </p:blipFill>
        <p:spPr>
          <a:xfrm>
            <a:off x="731520" y="15487396"/>
            <a:ext cx="10607040" cy="4023360"/>
          </a:xfrm>
          <a:prstGeom prst="rect">
            <a:avLst/>
          </a:prstGeom>
        </p:spPr>
      </p:pic>
      <p:sp>
        <p:nvSpPr>
          <p:cNvPr id="35" name="TextBox 34"/>
          <p:cNvSpPr txBox="1"/>
          <p:nvPr/>
        </p:nvSpPr>
        <p:spPr>
          <a:xfrm>
            <a:off x="731520" y="19620484"/>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3.  Robot 241, 2026-08-29: one 213 s pass through a crop plot. (h) GPS track from the board fix. (i) IMU heading over the same pass.</a:t>
            </a:r>
          </a:p>
        </p:txBody>
      </p:sp>
      <p:sp>
        <p:nvSpPr>
          <p:cNvPr id="36" name="TextBox 35"/>
          <p:cNvSpPr txBox="1"/>
          <p:nvPr/>
        </p:nvSpPr>
        <p:spPr>
          <a:xfrm>
            <a:off x="11704320" y="12468860"/>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What the agents did on their own</a:t>
            </a:r>
          </a:p>
        </p:txBody>
      </p:sp>
      <p:sp>
        <p:nvSpPr>
          <p:cNvPr id="37" name="Rectangle 36"/>
          <p:cNvSpPr/>
          <p:nvPr/>
        </p:nvSpPr>
        <p:spPr>
          <a:xfrm>
            <a:off x="11704320" y="13035788"/>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704320" y="13364972"/>
            <a:ext cx="20482560" cy="365760"/>
          </a:xfrm>
          <a:prstGeom prst="rect">
            <a:avLst/>
          </a:prstGeom>
          <a:noFill/>
        </p:spPr>
        <p:txBody>
          <a:bodyPr wrap="square" lIns="0" rIns="0" tIns="0" bIns="0">
            <a:spAutoFit/>
          </a:bodyPr>
          <a:lstStyle/>
          <a:p>
            <a:pPr algn="l">
              <a:lnSpc>
                <a:spcPct val="122000"/>
              </a:lnSpc>
              <a:spcAft>
                <a:spcPts val="1200"/>
              </a:spcAft>
            </a:pPr>
            <a:r>
              <a:rPr sz="2000" b="0">
                <a:solidFill>
                  <a:srgbClr val="1E293B"/>
                </a:solidFill>
                <a:latin typeface="Arial"/>
              </a:rPr>
              <a:t>Two SLURM jobs, one collecting and one training, ran fifteen rounds against the locked registry with nobody in the room. Each round searched public sources, filtered what it found, merged it into the corpus, trained, and evaluated on a sealed holdout. Every round reported success. Accuracy fell for fifteen rounds.</a:t>
            </a:r>
          </a:p>
        </p:txBody>
      </p:sp>
      <p:pic>
        <p:nvPicPr>
          <p:cNvPr id="39" name="Picture 38" descr="f_rounds.png"/>
          <p:cNvPicPr>
            <a:picLocks noChangeAspect="1"/>
          </p:cNvPicPr>
          <p:nvPr/>
        </p:nvPicPr>
        <p:blipFill>
          <a:blip r:embed="rId5"/>
          <a:stretch>
            <a:fillRect/>
          </a:stretch>
        </p:blipFill>
        <p:spPr>
          <a:xfrm>
            <a:off x="11704320" y="14137132"/>
            <a:ext cx="20482560" cy="4663440"/>
          </a:xfrm>
          <a:prstGeom prst="rect">
            <a:avLst/>
          </a:prstGeom>
        </p:spPr>
      </p:pic>
      <p:sp>
        <p:nvSpPr>
          <p:cNvPr id="40" name="TextBox 39"/>
          <p:cNvSpPr txBox="1"/>
          <p:nvPr/>
        </p:nvSpPr>
        <p:spPr>
          <a:xfrm>
            <a:off x="11704320" y="18910300"/>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4.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41" name="TextBox 40"/>
          <p:cNvSpPr txBox="1"/>
          <p:nvPr/>
        </p:nvSpPr>
        <p:spPr>
          <a:xfrm>
            <a:off x="11704320" y="19940524"/>
            <a:ext cx="20482560" cy="365760"/>
          </a:xfrm>
          <a:prstGeom prst="rect">
            <a:avLst/>
          </a:prstGeom>
          <a:noFill/>
        </p:spPr>
        <p:txBody>
          <a:bodyPr wrap="square" lIns="0" rIns="0" tIns="0" bIns="0">
            <a:spAutoFit/>
          </a:bodyPr>
          <a:lstStyle/>
          <a:p>
            <a:pPr algn="l">
              <a:lnSpc>
                <a:spcPct val="122000"/>
              </a:lnSpc>
              <a:spcAft>
                <a:spcPts val="1200"/>
              </a:spcAft>
            </a:pPr>
            <a:r>
              <a:rPr sz="2000" b="0">
                <a:solidFill>
                  <a:srgbClr val="1E293B"/>
                </a:solidFill>
                <a:latin typeface="Arial"/>
              </a:rPr>
              <a:t>Reading the loop's own artifacts instead of its dashboard explained it. The training corpus stopped growing at round three: the same 24 datasets and the same 48,752 unique images went in every time, and the apparent growth was one staging directory nobody cleared. Eight rounds collected nothing at all and reported success. What was left was the chain itself, and a control on round 15's own data priced it: starting fresh instead of from the previous round is worth +0.0287, which is 5.1 times the seed spread this recipe actually has.</a:t>
            </a:r>
          </a:p>
        </p:txBody>
      </p:sp>
      <p:sp>
        <p:nvSpPr>
          <p:cNvPr id="42" name="TextBox 41"/>
          <p:cNvSpPr txBox="1"/>
          <p:nvPr/>
        </p:nvSpPr>
        <p:spPr>
          <a:xfrm>
            <a:off x="32552640" y="1246886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Does more data help?</a:t>
            </a:r>
          </a:p>
        </p:txBody>
      </p:sp>
      <p:sp>
        <p:nvSpPr>
          <p:cNvPr id="43" name="Rectangle 42"/>
          <p:cNvSpPr/>
          <p:nvPr/>
        </p:nvSpPr>
        <p:spPr>
          <a:xfrm>
            <a:off x="32552640" y="13035788"/>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2552640" y="13364972"/>
            <a:ext cx="10607040" cy="23774"/>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552640" y="13483844"/>
            <a:ext cx="4667097" cy="365760"/>
          </a:xfrm>
          <a:prstGeom prst="rect">
            <a:avLst/>
          </a:prstGeom>
          <a:noFill/>
        </p:spPr>
        <p:txBody>
          <a:bodyPr wrap="square" lIns="0" rIns="0" tIns="0" bIns="0">
            <a:spAutoFit/>
          </a:bodyPr>
          <a:lstStyle/>
          <a:p>
            <a:pPr algn="l">
              <a:lnSpc>
                <a:spcPct val="100000"/>
              </a:lnSpc>
              <a:spcAft>
                <a:spcPts val="0"/>
              </a:spcAft>
            </a:pPr>
            <a:r>
              <a:rPr sz="1550" b="1">
                <a:solidFill>
                  <a:srgbClr val="1E293B"/>
                </a:solidFill>
                <a:latin typeface="Arial"/>
              </a:rPr>
              <a:t>harvested added</a:t>
            </a:r>
          </a:p>
        </p:txBody>
      </p:sp>
      <p:sp>
        <p:nvSpPr>
          <p:cNvPr id="46" name="TextBox 45"/>
          <p:cNvSpPr txBox="1"/>
          <p:nvPr/>
        </p:nvSpPr>
        <p:spPr>
          <a:xfrm>
            <a:off x="37219737" y="13483844"/>
            <a:ext cx="4242816" cy="365760"/>
          </a:xfrm>
          <a:prstGeom prst="rect">
            <a:avLst/>
          </a:prstGeom>
          <a:noFill/>
        </p:spPr>
        <p:txBody>
          <a:bodyPr wrap="square" lIns="0" rIns="0" tIns="0" bIns="0">
            <a:spAutoFit/>
          </a:bodyPr>
          <a:lstStyle/>
          <a:p>
            <a:pPr algn="r">
              <a:lnSpc>
                <a:spcPct val="100000"/>
              </a:lnSpc>
              <a:spcAft>
                <a:spcPts val="0"/>
              </a:spcAft>
            </a:pPr>
            <a:r>
              <a:rPr sz="1550" b="1">
                <a:solidFill>
                  <a:srgbClr val="1E293B"/>
                </a:solidFill>
                <a:latin typeface="Arial"/>
              </a:rPr>
              <a:t>mAP50-95</a:t>
            </a:r>
          </a:p>
        </p:txBody>
      </p:sp>
      <p:sp>
        <p:nvSpPr>
          <p:cNvPr id="47" name="TextBox 46"/>
          <p:cNvSpPr txBox="1"/>
          <p:nvPr/>
        </p:nvSpPr>
        <p:spPr>
          <a:xfrm>
            <a:off x="41462553" y="13483844"/>
            <a:ext cx="1697126" cy="365760"/>
          </a:xfrm>
          <a:prstGeom prst="rect">
            <a:avLst/>
          </a:prstGeom>
          <a:noFill/>
        </p:spPr>
        <p:txBody>
          <a:bodyPr wrap="square" lIns="0" rIns="0" tIns="0" bIns="0">
            <a:spAutoFit/>
          </a:bodyPr>
          <a:lstStyle/>
          <a:p>
            <a:pPr algn="r">
              <a:lnSpc>
                <a:spcPct val="100000"/>
              </a:lnSpc>
              <a:spcAft>
                <a:spcPts val="0"/>
              </a:spcAft>
            </a:pPr>
            <a:r>
              <a:rPr sz="1550" b="1">
                <a:solidFill>
                  <a:srgbClr val="1E293B"/>
                </a:solidFill>
                <a:latin typeface="Arial"/>
              </a:rPr>
              <a:t>n</a:t>
            </a:r>
          </a:p>
        </p:txBody>
      </p:sp>
      <p:sp>
        <p:nvSpPr>
          <p:cNvPr id="48" name="Rectangle 47"/>
          <p:cNvSpPr/>
          <p:nvPr/>
        </p:nvSpPr>
        <p:spPr>
          <a:xfrm>
            <a:off x="32552640" y="13849604"/>
            <a:ext cx="10607040" cy="14630"/>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552640" y="13959332"/>
            <a:ext cx="4667097"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none, the core</a:t>
            </a:r>
          </a:p>
        </p:txBody>
      </p:sp>
      <p:sp>
        <p:nvSpPr>
          <p:cNvPr id="50" name="TextBox 49"/>
          <p:cNvSpPr txBox="1"/>
          <p:nvPr/>
        </p:nvSpPr>
        <p:spPr>
          <a:xfrm>
            <a:off x="37219737" y="13959332"/>
            <a:ext cx="424281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0.8637 ± 0.0027</a:t>
            </a:r>
          </a:p>
        </p:txBody>
      </p:sp>
      <p:sp>
        <p:nvSpPr>
          <p:cNvPr id="51" name="TextBox 50"/>
          <p:cNvSpPr txBox="1"/>
          <p:nvPr/>
        </p:nvSpPr>
        <p:spPr>
          <a:xfrm>
            <a:off x="41462553" y="13959332"/>
            <a:ext cx="169712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3</a:t>
            </a:r>
          </a:p>
        </p:txBody>
      </p:sp>
      <p:sp>
        <p:nvSpPr>
          <p:cNvPr id="52" name="TextBox 51"/>
          <p:cNvSpPr txBox="1"/>
          <p:nvPr/>
        </p:nvSpPr>
        <p:spPr>
          <a:xfrm>
            <a:off x="32552640" y="14361668"/>
            <a:ext cx="4667097"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+5,000</a:t>
            </a:r>
          </a:p>
        </p:txBody>
      </p:sp>
      <p:sp>
        <p:nvSpPr>
          <p:cNvPr id="53" name="TextBox 52"/>
          <p:cNvSpPr txBox="1"/>
          <p:nvPr/>
        </p:nvSpPr>
        <p:spPr>
          <a:xfrm>
            <a:off x="37219737" y="14361668"/>
            <a:ext cx="424281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0.8609 ± 0.0036</a:t>
            </a:r>
          </a:p>
        </p:txBody>
      </p:sp>
      <p:sp>
        <p:nvSpPr>
          <p:cNvPr id="54" name="TextBox 53"/>
          <p:cNvSpPr txBox="1"/>
          <p:nvPr/>
        </p:nvSpPr>
        <p:spPr>
          <a:xfrm>
            <a:off x="41462553" y="14361668"/>
            <a:ext cx="169712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3</a:t>
            </a:r>
          </a:p>
        </p:txBody>
      </p:sp>
      <p:sp>
        <p:nvSpPr>
          <p:cNvPr id="55" name="TextBox 54"/>
          <p:cNvSpPr txBox="1"/>
          <p:nvPr/>
        </p:nvSpPr>
        <p:spPr>
          <a:xfrm>
            <a:off x="32552640" y="14764004"/>
            <a:ext cx="4667097"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+15,000</a:t>
            </a:r>
          </a:p>
        </p:txBody>
      </p:sp>
      <p:sp>
        <p:nvSpPr>
          <p:cNvPr id="56" name="TextBox 55"/>
          <p:cNvSpPr txBox="1"/>
          <p:nvPr/>
        </p:nvSpPr>
        <p:spPr>
          <a:xfrm>
            <a:off x="37219737" y="14764004"/>
            <a:ext cx="424281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0.8580 ± 0.0047</a:t>
            </a:r>
          </a:p>
        </p:txBody>
      </p:sp>
      <p:sp>
        <p:nvSpPr>
          <p:cNvPr id="57" name="TextBox 56"/>
          <p:cNvSpPr txBox="1"/>
          <p:nvPr/>
        </p:nvSpPr>
        <p:spPr>
          <a:xfrm>
            <a:off x="41462553" y="14764004"/>
            <a:ext cx="1697126"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3</a:t>
            </a:r>
          </a:p>
        </p:txBody>
      </p:sp>
      <p:sp>
        <p:nvSpPr>
          <p:cNvPr id="58" name="TextBox 57"/>
          <p:cNvSpPr txBox="1"/>
          <p:nvPr/>
        </p:nvSpPr>
        <p:spPr>
          <a:xfrm>
            <a:off x="32552640" y="15166340"/>
            <a:ext cx="4667097" cy="365760"/>
          </a:xfrm>
          <a:prstGeom prst="rect">
            <a:avLst/>
          </a:prstGeom>
          <a:noFill/>
        </p:spPr>
        <p:txBody>
          <a:bodyPr wrap="square" lIns="0" rIns="0" tIns="0" bIns="0">
            <a:spAutoFit/>
          </a:bodyPr>
          <a:lstStyle/>
          <a:p>
            <a:pPr algn="l">
              <a:lnSpc>
                <a:spcPct val="100000"/>
              </a:lnSpc>
              <a:spcAft>
                <a:spcPts val="0"/>
              </a:spcAft>
            </a:pPr>
            <a:r>
              <a:rPr sz="1700" b="1">
                <a:solidFill>
                  <a:srgbClr val="1C6FB5"/>
                </a:solidFill>
                <a:latin typeface="Arial"/>
              </a:rPr>
              <a:t>+40,000</a:t>
            </a:r>
          </a:p>
        </p:txBody>
      </p:sp>
      <p:sp>
        <p:nvSpPr>
          <p:cNvPr id="59" name="TextBox 58"/>
          <p:cNvSpPr txBox="1"/>
          <p:nvPr/>
        </p:nvSpPr>
        <p:spPr>
          <a:xfrm>
            <a:off x="37219737" y="15166340"/>
            <a:ext cx="4242816" cy="365760"/>
          </a:xfrm>
          <a:prstGeom prst="rect">
            <a:avLst/>
          </a:prstGeom>
          <a:noFill/>
        </p:spPr>
        <p:txBody>
          <a:bodyPr wrap="square" lIns="0" rIns="0" tIns="0" bIns="0">
            <a:spAutoFit/>
          </a:bodyPr>
          <a:lstStyle/>
          <a:p>
            <a:pPr algn="r">
              <a:lnSpc>
                <a:spcPct val="100000"/>
              </a:lnSpc>
              <a:spcAft>
                <a:spcPts val="0"/>
              </a:spcAft>
            </a:pPr>
            <a:r>
              <a:rPr sz="1700" b="1">
                <a:solidFill>
                  <a:srgbClr val="1C6FB5"/>
                </a:solidFill>
                <a:latin typeface="Arial"/>
              </a:rPr>
              <a:t>0.8448 ± 0.0018</a:t>
            </a:r>
          </a:p>
        </p:txBody>
      </p:sp>
      <p:sp>
        <p:nvSpPr>
          <p:cNvPr id="60" name="TextBox 59"/>
          <p:cNvSpPr txBox="1"/>
          <p:nvPr/>
        </p:nvSpPr>
        <p:spPr>
          <a:xfrm>
            <a:off x="41462553" y="15166340"/>
            <a:ext cx="1697126" cy="365760"/>
          </a:xfrm>
          <a:prstGeom prst="rect">
            <a:avLst/>
          </a:prstGeom>
          <a:noFill/>
        </p:spPr>
        <p:txBody>
          <a:bodyPr wrap="square" lIns="0" rIns="0" tIns="0" bIns="0">
            <a:spAutoFit/>
          </a:bodyPr>
          <a:lstStyle/>
          <a:p>
            <a:pPr algn="r">
              <a:lnSpc>
                <a:spcPct val="100000"/>
              </a:lnSpc>
              <a:spcAft>
                <a:spcPts val="0"/>
              </a:spcAft>
            </a:pPr>
            <a:r>
              <a:rPr sz="1700" b="1">
                <a:solidFill>
                  <a:srgbClr val="1C6FB5"/>
                </a:solidFill>
                <a:latin typeface="Arial"/>
              </a:rPr>
              <a:t>3</a:t>
            </a:r>
          </a:p>
        </p:txBody>
      </p:sp>
      <p:sp>
        <p:nvSpPr>
          <p:cNvPr id="61" name="Rectangle 60"/>
          <p:cNvSpPr/>
          <p:nvPr/>
        </p:nvSpPr>
        <p:spPr>
          <a:xfrm>
            <a:off x="32552640" y="15596108"/>
            <a:ext cx="10607040" cy="23774"/>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2552640" y="15861284"/>
            <a:ext cx="1060704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Twelve times the training data costs 0.0189 on our own holdout, which is 8.2 times the seed spread. The same eight checkpoints scored on a second weed dataset fall too, by 0.0299, so this is the data and not the metric. One of six audited web sources reaches a 0.90 label-precision bar, and 44,750 of 156,521 harvested images are copies of each other.</a:t>
            </a:r>
          </a:p>
        </p:txBody>
      </p:sp>
      <p:sp>
        <p:nvSpPr>
          <p:cNvPr id="63" name="TextBox 62"/>
          <p:cNvSpPr txBox="1"/>
          <p:nvPr/>
        </p:nvSpPr>
        <p:spPr>
          <a:xfrm>
            <a:off x="11704320" y="21753068"/>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Everything we trained, ran, or rejected</a:t>
            </a:r>
          </a:p>
        </p:txBody>
      </p:sp>
      <p:sp>
        <p:nvSpPr>
          <p:cNvPr id="64" name="Rectangle 63"/>
          <p:cNvSpPr/>
          <p:nvPr/>
        </p:nvSpPr>
        <p:spPr>
          <a:xfrm>
            <a:off x="11704320" y="22319996"/>
            <a:ext cx="2048256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5" name="Picture 64" descr="m_ledger.png"/>
          <p:cNvPicPr>
            <a:picLocks noChangeAspect="1"/>
          </p:cNvPicPr>
          <p:nvPr/>
        </p:nvPicPr>
        <p:blipFill>
          <a:blip r:embed="rId6"/>
          <a:stretch>
            <a:fillRect/>
          </a:stretch>
        </p:blipFill>
        <p:spPr>
          <a:xfrm>
            <a:off x="11704320" y="22649180"/>
            <a:ext cx="20482560" cy="3749040"/>
          </a:xfrm>
          <a:prstGeom prst="rect">
            <a:avLst/>
          </a:prstGeom>
        </p:spPr>
      </p:pic>
      <p:sp>
        <p:nvSpPr>
          <p:cNvPr id="66" name="TextBox 65"/>
          <p:cNvSpPr txBox="1"/>
          <p:nvPr/>
        </p:nvSpPr>
        <p:spPr>
          <a:xfrm>
            <a:off x="11704320" y="26507948"/>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5.  27 distinct models, in four families, on one holdout or one incident corpus. One of them is deployed. The zero-shot column is a single deterministic pass per model with no repeats; the reviewer column is the 149-case dev split, and two of its arms are still running.</a:t>
            </a:r>
          </a:p>
        </p:txBody>
      </p:sp>
      <p:sp>
        <p:nvSpPr>
          <p:cNvPr id="67" name="TextBox 66"/>
          <p:cNvSpPr txBox="1"/>
          <p:nvPr/>
        </p:nvSpPr>
        <p:spPr>
          <a:xfrm>
            <a:off x="731520" y="2175306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Back on our own rows</a:t>
            </a:r>
          </a:p>
        </p:txBody>
      </p:sp>
      <p:sp>
        <p:nvSpPr>
          <p:cNvPr id="68" name="Rectangle 67"/>
          <p:cNvSpPr/>
          <p:nvPr/>
        </p:nvSpPr>
        <p:spPr>
          <a:xfrm>
            <a:off x="731520" y="2231999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p_field.png"/>
          <p:cNvPicPr>
            <a:picLocks noChangeAspect="1"/>
          </p:cNvPicPr>
          <p:nvPr/>
        </p:nvPicPr>
        <p:blipFill>
          <a:blip r:embed="rId7"/>
          <a:stretch>
            <a:fillRect/>
          </a:stretch>
        </p:blipFill>
        <p:spPr>
          <a:xfrm>
            <a:off x="731520" y="22649180"/>
            <a:ext cx="10607040" cy="2468880"/>
          </a:xfrm>
          <a:prstGeom prst="rect">
            <a:avLst/>
          </a:prstGeom>
        </p:spPr>
      </p:pic>
      <p:sp>
        <p:nvSpPr>
          <p:cNvPr id="70" name="TextBox 69"/>
          <p:cNvSpPr txBox="1"/>
          <p:nvPr/>
        </p:nvSpPr>
        <p:spPr>
          <a:xfrm>
            <a:off x="731520" y="25227788"/>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556575"/>
                </a:solidFill>
                <a:latin typeface="Arial"/>
              </a:rPr>
              <a:t>Figure 6.  The deployable checkpoint over every frame the two robots recorded, at the confidence the cart deploys at. There is no ground truth for these frames, so this is the rate at which the detector produces a box at all -- not recall and not precision. Vegetation is excess green over a thumbnail, so "nothing to detect" does not account for it: 1157 frames clear that bar and 21 of them draw a box. 24 of the 25 boxes it does draw are the same class.</a:t>
            </a:r>
          </a:p>
        </p:txBody>
      </p:sp>
      <p:sp>
        <p:nvSpPr>
          <p:cNvPr id="71" name="TextBox 70"/>
          <p:cNvSpPr txBox="1"/>
          <p:nvPr/>
        </p:nvSpPr>
        <p:spPr>
          <a:xfrm>
            <a:off x="32552640" y="2175306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14314E"/>
                </a:solidFill>
                <a:latin typeface="Arial"/>
              </a:rPr>
              <a:t>Who notices when it breaks</a:t>
            </a:r>
          </a:p>
        </p:txBody>
      </p:sp>
      <p:sp>
        <p:nvSpPr>
          <p:cNvPr id="72" name="Rectangle 71"/>
          <p:cNvSpPr/>
          <p:nvPr/>
        </p:nvSpPr>
        <p:spPr>
          <a:xfrm>
            <a:off x="32552640" y="22319996"/>
            <a:ext cx="10607040" cy="27432"/>
          </a:xfrm>
          <a:prstGeom prst="rect">
            <a:avLst/>
          </a:prstGeom>
          <a:solidFill>
            <a:srgbClr val="1C6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2552640" y="22649180"/>
            <a:ext cx="10607040" cy="365760"/>
          </a:xfrm>
          <a:prstGeom prst="rect">
            <a:avLst/>
          </a:prstGeom>
          <a:noFill/>
        </p:spPr>
        <p:txBody>
          <a:bodyPr wrap="square" lIns="0" rIns="0" tIns="0" bIns="0">
            <a:spAutoFit/>
          </a:bodyPr>
          <a:lstStyle/>
          <a:p>
            <a:pPr algn="l">
              <a:lnSpc>
                <a:spcPct val="122000"/>
              </a:lnSpc>
              <a:spcAft>
                <a:spcPts val="2200"/>
              </a:spcAft>
            </a:pPr>
            <a:r>
              <a:rPr sz="2000" b="0">
                <a:solidFill>
                  <a:srgbClr val="1E293B"/>
                </a:solidFill>
                <a:latin typeface="Arial"/>
              </a:rPr>
              <a:t>We froze 162 real failures out of this project's own engineering record and scored every kind of supervision we had against them. The watchdog the loop actually ran returned no decision on any of the 149 dev cases: “no signal fired” is not a judgement. Twelve deterministic checks reach 0.095. A model reading the raw artifacts reaches 0.70, and what separates the models is not size but evidence. The 7 B leaves 55% of its findings unevidenced and the 27 B leaves none.</a:t>
            </a:r>
          </a:p>
        </p:txBody>
      </p:sp>
      <p:sp>
        <p:nvSpPr>
          <p:cNvPr id="74" name="Rectangle 73"/>
          <p:cNvSpPr/>
          <p:nvPr/>
        </p:nvSpPr>
        <p:spPr>
          <a:xfrm>
            <a:off x="32552640" y="24787860"/>
            <a:ext cx="10607040" cy="23774"/>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2552640" y="24906732"/>
            <a:ext cx="4879238" cy="365760"/>
          </a:xfrm>
          <a:prstGeom prst="rect">
            <a:avLst/>
          </a:prstGeom>
          <a:noFill/>
        </p:spPr>
        <p:txBody>
          <a:bodyPr wrap="square" lIns="0" rIns="0" tIns="0" bIns="0">
            <a:spAutoFit/>
          </a:bodyPr>
          <a:lstStyle/>
          <a:p>
            <a:pPr algn="l">
              <a:lnSpc>
                <a:spcPct val="100000"/>
              </a:lnSpc>
              <a:spcAft>
                <a:spcPts val="0"/>
              </a:spcAft>
            </a:pPr>
            <a:r>
              <a:rPr sz="1550" b="1">
                <a:solidFill>
                  <a:srgbClr val="1E293B"/>
                </a:solidFill>
                <a:latin typeface="Arial"/>
              </a:rPr>
              <a:t>reviewer</a:t>
            </a:r>
          </a:p>
        </p:txBody>
      </p:sp>
      <p:sp>
        <p:nvSpPr>
          <p:cNvPr id="76" name="TextBox 75"/>
          <p:cNvSpPr txBox="1"/>
          <p:nvPr/>
        </p:nvSpPr>
        <p:spPr>
          <a:xfrm>
            <a:off x="37431878" y="24906732"/>
            <a:ext cx="2863900" cy="365760"/>
          </a:xfrm>
          <a:prstGeom prst="rect">
            <a:avLst/>
          </a:prstGeom>
          <a:noFill/>
        </p:spPr>
        <p:txBody>
          <a:bodyPr wrap="square" lIns="0" rIns="0" tIns="0" bIns="0">
            <a:spAutoFit/>
          </a:bodyPr>
          <a:lstStyle/>
          <a:p>
            <a:pPr algn="r">
              <a:lnSpc>
                <a:spcPct val="100000"/>
              </a:lnSpc>
              <a:spcAft>
                <a:spcPts val="0"/>
              </a:spcAft>
            </a:pPr>
            <a:r>
              <a:rPr sz="1550" b="1">
                <a:solidFill>
                  <a:srgbClr val="1E293B"/>
                </a:solidFill>
                <a:latin typeface="Arial"/>
              </a:rPr>
              <a:t>recall</a:t>
            </a:r>
          </a:p>
        </p:txBody>
      </p:sp>
      <p:sp>
        <p:nvSpPr>
          <p:cNvPr id="77" name="TextBox 76"/>
          <p:cNvSpPr txBox="1"/>
          <p:nvPr/>
        </p:nvSpPr>
        <p:spPr>
          <a:xfrm>
            <a:off x="40295779" y="24906732"/>
            <a:ext cx="2863900" cy="365760"/>
          </a:xfrm>
          <a:prstGeom prst="rect">
            <a:avLst/>
          </a:prstGeom>
          <a:noFill/>
        </p:spPr>
        <p:txBody>
          <a:bodyPr wrap="square" lIns="0" rIns="0" tIns="0" bIns="0">
            <a:spAutoFit/>
          </a:bodyPr>
          <a:lstStyle/>
          <a:p>
            <a:pPr algn="r">
              <a:lnSpc>
                <a:spcPct val="100000"/>
              </a:lnSpc>
              <a:spcAft>
                <a:spcPts val="0"/>
              </a:spcAft>
            </a:pPr>
            <a:r>
              <a:rPr sz="1550" b="1">
                <a:solidFill>
                  <a:srgbClr val="1E293B"/>
                </a:solidFill>
                <a:latin typeface="Arial"/>
              </a:rPr>
              <a:t>grounded</a:t>
            </a:r>
          </a:p>
        </p:txBody>
      </p:sp>
      <p:sp>
        <p:nvSpPr>
          <p:cNvPr id="78" name="Rectangle 77"/>
          <p:cNvSpPr/>
          <p:nvPr/>
        </p:nvSpPr>
        <p:spPr>
          <a:xfrm>
            <a:off x="32552640" y="25272492"/>
            <a:ext cx="10607040" cy="14630"/>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2552640" y="25382220"/>
            <a:ext cx="4879238"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scripted watchdog</a:t>
            </a:r>
          </a:p>
        </p:txBody>
      </p:sp>
      <p:sp>
        <p:nvSpPr>
          <p:cNvPr id="80" name="TextBox 79"/>
          <p:cNvSpPr txBox="1"/>
          <p:nvPr/>
        </p:nvSpPr>
        <p:spPr>
          <a:xfrm>
            <a:off x="37431878" y="25382220"/>
            <a:ext cx="2863900"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no decision</a:t>
            </a:r>
          </a:p>
        </p:txBody>
      </p:sp>
      <p:sp>
        <p:nvSpPr>
          <p:cNvPr id="81" name="TextBox 80"/>
          <p:cNvSpPr txBox="1"/>
          <p:nvPr/>
        </p:nvSpPr>
        <p:spPr>
          <a:xfrm>
            <a:off x="40295779" y="25382220"/>
            <a:ext cx="2863900"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a:t>
            </a:r>
          </a:p>
        </p:txBody>
      </p:sp>
      <p:sp>
        <p:nvSpPr>
          <p:cNvPr id="82" name="TextBox 81"/>
          <p:cNvSpPr txBox="1"/>
          <p:nvPr/>
        </p:nvSpPr>
        <p:spPr>
          <a:xfrm>
            <a:off x="32552640" y="25784556"/>
            <a:ext cx="4879238"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12 rules</a:t>
            </a:r>
          </a:p>
        </p:txBody>
      </p:sp>
      <p:sp>
        <p:nvSpPr>
          <p:cNvPr id="83" name="TextBox 82"/>
          <p:cNvSpPr txBox="1"/>
          <p:nvPr/>
        </p:nvSpPr>
        <p:spPr>
          <a:xfrm>
            <a:off x="37431878" y="25784556"/>
            <a:ext cx="2863900"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0.095</a:t>
            </a:r>
          </a:p>
        </p:txBody>
      </p:sp>
      <p:sp>
        <p:nvSpPr>
          <p:cNvPr id="84" name="TextBox 83"/>
          <p:cNvSpPr txBox="1"/>
          <p:nvPr/>
        </p:nvSpPr>
        <p:spPr>
          <a:xfrm>
            <a:off x="40295779" y="25784556"/>
            <a:ext cx="2863900"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0.095</a:t>
            </a:r>
          </a:p>
        </p:txBody>
      </p:sp>
      <p:sp>
        <p:nvSpPr>
          <p:cNvPr id="85" name="TextBox 84"/>
          <p:cNvSpPr txBox="1"/>
          <p:nvPr/>
        </p:nvSpPr>
        <p:spPr>
          <a:xfrm>
            <a:off x="32552640" y="26186892"/>
            <a:ext cx="4879238"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Qwen2.5-7B</a:t>
            </a:r>
          </a:p>
        </p:txBody>
      </p:sp>
      <p:sp>
        <p:nvSpPr>
          <p:cNvPr id="86" name="TextBox 85"/>
          <p:cNvSpPr txBox="1"/>
          <p:nvPr/>
        </p:nvSpPr>
        <p:spPr>
          <a:xfrm>
            <a:off x="37431878" y="26186892"/>
            <a:ext cx="2863900"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0.823</a:t>
            </a:r>
          </a:p>
        </p:txBody>
      </p:sp>
      <p:sp>
        <p:nvSpPr>
          <p:cNvPr id="87" name="TextBox 86"/>
          <p:cNvSpPr txBox="1"/>
          <p:nvPr/>
        </p:nvSpPr>
        <p:spPr>
          <a:xfrm>
            <a:off x="40295779" y="26186892"/>
            <a:ext cx="2863900"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0.274</a:t>
            </a:r>
          </a:p>
        </p:txBody>
      </p:sp>
      <p:sp>
        <p:nvSpPr>
          <p:cNvPr id="88" name="TextBox 87"/>
          <p:cNvSpPr txBox="1"/>
          <p:nvPr/>
        </p:nvSpPr>
        <p:spPr>
          <a:xfrm>
            <a:off x="32552640" y="26589228"/>
            <a:ext cx="4879238" cy="365760"/>
          </a:xfrm>
          <a:prstGeom prst="rect">
            <a:avLst/>
          </a:prstGeom>
          <a:noFill/>
        </p:spPr>
        <p:txBody>
          <a:bodyPr wrap="square" lIns="0" rIns="0" tIns="0" bIns="0">
            <a:spAutoFit/>
          </a:bodyPr>
          <a:lstStyle/>
          <a:p>
            <a:pPr algn="l">
              <a:lnSpc>
                <a:spcPct val="100000"/>
              </a:lnSpc>
              <a:spcAft>
                <a:spcPts val="0"/>
              </a:spcAft>
            </a:pPr>
            <a:r>
              <a:rPr sz="1700" b="0">
                <a:solidFill>
                  <a:srgbClr val="1E293B"/>
                </a:solidFill>
                <a:latin typeface="Arial"/>
              </a:rPr>
              <a:t>Qwen3-14B</a:t>
            </a:r>
          </a:p>
        </p:txBody>
      </p:sp>
      <p:sp>
        <p:nvSpPr>
          <p:cNvPr id="89" name="TextBox 88"/>
          <p:cNvSpPr txBox="1"/>
          <p:nvPr/>
        </p:nvSpPr>
        <p:spPr>
          <a:xfrm>
            <a:off x="37431878" y="26589228"/>
            <a:ext cx="2863900"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0.675</a:t>
            </a:r>
          </a:p>
        </p:txBody>
      </p:sp>
      <p:sp>
        <p:nvSpPr>
          <p:cNvPr id="90" name="TextBox 89"/>
          <p:cNvSpPr txBox="1"/>
          <p:nvPr/>
        </p:nvSpPr>
        <p:spPr>
          <a:xfrm>
            <a:off x="40295779" y="26589228"/>
            <a:ext cx="2863900" cy="365760"/>
          </a:xfrm>
          <a:prstGeom prst="rect">
            <a:avLst/>
          </a:prstGeom>
          <a:noFill/>
        </p:spPr>
        <p:txBody>
          <a:bodyPr wrap="square" lIns="0" rIns="0" tIns="0" bIns="0">
            <a:spAutoFit/>
          </a:bodyPr>
          <a:lstStyle/>
          <a:p>
            <a:pPr algn="r">
              <a:lnSpc>
                <a:spcPct val="100000"/>
              </a:lnSpc>
              <a:spcAft>
                <a:spcPts val="0"/>
              </a:spcAft>
            </a:pPr>
            <a:r>
              <a:rPr sz="1700" b="0">
                <a:solidFill>
                  <a:srgbClr val="1E293B"/>
                </a:solidFill>
                <a:latin typeface="Arial"/>
              </a:rPr>
              <a:t>0.614</a:t>
            </a:r>
          </a:p>
        </p:txBody>
      </p:sp>
      <p:sp>
        <p:nvSpPr>
          <p:cNvPr id="91" name="TextBox 90"/>
          <p:cNvSpPr txBox="1"/>
          <p:nvPr/>
        </p:nvSpPr>
        <p:spPr>
          <a:xfrm>
            <a:off x="32552640" y="26991564"/>
            <a:ext cx="4879238" cy="365760"/>
          </a:xfrm>
          <a:prstGeom prst="rect">
            <a:avLst/>
          </a:prstGeom>
          <a:noFill/>
        </p:spPr>
        <p:txBody>
          <a:bodyPr wrap="square" lIns="0" rIns="0" tIns="0" bIns="0">
            <a:spAutoFit/>
          </a:bodyPr>
          <a:lstStyle/>
          <a:p>
            <a:pPr algn="l">
              <a:lnSpc>
                <a:spcPct val="100000"/>
              </a:lnSpc>
              <a:spcAft>
                <a:spcPts val="0"/>
              </a:spcAft>
            </a:pPr>
            <a:r>
              <a:rPr sz="1700" b="1">
                <a:solidFill>
                  <a:srgbClr val="1C6FB5"/>
                </a:solidFill>
                <a:latin typeface="Arial"/>
              </a:rPr>
              <a:t>Qwen3.8-27B</a:t>
            </a:r>
          </a:p>
        </p:txBody>
      </p:sp>
      <p:sp>
        <p:nvSpPr>
          <p:cNvPr id="92" name="TextBox 91"/>
          <p:cNvSpPr txBox="1"/>
          <p:nvPr/>
        </p:nvSpPr>
        <p:spPr>
          <a:xfrm>
            <a:off x="37431878" y="26991564"/>
            <a:ext cx="2863900" cy="365760"/>
          </a:xfrm>
          <a:prstGeom prst="rect">
            <a:avLst/>
          </a:prstGeom>
          <a:noFill/>
        </p:spPr>
        <p:txBody>
          <a:bodyPr wrap="square" lIns="0" rIns="0" tIns="0" bIns="0">
            <a:spAutoFit/>
          </a:bodyPr>
          <a:lstStyle/>
          <a:p>
            <a:pPr algn="r">
              <a:lnSpc>
                <a:spcPct val="100000"/>
              </a:lnSpc>
              <a:spcAft>
                <a:spcPts val="0"/>
              </a:spcAft>
            </a:pPr>
            <a:r>
              <a:rPr sz="1700" b="1">
                <a:solidFill>
                  <a:srgbClr val="1C6FB5"/>
                </a:solidFill>
                <a:latin typeface="Arial"/>
              </a:rPr>
              <a:t>0.702</a:t>
            </a:r>
          </a:p>
        </p:txBody>
      </p:sp>
      <p:sp>
        <p:nvSpPr>
          <p:cNvPr id="93" name="TextBox 92"/>
          <p:cNvSpPr txBox="1"/>
          <p:nvPr/>
        </p:nvSpPr>
        <p:spPr>
          <a:xfrm>
            <a:off x="40295779" y="26991564"/>
            <a:ext cx="2863900" cy="365760"/>
          </a:xfrm>
          <a:prstGeom prst="rect">
            <a:avLst/>
          </a:prstGeom>
          <a:noFill/>
        </p:spPr>
        <p:txBody>
          <a:bodyPr wrap="square" lIns="0" rIns="0" tIns="0" bIns="0">
            <a:spAutoFit/>
          </a:bodyPr>
          <a:lstStyle/>
          <a:p>
            <a:pPr algn="r">
              <a:lnSpc>
                <a:spcPct val="100000"/>
              </a:lnSpc>
              <a:spcAft>
                <a:spcPts val="0"/>
              </a:spcAft>
            </a:pPr>
            <a:r>
              <a:rPr sz="1700" b="1">
                <a:solidFill>
                  <a:srgbClr val="1C6FB5"/>
                </a:solidFill>
                <a:latin typeface="Arial"/>
              </a:rPr>
              <a:t>0.702</a:t>
            </a:r>
          </a:p>
        </p:txBody>
      </p:sp>
      <p:sp>
        <p:nvSpPr>
          <p:cNvPr id="94" name="Rectangle 93"/>
          <p:cNvSpPr/>
          <p:nvPr/>
        </p:nvSpPr>
        <p:spPr>
          <a:xfrm>
            <a:off x="32552640" y="27421332"/>
            <a:ext cx="10607040" cy="23774"/>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31520" y="27979116"/>
            <a:ext cx="42428160" cy="20116"/>
          </a:xfrm>
          <a:prstGeom prst="rect">
            <a:avLst/>
          </a:prstGeom>
          <a:solidFill>
            <a:srgbClr val="C2CE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31520" y="28235148"/>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Where this stands today. The collector and trainer are paused after a stop-loss on 2026-08-29. The last field drive was the same day. The supervisor is advisory and nothing it says is applied. The laser has never fired at a weed under our control. None of the 2,686 frames is labelled.</a:t>
            </a:r>
          </a:p>
        </p:txBody>
      </p:sp>
      <p:sp>
        <p:nvSpPr>
          <p:cNvPr id="97" name="TextBox 96"/>
          <p:cNvSpPr txBox="1"/>
          <p:nvPr/>
        </p:nvSpPr>
        <p:spPr>
          <a:xfrm>
            <a:off x="15026640" y="28235148"/>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How the numbers were made. Every in-domain number is mAP50-95 on the same 1,977 images of CottonWeedDet12 under one evaluator, and that set is also the validation set during training, so each figure is a maximum over many evaluations. We measured that optimism at +0.002 to +0.017 rather than hiding it, and every conclusion here survives re-reading at last epoch.</a:t>
            </a:r>
          </a:p>
        </p:txBody>
      </p:sp>
      <p:sp>
        <p:nvSpPr>
          <p:cNvPr id="98" name="TextBox 97"/>
          <p:cNvSpPr txBox="1"/>
          <p:nvPr/>
        </p:nvSpPr>
        <p:spPr>
          <a:xfrm>
            <a:off x="29321759" y="28235148"/>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556575"/>
                </a:solidFill>
                <a:latin typeface="Arial"/>
              </a:rPr>
              <a:t>Numbers we withdrew. 0.910 was a data leak, found by a content-level check we built after publishing it. 0.9033 is the best of four unseeded runs and only one of the four crossed 0.90. An earlier reading of the ladder as a flat curve is retracted: with three seeds at every rung the top rung is down, not flat.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